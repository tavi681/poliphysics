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6" r:id="rId2"/>
    <p:sldId id="329" r:id="rId3"/>
    <p:sldId id="338" r:id="rId4"/>
    <p:sldId id="306" r:id="rId5"/>
    <p:sldId id="339" r:id="rId6"/>
    <p:sldId id="340" r:id="rId7"/>
    <p:sldId id="332" r:id="rId8"/>
    <p:sldId id="341" r:id="rId9"/>
    <p:sldId id="342" r:id="rId10"/>
    <p:sldId id="331" r:id="rId11"/>
    <p:sldId id="343" r:id="rId12"/>
    <p:sldId id="356" r:id="rId13"/>
    <p:sldId id="357" r:id="rId14"/>
    <p:sldId id="355" r:id="rId15"/>
    <p:sldId id="346" r:id="rId16"/>
    <p:sldId id="345" r:id="rId17"/>
    <p:sldId id="347" r:id="rId18"/>
    <p:sldId id="344" r:id="rId19"/>
    <p:sldId id="352" r:id="rId20"/>
    <p:sldId id="351" r:id="rId21"/>
    <p:sldId id="353" r:id="rId22"/>
    <p:sldId id="354" r:id="rId23"/>
    <p:sldId id="34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2175"/>
    <a:srgbClr val="F8EEEF"/>
    <a:srgbClr val="1CA497"/>
    <a:srgbClr val="F8A0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9BAE7D-2473-B849-81CD-13C40C9EC794}" v="70" dt="2026-07-27T21:46:24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95" autoAdjust="0"/>
    <p:restoredTop sz="96302" autoAdjust="0"/>
  </p:normalViewPr>
  <p:slideViewPr>
    <p:cSldViewPr snapToGrid="0">
      <p:cViewPr>
        <p:scale>
          <a:sx n="110" d="100"/>
          <a:sy n="110" d="100"/>
        </p:scale>
        <p:origin x="560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4" d="100"/>
          <a:sy n="74" d="100"/>
        </p:scale>
        <p:origin x="2964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2E86F5-2987-464E-100F-5953944B43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3400E-F3CB-4024-86DC-70180CFF9B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34BBC0-246C-4EDF-BC1F-DD96E1F72B7E}" type="datetimeFigureOut">
              <a:rPr lang="ro-RO" smtClean="0"/>
              <a:t>12.10.2026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F9863-B6FC-AC26-2EAF-016896776A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B37CA-584D-1085-D07C-29D7B9EF6F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DBF4C-D2F6-4906-B66A-55A4CD2836C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13172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74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>
            <a:spLocks noGrp="1"/>
          </p:cNvSpPr>
          <p:nvPr>
            <p:ph type="sldNum" idx="429496729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/>
          </a:p>
          <a:p>
            <a:r>
              <a:t>Visual: AI-generated conceptual illustration requested by the user. Streamline colors are illustrative, not a calibrated velocity scale. Fixed and translating frames illustrate r prime = r - U_h t e_x. Existing equations unchanged.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1D414-0A06-375F-BD12-4A20664B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>
            <a:extLst>
              <a:ext uri="{FF2B5EF4-FFF2-40B4-BE49-F238E27FC236}">
                <a16:creationId xmlns:a16="http://schemas.microsoft.com/office/drawing/2014/main" id="{06ABDD5C-14FB-12A0-09E7-A92F9246250E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/>
          </a:p>
          <a:p>
            <a:r>
              <a:t>Visual: AI-generated conceptual illustration requested by the user. Streamline colors are illustrative, not a calibrated velocity scale. Fixed and translating frames illustrate r prime = r - U_h t e_x. Existing equations unchanged.</a:t>
            </a:r>
          </a:p>
        </p:txBody>
      </p:sp>
    </p:spTree>
    <p:extLst>
      <p:ext uri="{BB962C8B-B14F-4D97-AF65-F5344CB8AC3E}">
        <p14:creationId xmlns:p14="http://schemas.microsoft.com/office/powerpoint/2010/main" val="1999821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C16F3-AE54-63D2-9D1C-1F252D79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>
            <a:extLst>
              <a:ext uri="{FF2B5EF4-FFF2-40B4-BE49-F238E27FC236}">
                <a16:creationId xmlns:a16="http://schemas.microsoft.com/office/drawing/2014/main" id="{79DD7FB9-7F0D-8B20-800F-7F01CA966D7D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/>
          </a:p>
          <a:p>
            <a:r>
              <a:t>Visual: AI-generated conceptual illustration requested by the user. Streamline colors are illustrative, not a calibrated velocity scale. Fixed and translating frames illustrate r prime = r - U_h t e_x. Existing equations unchanged.</a:t>
            </a:r>
          </a:p>
        </p:txBody>
      </p:sp>
    </p:spTree>
    <p:extLst>
      <p:ext uri="{BB962C8B-B14F-4D97-AF65-F5344CB8AC3E}">
        <p14:creationId xmlns:p14="http://schemas.microsoft.com/office/powerpoint/2010/main" val="2991361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1EF1A-7AF9-F7C3-B44F-5E3BC7BB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>
            <a:extLst>
              <a:ext uri="{FF2B5EF4-FFF2-40B4-BE49-F238E27FC236}">
                <a16:creationId xmlns:a16="http://schemas.microsoft.com/office/drawing/2014/main" id="{45274F07-6F03-A986-8F79-71C30BF9E7B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/>
          </a:p>
          <a:p>
            <a:r>
              <a:t>Visual: AI-generated conceptual illustration requested by the user. Streamline colors are illustrative, not a calibrated velocity scale. Fixed and translating frames illustrate r prime = r - U_h t e_x. Existing equations unchanged.</a:t>
            </a:r>
          </a:p>
        </p:txBody>
      </p:sp>
    </p:spTree>
    <p:extLst>
      <p:ext uri="{BB962C8B-B14F-4D97-AF65-F5344CB8AC3E}">
        <p14:creationId xmlns:p14="http://schemas.microsoft.com/office/powerpoint/2010/main" val="1418858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8A00-C98F-B889-DA68-4459E0483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>
            <a:extLst>
              <a:ext uri="{FF2B5EF4-FFF2-40B4-BE49-F238E27FC236}">
                <a16:creationId xmlns:a16="http://schemas.microsoft.com/office/drawing/2014/main" id="{744996C4-E93C-3FD3-B804-60A614BBB12D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/>
          </a:p>
          <a:p>
            <a:r>
              <a:t>Visual: AI-generated conceptual illustration requested by the user. Streamline colors are illustrative, not a calibrated velocity scale. Fixed and translating frames illustrate r prime = r - U_h t e_x. Existing equations unchanged.</a:t>
            </a:r>
          </a:p>
        </p:txBody>
      </p:sp>
    </p:spTree>
    <p:extLst>
      <p:ext uri="{BB962C8B-B14F-4D97-AF65-F5344CB8AC3E}">
        <p14:creationId xmlns:p14="http://schemas.microsoft.com/office/powerpoint/2010/main" val="327079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/>
          </a:p>
          <a:p>
            <a:r>
              <a:t>AI-generated conceptual infographic based on user-supplied content. Paths are illustrative. P(z) is the probability of reaching h before zero, with absorbing boundary values P(0)=0 and P(h)=1. The Gaussian inset depicts local free increments over a short time, not the boundary-conditioned transition density. The backward equation uses constant drift U_0 and diffusivity 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D86D0-657D-BA3F-8C84-F05AE6C4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>
            <a:extLst>
              <a:ext uri="{FF2B5EF4-FFF2-40B4-BE49-F238E27FC236}">
                <a16:creationId xmlns:a16="http://schemas.microsoft.com/office/drawing/2014/main" id="{732B9335-74CC-4BD1-6B61-78EA6D4F919E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/>
          </a:p>
          <a:p>
            <a:r>
              <a:t>AI-generated conceptual infographic based on user-supplied content. Paths are illustrative. P(z) is the probability of reaching h before zero, with absorbing boundary values P(0)=0 and P(h)=1. The Gaussian inset depicts local free increments over a short time, not the boundary-conditioned transition density. The backward equation uses constant drift U_0 and diffusivity K.</a:t>
            </a:r>
          </a:p>
        </p:txBody>
      </p:sp>
    </p:spTree>
    <p:extLst>
      <p:ext uri="{BB962C8B-B14F-4D97-AF65-F5344CB8AC3E}">
        <p14:creationId xmlns:p14="http://schemas.microsoft.com/office/powerpoint/2010/main" val="45374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A7E80-C141-3B26-1232-4DAADCF0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>
            <a:extLst>
              <a:ext uri="{FF2B5EF4-FFF2-40B4-BE49-F238E27FC236}">
                <a16:creationId xmlns:a16="http://schemas.microsoft.com/office/drawing/2014/main" id="{A7DDDDBB-CE90-7CD3-4277-75DF57741843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/>
          </a:p>
          <a:p>
            <a:r>
              <a:t>AI-generated conceptual infographic based on user-supplied content. Paths are illustrative. P(z) is the probability of reaching h before zero, with absorbing boundary values P(0)=0 and P(h)=1. The Gaussian inset depicts local free increments over a short time, not the boundary-conditioned transition density. The backward equation uses constant drift U_0 and diffusivity K.</a:t>
            </a:r>
          </a:p>
        </p:txBody>
      </p:sp>
    </p:spTree>
    <p:extLst>
      <p:ext uri="{BB962C8B-B14F-4D97-AF65-F5344CB8AC3E}">
        <p14:creationId xmlns:p14="http://schemas.microsoft.com/office/powerpoint/2010/main" val="3633072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88F1-D271-A30C-AF6F-AC055C889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">
            <a:extLst>
              <a:ext uri="{FF2B5EF4-FFF2-40B4-BE49-F238E27FC236}">
                <a16:creationId xmlns:a16="http://schemas.microsoft.com/office/drawing/2014/main" id="{A2716992-AD8D-A2E4-E3BE-D0695433A60B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/>
          </a:p>
          <a:p>
            <a:r>
              <a:t>AI-generated conceptual infographic based on user-supplied content. Paths are illustrative. P(z) is the probability of reaching h before zero, with absorbing boundary values P(0)=0 and P(h)=1. The Gaussian inset depicts local free increments over a short time, not the boundary-conditioned transition density. The backward equation uses constant drift U_0 and diffusivity K.</a:t>
            </a:r>
          </a:p>
        </p:txBody>
      </p:sp>
    </p:spTree>
    <p:extLst>
      <p:ext uri="{BB962C8B-B14F-4D97-AF65-F5344CB8AC3E}">
        <p14:creationId xmlns:p14="http://schemas.microsoft.com/office/powerpoint/2010/main" val="2349378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title"/>
          </p:nvPr>
        </p:nvSpPr>
        <p:spPr>
          <a:xfrm>
            <a:off x="820894" y="391295"/>
            <a:ext cx="7648210" cy="63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body" idx="1"/>
          </p:nvPr>
        </p:nvSpPr>
        <p:spPr>
          <a:xfrm>
            <a:off x="838200" y="144040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December 2023	</a:t>
            </a:r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Rounded Rectangle 11">
            <a:extLst>
              <a:ext uri="{FF2B5EF4-FFF2-40B4-BE49-F238E27FC236}">
                <a16:creationId xmlns:a16="http://schemas.microsoft.com/office/drawing/2014/main" id="{638B3E5C-A52F-4456-5B0C-6E08E3585E2D}"/>
              </a:ext>
            </a:extLst>
          </p:cNvPr>
          <p:cNvSpPr/>
          <p:nvPr userDrawn="1"/>
        </p:nvSpPr>
        <p:spPr>
          <a:xfrm rot="5400000">
            <a:off x="4326695" y="-3131811"/>
            <a:ext cx="636608" cy="768282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88000">
                <a:schemeClr val="accent1">
                  <a:lumMod val="60000"/>
                  <a:lumOff val="4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12E7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7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956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257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681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85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884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13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69114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Ja4oMFOoK50?feature=oembed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jp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"/>
          <p:cNvSpPr txBox="1"/>
          <p:nvPr/>
        </p:nvSpPr>
        <p:spPr>
          <a:xfrm>
            <a:off x="7269478" y="1851909"/>
            <a:ext cx="4717473" cy="3097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tabLst/>
              <a:defRPr/>
            </a:pPr>
            <a:r>
              <a:rPr lang="en-US" sz="6000" kern="0" dirty="0">
                <a:solidFill>
                  <a:srgbClr val="842E7B"/>
                </a:solidFill>
                <a:latin typeface="Arial"/>
                <a:ea typeface="Arial"/>
                <a:cs typeface="Arial"/>
                <a:sym typeface="Arial"/>
              </a:rPr>
              <a:t>Electrostatic Ballooning of Spiders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CA471F-9696-A752-7DC8-4F7C657E5438}"/>
              </a:ext>
            </a:extLst>
          </p:cNvPr>
          <p:cNvSpPr/>
          <p:nvPr/>
        </p:nvSpPr>
        <p:spPr>
          <a:xfrm>
            <a:off x="0" y="0"/>
            <a:ext cx="9153939" cy="1505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F28FDB-F4FE-07B1-4680-A946F16E9DC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869" y="322547"/>
            <a:ext cx="3059082" cy="1018698"/>
          </a:xfrm>
          <a:prstGeom prst="rect">
            <a:avLst/>
          </a:prstGeom>
        </p:spPr>
      </p:pic>
      <p:pic>
        <p:nvPicPr>
          <p:cNvPr id="11" name="Picture 10" descr="Spider Testing the Wind with Ballooning Silk - Steve Creek Wildlife  Photography">
            <a:extLst>
              <a:ext uri="{FF2B5EF4-FFF2-40B4-BE49-F238E27FC236}">
                <a16:creationId xmlns:a16="http://schemas.microsoft.com/office/drawing/2014/main" id="{0583273E-2321-549E-8D3D-CD82E65D2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191909" cy="4800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ABAA74-1264-F352-D962-640090A31A5C}"/>
              </a:ext>
            </a:extLst>
          </p:cNvPr>
          <p:cNvSpPr txBox="1"/>
          <p:nvPr/>
        </p:nvSpPr>
        <p:spPr>
          <a:xfrm>
            <a:off x="7503274" y="5459968"/>
            <a:ext cx="4395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  <a:tabLst/>
              <a:defRPr/>
            </a:pPr>
            <a:r>
              <a:rPr lang="en-US" kern="0" dirty="0">
                <a:solidFill>
                  <a:srgbClr val="842E7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00" kern="0" dirty="0">
                <a:solidFill>
                  <a:srgbClr val="842E7B"/>
                </a:solidFill>
                <a:latin typeface="Arial"/>
                <a:ea typeface="Arial"/>
                <a:cs typeface="Arial"/>
                <a:sym typeface="Arial"/>
              </a:rPr>
              <a:t>nalytical limits and take-off probability</a:t>
            </a:r>
          </a:p>
        </p:txBody>
      </p:sp>
      <p:pic>
        <p:nvPicPr>
          <p:cNvPr id="14" name="Picture 13" descr="Spider 'Ballooning' Flight With Silk Caught on Video | National Geographic">
            <a:extLst>
              <a:ext uri="{FF2B5EF4-FFF2-40B4-BE49-F238E27FC236}">
                <a16:creationId xmlns:a16="http://schemas.microsoft.com/office/drawing/2014/main" id="{343F480E-F9FF-9A85-D438-AFAF0999DD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500" b="37643"/>
          <a:stretch>
            <a:fillRect/>
          </a:stretch>
        </p:blipFill>
        <p:spPr>
          <a:xfrm>
            <a:off x="-1" y="4800600"/>
            <a:ext cx="7191909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EA4550-F326-0AC7-13DE-7FF4EA0F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31722-4350-0342-392E-0EB50DECD210}"/>
              </a:ext>
            </a:extLst>
          </p:cNvPr>
          <p:cNvSpPr txBox="1"/>
          <p:nvPr/>
        </p:nvSpPr>
        <p:spPr>
          <a:xfrm>
            <a:off x="1174981" y="1288360"/>
            <a:ext cx="504683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A   PHYSICAL MODEL</a:t>
            </a:r>
          </a:p>
          <a:p>
            <a:pPr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  <a:cs typeface="Arial"/>
              </a:rPr>
              <a:t>…</a:t>
            </a:r>
          </a:p>
          <a:p>
            <a:pPr>
              <a:buClr>
                <a:srgbClr val="000000"/>
              </a:buClr>
              <a:defRPr/>
            </a:pPr>
            <a:endParaRPr lang="en-US" sz="2000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B   NEAR SURFACE TURBULENCE</a:t>
            </a:r>
          </a:p>
          <a:p>
            <a:pPr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  <a:cs typeface="Arial"/>
              </a:rPr>
              <a:t>…</a:t>
            </a:r>
          </a:p>
          <a:p>
            <a:pPr>
              <a:buClr>
                <a:srgbClr val="000000"/>
              </a:buClr>
              <a:defRPr/>
            </a:pPr>
            <a:endParaRPr lang="en-US" sz="2000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C   ANALITICAL SOLUTION</a:t>
            </a:r>
          </a:p>
          <a:p>
            <a:pPr>
              <a:buClr>
                <a:srgbClr val="000000"/>
              </a:buClr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  <a:cs typeface="Arial"/>
              </a:rPr>
              <a:t>…</a:t>
            </a:r>
          </a:p>
          <a:p>
            <a:pPr>
              <a:buClr>
                <a:srgbClr val="000000"/>
              </a:buClr>
              <a:defRPr/>
            </a:pPr>
            <a:endParaRPr lang="en-US" sz="2000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D   NUMERICAL METHOD</a:t>
            </a:r>
          </a:p>
          <a:p>
            <a:pPr>
              <a:buClr>
                <a:srgbClr val="000000"/>
              </a:buClr>
              <a:defRPr/>
            </a:pPr>
            <a:r>
              <a:rPr lang="en-US" sz="2400" kern="0" dirty="0">
                <a:solidFill>
                  <a:srgbClr val="000000"/>
                </a:solidFill>
                <a:cs typeface="Arial"/>
              </a:rPr>
              <a:t>…</a:t>
            </a:r>
          </a:p>
          <a:p>
            <a:pPr>
              <a:buClr>
                <a:srgbClr val="000000"/>
              </a:buClr>
              <a:defRPr/>
            </a:pPr>
            <a:endParaRPr lang="en-US" sz="2000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E   RESULTS</a:t>
            </a:r>
          </a:p>
          <a:p>
            <a:pPr>
              <a:buClr>
                <a:srgbClr val="000000"/>
              </a:buClr>
              <a:defRPr/>
            </a:pPr>
            <a:r>
              <a:rPr lang="en-US" sz="2400" kern="0" dirty="0">
                <a:solidFill>
                  <a:srgbClr val="000000"/>
                </a:solidFill>
                <a:cs typeface="Arial"/>
              </a:rPr>
              <a:t>…</a:t>
            </a:r>
            <a:endParaRPr lang="en-US" sz="2000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endParaRPr lang="en-US" sz="2000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pic>
        <p:nvPicPr>
          <p:cNvPr id="2" name="Picture 1" descr="Bug Eric: Ballooning Spiders">
            <a:extLst>
              <a:ext uri="{FF2B5EF4-FFF2-40B4-BE49-F238E27FC236}">
                <a16:creationId xmlns:a16="http://schemas.microsoft.com/office/drawing/2014/main" id="{BFAB1EAE-1E77-1250-0EC3-13624C149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905" y="128836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2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F4375-0D4B-D933-EB3A-30EC73E6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nline Media 6" descr="How Spiders Use Electricity to Fly | Decoder">
            <a:hlinkClick r:id="" action="ppaction://media"/>
            <a:extLst>
              <a:ext uri="{FF2B5EF4-FFF2-40B4-BE49-F238E27FC236}">
                <a16:creationId xmlns:a16="http://schemas.microsoft.com/office/drawing/2014/main" id="{B4AEBBA1-6F2E-F5C8-6530-196242B1CBF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4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EA4550-F326-0AC7-13DE-7FF4EA0F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Ballooning of Spiders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31722-4350-0342-392E-0EB50DECD210}"/>
              </a:ext>
            </a:extLst>
          </p:cNvPr>
          <p:cNvSpPr txBox="1"/>
          <p:nvPr/>
        </p:nvSpPr>
        <p:spPr>
          <a:xfrm>
            <a:off x="4144651" y="2648675"/>
            <a:ext cx="3612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Physical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E103B0-0EF3-4C4D-553F-486C8D50679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7F676E-D298-A2B3-CA15-6ECE229EE687}"/>
              </a:ext>
            </a:extLst>
          </p:cNvPr>
          <p:cNvSpPr txBox="1"/>
          <p:nvPr/>
        </p:nvSpPr>
        <p:spPr>
          <a:xfrm>
            <a:off x="3564836" y="3370544"/>
            <a:ext cx="4904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600" b="0">
                <a:solidFill>
                  <a:srgbClr val="852C86"/>
                </a:solidFill>
                <a:latin typeface="Arial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Resistive Force Theory (RFT) for Slender Filaments</a:t>
            </a:r>
          </a:p>
        </p:txBody>
      </p:sp>
      <p:pic>
        <p:nvPicPr>
          <p:cNvPr id="7" name="Picture 6" descr="image-a18da2a85f95223479ab0b761025ad51.jpg">
            <a:extLst>
              <a:ext uri="{FF2B5EF4-FFF2-40B4-BE49-F238E27FC236}">
                <a16:creationId xmlns:a16="http://schemas.microsoft.com/office/drawing/2014/main" id="{5FE0F124-1825-422A-E2E7-3511FDC09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651" y="3896557"/>
            <a:ext cx="3436363" cy="25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8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E1502-59C7-308A-F092-F47B8E8FB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52699A-B542-BF37-7E13-53A9CF17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Anisotropic Viscous Drag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4D250-6DE1-016D-C35D-3C6B2831C54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FE7CCA-D737-87C4-06A1-D36388FEFEA7}"/>
              </a:ext>
            </a:extLst>
          </p:cNvPr>
          <p:cNvSpPr txBox="1"/>
          <p:nvPr/>
        </p:nvSpPr>
        <p:spPr>
          <a:xfrm>
            <a:off x="919716" y="1330452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52C86"/>
                </a:solidFill>
                <a:latin typeface="Arial"/>
              </a:defRPr>
            </a:pPr>
            <a:r>
              <a:t>Stokes regime  (Re ≪ 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0F50C-E6ED-84EA-0D56-1B5A4F7979B3}"/>
              </a:ext>
            </a:extLst>
          </p:cNvPr>
          <p:cNvSpPr txBox="1"/>
          <p:nvPr/>
        </p:nvSpPr>
        <p:spPr>
          <a:xfrm>
            <a:off x="919716" y="1741932"/>
            <a:ext cx="525780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32B"/>
                </a:solidFill>
                <a:latin typeface="Arial"/>
              </a:defRPr>
            </a:pPr>
            <a:r>
              <a:t>Inertia is negligible. The Stokes equations are linear, so drag is proportional to relative velocity.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B658A-5DA1-D368-8AAE-90C5FB7068E3}"/>
              </a:ext>
            </a:extLst>
          </p:cNvPr>
          <p:cNvSpPr txBox="1"/>
          <p:nvPr/>
        </p:nvSpPr>
        <p:spPr>
          <a:xfrm>
            <a:off x="919716" y="322326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52C86"/>
                </a:solidFill>
                <a:latin typeface="Arial"/>
              </a:defRPr>
            </a:pPr>
            <a:r>
              <a:t>Slender geometry effect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B0625-9243-0F83-D734-C37655F9B673}"/>
              </a:ext>
            </a:extLst>
          </p:cNvPr>
          <p:cNvSpPr txBox="1"/>
          <p:nvPr/>
        </p:nvSpPr>
        <p:spPr>
          <a:xfrm>
            <a:off x="919716" y="3634740"/>
            <a:ext cx="5257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32B"/>
                </a:solidFill>
                <a:latin typeface="Arial"/>
              </a:defRPr>
            </a:pPr>
            <a:r>
              <a:rPr dirty="0"/>
              <a:t>Tangential motion entrains fluid along adjacent segments, with less shear and lower resistance.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4715C-395D-5A02-A7DC-3F3D5AB732C0}"/>
              </a:ext>
            </a:extLst>
          </p:cNvPr>
          <p:cNvSpPr txBox="1"/>
          <p:nvPr/>
        </p:nvSpPr>
        <p:spPr>
          <a:xfrm>
            <a:off x="919716" y="4704588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52C86"/>
                </a:solidFill>
                <a:latin typeface="Arial"/>
              </a:defRPr>
            </a:pPr>
            <a:r>
              <a:rPr dirty="0"/>
              <a:t>Perpendicular resistance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366BD-E33F-E5AA-FB2E-BA9EC3CE0E9B}"/>
              </a:ext>
            </a:extLst>
          </p:cNvPr>
          <p:cNvSpPr txBox="1"/>
          <p:nvPr/>
        </p:nvSpPr>
        <p:spPr>
          <a:xfrm>
            <a:off x="919716" y="5116068"/>
            <a:ext cx="5257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32B"/>
                </a:solidFill>
                <a:latin typeface="Arial"/>
              </a:defRPr>
            </a:pPr>
            <a:r>
              <a:t>Transverse motion displaces fluid around the cross-section, producing greater viscous dissipation.</a:t>
            </a:r>
          </a:p>
        </p:txBody>
      </p:sp>
      <p:pic>
        <p:nvPicPr>
          <p:cNvPr id="13" name="Picture 12" descr="image-a2547147ff2f44f5f05779dc354a5aa3.jpg">
            <a:extLst>
              <a:ext uri="{FF2B5EF4-FFF2-40B4-BE49-F238E27FC236}">
                <a16:creationId xmlns:a16="http://schemas.microsoft.com/office/drawing/2014/main" id="{3F57B484-4895-F0B2-2AEA-24CB6AAA7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351" y="1303020"/>
            <a:ext cx="4355928" cy="42519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2C4733-B88D-0489-13DD-50C80223D96C}"/>
              </a:ext>
            </a:extLst>
          </p:cNvPr>
          <p:cNvSpPr txBox="1"/>
          <p:nvPr/>
        </p:nvSpPr>
        <p:spPr>
          <a:xfrm>
            <a:off x="7046196" y="5527548"/>
            <a:ext cx="42062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0">
                <a:solidFill>
                  <a:srgbClr val="852C86"/>
                </a:solidFill>
                <a:latin typeface="Cambria Math"/>
              </a:defRPr>
            </a:pPr>
            <a:r>
              <a:t>η⊥ ≈ 2η∥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A398B5-BFE4-F51C-8C32-50B0FEDDE576}"/>
              </a:ext>
            </a:extLst>
          </p:cNvPr>
          <p:cNvSpPr txBox="1"/>
          <p:nvPr/>
        </p:nvSpPr>
        <p:spPr>
          <a:xfrm>
            <a:off x="7046196" y="599389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524B59"/>
                </a:solidFill>
                <a:latin typeface="Arial"/>
              </a:defRPr>
            </a:pPr>
            <a:r>
              <a:t>Slender-filament limit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F6313B-6138-EEBB-3923-1589B94582FF}"/>
                  </a:ext>
                </a:extLst>
              </p:cNvPr>
              <p:cNvSpPr txBox="1"/>
              <p:nvPr/>
            </p:nvSpPr>
            <p:spPr>
              <a:xfrm>
                <a:off x="2510356" y="2589246"/>
                <a:ext cx="11525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∇p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F6313B-6138-EEBB-3923-1589B9458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356" y="2589246"/>
                <a:ext cx="1152560" cy="276999"/>
              </a:xfrm>
              <a:prstGeom prst="rect">
                <a:avLst/>
              </a:prstGeom>
              <a:blipFill>
                <a:blip r:embed="rId4"/>
                <a:stretch>
                  <a:fillRect l="-2174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16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3C618-E773-F542-FB9D-A0E3599B4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E2C8BB-27BD-89C2-1DEA-507755A5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Local Kinematic Decomposition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4BA56F-20CB-0CBC-CF10-DD0F8BD2656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C2A6692C-A01E-C3D0-9548-EE6401ECB2FF}"/>
              </a:ext>
            </a:extLst>
          </p:cNvPr>
          <p:cNvGrpSpPr/>
          <p:nvPr/>
        </p:nvGrpSpPr>
        <p:grpSpPr>
          <a:xfrm>
            <a:off x="6622093" y="1037292"/>
            <a:ext cx="4079424" cy="3668555"/>
            <a:chOff x="7233733" y="-390755"/>
            <a:chExt cx="4079424" cy="3668555"/>
          </a:xfrm>
        </p:grpSpPr>
        <p:sp>
          <p:nvSpPr>
            <p:cNvPr id="6" name="Arc 5">
              <a:extLst>
                <a:ext uri="{FF2B5EF4-FFF2-40B4-BE49-F238E27FC236}">
                  <a16:creationId xmlns:a16="http://schemas.microsoft.com/office/drawing/2014/main" id="{B935FFF4-1DB6-BB77-CBC5-35EEF6133ED4}"/>
                </a:ext>
              </a:extLst>
            </p:cNvPr>
            <p:cNvSpPr/>
            <p:nvPr/>
          </p:nvSpPr>
          <p:spPr>
            <a:xfrm rot="6171526">
              <a:off x="7118331" y="-275353"/>
              <a:ext cx="3668555" cy="3437752"/>
            </a:xfrm>
            <a:prstGeom prst="arc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FB1F292-F167-A085-2D41-2F96B49E04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9033" y="1956391"/>
              <a:ext cx="1084518" cy="86123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92BBC98-3417-3122-4C2A-EF4C954F72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73609" y="2158409"/>
              <a:ext cx="595424" cy="659219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881CCE0-202D-4A2D-F6C1-E86138DA0292}"/>
                    </a:ext>
                  </a:extLst>
                </p:cNvPr>
                <p:cNvSpPr txBox="1"/>
                <p:nvPr/>
              </p:nvSpPr>
              <p:spPr>
                <a:xfrm>
                  <a:off x="11043917" y="2104111"/>
                  <a:ext cx="269240" cy="2828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∥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881CCE0-202D-4A2D-F6C1-E86138DA02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3917" y="2104111"/>
                  <a:ext cx="269240" cy="282898"/>
                </a:xfrm>
                <a:prstGeom prst="rect">
                  <a:avLst/>
                </a:prstGeom>
                <a:blipFill>
                  <a:blip r:embed="rId3"/>
                  <a:stretch>
                    <a:fillRect l="-9091" r="-909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F583CA0-B462-E20D-E9F0-4FA08212E2A9}"/>
                    </a:ext>
                  </a:extLst>
                </p:cNvPr>
                <p:cNvSpPr txBox="1"/>
                <p:nvPr/>
              </p:nvSpPr>
              <p:spPr>
                <a:xfrm>
                  <a:off x="9179383" y="2124739"/>
                  <a:ext cx="3093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⊥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F583CA0-B462-E20D-E9F0-4FA08212E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9383" y="2124739"/>
                  <a:ext cx="309315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8000" r="-4000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C9DDFCF-E79C-722A-7AA7-79B19C130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88698" y="1361703"/>
              <a:ext cx="1122594" cy="81971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D4B9E94-27A9-1F0F-D617-50C132AA54B9}"/>
                </a:ext>
              </a:extLst>
            </p:cNvPr>
            <p:cNvCxnSpPr>
              <a:cxnSpLocks/>
            </p:cNvCxnSpPr>
            <p:nvPr/>
          </p:nvCxnSpPr>
          <p:spPr>
            <a:xfrm>
              <a:off x="10626381" y="1361703"/>
              <a:ext cx="527170" cy="59468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4A56D43-8160-EBC3-18D1-FC7CBA97A59A}"/>
                </a:ext>
              </a:extLst>
            </p:cNvPr>
            <p:cNvCxnSpPr/>
            <p:nvPr/>
          </p:nvCxnSpPr>
          <p:spPr>
            <a:xfrm flipV="1">
              <a:off x="10069033" y="1361703"/>
              <a:ext cx="557348" cy="1455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2EC8A1D-0A7D-ECDA-6087-6615C34F3BEA}"/>
                    </a:ext>
                  </a:extLst>
                </p:cNvPr>
                <p:cNvSpPr txBox="1"/>
                <p:nvPr/>
              </p:nvSpPr>
              <p:spPr>
                <a:xfrm>
                  <a:off x="10508885" y="1021185"/>
                  <a:ext cx="4167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rel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2EC8A1D-0A7D-ECDA-6087-6615C34F3B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8885" y="1021185"/>
                  <a:ext cx="41671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5882" r="-2941" b="-217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C341D96-04A3-7CDC-FF91-14CA6B771618}"/>
              </a:ext>
            </a:extLst>
          </p:cNvPr>
          <p:cNvSpPr txBox="1"/>
          <p:nvPr/>
        </p:nvSpPr>
        <p:spPr>
          <a:xfrm>
            <a:off x="685800" y="14447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852C86"/>
                </a:solidFill>
                <a:latin typeface="Arial"/>
              </a:defRPr>
            </a:pPr>
            <a:r>
              <a:t>Frame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0EA642-20CA-9DE7-7D3C-3F224D3DC7BF}"/>
                  </a:ext>
                </a:extLst>
              </p:cNvPr>
              <p:cNvSpPr txBox="1"/>
              <p:nvPr/>
            </p:nvSpPr>
            <p:spPr>
              <a:xfrm>
                <a:off x="685800" y="1837943"/>
                <a:ext cx="5486400" cy="33470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defRPr sz="1800" b="0">
                    <a:solidFill>
                      <a:srgbClr val="26232B"/>
                    </a:solidFill>
                    <a:latin typeface="Arial"/>
                  </a:defRPr>
                </a:pPr>
                <a:r>
                  <a:rPr dirty="0"/>
                  <a:t>Unit tangent along the local thread segment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20EA642-20CA-9DE7-7D3C-3F224D3DC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837943"/>
                <a:ext cx="5486400" cy="334707"/>
              </a:xfrm>
              <a:prstGeom prst="rect">
                <a:avLst/>
              </a:prstGeom>
              <a:blipFill>
                <a:blip r:embed="rId6"/>
                <a:stretch>
                  <a:fillRect l="-2771" t="-1111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2E5F7AAB-4CD8-01D6-4B10-A920B26A9EA0}"/>
              </a:ext>
            </a:extLst>
          </p:cNvPr>
          <p:cNvSpPr txBox="1"/>
          <p:nvPr/>
        </p:nvSpPr>
        <p:spPr>
          <a:xfrm>
            <a:off x="685800" y="2483523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852C86"/>
                </a:solidFill>
                <a:latin typeface="Arial"/>
              </a:defRPr>
            </a:pPr>
            <a:r>
              <a:rPr dirty="0"/>
              <a:t>Relative velocity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C9D78B6-68A4-BC46-8334-73AE270BBDF5}"/>
                  </a:ext>
                </a:extLst>
              </p:cNvPr>
              <p:cNvSpPr txBox="1"/>
              <p:nvPr/>
            </p:nvSpPr>
            <p:spPr>
              <a:xfrm>
                <a:off x="3056860" y="2494589"/>
                <a:ext cx="11941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rel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- 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C9D78B6-68A4-BC46-8334-73AE270BB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860" y="2494589"/>
                <a:ext cx="1194173" cy="276999"/>
              </a:xfrm>
              <a:prstGeom prst="rect">
                <a:avLst/>
              </a:prstGeom>
              <a:blipFill>
                <a:blip r:embed="rId7"/>
                <a:stretch>
                  <a:fillRect l="-4211" t="-26087" r="-11579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A21D7B-936F-326C-B3BD-DA4E4C20B86C}"/>
                  </a:ext>
                </a:extLst>
              </p:cNvPr>
              <p:cNvSpPr txBox="1"/>
              <p:nvPr/>
            </p:nvSpPr>
            <p:spPr>
              <a:xfrm>
                <a:off x="10052817" y="4176103"/>
                <a:ext cx="1690912" cy="324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rel</m:t>
                              </m:r>
                            </m:sub>
                          </m:sSub>
                        </m:e>
                      </m:ac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A21D7B-936F-326C-B3BD-DA4E4C20B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2817" y="4176103"/>
                <a:ext cx="1690912" cy="324704"/>
              </a:xfrm>
              <a:prstGeom prst="rect">
                <a:avLst/>
              </a:prstGeom>
              <a:blipFill>
                <a:blip r:embed="rId8"/>
                <a:stretch>
                  <a:fillRect l="-746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1AF9C-3507-E9DF-BC6E-B992B06EA534}"/>
                  </a:ext>
                </a:extLst>
              </p:cNvPr>
              <p:cNvSpPr txBox="1"/>
              <p:nvPr/>
            </p:nvSpPr>
            <p:spPr>
              <a:xfrm>
                <a:off x="6896562" y="2867102"/>
                <a:ext cx="2263119" cy="3124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rel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-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rel</m:t>
                              </m:r>
                            </m:sub>
                          </m:sSub>
                        </m:e>
                      </m:ac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1AF9C-3507-E9DF-BC6E-B992B06EA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562" y="2867102"/>
                <a:ext cx="2263119" cy="312458"/>
              </a:xfrm>
              <a:prstGeom prst="rect">
                <a:avLst/>
              </a:prstGeom>
              <a:blipFill>
                <a:blip r:embed="rId9"/>
                <a:stretch>
                  <a:fillRect l="-556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A28E092-49C2-2B7C-1C74-30560C7C2832}"/>
                  </a:ext>
                </a:extLst>
              </p:cNvPr>
              <p:cNvSpPr txBox="1"/>
              <p:nvPr/>
            </p:nvSpPr>
            <p:spPr>
              <a:xfrm>
                <a:off x="594775" y="3263570"/>
                <a:ext cx="2783967" cy="330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+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-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-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A28E092-49C2-2B7C-1C74-30560C7C2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775" y="3263570"/>
                <a:ext cx="2783967" cy="330860"/>
              </a:xfrm>
              <a:prstGeom prst="rect">
                <a:avLst/>
              </a:prstGeom>
              <a:blipFill>
                <a:blip r:embed="rId10"/>
                <a:stretch>
                  <a:fillRect l="-913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7A79F8D-E420-BC4C-64B6-C9478F31D3F9}"/>
                  </a:ext>
                </a:extLst>
              </p:cNvPr>
              <p:cNvSpPr txBox="1"/>
              <p:nvPr/>
            </p:nvSpPr>
            <p:spPr>
              <a:xfrm>
                <a:off x="2512004" y="5065203"/>
                <a:ext cx="4474943" cy="330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-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rel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-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rel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 − (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rel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7A79F8D-E420-BC4C-64B6-C9478F31D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004" y="5065203"/>
                <a:ext cx="4474943" cy="330860"/>
              </a:xfrm>
              <a:prstGeom prst="rect">
                <a:avLst/>
              </a:prstGeom>
              <a:blipFill>
                <a:blip r:embed="rId11"/>
                <a:stretch>
                  <a:fillRect l="-565" r="-1130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460F8384-ECC1-22B5-5BEF-BAF2F1391C6F}"/>
              </a:ext>
            </a:extLst>
          </p:cNvPr>
          <p:cNvGrpSpPr/>
          <p:nvPr/>
        </p:nvGrpSpPr>
        <p:grpSpPr>
          <a:xfrm>
            <a:off x="1013880" y="5477292"/>
            <a:ext cx="1945758" cy="1172476"/>
            <a:chOff x="520995" y="5002715"/>
            <a:chExt cx="1945758" cy="1172476"/>
          </a:xfrm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CAD66184-915A-0FFC-5E1C-5EE5250285CE}"/>
                </a:ext>
              </a:extLst>
            </p:cNvPr>
            <p:cNvSpPr/>
            <p:nvPr/>
          </p:nvSpPr>
          <p:spPr>
            <a:xfrm>
              <a:off x="520995" y="5484611"/>
              <a:ext cx="1945758" cy="690580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01AE9B8-39E5-2CDA-F939-D1AFE1FEDA20}"/>
                </a:ext>
              </a:extLst>
            </p:cNvPr>
            <p:cNvSpPr txBox="1"/>
            <p:nvPr/>
          </p:nvSpPr>
          <p:spPr>
            <a:xfrm>
              <a:off x="685800" y="5553399"/>
              <a:ext cx="1653363" cy="5232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defRPr sz="1700" b="0">
                  <a:solidFill>
                    <a:srgbClr val="26232B"/>
                  </a:solidFill>
                  <a:latin typeface="Arial"/>
                </a:defRPr>
              </a:pPr>
              <a:r>
                <a:rPr dirty="0"/>
                <a:t>Local drag force</a:t>
              </a:r>
              <a:br>
                <a:rPr dirty="0"/>
              </a:br>
              <a:r>
                <a:rPr dirty="0"/>
                <a:t>per unit length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B8464BB-D706-0C64-E344-96D9763CA8AB}"/>
                </a:ext>
              </a:extLst>
            </p:cNvPr>
            <p:cNvCxnSpPr>
              <a:cxnSpLocks/>
              <a:endCxn id="55" idx="0"/>
            </p:cNvCxnSpPr>
            <p:nvPr/>
          </p:nvCxnSpPr>
          <p:spPr>
            <a:xfrm flipH="1">
              <a:off x="1493874" y="5002715"/>
              <a:ext cx="527533" cy="4818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1EE0D1A-27DB-0A14-7A11-9F781A8A9212}"/>
              </a:ext>
            </a:extLst>
          </p:cNvPr>
          <p:cNvGrpSpPr/>
          <p:nvPr/>
        </p:nvGrpSpPr>
        <p:grpSpPr>
          <a:xfrm>
            <a:off x="4623392" y="5396063"/>
            <a:ext cx="1945758" cy="1266727"/>
            <a:chOff x="4623392" y="5396063"/>
            <a:chExt cx="1945758" cy="1266727"/>
          </a:xfrm>
        </p:grpSpPr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86DCE368-7ABB-02F9-927D-9F837F280A21}"/>
                </a:ext>
              </a:extLst>
            </p:cNvPr>
            <p:cNvSpPr/>
            <p:nvPr/>
          </p:nvSpPr>
          <p:spPr>
            <a:xfrm>
              <a:off x="4623392" y="5972210"/>
              <a:ext cx="1945758" cy="690580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4D7EC8-6248-731E-9E99-0E57915CAD9F}"/>
                </a:ext>
              </a:extLst>
            </p:cNvPr>
            <p:cNvSpPr txBox="1"/>
            <p:nvPr/>
          </p:nvSpPr>
          <p:spPr>
            <a:xfrm>
              <a:off x="4932403" y="6055890"/>
              <a:ext cx="1367976" cy="5232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1700" b="0">
                  <a:solidFill>
                    <a:srgbClr val="26232B"/>
                  </a:solidFill>
                  <a:latin typeface="Arial"/>
                </a:defRPr>
              </a:pPr>
              <a:r>
                <a:rPr dirty="0"/>
                <a:t>Normal drag</a:t>
              </a:r>
              <a:br>
                <a:rPr dirty="0"/>
              </a:br>
              <a:r>
                <a:rPr dirty="0"/>
                <a:t>coefficient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EC30DB1-03BC-5538-44F4-F2E7A816BA07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>
              <a:off x="4749476" y="5396063"/>
              <a:ext cx="375417" cy="5761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29DB802-CFDF-3A95-20EC-8FCFEAD700B6}"/>
              </a:ext>
            </a:extLst>
          </p:cNvPr>
          <p:cNvGrpSpPr/>
          <p:nvPr/>
        </p:nvGrpSpPr>
        <p:grpSpPr>
          <a:xfrm>
            <a:off x="3330032" y="4155517"/>
            <a:ext cx="3078406" cy="963160"/>
            <a:chOff x="3330032" y="4155517"/>
            <a:chExt cx="3078406" cy="963160"/>
          </a:xfrm>
        </p:grpSpPr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13E52E52-4A5C-71B2-D1B6-6070064C1E6E}"/>
                </a:ext>
              </a:extLst>
            </p:cNvPr>
            <p:cNvSpPr/>
            <p:nvPr/>
          </p:nvSpPr>
          <p:spPr>
            <a:xfrm>
              <a:off x="4462680" y="4155517"/>
              <a:ext cx="1945758" cy="690580"/>
            </a:xfrm>
            <a:prstGeom prst="round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EA260A8-7C9B-EA63-3DCF-0DAC85261FC6}"/>
                </a:ext>
              </a:extLst>
            </p:cNvPr>
            <p:cNvSpPr txBox="1"/>
            <p:nvPr/>
          </p:nvSpPr>
          <p:spPr>
            <a:xfrm>
              <a:off x="4652254" y="4224305"/>
              <a:ext cx="1557670" cy="5232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defRPr sz="1700" b="0">
                  <a:solidFill>
                    <a:srgbClr val="26232B"/>
                  </a:solidFill>
                  <a:latin typeface="Arial"/>
                </a:defRPr>
              </a:pPr>
              <a:r>
                <a:rPr dirty="0"/>
                <a:t>Tangential drag</a:t>
              </a:r>
              <a:br>
                <a:rPr dirty="0"/>
              </a:br>
              <a:r>
                <a:rPr dirty="0"/>
                <a:t>coefficient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4CFB9BC-178A-25C5-282C-25694575DF3E}"/>
                </a:ext>
              </a:extLst>
            </p:cNvPr>
            <p:cNvCxnSpPr>
              <a:cxnSpLocks/>
              <a:endCxn id="60" idx="1"/>
            </p:cNvCxnSpPr>
            <p:nvPr/>
          </p:nvCxnSpPr>
          <p:spPr>
            <a:xfrm flipV="1">
              <a:off x="3330032" y="4500807"/>
              <a:ext cx="1132648" cy="6178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551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904E-EAFC-C0D0-5AC8-0FAF2A42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F07254-25C3-A048-D910-9F4D9394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Drag Coefficients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0409C-BD2B-E41F-423B-3A4E24882AD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34E4462-B4F9-6F89-2F97-D6DE3A9AC57E}"/>
                  </a:ext>
                </a:extLst>
              </p:cNvPr>
              <p:cNvSpPr txBox="1"/>
              <p:nvPr/>
            </p:nvSpPr>
            <p:spPr>
              <a:xfrm>
                <a:off x="3128349" y="1433291"/>
                <a:ext cx="1436547" cy="7504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𝜋𝜇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-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34E4462-B4F9-6F89-2F97-D6DE3A9AC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349" y="1433291"/>
                <a:ext cx="1436547" cy="750462"/>
              </a:xfrm>
              <a:prstGeom prst="rect">
                <a:avLst/>
              </a:prstGeom>
              <a:blipFill>
                <a:blip r:embed="rId3"/>
                <a:stretch>
                  <a:fillRect l="-3509" t="-3333" r="-2632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28742-9FC5-3071-616E-0D41C61CCB2C}"/>
                  </a:ext>
                </a:extLst>
              </p:cNvPr>
              <p:cNvSpPr txBox="1"/>
              <p:nvPr/>
            </p:nvSpPr>
            <p:spPr>
              <a:xfrm>
                <a:off x="5865969" y="1433291"/>
                <a:ext cx="1598451" cy="7494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𝜋𝜇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28742-9FC5-3071-616E-0D41C61CC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969" y="1433291"/>
                <a:ext cx="1598451" cy="749436"/>
              </a:xfrm>
              <a:prstGeom prst="rect">
                <a:avLst/>
              </a:prstGeom>
              <a:blipFill>
                <a:blip r:embed="rId4"/>
                <a:stretch>
                  <a:fillRect l="-2362" t="-1667" r="-315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D6ECF7-6F4B-DE7D-24F7-F5F916DC0516}"/>
                  </a:ext>
                </a:extLst>
              </p:cNvPr>
              <p:cNvSpPr txBox="1"/>
              <p:nvPr/>
            </p:nvSpPr>
            <p:spPr>
              <a:xfrm>
                <a:off x="4510854" y="5697811"/>
                <a:ext cx="3170291" cy="9381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ln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≈1.87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D6ECF7-6F4B-DE7D-24F7-F5F916DC0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854" y="5697811"/>
                <a:ext cx="3170291" cy="938142"/>
              </a:xfrm>
              <a:prstGeom prst="rect">
                <a:avLst/>
              </a:prstGeom>
              <a:blipFill>
                <a:blip r:embed="rId5"/>
                <a:stretch>
                  <a:fillRect l="-2400" r="-12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12F3075-4DFD-D9C0-5811-81FC0AB7038A}"/>
              </a:ext>
            </a:extLst>
          </p:cNvPr>
          <p:cNvGrpSpPr/>
          <p:nvPr/>
        </p:nvGrpSpPr>
        <p:grpSpPr>
          <a:xfrm>
            <a:off x="293935" y="2966484"/>
            <a:ext cx="5043609" cy="2424223"/>
            <a:chOff x="293935" y="2966484"/>
            <a:chExt cx="5043609" cy="2424223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7A18CB6D-2507-1055-86B8-668EC0F2692D}"/>
                </a:ext>
              </a:extLst>
            </p:cNvPr>
            <p:cNvSpPr/>
            <p:nvPr/>
          </p:nvSpPr>
          <p:spPr>
            <a:xfrm>
              <a:off x="293935" y="2966484"/>
              <a:ext cx="5043609" cy="2424223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DD921D4-8C87-8121-CE70-42E2EB3ECF65}"/>
                    </a:ext>
                  </a:extLst>
                </p:cNvPr>
                <p:cNvSpPr txBox="1"/>
                <p:nvPr/>
              </p:nvSpPr>
              <p:spPr>
                <a:xfrm>
                  <a:off x="464055" y="3522184"/>
                  <a:ext cx="4703368" cy="18204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buNone/>
                  </a:pPr>
                  <a:r>
                    <a:rPr lang="en-US" sz="1400" b="1" dirty="0">
                      <a:effectLst/>
                      <a:latin typeface="Google Sans Text"/>
                    </a:rPr>
                    <a:t>Parallel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𝜋𝜇</m:t>
                      </m:r>
                    </m:oMath>
                  </a14:m>
                  <a:r>
                    <a:rPr lang="en-US" sz="1400" b="1" dirty="0">
                      <a:effectLst/>
                      <a:latin typeface="Google Sans Text"/>
                    </a:rPr>
                    <a:t>):</a:t>
                  </a:r>
                  <a:r>
                    <a:rPr lang="en-US" sz="1400" dirty="0">
                      <a:effectLst/>
                      <a:latin typeface="Google Sans Text"/>
                    </a:rPr>
                    <a:t> Sliding the thread along its axis generates pure viscous shear stress integrated around the cylinder's perimeter.</a:t>
                  </a:r>
                </a:p>
                <a:p>
                  <a:pPr algn="just">
                    <a:buNone/>
                  </a:pPr>
                  <a:endParaRPr lang="en-US" sz="1400" dirty="0">
                    <a:effectLst/>
                    <a:latin typeface="Google Sans Text"/>
                  </a:endParaRPr>
                </a:p>
                <a:p>
                  <a:pPr algn="just">
                    <a:buNone/>
                  </a:pPr>
                  <a:r>
                    <a:rPr lang="en-US" sz="1400" b="1" dirty="0">
                      <a:effectLst/>
                      <a:latin typeface="Google Sans Text"/>
                    </a:rPr>
                    <a:t>Perpendicular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𝜋𝜇</m:t>
                      </m:r>
                    </m:oMath>
                  </a14:m>
                  <a:r>
                    <a:rPr lang="en-US" sz="1400" b="1" dirty="0">
                      <a:effectLst/>
                      <a:latin typeface="Google Sans Text"/>
                    </a:rPr>
                    <a:t>):</a:t>
                  </a:r>
                  <a:r>
                    <a:rPr lang="en-US" sz="1400" dirty="0">
                      <a:effectLst/>
                      <a:latin typeface="Google Sans Text"/>
                    </a:rPr>
                    <a:t> Moving sideways forces fluid around a broad cross-section, adding a frontal pressure difference to the shear stress. This strictly doubles the asymptotic resistance.</a:t>
                  </a:r>
                  <a:endParaRPr lang="en-US" dirty="0">
                    <a:effectLst/>
                    <a:latin typeface="Google Sans Text"/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DD921D4-8C87-8121-CE70-42E2EB3ECF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055" y="3522184"/>
                  <a:ext cx="4703368" cy="1820498"/>
                </a:xfrm>
                <a:prstGeom prst="rect">
                  <a:avLst/>
                </a:prstGeom>
                <a:blipFill>
                  <a:blip r:embed="rId6"/>
                  <a:stretch>
                    <a:fillRect l="-269" t="-694" r="-1075" b="-2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8525DC-0E49-7164-9063-6DF276B43668}"/>
                </a:ext>
              </a:extLst>
            </p:cNvPr>
            <p:cNvSpPr txBox="1"/>
            <p:nvPr/>
          </p:nvSpPr>
          <p:spPr>
            <a:xfrm>
              <a:off x="1959818" y="3059668"/>
              <a:ext cx="1293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Anisotropy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624D3C-6097-5C5D-76C8-3140DCC55442}"/>
              </a:ext>
            </a:extLst>
          </p:cNvPr>
          <p:cNvGrpSpPr/>
          <p:nvPr/>
        </p:nvGrpSpPr>
        <p:grpSpPr>
          <a:xfrm>
            <a:off x="5865969" y="2190307"/>
            <a:ext cx="6152364" cy="3200399"/>
            <a:chOff x="5865969" y="2190307"/>
            <a:chExt cx="6152364" cy="320039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4862FCB-243C-D5F2-2DD2-A425A3318AFF}"/>
                </a:ext>
              </a:extLst>
            </p:cNvPr>
            <p:cNvGrpSpPr/>
            <p:nvPr/>
          </p:nvGrpSpPr>
          <p:grpSpPr>
            <a:xfrm>
              <a:off x="5865969" y="2966483"/>
              <a:ext cx="6152364" cy="2424223"/>
              <a:chOff x="5865969" y="2966483"/>
              <a:chExt cx="6152364" cy="2424223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A5243488-D4DE-9670-67B4-4721AA22F7DF}"/>
                  </a:ext>
                </a:extLst>
              </p:cNvPr>
              <p:cNvSpPr/>
              <p:nvPr/>
            </p:nvSpPr>
            <p:spPr>
              <a:xfrm>
                <a:off x="5865969" y="2966483"/>
                <a:ext cx="6152364" cy="2424223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F7D9E9E3-FCD1-BF1D-E65E-B083C1EA09CB}"/>
                      </a:ext>
                    </a:extLst>
                  </p:cNvPr>
                  <p:cNvSpPr txBox="1"/>
                  <p:nvPr/>
                </p:nvSpPr>
                <p:spPr>
                  <a:xfrm>
                    <a:off x="6284074" y="3165996"/>
                    <a:ext cx="5613991" cy="217668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buNone/>
                    </a:pPr>
                    <a:r>
                      <a:rPr lang="en-US" sz="1400" b="1" dirty="0">
                        <a:effectLst/>
                        <a:latin typeface="Google Sans Text"/>
                      </a:rPr>
                      <a:t>Point-Force Decay:</a:t>
                    </a:r>
                    <a:r>
                      <a:rPr lang="en-US" sz="1400" dirty="0">
                        <a:effectLst/>
                        <a:latin typeface="Google Sans Text"/>
                      </a:rPr>
                      <a:t> A point force in Stokes flow decays as </a:t>
                    </a:r>
                    <a14:m>
                      <m:oMath xmlns:m="http://schemas.openxmlformats.org/officeDocument/2006/math">
                        <m:r>
                          <a:rPr lang="en-US" sz="14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f>
                          <m:fPr>
                            <m:ctrlPr>
                              <a:rPr lang="en-US" sz="140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</m:t>
                            </m:r>
                          </m:den>
                        </m:f>
                      </m:oMath>
                    </a14:m>
                    <a:endParaRPr lang="en-US" sz="1400" dirty="0">
                      <a:effectLst/>
                      <a:latin typeface="Google Sans Text"/>
                    </a:endParaRPr>
                  </a:p>
                  <a:p>
                    <a:pPr>
                      <a:buNone/>
                    </a:pPr>
                    <a:endParaRPr lang="en-US" sz="1400" b="1" dirty="0">
                      <a:effectLst/>
                      <a:latin typeface="Google Sans Text"/>
                    </a:endParaRPr>
                  </a:p>
                  <a:p>
                    <a:pPr>
                      <a:buNone/>
                    </a:pPr>
                    <a:r>
                      <a:rPr lang="en-US" sz="1400" b="1" dirty="0">
                        <a:effectLst/>
                        <a:latin typeface="Google Sans Text"/>
                      </a:rPr>
                      <a:t>Line Integration:</a:t>
                    </a:r>
                    <a:r>
                      <a:rPr lang="en-US" sz="1400" dirty="0">
                        <a:effectLst/>
                        <a:latin typeface="Google Sans Text"/>
                      </a:rPr>
                      <a:t> Summing these disturbances over a line of length </a:t>
                    </a:r>
                    <a:r>
                      <a:rPr lang="en-US" sz="1400" i="1" dirty="0">
                        <a:effectLst/>
                        <a:latin typeface="Google Sans Text"/>
                      </a:rPr>
                      <a:t>L</a:t>
                    </a:r>
                    <a:r>
                      <a:rPr lang="en-US" sz="1400" dirty="0">
                        <a:effectLst/>
                        <a:latin typeface="Google Sans Text"/>
                      </a:rPr>
                      <a:t> evaluated at boundary radius </a:t>
                    </a:r>
                    <a:r>
                      <a:rPr lang="en-US" sz="1400" i="1" dirty="0">
                        <a:effectLst/>
                        <a:latin typeface="Google Sans Text"/>
                      </a:rPr>
                      <a:t>r</a:t>
                    </a:r>
                    <a:r>
                      <a:rPr lang="en-US" sz="1400" dirty="0">
                        <a:effectLst/>
                        <a:latin typeface="Google Sans Text"/>
                      </a:rPr>
                      <a:t> requires evaluating:</a:t>
                    </a:r>
                  </a:p>
                  <a:p>
                    <a:pPr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trlPr>
                                <a:rPr lang="en-US" sz="140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lang="en-US" sz="1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sz="140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dR</m:t>
                              </m:r>
                              <m:r>
                                <a:rPr lang="en-US" sz="14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</m:oMath>
                      </m:oMathPara>
                    </a14:m>
                    <a:endParaRPr lang="en-US" sz="1400" dirty="0">
                      <a:effectLst/>
                      <a:latin typeface="Google Sans Text"/>
                    </a:endParaRPr>
                  </a:p>
                  <a:p>
                    <a:pPr>
                      <a:buNone/>
                    </a:pPr>
                    <a:endParaRPr lang="en-US" sz="1400" dirty="0">
                      <a:effectLst/>
                      <a:latin typeface="Google Sans Text"/>
                    </a:endParaRPr>
                  </a:p>
                  <a:p>
                    <a:pPr>
                      <a:buNone/>
                    </a:pPr>
                    <a:r>
                      <a:rPr lang="en-US" sz="1400" dirty="0">
                        <a:effectLst/>
                        <a:latin typeface="Google Sans Text"/>
                      </a:rPr>
                      <a:t>Physical meaning: The hydrodynamics of a slender filament are dominated by long-range viscous interactions along its length.</a:t>
                    </a:r>
                  </a:p>
                </p:txBody>
              </p:sp>
            </mc:Choice>
            <mc:Fallback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F7D9E9E3-FCD1-BF1D-E65E-B083C1EA09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4074" y="3165996"/>
                    <a:ext cx="5613991" cy="217668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26" b="-2790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17978B6-1D3D-F0AF-DBB7-43ED778A013A}"/>
                    </a:ext>
                  </a:extLst>
                </p:cNvPr>
                <p:cNvSpPr txBox="1"/>
                <p:nvPr/>
              </p:nvSpPr>
              <p:spPr>
                <a:xfrm>
                  <a:off x="7850285" y="2193360"/>
                  <a:ext cx="1481644" cy="5068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4"/>
                      </a:solidFill>
                    </a:rPr>
                    <a:t>Why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 ?</m:t>
                      </m:r>
                    </m:oMath>
                  </a14:m>
                  <a:endParaRPr lang="en-US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17978B6-1D3D-F0AF-DBB7-43ED778A0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0285" y="2193360"/>
                  <a:ext cx="1481644" cy="506870"/>
                </a:xfrm>
                <a:prstGeom prst="rect">
                  <a:avLst/>
                </a:prstGeom>
                <a:blipFill>
                  <a:blip r:embed="rId8"/>
                  <a:stretch>
                    <a:fillRect l="-4274" b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DA8D3A4-C407-D286-A50D-EC7BD25095E5}"/>
                </a:ext>
              </a:extLst>
            </p:cNvPr>
            <p:cNvCxnSpPr/>
            <p:nvPr/>
          </p:nvCxnSpPr>
          <p:spPr>
            <a:xfrm>
              <a:off x="6858000" y="2190307"/>
              <a:ext cx="1733107" cy="7761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pic>
        <p:nvPicPr>
          <p:cNvPr id="22" name="Thread in wind with length L and cross-sectional radius r" descr="image-6d682c7129c0e6e3910a1c931f51f33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9656" y="783053"/>
            <a:ext cx="3310127" cy="146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7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898F4-587D-0E8B-6E92-640E9CBA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E65641-BB1A-1F7F-B312-EB5D23308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Electrostatic Force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3DB38D-E599-6C7D-FDC8-6666584E765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9DBFC61-863A-2378-6F1E-BE20A73D0FA9}"/>
              </a:ext>
            </a:extLst>
          </p:cNvPr>
          <p:cNvGrpSpPr/>
          <p:nvPr/>
        </p:nvGrpSpPr>
        <p:grpSpPr>
          <a:xfrm>
            <a:off x="7121369" y="0"/>
            <a:ext cx="3437752" cy="3668555"/>
            <a:chOff x="6622093" y="1037292"/>
            <a:chExt cx="3437752" cy="3668555"/>
          </a:xfrm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C99D533C-47F2-0DF1-2C11-E72642AF0B03}"/>
                </a:ext>
              </a:extLst>
            </p:cNvPr>
            <p:cNvSpPr/>
            <p:nvPr/>
          </p:nvSpPr>
          <p:spPr>
            <a:xfrm rot="6171526">
              <a:off x="6506691" y="1152694"/>
              <a:ext cx="3668555" cy="3437752"/>
            </a:xfrm>
            <a:prstGeom prst="arc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60941A8-5409-0EA4-33EF-7B6EC5802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7393" y="3429000"/>
              <a:ext cx="0" cy="8166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5B191B-37BD-38CC-73EC-C675CF8018F1}"/>
                    </a:ext>
                  </a:extLst>
                </p:cNvPr>
                <p:cNvSpPr txBox="1"/>
                <p:nvPr/>
              </p:nvSpPr>
              <p:spPr>
                <a:xfrm>
                  <a:off x="9172099" y="3369635"/>
                  <a:ext cx="237180" cy="3186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35B191B-37BD-38CC-73EC-C675CF801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2099" y="3369635"/>
                  <a:ext cx="237180" cy="318613"/>
                </a:xfrm>
                <a:prstGeom prst="rect">
                  <a:avLst/>
                </a:prstGeom>
                <a:blipFill>
                  <a:blip r:embed="rId3"/>
                  <a:stretch>
                    <a:fillRect l="-21053"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30F4FF-FF9C-DC0B-8311-8CBA6014E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9279" y="4188282"/>
              <a:ext cx="133174" cy="1244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5B9690F-4E69-29C7-D1F7-86F2C2D5C06B}"/>
                  </a:ext>
                </a:extLst>
              </p:cNvPr>
              <p:cNvSpPr txBox="1"/>
              <p:nvPr/>
            </p:nvSpPr>
            <p:spPr>
              <a:xfrm>
                <a:off x="7975538" y="2071422"/>
                <a:ext cx="1304716" cy="3186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5B9690F-4E69-29C7-D1F7-86F2C2D5C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538" y="2071422"/>
                <a:ext cx="1304716" cy="318613"/>
              </a:xfrm>
              <a:prstGeom prst="rect">
                <a:avLst/>
              </a:prstGeom>
              <a:blipFill>
                <a:blip r:embed="rId4"/>
                <a:stretch>
                  <a:fillRect l="-2885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3F88AAC4-C776-7EAE-9701-AEFD236C1528}"/>
              </a:ext>
            </a:extLst>
          </p:cNvPr>
          <p:cNvSpPr txBox="1"/>
          <p:nvPr/>
        </p:nvSpPr>
        <p:spPr>
          <a:xfrm>
            <a:off x="6789953" y="1725358"/>
            <a:ext cx="2881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Electrostatic force per unit length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E18159-8962-6D91-4B13-72C56BF3D218}"/>
              </a:ext>
            </a:extLst>
          </p:cNvPr>
          <p:cNvSpPr txBox="1"/>
          <p:nvPr/>
        </p:nvSpPr>
        <p:spPr>
          <a:xfrm>
            <a:off x="667386" y="1588372"/>
            <a:ext cx="4869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For the experiment of Morley and Gorham, the fit is given by: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6363F44-C2D5-D23B-0942-2817D704FB54}"/>
                  </a:ext>
                </a:extLst>
              </p:cNvPr>
              <p:cNvSpPr txBox="1"/>
              <p:nvPr/>
            </p:nvSpPr>
            <p:spPr>
              <a:xfrm>
                <a:off x="1399743" y="2398209"/>
                <a:ext cx="3280064" cy="287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6363F44-C2D5-D23B-0942-2817D704F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743" y="2398209"/>
                <a:ext cx="3280064" cy="287323"/>
              </a:xfrm>
              <a:prstGeom prst="rect">
                <a:avLst/>
              </a:prstGeom>
              <a:blipFill>
                <a:blip r:embed="rId5"/>
                <a:stretch>
                  <a:fillRect l="-386" t="-41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9A2AB6-34FF-C04B-3E4A-D6114B70786B}"/>
                  </a:ext>
                </a:extLst>
              </p:cNvPr>
              <p:cNvSpPr txBox="1"/>
              <p:nvPr/>
            </p:nvSpPr>
            <p:spPr>
              <a:xfrm>
                <a:off x="690768" y="2933173"/>
                <a:ext cx="4529817" cy="4332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=2.52×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1.51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mm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5.07×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7.93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mm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7.41×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9A2AB6-34FF-C04B-3E4A-D6114B707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68" y="2933173"/>
                <a:ext cx="4529817" cy="433260"/>
              </a:xfrm>
              <a:prstGeom prst="rect">
                <a:avLst/>
              </a:prstGeom>
              <a:blipFill>
                <a:blip r:embed="rId6"/>
                <a:stretch>
                  <a:fillRect l="-1401" r="-840" b="-2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8F5AFC8-CA1E-F9B6-CAE6-CA3B7541371F}"/>
                  </a:ext>
                </a:extLst>
              </p:cNvPr>
              <p:cNvSpPr txBox="1"/>
              <p:nvPr/>
            </p:nvSpPr>
            <p:spPr>
              <a:xfrm>
                <a:off x="1672399" y="4067736"/>
                <a:ext cx="811756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This model will be used in only one test, to reproduce the results in Morley and Gorham paper. For all the other simulations presented in this presentation we will consider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8F5AFC8-CA1E-F9B6-CAE6-CA3B75413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399" y="4067736"/>
                <a:ext cx="8117566" cy="923330"/>
              </a:xfrm>
              <a:prstGeom prst="rect">
                <a:avLst/>
              </a:prstGeom>
              <a:blipFill>
                <a:blip r:embed="rId7"/>
                <a:stretch>
                  <a:fillRect l="-625" t="-2703" r="-1094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48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78C06-0274-8E99-4E67-A149ADCA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C01121-74DA-2023-C9AC-3D2963BE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Columb Repulsion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42487-A373-B1A3-1774-58E1B3A5C58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840A7C-B266-394F-8E44-FE49E600FCB9}"/>
              </a:ext>
            </a:extLst>
          </p:cNvPr>
          <p:cNvSpPr txBox="1"/>
          <p:nvPr/>
        </p:nvSpPr>
        <p:spPr>
          <a:xfrm>
            <a:off x="1027226" y="1370694"/>
            <a:ext cx="246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Tip-charged threads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A5F86-AA61-3AAB-E90B-C5E53D6771EE}"/>
              </a:ext>
            </a:extLst>
          </p:cNvPr>
          <p:cNvSpPr txBox="1"/>
          <p:nvPr/>
        </p:nvSpPr>
        <p:spPr>
          <a:xfrm>
            <a:off x="7382538" y="1370694"/>
            <a:ext cx="327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Uniformly distributed charges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BBBF84-F22D-2E38-4D45-4B3908865412}"/>
                  </a:ext>
                </a:extLst>
              </p:cNvPr>
              <p:cNvSpPr txBox="1"/>
              <p:nvPr/>
            </p:nvSpPr>
            <p:spPr>
              <a:xfrm>
                <a:off x="1053310" y="1830672"/>
                <a:ext cx="3540393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baseline="-25000" smtClean="0">
                          <a:latin typeface="Cambria Math" panose="02040503050406030204" pitchFamily="18" charset="0"/>
                        </a:rPr>
                        <m:t>tip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1" baseline="-2500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k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BBBF84-F22D-2E38-4D45-4B3908865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310" y="1830672"/>
                <a:ext cx="3540393" cy="693844"/>
              </a:xfrm>
              <a:prstGeom prst="rect">
                <a:avLst/>
              </a:prstGeom>
              <a:blipFill>
                <a:blip r:embed="rId3"/>
                <a:stretch>
                  <a:fillRect l="-1075" t="-140000" b="-19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1BE7D-379A-B7BC-4B78-511D9CD231C8}"/>
                  </a:ext>
                </a:extLst>
              </p:cNvPr>
              <p:cNvSpPr txBox="1"/>
              <p:nvPr/>
            </p:nvSpPr>
            <p:spPr>
              <a:xfrm>
                <a:off x="7133171" y="1833973"/>
                <a:ext cx="4093685" cy="702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b="0" i="1" baseline="-2500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sub>
                        <m:sup/>
                        <m:e>
                          <m:nary>
                            <m:nary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 −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’)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x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k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 −</m:t>
                                          </m:r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x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i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s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’)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ds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1BE7D-379A-B7BC-4B78-511D9CD23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171" y="1833973"/>
                <a:ext cx="4093685" cy="702628"/>
              </a:xfrm>
              <a:prstGeom prst="rect">
                <a:avLst/>
              </a:prstGeom>
              <a:blipFill>
                <a:blip r:embed="rId4"/>
                <a:stretch>
                  <a:fillRect t="-158929" b="-230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oulomb repulsion between equal charges concentrated at two filament tip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226" y="2885191"/>
            <a:ext cx="4165684" cy="2468880"/>
          </a:xfrm>
          <a:prstGeom prst="rect">
            <a:avLst/>
          </a:prstGeom>
        </p:spPr>
      </p:pic>
      <p:pic>
        <p:nvPicPr>
          <p:cNvPr id="9" name="Picture 8" descr="Coulomb repulsion between charge elements uniformly distributed along two filaments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0893" y="2885191"/>
            <a:ext cx="2870073" cy="24688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7CD6FB-6667-9D12-D781-95ED869A0D17}"/>
              </a:ext>
            </a:extLst>
          </p:cNvPr>
          <p:cNvSpPr txBox="1"/>
          <p:nvPr/>
        </p:nvSpPr>
        <p:spPr>
          <a:xfrm>
            <a:off x="820894" y="5714746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dirty="0">
                <a:effectLst/>
                <a:latin typeface="Helvetica" pitchFamily="2" charset="0"/>
              </a:rPr>
              <a:t>E. L. Morley and P. W. Gorham, “</a:t>
            </a:r>
            <a:r>
              <a:rPr lang="en-US" sz="1000" i="1" dirty="0">
                <a:effectLst/>
                <a:latin typeface="Helvetica" pitchFamily="2" charset="0"/>
              </a:rPr>
              <a:t>Evidence for nanocoulomb charges on spider ballooning silk</a:t>
            </a:r>
            <a:r>
              <a:rPr lang="en-US" sz="1000" dirty="0">
                <a:effectLst/>
                <a:latin typeface="Helvetica" pitchFamily="2" charset="0"/>
              </a:rPr>
              <a:t>”, Phys. Rev. E 102, 012403 (2020); preprint arXiv:1912.02335</a:t>
            </a:r>
          </a:p>
        </p:txBody>
      </p:sp>
    </p:spTree>
    <p:extLst>
      <p:ext uri="{BB962C8B-B14F-4D97-AF65-F5344CB8AC3E}">
        <p14:creationId xmlns:p14="http://schemas.microsoft.com/office/powerpoint/2010/main" val="1236063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C65834E-0819-55E9-41C0-4AB6FC03DF54}"/>
              </a:ext>
            </a:extLst>
          </p:cNvPr>
          <p:cNvGrpSpPr/>
          <p:nvPr/>
        </p:nvGrpSpPr>
        <p:grpSpPr>
          <a:xfrm>
            <a:off x="2052197" y="5202500"/>
            <a:ext cx="2650603" cy="1319547"/>
            <a:chOff x="2052197" y="5202500"/>
            <a:chExt cx="2650603" cy="1319547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AEF87E92-22BA-6C8F-702F-537C06CC1A50}"/>
                </a:ext>
              </a:extLst>
            </p:cNvPr>
            <p:cNvSpPr/>
            <p:nvPr/>
          </p:nvSpPr>
          <p:spPr>
            <a:xfrm>
              <a:off x="3102015" y="5202500"/>
              <a:ext cx="717631" cy="526683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80D019-7AEE-902E-A0FF-AD0F52F6FBCB}"/>
                </a:ext>
              </a:extLst>
            </p:cNvPr>
            <p:cNvSpPr txBox="1"/>
            <p:nvPr/>
          </p:nvSpPr>
          <p:spPr>
            <a:xfrm>
              <a:off x="2052197" y="6152715"/>
              <a:ext cx="2650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>
                      <a:lumMod val="75000"/>
                    </a:schemeClr>
                  </a:solidFill>
                </a:rPr>
                <a:t>zero for uniform charge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C47BA0B-9238-DA34-ECD6-0A39C60AB644}"/>
                </a:ext>
              </a:extLst>
            </p:cNvPr>
            <p:cNvCxnSpPr>
              <a:stCxn id="18" idx="2"/>
              <a:endCxn id="19" idx="0"/>
            </p:cNvCxnSpPr>
            <p:nvPr/>
          </p:nvCxnSpPr>
          <p:spPr>
            <a:xfrm flipH="1">
              <a:off x="3377499" y="5729183"/>
              <a:ext cx="83332" cy="423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02EA4550-F326-0AC7-13DE-7FF4EA0F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Equilibrium Equations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19BF7-235C-64CA-8107-6BFBA4BCAD0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865" y="6354373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0DEB4B-04F7-7DFB-7BCD-130CC13D6389}"/>
                  </a:ext>
                </a:extLst>
              </p:cNvPr>
              <p:cNvSpPr txBox="1"/>
              <p:nvPr/>
            </p:nvSpPr>
            <p:spPr>
              <a:xfrm>
                <a:off x="1295722" y="5179051"/>
                <a:ext cx="2922018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60DEB4B-04F7-7DFB-7BCD-130CC13D6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722" y="5179051"/>
                <a:ext cx="2922018" cy="526683"/>
              </a:xfrm>
              <a:prstGeom prst="rect">
                <a:avLst/>
              </a:prstGeom>
              <a:blipFill>
                <a:blip r:embed="rId3"/>
                <a:stretch>
                  <a:fillRect l="-1732" t="-4762" r="-866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40FBB9-41F2-2B90-D6FF-8DBC75A7FFC5}"/>
              </a:ext>
            </a:extLst>
          </p:cNvPr>
          <p:cNvSpPr/>
          <p:nvPr/>
        </p:nvSpPr>
        <p:spPr>
          <a:xfrm>
            <a:off x="5316279" y="4614530"/>
            <a:ext cx="5220586" cy="198828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9574C-FB27-38E9-7556-B19FEC0B8B5E}"/>
              </a:ext>
            </a:extLst>
          </p:cNvPr>
          <p:cNvSpPr txBox="1"/>
          <p:nvPr/>
        </p:nvSpPr>
        <p:spPr>
          <a:xfrm>
            <a:off x="6416748" y="4734804"/>
            <a:ext cx="260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Boundary Conditions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1D16-753D-7C39-1853-D68ACD163304}"/>
              </a:ext>
            </a:extLst>
          </p:cNvPr>
          <p:cNvSpPr txBox="1"/>
          <p:nvPr/>
        </p:nvSpPr>
        <p:spPr>
          <a:xfrm>
            <a:off x="5452729" y="5363614"/>
            <a:ext cx="167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 the spider (s=0)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3A7814-F32A-3EC6-2C9C-CC9AF512B644}"/>
              </a:ext>
            </a:extLst>
          </p:cNvPr>
          <p:cNvSpPr txBox="1"/>
          <p:nvPr/>
        </p:nvSpPr>
        <p:spPr>
          <a:xfrm>
            <a:off x="5452729" y="6015552"/>
            <a:ext cx="1394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 the tip (s=L)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4D0F63-954D-1B59-B352-03D86FDDC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047" y="1197224"/>
            <a:ext cx="7772400" cy="31791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BAD141-779B-579E-06CE-1D769AEB18DD}"/>
                  </a:ext>
                </a:extLst>
              </p:cNvPr>
              <p:cNvSpPr txBox="1"/>
              <p:nvPr/>
            </p:nvSpPr>
            <p:spPr>
              <a:xfrm>
                <a:off x="7124129" y="5202500"/>
                <a:ext cx="3308342" cy="637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  <m:acc>
                            <m:accPr>
                              <m:chr m:val="⃗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tj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(0)+(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m:rPr>
                              <m:sty m:val="p"/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-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mg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acc>
                            <m:accPr>
                              <m:chr m:val="⃗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acc>
                            <m:accPr>
                              <m:chr m:val="̇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⃗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v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acc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BAD141-779B-579E-06CE-1D769AEB1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129" y="5202500"/>
                <a:ext cx="3308342" cy="637162"/>
              </a:xfrm>
              <a:prstGeom prst="rect">
                <a:avLst/>
              </a:prstGeom>
              <a:blipFill>
                <a:blip r:embed="rId5"/>
                <a:stretch>
                  <a:fillRect l="-19923" t="-105882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E26C5-8FA7-EBE0-9054-B607523ADE5C}"/>
                  </a:ext>
                </a:extLst>
              </p:cNvPr>
              <p:cNvSpPr txBox="1"/>
              <p:nvPr/>
            </p:nvSpPr>
            <p:spPr>
              <a:xfrm>
                <a:off x="7124129" y="6013861"/>
                <a:ext cx="209711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)=0 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uniform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charge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E26C5-8FA7-EBE0-9054-B607523AD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129" y="6013861"/>
                <a:ext cx="2097113" cy="215444"/>
              </a:xfrm>
              <a:prstGeom prst="rect">
                <a:avLst/>
              </a:prstGeom>
              <a:blipFill>
                <a:blip r:embed="rId6"/>
                <a:stretch>
                  <a:fillRect l="-1807" t="-5556" r="-2410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0470150-A12B-3C63-07B3-EC07EF172445}"/>
                  </a:ext>
                </a:extLst>
              </p:cNvPr>
              <p:cNvSpPr txBox="1"/>
              <p:nvPr/>
            </p:nvSpPr>
            <p:spPr>
              <a:xfrm>
                <a:off x="7124129" y="6279032"/>
                <a:ext cx="2744213" cy="2430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qE</m:t>
                      </m:r>
                      <m:acc>
                        <m:accPr>
                          <m:chr m:val="⃗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sub>
                          </m:sSub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tip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charge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0470150-A12B-3C63-07B3-EC07EF172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129" y="6279032"/>
                <a:ext cx="2744213" cy="243015"/>
              </a:xfrm>
              <a:prstGeom prst="rect">
                <a:avLst/>
              </a:prstGeom>
              <a:blipFill>
                <a:blip r:embed="rId7"/>
                <a:stretch>
                  <a:fillRect l="-922" r="-1382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2C9ACA-5C17-A788-F6AE-968814F4924B}"/>
                  </a:ext>
                </a:extLst>
              </p:cNvPr>
              <p:cNvSpPr txBox="1"/>
              <p:nvPr/>
            </p:nvSpPr>
            <p:spPr>
              <a:xfrm>
                <a:off x="9482275" y="1402679"/>
                <a:ext cx="190039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Lg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≈1.7×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-9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2C9ACA-5C17-A788-F6AE-968814F49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275" y="1402679"/>
                <a:ext cx="1900392" cy="215444"/>
              </a:xfrm>
              <a:prstGeom prst="rect">
                <a:avLst/>
              </a:prstGeom>
              <a:blipFill>
                <a:blip r:embed="rId8"/>
                <a:stretch>
                  <a:fillRect l="-1325" t="-5556" r="-1325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9F90F5C-216B-1954-722A-137F792EAAF2}"/>
              </a:ext>
            </a:extLst>
          </p:cNvPr>
          <p:cNvSpPr txBox="1"/>
          <p:nvPr/>
        </p:nvSpPr>
        <p:spPr>
          <a:xfrm>
            <a:off x="9611531" y="1056620"/>
            <a:ext cx="167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Thread weight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E9B377-CA09-891B-2102-C0FAA670753F}"/>
              </a:ext>
            </a:extLst>
          </p:cNvPr>
          <p:cNvSpPr txBox="1"/>
          <p:nvPr/>
        </p:nvSpPr>
        <p:spPr>
          <a:xfrm>
            <a:off x="9456677" y="1694687"/>
            <a:ext cx="2160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neglected here but kept in simulations.</a:t>
            </a:r>
          </a:p>
        </p:txBody>
      </p:sp>
    </p:spTree>
    <p:extLst>
      <p:ext uri="{BB962C8B-B14F-4D97-AF65-F5344CB8AC3E}">
        <p14:creationId xmlns:p14="http://schemas.microsoft.com/office/powerpoint/2010/main" val="1578927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438B1-4EB1-BEF9-677C-7FF2BC82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DF47158-9657-1BE8-90F5-920AADC229C8}"/>
              </a:ext>
            </a:extLst>
          </p:cNvPr>
          <p:cNvGrpSpPr/>
          <p:nvPr/>
        </p:nvGrpSpPr>
        <p:grpSpPr>
          <a:xfrm>
            <a:off x="8510537" y="3723238"/>
            <a:ext cx="2825330" cy="1814249"/>
            <a:chOff x="8510537" y="3723238"/>
            <a:chExt cx="2825330" cy="1814249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5473C3F7-2F3F-488C-F0B1-C5AF8D09F367}"/>
                </a:ext>
              </a:extLst>
            </p:cNvPr>
            <p:cNvSpPr/>
            <p:nvPr/>
          </p:nvSpPr>
          <p:spPr>
            <a:xfrm>
              <a:off x="9109277" y="3723238"/>
              <a:ext cx="2226590" cy="52597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7F5BB9-D9DD-0FB3-76D5-85E0EC676EF2}"/>
                </a:ext>
              </a:extLst>
            </p:cNvPr>
            <p:cNvSpPr txBox="1"/>
            <p:nvPr/>
          </p:nvSpPr>
          <p:spPr>
            <a:xfrm>
              <a:off x="8510537" y="4952712"/>
              <a:ext cx="28253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</a:rPr>
                <a:t>Exact solution for single thread in RFT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D0B5EC3-3CC0-AE99-F247-7A04952A4DF7}"/>
                </a:ext>
              </a:extLst>
            </p:cNvPr>
            <p:cNvCxnSpPr>
              <a:endCxn id="20" idx="0"/>
            </p:cNvCxnSpPr>
            <p:nvPr/>
          </p:nvCxnSpPr>
          <p:spPr>
            <a:xfrm flipH="1">
              <a:off x="9923202" y="4249216"/>
              <a:ext cx="299370" cy="7034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11EF71E2-6D85-6C15-C804-BCA939A6F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Single thread , still air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5BBEA-0844-E60E-21A8-46B44341F5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9FF71-42BB-4631-5F61-2CCC29D20EEB}"/>
                  </a:ext>
                </a:extLst>
              </p:cNvPr>
              <p:cNvSpPr txBox="1"/>
              <p:nvPr/>
            </p:nvSpPr>
            <p:spPr>
              <a:xfrm>
                <a:off x="8008575" y="2608785"/>
                <a:ext cx="1557606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49FF71-42BB-4631-5F61-2CCC29D20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575" y="2608785"/>
                <a:ext cx="1557606" cy="525978"/>
              </a:xfrm>
              <a:prstGeom prst="rect">
                <a:avLst/>
              </a:prstGeom>
              <a:blipFill>
                <a:blip r:embed="rId4"/>
                <a:stretch>
                  <a:fillRect l="-3226" t="-2381" r="-161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BA1C34-4529-5E57-FCF2-3A1E0586091F}"/>
                  </a:ext>
                </a:extLst>
              </p:cNvPr>
              <p:cNvSpPr txBox="1"/>
              <p:nvPr/>
            </p:nvSpPr>
            <p:spPr>
              <a:xfrm>
                <a:off x="7925859" y="1879367"/>
                <a:ext cx="1915396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BA1C34-4529-5E57-FCF2-3A1E05860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859" y="1879367"/>
                <a:ext cx="1915396" cy="525978"/>
              </a:xfrm>
              <a:prstGeom prst="rect">
                <a:avLst/>
              </a:prstGeom>
              <a:blipFill>
                <a:blip r:embed="rId5"/>
                <a:stretch>
                  <a:fillRect l="-1987" t="-2326" r="-1987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813BA7D-70F9-1A4D-BD56-47709BDED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612900"/>
            <a:ext cx="6502400" cy="3632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7543E6-CC07-F515-AB4E-7CABF55B5144}"/>
                  </a:ext>
                </a:extLst>
              </p:cNvPr>
              <p:cNvSpPr txBox="1"/>
              <p:nvPr/>
            </p:nvSpPr>
            <p:spPr>
              <a:xfrm>
                <a:off x="2909908" y="5499236"/>
                <a:ext cx="3470181" cy="330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7543E6-CC07-F515-AB4E-7CABF55B5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908" y="5499236"/>
                <a:ext cx="3470181" cy="330860"/>
              </a:xfrm>
              <a:prstGeom prst="rect">
                <a:avLst/>
              </a:prstGeom>
              <a:blipFill>
                <a:blip r:embed="rId7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93AF43-A6BF-4229-8DAD-13DAA1335108}"/>
                  </a:ext>
                </a:extLst>
              </p:cNvPr>
              <p:cNvSpPr txBox="1"/>
              <p:nvPr/>
            </p:nvSpPr>
            <p:spPr>
              <a:xfrm>
                <a:off x="7054309" y="3723238"/>
                <a:ext cx="4281557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=-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β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const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93AF43-A6BF-4229-8DAD-13DAA1335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309" y="3723238"/>
                <a:ext cx="4281557" cy="525978"/>
              </a:xfrm>
              <a:prstGeom prst="rect">
                <a:avLst/>
              </a:prstGeom>
              <a:blipFill>
                <a:blip r:embed="rId8"/>
                <a:stretch>
                  <a:fillRect l="-296" t="-9524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24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79897-7A56-7649-EAD8-6E79DDBE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AD7236F-E0CF-A459-9E24-85C5106FC3D9}"/>
              </a:ext>
            </a:extLst>
          </p:cNvPr>
          <p:cNvSpPr/>
          <p:nvPr/>
        </p:nvSpPr>
        <p:spPr>
          <a:xfrm>
            <a:off x="9022000" y="3021862"/>
            <a:ext cx="237282" cy="3004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EF9BDC-DB97-B239-B340-9FA24338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Still Air Flight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64DDE-999F-0A6A-17A4-834D6400657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B2AFD6-8F23-DDFD-8A93-52EF7ABD3ADC}"/>
              </a:ext>
            </a:extLst>
          </p:cNvPr>
          <p:cNvSpPr/>
          <p:nvPr/>
        </p:nvSpPr>
        <p:spPr>
          <a:xfrm>
            <a:off x="707020" y="1342422"/>
            <a:ext cx="4672458" cy="4667250"/>
          </a:xfrm>
          <a:prstGeom prst="roundRect">
            <a:avLst>
              <a:gd name="adj" fmla="val 2448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BDBC4F-E1BE-8E31-A7DB-CE8F2ADAA8E7}"/>
              </a:ext>
            </a:extLst>
          </p:cNvPr>
          <p:cNvSpPr/>
          <p:nvPr/>
        </p:nvSpPr>
        <p:spPr>
          <a:xfrm>
            <a:off x="907045" y="5497107"/>
            <a:ext cx="4272408" cy="3123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EFFF88-4F97-41D3-1AB5-6ED197834292}"/>
              </a:ext>
            </a:extLst>
          </p:cNvPr>
          <p:cNvSpPr/>
          <p:nvPr/>
        </p:nvSpPr>
        <p:spPr>
          <a:xfrm>
            <a:off x="907045" y="5497107"/>
            <a:ext cx="4272408" cy="9525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DECA988-ECD1-4D3F-572C-49BE7BF2E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45" y="2171989"/>
            <a:ext cx="4272408" cy="295275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EAA2DA23-BCC8-6C75-45FF-A4111C820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301" y="5630457"/>
            <a:ext cx="114300" cy="13335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79FF0B45-2DB4-12D2-54F9-DEBEDC4DA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063" y="5630457"/>
            <a:ext cx="104775" cy="133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642AC2-FAF1-7F7A-C4A8-B07172E8FB18}"/>
              </a:ext>
            </a:extLst>
          </p:cNvPr>
          <p:cNvSpPr txBox="1"/>
          <p:nvPr/>
        </p:nvSpPr>
        <p:spPr>
          <a:xfrm>
            <a:off x="1946985" y="1497520"/>
            <a:ext cx="2462969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7C3AED"/>
                </a:solidFill>
                <a:latin typeface="Plus Jakarta Sans"/>
              </a:rPr>
              <a:t>CONICAL BUNDLE GEOMETRY (N = 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39E2E-7944-EBDD-6A47-F7A384F73B67}"/>
              </a:ext>
            </a:extLst>
          </p:cNvPr>
          <p:cNvSpPr txBox="1"/>
          <p:nvPr/>
        </p:nvSpPr>
        <p:spPr>
          <a:xfrm>
            <a:off x="1198301" y="5601882"/>
            <a:ext cx="1276350" cy="20761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Tip Repulsion: F</a:t>
            </a:r>
            <a:r>
              <a:rPr sz="875" b="1" i="0" u="none">
                <a:solidFill>
                  <a:srgbClr val="DC2626"/>
                </a:solidFill>
                <a:latin typeface="Plus Jakarta Sans"/>
              </a:rPr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265B2-713B-7963-D8AA-E435A56621F5}"/>
              </a:ext>
            </a:extLst>
          </p:cNvPr>
          <p:cNvSpPr txBox="1"/>
          <p:nvPr/>
        </p:nvSpPr>
        <p:spPr>
          <a:xfrm>
            <a:off x="2962063" y="5601882"/>
            <a:ext cx="866775" cy="207615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Tip Lift: qE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7D62C-9F36-DBB2-6269-F7F812EAEA97}"/>
              </a:ext>
            </a:extLst>
          </p:cNvPr>
          <p:cNvSpPr txBox="1"/>
          <p:nvPr/>
        </p:nvSpPr>
        <p:spPr>
          <a:xfrm>
            <a:off x="4316250" y="5601882"/>
            <a:ext cx="666750" cy="207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Radius: 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EB973B-BDCF-A97F-42FC-8AFFBC670321}"/>
                  </a:ext>
                </a:extLst>
              </p:cNvPr>
              <p:cNvSpPr txBox="1"/>
              <p:nvPr/>
            </p:nvSpPr>
            <p:spPr>
              <a:xfrm>
                <a:off x="6325564" y="1670644"/>
                <a:ext cx="1750351" cy="604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πϵ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EB973B-BDCF-A97F-42FC-8AFFBC670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564" y="1670644"/>
                <a:ext cx="1750351" cy="604974"/>
              </a:xfrm>
              <a:prstGeom prst="rect">
                <a:avLst/>
              </a:prstGeom>
              <a:blipFill>
                <a:blip r:embed="rId7"/>
                <a:stretch>
                  <a:fillRect l="-1449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5A91F3-1E63-F342-F329-32C3626C5898}"/>
                  </a:ext>
                </a:extLst>
              </p:cNvPr>
              <p:cNvSpPr txBox="1"/>
              <p:nvPr/>
            </p:nvSpPr>
            <p:spPr>
              <a:xfrm>
                <a:off x="8897073" y="1584082"/>
                <a:ext cx="1915333" cy="819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-1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5A91F3-1E63-F342-F329-32C3626C5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073" y="1584082"/>
                <a:ext cx="1915333" cy="819263"/>
              </a:xfrm>
              <a:prstGeom prst="rect">
                <a:avLst/>
              </a:prstGeom>
              <a:blipFill>
                <a:blip r:embed="rId8"/>
                <a:stretch>
                  <a:fillRect l="-14474" t="-104545" r="-3289" b="-15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06C813-123A-F298-EC3C-349120B62B1B}"/>
                  </a:ext>
                </a:extLst>
              </p:cNvPr>
              <p:cNvSpPr txBox="1"/>
              <p:nvPr/>
            </p:nvSpPr>
            <p:spPr>
              <a:xfrm>
                <a:off x="9043229" y="2982386"/>
                <a:ext cx="1772858" cy="6009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g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τ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06C813-123A-F298-EC3C-349120B62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229" y="2982386"/>
                <a:ext cx="1772858" cy="600934"/>
              </a:xfrm>
              <a:prstGeom prst="rect">
                <a:avLst/>
              </a:prstGeom>
              <a:blipFill>
                <a:blip r:embed="rId9"/>
                <a:stretch>
                  <a:fillRect l="-2128" r="-709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68CA958-B003-0A3B-CD87-FBB118A88274}"/>
                  </a:ext>
                </a:extLst>
              </p:cNvPr>
              <p:cNvSpPr txBox="1"/>
              <p:nvPr/>
            </p:nvSpPr>
            <p:spPr>
              <a:xfrm>
                <a:off x="6588905" y="3045641"/>
                <a:ext cx="1223668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πϵ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68CA958-B003-0A3B-CD87-FBB118A88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05" y="3045641"/>
                <a:ext cx="1223668" cy="474425"/>
              </a:xfrm>
              <a:prstGeom prst="rect">
                <a:avLst/>
              </a:prstGeom>
              <a:blipFill>
                <a:blip r:embed="rId10"/>
                <a:stretch>
                  <a:fillRect l="-3061" t="-2703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F5537C2-4A1A-190A-695B-B19EE6ABE8FC}"/>
                  </a:ext>
                </a:extLst>
              </p:cNvPr>
              <p:cNvSpPr txBox="1"/>
              <p:nvPr/>
            </p:nvSpPr>
            <p:spPr>
              <a:xfrm>
                <a:off x="7819529" y="4268098"/>
                <a:ext cx="1439753" cy="6285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ds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F5537C2-4A1A-190A-695B-B19EE6ABE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529" y="4268098"/>
                <a:ext cx="1439753" cy="628570"/>
              </a:xfrm>
              <a:prstGeom prst="rect">
                <a:avLst/>
              </a:prstGeom>
              <a:blipFill>
                <a:blip r:embed="rId11"/>
                <a:stretch>
                  <a:fillRect l="-34783" t="-180000" r="-2609" b="-27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3C3105-B9A3-0576-63EC-D8AABD1F14FC}"/>
              </a:ext>
            </a:extLst>
          </p:cNvPr>
          <p:cNvCxnSpPr>
            <a:stCxn id="18" idx="1"/>
          </p:cNvCxnSpPr>
          <p:nvPr/>
        </p:nvCxnSpPr>
        <p:spPr>
          <a:xfrm flipH="1">
            <a:off x="8469104" y="3282853"/>
            <a:ext cx="574125" cy="931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00C5AB5-76C4-1A5E-E210-C4500AFCA6EA}"/>
              </a:ext>
            </a:extLst>
          </p:cNvPr>
          <p:cNvSpPr txBox="1"/>
          <p:nvPr/>
        </p:nvSpPr>
        <p:spPr>
          <a:xfrm>
            <a:off x="8657863" y="3894059"/>
            <a:ext cx="1574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Radial deflection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D2F4D6-26BF-550A-6E84-9FF3AFA0CF6F}"/>
              </a:ext>
            </a:extLst>
          </p:cNvPr>
          <p:cNvSpPr/>
          <p:nvPr/>
        </p:nvSpPr>
        <p:spPr>
          <a:xfrm>
            <a:off x="5983844" y="5013453"/>
            <a:ext cx="6118770" cy="11246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576BC8-8B1D-4C95-452A-43C0A26E9BD3}"/>
              </a:ext>
            </a:extLst>
          </p:cNvPr>
          <p:cNvSpPr/>
          <p:nvPr/>
        </p:nvSpPr>
        <p:spPr>
          <a:xfrm>
            <a:off x="5983844" y="5013453"/>
            <a:ext cx="38100" cy="112469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DC28FA-093A-1ACA-5FA6-C0AC1F13D5D0}"/>
              </a:ext>
            </a:extLst>
          </p:cNvPr>
          <p:cNvSpPr txBox="1"/>
          <p:nvPr/>
        </p:nvSpPr>
        <p:spPr>
          <a:xfrm>
            <a:off x="6212444" y="5146803"/>
            <a:ext cx="6414641" cy="246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F172A"/>
                </a:solidFill>
                <a:latin typeface="Plus Jakarta Sans"/>
              </a:rPr>
              <a:t>Entanglement Prevention: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Radial repulsion establishes a stable gap (d</a:t>
            </a:r>
            <a:r>
              <a:rPr sz="999" b="0" i="0" u="none">
                <a:solidFill>
                  <a:srgbClr val="334155"/>
                </a:solidFill>
                <a:latin typeface="Plus Jakarta Sans"/>
              </a:rPr>
              <a:t>min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&gt; 0).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B37129-C05B-8C0F-03FD-17465487B384}"/>
              </a:ext>
            </a:extLst>
          </p:cNvPr>
          <p:cNvSpPr txBox="1"/>
          <p:nvPr/>
        </p:nvSpPr>
        <p:spPr>
          <a:xfrm>
            <a:off x="6212444" y="5469164"/>
            <a:ext cx="6414641" cy="246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F172A"/>
                </a:solidFill>
                <a:latin typeface="Plus Jakarta Sans"/>
              </a:rPr>
              <a:t>Drag Anisotropy: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Inclination activates normal air resistance (β = η</a:t>
            </a:r>
            <a:r>
              <a:rPr sz="999" b="0" i="0" u="none">
                <a:solidFill>
                  <a:srgbClr val="334155"/>
                </a:solidFill>
                <a:latin typeface="Plus Jakarta Sans"/>
              </a:rPr>
              <a:t>⊥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/ η</a:t>
            </a:r>
            <a:r>
              <a:rPr sz="999" b="0" i="0" u="none">
                <a:solidFill>
                  <a:srgbClr val="334155"/>
                </a:solidFill>
                <a:latin typeface="Plus Jakarta Sans"/>
              </a:rPr>
              <a:t>∥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≈ 1.87).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D37617-F717-1CD3-20C9-6981882A825A}"/>
              </a:ext>
            </a:extLst>
          </p:cNvPr>
          <p:cNvSpPr txBox="1"/>
          <p:nvPr/>
        </p:nvSpPr>
        <p:spPr>
          <a:xfrm>
            <a:off x="6212444" y="5791526"/>
            <a:ext cx="6414641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7C3AED"/>
                </a:solidFill>
                <a:latin typeface="Plus Jakarta Sans"/>
              </a:rPr>
              <a:t>Still-Air Baseline:</a:t>
            </a:r>
            <a:r>
              <a:rPr sz="1200" b="0" i="0" u="none">
                <a:solidFill>
                  <a:srgbClr val="7C3AED"/>
                </a:solidFill>
                <a:latin typeface="Plus Jakarta Sans"/>
              </a:rPr>
              <a:t> Exact benchmark to measure turbulent bundle deformation.</a:t>
            </a:r>
          </a:p>
        </p:txBody>
      </p:sp>
    </p:spTree>
    <p:extLst>
      <p:ext uri="{BB962C8B-B14F-4D97-AF65-F5344CB8AC3E}">
        <p14:creationId xmlns:p14="http://schemas.microsoft.com/office/powerpoint/2010/main" val="518523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8D4B-B68A-D4F5-EBCA-4D66C635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B7E27F-C8DA-0F78-E204-5B97F218C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Deterministic Limit &amp; Drift Velocity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7504A-5386-1A62-F638-A74D1145DBC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5515CE-4097-F1F2-4EC6-61DAD47A6213}"/>
              </a:ext>
            </a:extLst>
          </p:cNvPr>
          <p:cNvSpPr/>
          <p:nvPr/>
        </p:nvSpPr>
        <p:spPr>
          <a:xfrm>
            <a:off x="625998" y="1218430"/>
            <a:ext cx="5648325" cy="5048250"/>
          </a:xfrm>
          <a:prstGeom prst="roundRect">
            <a:avLst>
              <a:gd name="adj" fmla="val 2264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2971F7-F3BA-154F-1806-80D38FACFA10}"/>
              </a:ext>
            </a:extLst>
          </p:cNvPr>
          <p:cNvSpPr/>
          <p:nvPr/>
        </p:nvSpPr>
        <p:spPr>
          <a:xfrm>
            <a:off x="625998" y="6457180"/>
            <a:ext cx="111252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67945D9-1BE4-C2F8-37DB-FAB9665556CC}"/>
              </a:ext>
            </a:extLst>
          </p:cNvPr>
          <p:cNvSpPr/>
          <p:nvPr/>
        </p:nvSpPr>
        <p:spPr>
          <a:xfrm>
            <a:off x="864123" y="3791072"/>
            <a:ext cx="5172075" cy="1137046"/>
          </a:xfrm>
          <a:prstGeom prst="roundRect">
            <a:avLst>
              <a:gd name="adj" fmla="val 8376"/>
            </a:avLst>
          </a:prstGeom>
          <a:solidFill>
            <a:srgbClr val="753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854432D-0CB5-A689-E6F7-149151FCE98D}"/>
              </a:ext>
            </a:extLst>
          </p:cNvPr>
          <p:cNvSpPr/>
          <p:nvPr/>
        </p:nvSpPr>
        <p:spPr>
          <a:xfrm>
            <a:off x="6579123" y="1218430"/>
            <a:ext cx="5172075" cy="1846659"/>
          </a:xfrm>
          <a:prstGeom prst="roundRect">
            <a:avLst>
              <a:gd name="adj" fmla="val 51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D2BCC7E-FA6A-4543-37AD-26E4C2C6F071}"/>
              </a:ext>
            </a:extLst>
          </p:cNvPr>
          <p:cNvSpPr/>
          <p:nvPr/>
        </p:nvSpPr>
        <p:spPr>
          <a:xfrm>
            <a:off x="6579123" y="3217489"/>
            <a:ext cx="5172075" cy="3049190"/>
          </a:xfrm>
          <a:prstGeom prst="roundRect">
            <a:avLst>
              <a:gd name="adj" fmla="val 31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A68FCD6-08CD-432E-F166-6A27A8AA84B0}"/>
              </a:ext>
            </a:extLst>
          </p:cNvPr>
          <p:cNvSpPr/>
          <p:nvPr/>
        </p:nvSpPr>
        <p:spPr>
          <a:xfrm>
            <a:off x="864123" y="2292671"/>
            <a:ext cx="5172075" cy="92958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69E3B4F-955C-A53E-66E8-731DB364D1D7}"/>
              </a:ext>
            </a:extLst>
          </p:cNvPr>
          <p:cNvSpPr/>
          <p:nvPr/>
        </p:nvSpPr>
        <p:spPr>
          <a:xfrm>
            <a:off x="864123" y="5477890"/>
            <a:ext cx="2528887" cy="550515"/>
          </a:xfrm>
          <a:prstGeom prst="roundRect">
            <a:avLst>
              <a:gd name="adj" fmla="val 103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D1D036D-3FF1-8DB8-03CE-62F2D5A09AB4}"/>
              </a:ext>
            </a:extLst>
          </p:cNvPr>
          <p:cNvSpPr/>
          <p:nvPr/>
        </p:nvSpPr>
        <p:spPr>
          <a:xfrm>
            <a:off x="3507310" y="5477890"/>
            <a:ext cx="2528887" cy="550515"/>
          </a:xfrm>
          <a:prstGeom prst="roundRect">
            <a:avLst>
              <a:gd name="adj" fmla="val 103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E2CA6EF-F550-E2EF-56C7-C88C8181DD23}"/>
              </a:ext>
            </a:extLst>
          </p:cNvPr>
          <p:cNvSpPr/>
          <p:nvPr/>
        </p:nvSpPr>
        <p:spPr>
          <a:xfrm>
            <a:off x="6779148" y="1975667"/>
            <a:ext cx="4772025" cy="439935"/>
          </a:xfrm>
          <a:prstGeom prst="roundRect">
            <a:avLst>
              <a:gd name="adj" fmla="val 129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C09182-442E-CBA1-99B5-F12D5702250C}"/>
              </a:ext>
            </a:extLst>
          </p:cNvPr>
          <p:cNvSpPr/>
          <p:nvPr/>
        </p:nvSpPr>
        <p:spPr>
          <a:xfrm>
            <a:off x="1045098" y="2795561"/>
            <a:ext cx="4810125" cy="28381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F587B6-EEF9-B542-8BB6-5948B94B139B}"/>
              </a:ext>
            </a:extLst>
          </p:cNvPr>
          <p:cNvSpPr/>
          <p:nvPr/>
        </p:nvSpPr>
        <p:spPr>
          <a:xfrm>
            <a:off x="1045098" y="2795561"/>
            <a:ext cx="481012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BDDD1F-98D4-EAE6-7AA2-F7817119DFFD}"/>
              </a:ext>
            </a:extLst>
          </p:cNvPr>
          <p:cNvSpPr txBox="1"/>
          <p:nvPr/>
        </p:nvSpPr>
        <p:spPr>
          <a:xfrm>
            <a:off x="864123" y="1456555"/>
            <a:ext cx="646509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7C3AED"/>
                </a:solidFill>
                <a:latin typeface="Plus Jakarta Sans"/>
              </a:rPr>
              <a:t>DETERMINISTIC FORCE BALANCE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B75D00-CB60-76B7-C23D-B9DCC391C7FE}"/>
              </a:ext>
            </a:extLst>
          </p:cNvPr>
          <p:cNvSpPr txBox="1"/>
          <p:nvPr/>
        </p:nvSpPr>
        <p:spPr>
          <a:xfrm>
            <a:off x="864123" y="1732780"/>
            <a:ext cx="52673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Vertical force equilibrium between electrostatic lift, gravity, and slender-body aerodynamic drag: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DF1819-9C9E-55F3-49B3-DC2AF7776A9E}"/>
              </a:ext>
            </a:extLst>
          </p:cNvPr>
          <p:cNvSpPr txBox="1"/>
          <p:nvPr/>
        </p:nvSpPr>
        <p:spPr>
          <a:xfrm>
            <a:off x="1035573" y="3962522"/>
            <a:ext cx="6036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9D5FF"/>
                </a:solidFill>
                <a:latin typeface="Plus Jakarta Sans"/>
              </a:rPr>
              <a:t>DETERMINISTIC DRIFT VELOCITY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6B36BD-1B99-AF19-F0E2-5E5395A70348}"/>
              </a:ext>
            </a:extLst>
          </p:cNvPr>
          <p:cNvSpPr txBox="1"/>
          <p:nvPr/>
        </p:nvSpPr>
        <p:spPr>
          <a:xfrm>
            <a:off x="1035573" y="4153022"/>
            <a:ext cx="492442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FFFFF"/>
                </a:solidFill>
                <a:latin typeface="JetBrains Mono"/>
              </a:rPr>
              <a:t>U</a:t>
            </a:r>
            <a:r>
              <a:rPr sz="1625" b="1" i="0" u="none">
                <a:solidFill>
                  <a:srgbClr val="FFFFFF"/>
                </a:solidFill>
                <a:latin typeface="JetBrains Mono"/>
              </a:rPr>
              <a:t>0</a:t>
            </a:r>
            <a:r>
              <a:rPr sz="1950" b="1" i="0" u="none">
                <a:solidFill>
                  <a:srgbClr val="FFFFFF"/>
                </a:solidFill>
                <a:latin typeface="JetBrains Mono"/>
              </a:rPr>
              <a:t> = w</a:t>
            </a:r>
            <a:r>
              <a:rPr sz="1625" b="1" i="0" u="none">
                <a:solidFill>
                  <a:srgbClr val="FFFFFF"/>
                </a:solidFill>
                <a:latin typeface="JetBrains Mono"/>
              </a:rPr>
              <a:t>s</a:t>
            </a:r>
            <a:r>
              <a:rPr sz="1950" b="1" i="0" u="none">
                <a:solidFill>
                  <a:srgbClr val="FFFFFF"/>
                </a:solidFill>
                <a:latin typeface="JetBrains Mono"/>
              </a:rPr>
              <a:t> ( F̄</a:t>
            </a:r>
            <a:r>
              <a:rPr sz="1625" b="1" i="0" u="none">
                <a:solidFill>
                  <a:srgbClr val="FFFFFF"/>
                </a:solidFill>
                <a:latin typeface="JetBrains Mono"/>
              </a:rPr>
              <a:t>l</a:t>
            </a:r>
            <a:r>
              <a:rPr sz="1950" b="1" i="0" u="none">
                <a:solidFill>
                  <a:srgbClr val="FFFFFF"/>
                </a:solidFill>
                <a:latin typeface="JetBrains Mono"/>
              </a:rPr>
              <a:t> - 1 )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193A41-6980-FC91-D7DD-45C370C1B7C7}"/>
              </a:ext>
            </a:extLst>
          </p:cNvPr>
          <p:cNvSpPr txBox="1"/>
          <p:nvPr/>
        </p:nvSpPr>
        <p:spPr>
          <a:xfrm>
            <a:off x="1035573" y="4583433"/>
            <a:ext cx="6036468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>
                <a:solidFill>
                  <a:srgbClr val="E9D5FF"/>
                </a:solidFill>
                <a:latin typeface="Plus Jakarta Sans"/>
              </a:rPr>
              <a:t>Represents the mean vertical drift entering the advection-diffusion equation.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74B81F-4C07-A02A-02EA-B3BAA81D603B}"/>
              </a:ext>
            </a:extLst>
          </p:cNvPr>
          <p:cNvSpPr txBox="1"/>
          <p:nvPr/>
        </p:nvSpPr>
        <p:spPr>
          <a:xfrm>
            <a:off x="6779148" y="2491803"/>
            <a:ext cx="4867275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64748B"/>
                </a:solidFill>
                <a:latin typeface="Plus Jakarta Sans"/>
              </a:rPr>
              <a:t>Limitation: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The Galilean shift </a:t>
            </a:r>
            <a:r>
              <a:rPr sz="1050" b="0" i="1" u="none">
                <a:solidFill>
                  <a:srgbClr val="64748B"/>
                </a:solidFill>
                <a:latin typeface="Plus Jakarta Sans"/>
              </a:rPr>
              <a:t>x' = x - ut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maps uniform flow identically to calm air. Uniform wind causes </a:t>
            </a:r>
            <a:r>
              <a:rPr sz="1050" b="1" i="0" u="none">
                <a:solidFill>
                  <a:srgbClr val="64748B"/>
                </a:solidFill>
                <a:latin typeface="Plus Jakarta Sans"/>
              </a:rPr>
              <a:t>no bundle deformation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59AC39-D7AD-1E4B-59A6-4E98E1F15CC7}"/>
              </a:ext>
            </a:extLst>
          </p:cNvPr>
          <p:cNvSpPr txBox="1"/>
          <p:nvPr/>
        </p:nvSpPr>
        <p:spPr>
          <a:xfrm>
            <a:off x="443832" y="2435546"/>
            <a:ext cx="6012656" cy="283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F172A"/>
                </a:solidFill>
                <a:latin typeface="JetBrains Mono"/>
              </a:rPr>
              <a:t>NqE - mg = (N η</a:t>
            </a:r>
            <a:r>
              <a:rPr sz="1187" b="1" i="0" u="none">
                <a:solidFill>
                  <a:srgbClr val="0F172A"/>
                </a:solidFill>
                <a:latin typeface="JetBrains Mono"/>
              </a:rPr>
              <a:t>∥</a:t>
            </a:r>
            <a:r>
              <a:rPr sz="1425" b="1" i="0" u="none">
                <a:solidFill>
                  <a:srgbClr val="0F172A"/>
                </a:solidFill>
                <a:latin typeface="JetBrains Mono"/>
              </a:rPr>
              <a:t> L + ζ</a:t>
            </a:r>
            <a:r>
              <a:rPr sz="1187" b="1" i="0" u="none">
                <a:solidFill>
                  <a:srgbClr val="0F172A"/>
                </a:solidFill>
                <a:latin typeface="JetBrains Mono"/>
              </a:rPr>
              <a:t>s</a:t>
            </a:r>
            <a:r>
              <a:rPr sz="1425" b="1" i="0" u="none">
                <a:solidFill>
                  <a:srgbClr val="0F172A"/>
                </a:solidFill>
                <a:latin typeface="JetBrains Mono"/>
              </a:rPr>
              <a:t>) U</a:t>
            </a:r>
            <a:r>
              <a:rPr sz="1187" b="1" i="0" u="none">
                <a:solidFill>
                  <a:srgbClr val="0F172A"/>
                </a:solidFill>
                <a:latin typeface="JetBrains Mono"/>
              </a:rPr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F01CA3-FA3C-A1C2-CDC4-C5F0B6E75C6A}"/>
              </a:ext>
            </a:extLst>
          </p:cNvPr>
          <p:cNvSpPr txBox="1"/>
          <p:nvPr/>
        </p:nvSpPr>
        <p:spPr>
          <a:xfrm>
            <a:off x="987948" y="5563615"/>
            <a:ext cx="2376487" cy="207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F̄</a:t>
            </a:r>
            <a:r>
              <a:rPr sz="875" b="1" i="0" u="none">
                <a:solidFill>
                  <a:srgbClr val="16A34A"/>
                </a:solidFill>
                <a:latin typeface="Plus Jakarta Sans"/>
              </a:rPr>
              <a:t>l</a:t>
            </a:r>
            <a:r>
              <a:rPr sz="1050" b="1" i="0" u="none">
                <a:solidFill>
                  <a:srgbClr val="16A34A"/>
                </a:solidFill>
                <a:latin typeface="Plus Jakarta Sans"/>
              </a:rPr>
              <a:t> &gt; 1 ⇒ U</a:t>
            </a:r>
            <a:r>
              <a:rPr sz="875" b="1" i="0" u="none">
                <a:solidFill>
                  <a:srgbClr val="16A34A"/>
                </a:solidFill>
                <a:latin typeface="Plus Jakarta Sans"/>
              </a:rPr>
              <a:t>0</a:t>
            </a:r>
            <a:r>
              <a:rPr sz="1050" b="1" i="0" u="none">
                <a:solidFill>
                  <a:srgbClr val="16A34A"/>
                </a:solidFill>
                <a:latin typeface="Plus Jakarta Sans"/>
              </a:rPr>
              <a:t> &gt; 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7F7147-BDC6-BAD7-3576-F77290B8579E}"/>
              </a:ext>
            </a:extLst>
          </p:cNvPr>
          <p:cNvSpPr txBox="1"/>
          <p:nvPr/>
        </p:nvSpPr>
        <p:spPr>
          <a:xfrm>
            <a:off x="987948" y="5790281"/>
            <a:ext cx="28515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Spontaneous take-off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9DC5F2-7267-B58F-71F9-5EFAC083B2C6}"/>
              </a:ext>
            </a:extLst>
          </p:cNvPr>
          <p:cNvSpPr txBox="1"/>
          <p:nvPr/>
        </p:nvSpPr>
        <p:spPr>
          <a:xfrm>
            <a:off x="3631135" y="5563615"/>
            <a:ext cx="2376487" cy="2076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F̄</a:t>
            </a:r>
            <a:r>
              <a:rPr sz="875" b="1" i="0" u="none">
                <a:solidFill>
                  <a:srgbClr val="DC2626"/>
                </a:solidFill>
                <a:latin typeface="Plus Jakarta Sans"/>
              </a:rPr>
              <a:t>l</a:t>
            </a:r>
            <a:r>
              <a:rPr sz="1050" b="1" i="0" u="none">
                <a:solidFill>
                  <a:srgbClr val="DC2626"/>
                </a:solidFill>
                <a:latin typeface="Plus Jakarta Sans"/>
              </a:rPr>
              <a:t> &lt; 1 ⇒ U</a:t>
            </a:r>
            <a:r>
              <a:rPr sz="875" b="1" i="0" u="none">
                <a:solidFill>
                  <a:srgbClr val="DC2626"/>
                </a:solidFill>
                <a:latin typeface="Plus Jakarta Sans"/>
              </a:rPr>
              <a:t>0</a:t>
            </a:r>
            <a:r>
              <a:rPr sz="1050" b="1" i="0" u="none">
                <a:solidFill>
                  <a:srgbClr val="DC2626"/>
                </a:solidFill>
                <a:latin typeface="Plus Jakarta Sans"/>
              </a:rPr>
              <a:t> &lt; 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3E569D-25DD-5448-F9A0-1ADD7021A132}"/>
              </a:ext>
            </a:extLst>
          </p:cNvPr>
          <p:cNvSpPr txBox="1"/>
          <p:nvPr/>
        </p:nvSpPr>
        <p:spPr>
          <a:xfrm>
            <a:off x="3631135" y="5790281"/>
            <a:ext cx="28515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Settling (needs updraft)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69F321-36B0-34B7-B4FD-6ADD499729B1}"/>
              </a:ext>
            </a:extLst>
          </p:cNvPr>
          <p:cNvSpPr txBox="1"/>
          <p:nvPr/>
        </p:nvSpPr>
        <p:spPr>
          <a:xfrm>
            <a:off x="6922023" y="2080442"/>
            <a:ext cx="4581525" cy="230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JetBrains Mono"/>
              </a:rPr>
              <a:t>Take-off threshold: w &gt; w</a:t>
            </a:r>
            <a:r>
              <a:rPr sz="999" b="1" i="0" u="none">
                <a:solidFill>
                  <a:srgbClr val="0F172A"/>
                </a:solidFill>
                <a:latin typeface="JetBrains Mono"/>
              </a:rPr>
              <a:t>c</a:t>
            </a:r>
            <a:r>
              <a:rPr sz="1200" b="1" i="0" u="none">
                <a:solidFill>
                  <a:srgbClr val="0F172A"/>
                </a:solidFill>
                <a:latin typeface="JetBrains Mono"/>
              </a:rPr>
              <a:t> ≡ w</a:t>
            </a:r>
            <a:r>
              <a:rPr sz="999" b="1" i="0" u="none">
                <a:solidFill>
                  <a:srgbClr val="0F172A"/>
                </a:solidFill>
                <a:latin typeface="JetBrains Mono"/>
              </a:rPr>
              <a:t>s</a:t>
            </a:r>
            <a:r>
              <a:rPr sz="1200" b="1" i="0" u="none">
                <a:solidFill>
                  <a:srgbClr val="0F172A"/>
                </a:solidFill>
                <a:latin typeface="JetBrains Mono"/>
              </a:rPr>
              <a:t> (1 - F̄</a:t>
            </a:r>
            <a:r>
              <a:rPr sz="999" b="1" i="0" u="none">
                <a:solidFill>
                  <a:srgbClr val="0F172A"/>
                </a:solidFill>
                <a:latin typeface="JetBrains Mono"/>
              </a:rPr>
              <a:t>l</a:t>
            </a:r>
            <a:r>
              <a:rPr sz="1200" b="1" i="0" u="none">
                <a:solidFill>
                  <a:srgbClr val="0F172A"/>
                </a:solidFill>
                <a:latin typeface="JetBrains Mono"/>
              </a:rPr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804515-A302-C58A-FEF4-3EAF6FBC2CC5}"/>
              </a:ext>
            </a:extLst>
          </p:cNvPr>
          <p:cNvSpPr txBox="1"/>
          <p:nvPr/>
        </p:nvSpPr>
        <p:spPr>
          <a:xfrm>
            <a:off x="6779148" y="3655639"/>
            <a:ext cx="4867275" cy="44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0F172A"/>
                </a:solidFill>
                <a:latin typeface="Plus Jakarta Sans"/>
              </a:rPr>
              <a:t>Scale Matching: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Dominant eddies in the surface layer scale with height: </a:t>
            </a:r>
            <a:r>
              <a:rPr sz="1125" b="0" i="1" u="none">
                <a:solidFill>
                  <a:srgbClr val="334155"/>
                </a:solidFill>
                <a:latin typeface="Plus Jakarta Sans"/>
              </a:rPr>
              <a:t>ℓ</a:t>
            </a:r>
            <a:r>
              <a:rPr sz="937" b="0" i="1" u="none">
                <a:solidFill>
                  <a:srgbClr val="334155"/>
                </a:solidFill>
                <a:latin typeface="Plus Jakarta Sans"/>
              </a:rPr>
              <a:t>w</a:t>
            </a:r>
            <a:r>
              <a:rPr sz="1125" b="0" i="1" u="none">
                <a:solidFill>
                  <a:srgbClr val="334155"/>
                </a:solidFill>
                <a:latin typeface="Plus Jakarta Sans"/>
              </a:rPr>
              <a:t> ∼ z ∼ L (0.5 m)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4821B3-2BCE-92FB-1AC8-A23F744D2686}"/>
              </a:ext>
            </a:extLst>
          </p:cNvPr>
          <p:cNvSpPr txBox="1"/>
          <p:nvPr/>
        </p:nvSpPr>
        <p:spPr>
          <a:xfrm>
            <a:off x="6779148" y="4193801"/>
            <a:ext cx="4867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0F172A"/>
                </a:solidFill>
                <a:latin typeface="Plus Jakarta Sans"/>
              </a:rPr>
              <a:t>Spatial Shear: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Velocity fluctuates across the bundle, inducing unsteady tension and shape distortions.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CE68B2-FD08-8E2D-7352-C466330121B3}"/>
              </a:ext>
            </a:extLst>
          </p:cNvPr>
          <p:cNvSpPr txBox="1"/>
          <p:nvPr/>
        </p:nvSpPr>
        <p:spPr>
          <a:xfrm>
            <a:off x="6779148" y="4689101"/>
            <a:ext cx="48672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7C3AED"/>
                </a:solidFill>
                <a:latin typeface="Plus Jakarta Sans"/>
              </a:rPr>
              <a:t>Stochastic Shift: The deterministic step at F̄</a:t>
            </a:r>
            <a:r>
              <a:rPr sz="937" b="1" i="0" u="none">
                <a:solidFill>
                  <a:srgbClr val="7C3AED"/>
                </a:solidFill>
                <a:latin typeface="Plus Jakarta Sans"/>
              </a:rPr>
              <a:t>l</a:t>
            </a:r>
            <a:r>
              <a:rPr sz="1125" b="1" i="0" u="none">
                <a:solidFill>
                  <a:srgbClr val="7C3AED"/>
                </a:solidFill>
                <a:latin typeface="Plus Jakarta Sans"/>
              </a:rPr>
              <a:t> = 1 smooths into a continuous take-off probability P(z</a:t>
            </a:r>
            <a:r>
              <a:rPr sz="937" b="1" i="0" u="none">
                <a:solidFill>
                  <a:srgbClr val="7C3AED"/>
                </a:solidFill>
                <a:latin typeface="Plus Jakarta Sans"/>
              </a:rPr>
              <a:t>0</a:t>
            </a:r>
            <a:r>
              <a:rPr sz="1125" b="1" i="0" u="none">
                <a:solidFill>
                  <a:srgbClr val="7C3AED"/>
                </a:solidFill>
                <a:latin typeface="Plus Jakarta Sans"/>
              </a:rPr>
              <a:t>).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BA060B-553A-3B03-B046-DD73E4C0A025}"/>
              </a:ext>
            </a:extLst>
          </p:cNvPr>
          <p:cNvSpPr txBox="1"/>
          <p:nvPr/>
        </p:nvSpPr>
        <p:spPr>
          <a:xfrm>
            <a:off x="1733279" y="2862236"/>
            <a:ext cx="962025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F̄</a:t>
            </a:r>
            <a:r>
              <a:rPr sz="875" b="0" i="0" u="none">
                <a:solidFill>
                  <a:srgbClr val="64748B"/>
                </a:solidFill>
                <a:latin typeface="Plus Jakarta Sans"/>
              </a:rPr>
              <a:t>l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= NqE / (mg)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EF870F-92AA-E1C1-E890-12CF92E48C8D}"/>
              </a:ext>
            </a:extLst>
          </p:cNvPr>
          <p:cNvSpPr txBox="1"/>
          <p:nvPr/>
        </p:nvSpPr>
        <p:spPr>
          <a:xfrm>
            <a:off x="3976416" y="2862236"/>
            <a:ext cx="1285726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w</a:t>
            </a:r>
            <a:r>
              <a:rPr sz="875" b="0" i="0" u="none">
                <a:solidFill>
                  <a:srgbClr val="64748B"/>
                </a:solidFill>
                <a:latin typeface="Plus Jakarta Sans"/>
              </a:rPr>
              <a:t>s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= mg / (Nη</a:t>
            </a:r>
            <a:r>
              <a:rPr sz="875" b="0" i="0" u="none">
                <a:solidFill>
                  <a:srgbClr val="64748B"/>
                </a:solidFill>
                <a:latin typeface="Plus Jakarta Sans"/>
              </a:rPr>
              <a:t>∥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L + ζ</a:t>
            </a:r>
            <a:r>
              <a:rPr sz="875" b="0" i="0" u="none">
                <a:solidFill>
                  <a:srgbClr val="64748B"/>
                </a:solidFill>
                <a:latin typeface="Plus Jakarta Sans"/>
              </a:rPr>
              <a:t>s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88107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365B-6EFC-2F47-A139-0F65A213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658543-6ECC-8A4F-AEE9-3F653782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Air Flow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88F14-41FA-6501-E011-273CDFB9DD2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5E0CDB-26A3-7D35-5697-01BF38582693}"/>
                  </a:ext>
                </a:extLst>
              </p:cNvPr>
              <p:cNvSpPr txBox="1"/>
              <p:nvPr/>
            </p:nvSpPr>
            <p:spPr>
              <a:xfrm>
                <a:off x="914399" y="1445951"/>
                <a:ext cx="6853864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acc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 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acc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 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5E0CDB-26A3-7D35-5697-01BF38582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99" y="1445951"/>
                <a:ext cx="6853864" cy="778868"/>
              </a:xfrm>
              <a:prstGeom prst="rect">
                <a:avLst/>
              </a:prstGeom>
              <a:blipFill>
                <a:blip r:embed="rId4"/>
                <a:stretch>
                  <a:fillRect t="-109524" b="-17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F750A8-8316-A81F-1E85-DE77B8123CAF}"/>
                  </a:ext>
                </a:extLst>
              </p:cNvPr>
              <p:cNvSpPr txBox="1"/>
              <p:nvPr/>
            </p:nvSpPr>
            <p:spPr>
              <a:xfrm>
                <a:off x="9465825" y="1688472"/>
                <a:ext cx="2458779" cy="404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F750A8-8316-A81F-1E85-DE77B8123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825" y="1688472"/>
                <a:ext cx="2458779" cy="404791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onceptual visualization of turbulent wind advection. A fixed and translating Cartesian frame share a test point, with position vectors r and r prime and displacement U_h t.">
            <a:extLst>
              <a:ext uri="{FF2B5EF4-FFF2-40B4-BE49-F238E27FC236}">
                <a16:creationId xmlns:a16="http://schemas.microsoft.com/office/drawing/2014/main" id="{076041EE-A3CF-E865-82A8-E6A598DB33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963" y="2480080"/>
            <a:ext cx="5467641" cy="3456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A4EB06-0A35-A53F-0830-6B595C7B2FF2}"/>
                  </a:ext>
                </a:extLst>
              </p:cNvPr>
              <p:cNvSpPr txBox="1"/>
              <p:nvPr/>
            </p:nvSpPr>
            <p:spPr>
              <a:xfrm>
                <a:off x="460290" y="5528451"/>
                <a:ext cx="6097772" cy="816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A4EB06-0A35-A53F-0830-6B595C7B2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90" y="5528451"/>
                <a:ext cx="6097772" cy="816121"/>
              </a:xfrm>
              <a:prstGeom prst="rect">
                <a:avLst/>
              </a:prstGeom>
              <a:blipFill>
                <a:blip r:embed="rId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CEC6351-09CB-9CD2-7872-BC8AC04C4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4238" y="2642866"/>
            <a:ext cx="4386006" cy="24499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71396-FF19-F5D3-E234-CF7210ED893E}"/>
              </a:ext>
            </a:extLst>
          </p:cNvPr>
          <p:cNvSpPr txBox="1"/>
          <p:nvPr/>
        </p:nvSpPr>
        <p:spPr>
          <a:xfrm>
            <a:off x="8653975" y="132104"/>
            <a:ext cx="35569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J. C. H. Fung, J. C. R. Hunt, N. A. Malik, R. J. Perkins – “</a:t>
            </a:r>
            <a:r>
              <a:rPr lang="en-US" sz="1400" i="1" dirty="0"/>
              <a:t>Kinematic simulation of homogeneous turbulence by unsteady random Fourier modes”</a:t>
            </a:r>
            <a:r>
              <a:rPr lang="en-US" sz="1400" dirty="0"/>
              <a:t>, Journal of Fluid Mechanics 1992</a:t>
            </a:r>
          </a:p>
        </p:txBody>
      </p:sp>
    </p:spTree>
    <p:extLst>
      <p:ext uri="{BB962C8B-B14F-4D97-AF65-F5344CB8AC3E}">
        <p14:creationId xmlns:p14="http://schemas.microsoft.com/office/powerpoint/2010/main" val="3415824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3B52A-57A2-8316-F0A0-9DC91921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1D856A-7CF2-9734-AF1D-41A07F8B3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Air Flow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28A31-74D5-A467-A47B-879E7F72BD3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341DF7-D99A-62B7-7E6A-3D8590AE9D80}"/>
                  </a:ext>
                </a:extLst>
              </p:cNvPr>
              <p:cNvSpPr txBox="1"/>
              <p:nvPr/>
            </p:nvSpPr>
            <p:spPr>
              <a:xfrm>
                <a:off x="920339" y="1663470"/>
                <a:ext cx="2595775" cy="318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⊥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341DF7-D99A-62B7-7E6A-3D8590AE9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39" y="1663470"/>
                <a:ext cx="2595775" cy="318036"/>
              </a:xfrm>
              <a:prstGeom prst="rect">
                <a:avLst/>
              </a:prstGeom>
              <a:blipFill>
                <a:blip r:embed="rId4"/>
                <a:stretch>
                  <a:fillRect l="-1463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63208A-C478-400F-F20D-663780B63CD4}"/>
                  </a:ext>
                </a:extLst>
              </p:cNvPr>
              <p:cNvSpPr txBox="1"/>
              <p:nvPr/>
            </p:nvSpPr>
            <p:spPr>
              <a:xfrm>
                <a:off x="6829062" y="2129295"/>
                <a:ext cx="2748987" cy="1169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63208A-C478-400F-F20D-663780B63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062" y="2129295"/>
                <a:ext cx="2748987" cy="1169936"/>
              </a:xfrm>
              <a:prstGeom prst="rect">
                <a:avLst/>
              </a:prstGeom>
              <a:blipFill>
                <a:blip r:embed="rId5"/>
                <a:stretch>
                  <a:fillRect t="-55914" b="-10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9E2AA5-5072-F5DB-8B32-5062D3486A3D}"/>
                  </a:ext>
                </a:extLst>
              </p:cNvPr>
              <p:cNvSpPr txBox="1"/>
              <p:nvPr/>
            </p:nvSpPr>
            <p:spPr>
              <a:xfrm>
                <a:off x="4977113" y="1386887"/>
                <a:ext cx="6447100" cy="871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 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 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9E2AA5-5072-F5DB-8B32-5062D3486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113" y="1386887"/>
                <a:ext cx="6447100" cy="871201"/>
              </a:xfrm>
              <a:prstGeom prst="rect">
                <a:avLst/>
              </a:prstGeom>
              <a:blipFill>
                <a:blip r:embed="rId6"/>
                <a:stretch>
                  <a:fillRect t="-95652" b="-1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B2C045-20CE-1EB7-C4F7-9CDEC81128D1}"/>
                  </a:ext>
                </a:extLst>
              </p:cNvPr>
              <p:cNvSpPr txBox="1"/>
              <p:nvPr/>
            </p:nvSpPr>
            <p:spPr>
              <a:xfrm>
                <a:off x="4977113" y="2418905"/>
                <a:ext cx="1441048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B2C045-20CE-1EB7-C4F7-9CDEC8112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113" y="2418905"/>
                <a:ext cx="1441048" cy="4277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37C161-79A3-68EC-757E-9C92F26CF4AC}"/>
                  </a:ext>
                </a:extLst>
              </p:cNvPr>
              <p:cNvSpPr txBox="1"/>
              <p:nvPr/>
            </p:nvSpPr>
            <p:spPr>
              <a:xfrm>
                <a:off x="5017399" y="3429000"/>
                <a:ext cx="5415072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, 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, 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37C161-79A3-68EC-757E-9C92F26CF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399" y="3429000"/>
                <a:ext cx="5415072" cy="518604"/>
              </a:xfrm>
              <a:prstGeom prst="rect">
                <a:avLst/>
              </a:prstGeom>
              <a:blipFill>
                <a:blip r:embed="rId8"/>
                <a:stretch>
                  <a:fillRect t="-7143" r="-468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1A55B84-46B2-6D65-8ACA-D8E57439D448}"/>
              </a:ext>
            </a:extLst>
          </p:cNvPr>
          <p:cNvSpPr txBox="1"/>
          <p:nvPr/>
        </p:nvSpPr>
        <p:spPr>
          <a:xfrm>
            <a:off x="547560" y="5617668"/>
            <a:ext cx="40974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J. C. H. Fung, J. C. R. Hunt, N. A. Malik, R. J. Perkins – “</a:t>
            </a:r>
            <a:r>
              <a:rPr lang="en-US" sz="1400" i="1" dirty="0"/>
              <a:t>Kinematic simulation of homogeneous turbulence by unsteady random Fourier modes”</a:t>
            </a:r>
            <a:r>
              <a:rPr lang="en-US" sz="1400" dirty="0"/>
              <a:t>, Journal of Fluid Mechanics 1992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F986012-64BC-40D4-19F6-1A5A44B6AFA5}"/>
                  </a:ext>
                </a:extLst>
              </p:cNvPr>
              <p:cNvSpPr txBox="1"/>
              <p:nvPr/>
            </p:nvSpPr>
            <p:spPr>
              <a:xfrm>
                <a:off x="920339" y="2322745"/>
                <a:ext cx="2441053" cy="783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</m:sup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F986012-64BC-40D4-19F6-1A5A44B6A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39" y="2322745"/>
                <a:ext cx="2441053" cy="783035"/>
              </a:xfrm>
              <a:prstGeom prst="rect">
                <a:avLst/>
              </a:prstGeom>
              <a:blipFill>
                <a:blip r:embed="rId9"/>
                <a:stretch>
                  <a:fillRect l="-1554" t="-109524" b="-17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985883B-569B-D953-06F0-712A3758D89E}"/>
                  </a:ext>
                </a:extLst>
              </p:cNvPr>
              <p:cNvSpPr txBox="1"/>
              <p:nvPr/>
            </p:nvSpPr>
            <p:spPr>
              <a:xfrm>
                <a:off x="920339" y="3809104"/>
                <a:ext cx="29360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985883B-569B-D953-06F0-712A3758D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339" y="3809104"/>
                <a:ext cx="2936060" cy="518604"/>
              </a:xfrm>
              <a:prstGeom prst="rect">
                <a:avLst/>
              </a:prstGeom>
              <a:blipFill>
                <a:blip r:embed="rId10"/>
                <a:stretch>
                  <a:fillRect l="-1293" t="-7317"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1E8A43-D31C-5849-8BDB-0C0E36455AF3}"/>
                  </a:ext>
                </a:extLst>
              </p:cNvPr>
              <p:cNvSpPr txBox="1"/>
              <p:nvPr/>
            </p:nvSpPr>
            <p:spPr>
              <a:xfrm>
                <a:off x="5645550" y="5725408"/>
                <a:ext cx="3137013" cy="597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1.7 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17/6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1E8A43-D31C-5849-8BDB-0C0E36455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550" y="5725408"/>
                <a:ext cx="3137013" cy="597921"/>
              </a:xfrm>
              <a:prstGeom prst="rect">
                <a:avLst/>
              </a:prstGeom>
              <a:blipFill>
                <a:blip r:embed="rId11"/>
                <a:stretch>
                  <a:fillRect l="-806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65AC72-47EE-0D80-F4BF-5E3A9A9D1632}"/>
                  </a:ext>
                </a:extLst>
              </p:cNvPr>
              <p:cNvSpPr txBox="1"/>
              <p:nvPr/>
            </p:nvSpPr>
            <p:spPr>
              <a:xfrm>
                <a:off x="785275" y="4544942"/>
                <a:ext cx="2730839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65AC72-47EE-0D80-F4BF-5E3A9A9D1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75" y="4544942"/>
                <a:ext cx="2730839" cy="427746"/>
              </a:xfrm>
              <a:prstGeom prst="rect">
                <a:avLst/>
              </a:prstGeom>
              <a:blipFill>
                <a:blip r:embed="rId12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296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39366-231C-176F-08EE-2AAE7191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8001B-9DF2-623A-B94F-B886407B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Take-off Probability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E1577-7F10-BF94-65AF-7DC86D8E7C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55214F-7667-C882-BFAB-1124F57F2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94" y="1354174"/>
            <a:ext cx="4913423" cy="36658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78911C-AE2F-7A22-7AFF-A934761E71ED}"/>
                  </a:ext>
                </a:extLst>
              </p:cNvPr>
              <p:cNvSpPr txBox="1"/>
              <p:nvPr/>
            </p:nvSpPr>
            <p:spPr>
              <a:xfrm>
                <a:off x="6626327" y="1496750"/>
                <a:ext cx="4744779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78911C-AE2F-7A22-7AFF-A934761E7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327" y="1496750"/>
                <a:ext cx="4744779" cy="610936"/>
              </a:xfrm>
              <a:prstGeom prst="rect">
                <a:avLst/>
              </a:prstGeom>
              <a:blipFill>
                <a:blip r:embed="rId5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D03A71-5E88-648E-14F6-B7BD903BF1BB}"/>
                  </a:ext>
                </a:extLst>
              </p:cNvPr>
              <p:cNvSpPr txBox="1"/>
              <p:nvPr/>
            </p:nvSpPr>
            <p:spPr>
              <a:xfrm>
                <a:off x="820894" y="5123000"/>
                <a:ext cx="2836706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By the law of total probability, the take-off probability from 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i="1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sz="1400" dirty="0"/>
                  <a:t> is the average of the probabilities from the reachable states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+∆</m:t>
                    </m:r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sz="1400" dirty="0"/>
                  <a:t>: 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1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140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140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D03A71-5E88-648E-14F6-B7BD903BF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94" y="5123000"/>
                <a:ext cx="2836706" cy="1169551"/>
              </a:xfrm>
              <a:prstGeom prst="rect">
                <a:avLst/>
              </a:prstGeom>
              <a:blipFill>
                <a:blip r:embed="rId6"/>
                <a:stretch>
                  <a:fillRect l="-893" t="-1075" r="-2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9F329E-AFAC-0C10-12D3-6D9F2F4273F0}"/>
                  </a:ext>
                </a:extLst>
              </p:cNvPr>
              <p:cNvSpPr txBox="1"/>
              <p:nvPr/>
            </p:nvSpPr>
            <p:spPr>
              <a:xfrm>
                <a:off x="6591129" y="3042132"/>
                <a:ext cx="18509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9F329E-AFAC-0C10-12D3-6D9F2F427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129" y="3042132"/>
                <a:ext cx="18509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C41921-3B57-1471-80AE-F1789A670866}"/>
                  </a:ext>
                </a:extLst>
              </p:cNvPr>
              <p:cNvSpPr txBox="1"/>
              <p:nvPr/>
            </p:nvSpPr>
            <p:spPr>
              <a:xfrm>
                <a:off x="6693198" y="2576532"/>
                <a:ext cx="127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C41921-3B57-1471-80AE-F1789A670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198" y="2576532"/>
                <a:ext cx="1272271" cy="276999"/>
              </a:xfrm>
              <a:prstGeom prst="rect">
                <a:avLst/>
              </a:prstGeom>
              <a:blipFill>
                <a:blip r:embed="rId8"/>
                <a:stretch>
                  <a:fillRect r="-198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4D74FA11-229E-8D0B-DF8B-A2A7CBE3CC7C}"/>
              </a:ext>
            </a:extLst>
          </p:cNvPr>
          <p:cNvSpPr/>
          <p:nvPr/>
        </p:nvSpPr>
        <p:spPr>
          <a:xfrm>
            <a:off x="8357191" y="2576532"/>
            <a:ext cx="233916" cy="8349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761097-01A7-4157-451A-5B85E1FAFD8C}"/>
                  </a:ext>
                </a:extLst>
              </p:cNvPr>
              <p:cNvSpPr txBox="1"/>
              <p:nvPr/>
            </p:nvSpPr>
            <p:spPr>
              <a:xfrm>
                <a:off x="8833830" y="2809332"/>
                <a:ext cx="21610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761097-01A7-4157-451A-5B85E1FAF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830" y="2809332"/>
                <a:ext cx="216106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D3D456-A0BC-A654-06A9-B3EB29C2D948}"/>
                  </a:ext>
                </a:extLst>
              </p:cNvPr>
              <p:cNvSpPr txBox="1"/>
              <p:nvPr/>
            </p:nvSpPr>
            <p:spPr>
              <a:xfrm>
                <a:off x="6626326" y="4401781"/>
                <a:ext cx="15755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3D3D456-A0BC-A654-06A9-B3EB29C2D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326" y="4401781"/>
                <a:ext cx="157552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68756B-89AB-7E7D-E4FA-4A73E348838A}"/>
                  </a:ext>
                </a:extLst>
              </p:cNvPr>
              <p:cNvSpPr txBox="1"/>
              <p:nvPr/>
            </p:nvSpPr>
            <p:spPr>
              <a:xfrm>
                <a:off x="6626327" y="4822347"/>
                <a:ext cx="15755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068756B-89AB-7E7D-E4FA-4A73E3488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327" y="4822347"/>
                <a:ext cx="157552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Brace 21">
            <a:extLst>
              <a:ext uri="{FF2B5EF4-FFF2-40B4-BE49-F238E27FC236}">
                <a16:creationId xmlns:a16="http://schemas.microsoft.com/office/drawing/2014/main" id="{6C712D2B-D001-A524-17B3-CB3D116E15F3}"/>
              </a:ext>
            </a:extLst>
          </p:cNvPr>
          <p:cNvSpPr/>
          <p:nvPr/>
        </p:nvSpPr>
        <p:spPr>
          <a:xfrm>
            <a:off x="8170959" y="4374129"/>
            <a:ext cx="233916" cy="8349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0D300A-467A-0E8F-6DD0-D19A2B39191F}"/>
              </a:ext>
            </a:extLst>
          </p:cNvPr>
          <p:cNvSpPr txBox="1"/>
          <p:nvPr/>
        </p:nvSpPr>
        <p:spPr>
          <a:xfrm>
            <a:off x="6626328" y="3933106"/>
            <a:ext cx="1730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Limit conditions: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D5D245C-B689-50B1-1E9E-E56C819D2D9D}"/>
              </a:ext>
            </a:extLst>
          </p:cNvPr>
          <p:cNvGrpSpPr/>
          <p:nvPr/>
        </p:nvGrpSpPr>
        <p:grpSpPr>
          <a:xfrm>
            <a:off x="8469104" y="3178664"/>
            <a:ext cx="3301138" cy="1643683"/>
            <a:chOff x="8469104" y="3178664"/>
            <a:chExt cx="3301138" cy="1643683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CD45B86D-2E42-1799-A94F-8E0C4E936625}"/>
                </a:ext>
              </a:extLst>
            </p:cNvPr>
            <p:cNvSpPr/>
            <p:nvPr/>
          </p:nvSpPr>
          <p:spPr>
            <a:xfrm>
              <a:off x="9154633" y="3795823"/>
              <a:ext cx="2615609" cy="97529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5E39278-CDBF-20E4-E8CE-5C9E2886E45B}"/>
                    </a:ext>
                  </a:extLst>
                </p:cNvPr>
                <p:cNvSpPr txBox="1"/>
                <p:nvPr/>
              </p:nvSpPr>
              <p:spPr>
                <a:xfrm>
                  <a:off x="9249203" y="3923637"/>
                  <a:ext cx="2288658" cy="6628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lit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m:rPr>
                                    <m:lit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5E39278-CDBF-20E4-E8CE-5C9E2886E4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9203" y="3923637"/>
                  <a:ext cx="2288658" cy="662810"/>
                </a:xfrm>
                <a:prstGeom prst="rect">
                  <a:avLst/>
                </a:prstGeom>
                <a:blipFill>
                  <a:blip r:embed="rId12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488F22E-26A7-DEB2-6685-A5A822119BB1}"/>
                </a:ext>
              </a:extLst>
            </p:cNvPr>
            <p:cNvCxnSpPr>
              <a:stCxn id="16" idx="2"/>
              <a:endCxn id="24" idx="0"/>
            </p:cNvCxnSpPr>
            <p:nvPr/>
          </p:nvCxnSpPr>
          <p:spPr>
            <a:xfrm>
              <a:off x="9914364" y="3178664"/>
              <a:ext cx="548074" cy="6171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4DDADA6-F787-8F47-19D1-DC73E1FC72C1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8469104" y="4283468"/>
              <a:ext cx="685529" cy="5388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991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 animBg="1"/>
      <p:bldP spid="16" grpId="0"/>
      <p:bldP spid="20" grpId="0"/>
      <p:bldP spid="21" grpId="0"/>
      <p:bldP spid="22" grpId="0" animBg="1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33DFD-F2E0-E492-5FCF-D1733C50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06FA13-A3EF-81DA-422B-839CDA7B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Connecting Airflow to Take-off Probability</a:t>
            </a:r>
            <a:endParaRPr lang="ro-RO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2477D-E51A-F94D-15C2-7AD963E2CA3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B6EA45-B127-1A31-3ABB-BC4A7DD48A73}"/>
                  </a:ext>
                </a:extLst>
              </p:cNvPr>
              <p:cNvSpPr txBox="1"/>
              <p:nvPr/>
            </p:nvSpPr>
            <p:spPr>
              <a:xfrm>
                <a:off x="665578" y="1734107"/>
                <a:ext cx="166133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B6EA45-B127-1A31-3ABB-BC4A7DD48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578" y="1734107"/>
                <a:ext cx="166133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0069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075C0-3D55-D7FA-A006-79F3BA52D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3CE1-4626-DBC2-39A1-E6D9D510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Ballooning of Spiders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9C9C7-952A-9214-D7B4-319AFCA5B217}"/>
              </a:ext>
            </a:extLst>
          </p:cNvPr>
          <p:cNvSpPr txBox="1"/>
          <p:nvPr/>
        </p:nvSpPr>
        <p:spPr>
          <a:xfrm>
            <a:off x="3455274" y="2630483"/>
            <a:ext cx="5281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Numerical Simulations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7369B4-AD04-E6B5-532D-2F09974CF47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F96930-9A77-12FC-B019-13917E46987A}"/>
              </a:ext>
            </a:extLst>
          </p:cNvPr>
          <p:cNvSpPr txBox="1"/>
          <p:nvPr/>
        </p:nvSpPr>
        <p:spPr>
          <a:xfrm>
            <a:off x="3564836" y="3370544"/>
            <a:ext cx="4904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852C86"/>
                </a:solidFill>
                <a:latin typeface="Arial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DER (Discrete Elastic Rods) Algorithm</a:t>
            </a:r>
          </a:p>
        </p:txBody>
      </p:sp>
    </p:spTree>
    <p:extLst>
      <p:ext uri="{BB962C8B-B14F-4D97-AF65-F5344CB8AC3E}">
        <p14:creationId xmlns:p14="http://schemas.microsoft.com/office/powerpoint/2010/main" val="4145781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C1DE-1F98-D0EF-12F1-16CD1E40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0A4CAA-A6D1-F0B0-A352-2BB9F09E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DER (Discrete Elastic Rods) Algorithm</a:t>
            </a:r>
            <a:endParaRPr lang="ro-RO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111A1-AAD7-87BF-076B-17A73F1296C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33BA18-87B9-1BBF-FB1C-EB2B7BD5B297}"/>
                  </a:ext>
                </a:extLst>
              </p:cNvPr>
              <p:cNvSpPr txBox="1"/>
              <p:nvPr/>
            </p:nvSpPr>
            <p:spPr>
              <a:xfrm>
                <a:off x="7528241" y="3259942"/>
                <a:ext cx="4085561" cy="437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𝐌</m:t>
                      </m:r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el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ext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33BA18-87B9-1BBF-FB1C-EB2B7BD5B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241" y="3259942"/>
                <a:ext cx="4085561" cy="437043"/>
              </a:xfrm>
              <a:prstGeom prst="rect">
                <a:avLst/>
              </a:prstGeom>
              <a:blipFill>
                <a:blip r:embed="rId4"/>
                <a:stretch>
                  <a:fillRect t="-11429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0EC0F1-9E7D-0247-ED0F-BA1193EBF72B}"/>
                  </a:ext>
                </a:extLst>
              </p:cNvPr>
              <p:cNvSpPr txBox="1"/>
              <p:nvPr/>
            </p:nvSpPr>
            <p:spPr>
              <a:xfrm>
                <a:off x="7528242" y="1406293"/>
                <a:ext cx="36502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NN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1" baseline="-25000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, 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0EC0F1-9E7D-0247-ED0F-BA1193EBF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242" y="1406293"/>
                <a:ext cx="3650295" cy="276999"/>
              </a:xfrm>
              <a:prstGeom prst="rect">
                <a:avLst/>
              </a:prstGeom>
              <a:blipFill>
                <a:blip r:embed="rId5"/>
                <a:stretch>
                  <a:fillRect l="-346" t="-4348" b="-4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AACC5AD-AF7D-56BB-D23C-7EA835BCA8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70" y="1175857"/>
            <a:ext cx="6502400" cy="36322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46BA1A3B-49B9-B224-3745-6D705260A1CA}"/>
              </a:ext>
            </a:extLst>
          </p:cNvPr>
          <p:cNvSpPr/>
          <p:nvPr/>
        </p:nvSpPr>
        <p:spPr>
          <a:xfrm rot="5400000">
            <a:off x="9294097" y="177242"/>
            <a:ext cx="230107" cy="35387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16573A-6B37-FC00-7C69-D62E798A793A}"/>
                  </a:ext>
                </a:extLst>
              </p:cNvPr>
              <p:cNvSpPr txBox="1"/>
              <p:nvPr/>
            </p:nvSpPr>
            <p:spPr>
              <a:xfrm>
                <a:off x="7770321" y="2209454"/>
                <a:ext cx="1376210" cy="210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3(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NNt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+1)+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NNt</m:t>
                      </m:r>
                    </m:oMath>
                  </m:oMathPara>
                </a14:m>
                <a:endParaRPr lang="en-US" sz="1400" baseline="-25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16573A-6B37-FC00-7C69-D62E798A7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321" y="2209454"/>
                <a:ext cx="1376210" cy="210507"/>
              </a:xfrm>
              <a:prstGeom prst="rect">
                <a:avLst/>
              </a:prstGeom>
              <a:blipFill>
                <a:blip r:embed="rId7"/>
                <a:stretch>
                  <a:fillRect l="-3704" r="-92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815F5F1-F875-DF3C-9229-F1654C3F1CFA}"/>
              </a:ext>
            </a:extLst>
          </p:cNvPr>
          <p:cNvSpPr txBox="1"/>
          <p:nvPr/>
        </p:nvSpPr>
        <p:spPr>
          <a:xfrm>
            <a:off x="9146531" y="2175697"/>
            <a:ext cx="2163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degrees of freedom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5ECB06-8383-FA49-352C-C036026D4A46}"/>
              </a:ext>
            </a:extLst>
          </p:cNvPr>
          <p:cNvSpPr txBox="1"/>
          <p:nvPr/>
        </p:nvSpPr>
        <p:spPr>
          <a:xfrm>
            <a:off x="7528241" y="2881551"/>
            <a:ext cx="2904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Equation of motion become: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6BC251-C1C6-9BC8-8E05-5A928264AD19}"/>
                  </a:ext>
                </a:extLst>
              </p:cNvPr>
              <p:cNvSpPr txBox="1"/>
              <p:nvPr/>
            </p:nvSpPr>
            <p:spPr>
              <a:xfrm>
                <a:off x="8084813" y="4009196"/>
                <a:ext cx="2972416" cy="3408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ext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6BC251-C1C6-9BC8-8E05-5A928264A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813" y="4009196"/>
                <a:ext cx="2972416" cy="340863"/>
              </a:xfrm>
              <a:prstGeom prst="rect">
                <a:avLst/>
              </a:prstGeom>
              <a:blipFill>
                <a:blip r:embed="rId8"/>
                <a:stretch>
                  <a:fillRect l="-2128" t="-25000" r="-42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713A943D-D8E9-36C1-1557-38DDC8566F63}"/>
              </a:ext>
            </a:extLst>
          </p:cNvPr>
          <p:cNvGrpSpPr/>
          <p:nvPr/>
        </p:nvGrpSpPr>
        <p:grpSpPr>
          <a:xfrm>
            <a:off x="10149657" y="4350059"/>
            <a:ext cx="1955161" cy="1320196"/>
            <a:chOff x="10149657" y="4350059"/>
            <a:chExt cx="1955161" cy="132019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C94CD36-6457-F2CD-BE12-AA560974135B}"/>
                </a:ext>
              </a:extLst>
            </p:cNvPr>
            <p:cNvGrpSpPr/>
            <p:nvPr/>
          </p:nvGrpSpPr>
          <p:grpSpPr>
            <a:xfrm>
              <a:off x="10149657" y="4947554"/>
              <a:ext cx="1955161" cy="722701"/>
              <a:chOff x="10048997" y="4808057"/>
              <a:chExt cx="1955161" cy="722701"/>
            </a:xfrm>
          </p:grpSpPr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2E6C1183-2603-D8A5-F12B-A06E37905FE6}"/>
                  </a:ext>
                </a:extLst>
              </p:cNvPr>
              <p:cNvSpPr/>
              <p:nvPr/>
            </p:nvSpPr>
            <p:spPr>
              <a:xfrm>
                <a:off x="10048997" y="4808057"/>
                <a:ext cx="1955161" cy="722701"/>
              </a:xfrm>
              <a:prstGeom prst="round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C4F60FA-F3AD-2C4A-C504-181D6ACD61F8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1261" y="4944324"/>
                    <a:ext cx="1785874" cy="3309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aln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 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C4F60FA-F3AD-2C4A-C504-181D6ACD61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41261" y="4944324"/>
                    <a:ext cx="1785874" cy="33098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113" b="-259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1B7855F-F454-39B4-19D7-FD32D511A2E6}"/>
                </a:ext>
              </a:extLst>
            </p:cNvPr>
            <p:cNvCxnSpPr>
              <a:endCxn id="25" idx="0"/>
            </p:cNvCxnSpPr>
            <p:nvPr/>
          </p:nvCxnSpPr>
          <p:spPr>
            <a:xfrm>
              <a:off x="10951535" y="4350059"/>
              <a:ext cx="175703" cy="5974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1959247-4225-45EC-9301-A2D4BF521197}"/>
              </a:ext>
            </a:extLst>
          </p:cNvPr>
          <p:cNvGrpSpPr/>
          <p:nvPr/>
        </p:nvGrpSpPr>
        <p:grpSpPr>
          <a:xfrm>
            <a:off x="5963436" y="4350059"/>
            <a:ext cx="4469034" cy="2311645"/>
            <a:chOff x="5963436" y="4350059"/>
            <a:chExt cx="4469034" cy="231164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5D846DB-0294-7F41-159C-D58C3AE16D18}"/>
                </a:ext>
              </a:extLst>
            </p:cNvPr>
            <p:cNvGrpSpPr/>
            <p:nvPr/>
          </p:nvGrpSpPr>
          <p:grpSpPr>
            <a:xfrm>
              <a:off x="5963436" y="5530758"/>
              <a:ext cx="4085561" cy="1130946"/>
              <a:chOff x="5963436" y="5530758"/>
              <a:chExt cx="4085561" cy="1130946"/>
            </a:xfrm>
          </p:grpSpPr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7FA1E5F2-9B1F-DBBE-F7D6-E609173D4D22}"/>
                  </a:ext>
                </a:extLst>
              </p:cNvPr>
              <p:cNvSpPr/>
              <p:nvPr/>
            </p:nvSpPr>
            <p:spPr>
              <a:xfrm>
                <a:off x="6549656" y="5530758"/>
                <a:ext cx="3021365" cy="1007720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E9A0A4C-E650-468F-DC9C-5D147BE256CF}"/>
                      </a:ext>
                    </a:extLst>
                  </p:cNvPr>
                  <p:cNvSpPr txBox="1"/>
                  <p:nvPr/>
                </p:nvSpPr>
                <p:spPr>
                  <a:xfrm>
                    <a:off x="5963436" y="5756135"/>
                    <a:ext cx="4085561" cy="90556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πϵ</m:t>
                              </m:r>
                            </m:den>
                          </m:f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nary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</a:p>
                  <a:p>
                    <a:endParaRPr lang="en-US" dirty="0"/>
                  </a:p>
                </p:txBody>
              </p:sp>
            </mc:Choice>
            <mc:Fallback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E9A0A4C-E650-468F-DC9C-5D147BE256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3436" y="5756135"/>
                    <a:ext cx="4085561" cy="90556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97222" b="-10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734C335-5B64-1D0B-3C15-D65E9A7414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6531" y="4350059"/>
              <a:ext cx="1285939" cy="11806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C9ED9AF-74D3-12A9-73DC-F9465E3FAAA6}"/>
              </a:ext>
            </a:extLst>
          </p:cNvPr>
          <p:cNvGrpSpPr/>
          <p:nvPr/>
        </p:nvGrpSpPr>
        <p:grpSpPr>
          <a:xfrm>
            <a:off x="516270" y="4370027"/>
            <a:ext cx="9457685" cy="1932998"/>
            <a:chOff x="516270" y="4370027"/>
            <a:chExt cx="9457685" cy="193299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7D27D90-20FF-B042-CD4E-1459E7818B69}"/>
                </a:ext>
              </a:extLst>
            </p:cNvPr>
            <p:cNvGrpSpPr/>
            <p:nvPr/>
          </p:nvGrpSpPr>
          <p:grpSpPr>
            <a:xfrm>
              <a:off x="516270" y="5275312"/>
              <a:ext cx="5579730" cy="572595"/>
              <a:chOff x="516270" y="5275312"/>
              <a:chExt cx="5579730" cy="572595"/>
            </a:xfrm>
          </p:grpSpPr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A7B09C0A-25DB-382D-B1F7-74A2F9826A2E}"/>
                  </a:ext>
                </a:extLst>
              </p:cNvPr>
              <p:cNvSpPr/>
              <p:nvPr/>
            </p:nvSpPr>
            <p:spPr>
              <a:xfrm>
                <a:off x="516270" y="5275312"/>
                <a:ext cx="5579730" cy="572595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1F18E707-32F7-3D58-0CA8-19D87E7DF77B}"/>
                      </a:ext>
                    </a:extLst>
                  </p:cNvPr>
                  <p:cNvSpPr txBox="1"/>
                  <p:nvPr/>
                </p:nvSpPr>
                <p:spPr>
                  <a:xfrm>
                    <a:off x="516270" y="5332499"/>
                    <a:ext cx="5555815" cy="39651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aln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η</m:t>
                                  </m:r>
                                </m:e>
                                <m:sub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η</m:t>
                                  </m:r>
                                </m:e>
                                <m:sub>
                                  <m:r>
                                    <a:rPr lang="en-US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𝕀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 - 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 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1F18E707-32F7-3D58-0CA8-19D87E7DF7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6270" y="5332499"/>
                    <a:ext cx="5555815" cy="39651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28" t="-3125" b="-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7AB8AE7-FB68-111A-F29D-9BBF58B3C3F2}"/>
                </a:ext>
              </a:extLst>
            </p:cNvPr>
            <p:cNvSpPr txBox="1"/>
            <p:nvPr/>
          </p:nvSpPr>
          <p:spPr>
            <a:xfrm>
              <a:off x="1850066" y="5964471"/>
              <a:ext cx="27113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/>
                <a:t>k</a:t>
              </a:r>
              <a:r>
                <a:rPr lang="en-US" sz="1600" dirty="0"/>
                <a:t> represents node number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6748428-2C1F-D4F2-D618-7312C4D07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0591" y="4370027"/>
              <a:ext cx="3943364" cy="905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229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4A0548-5079-A094-3841-E076AF5BE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93192"/>
            <a:ext cx="7644383" cy="640080"/>
          </a:xfrm>
        </p:spPr>
        <p:txBody>
          <a:bodyPr wrap="square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DER (Discrete Elastic Rods) Algorithm</a:t>
            </a:r>
            <a:endParaRPr lang="ro-RO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4DCED-0E1E-B6DB-C044-3128E0EAD88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38D5318-AF5C-ECA0-ED07-CF8ABFC4D7B7}"/>
                  </a:ext>
                </a:extLst>
              </p:cNvPr>
              <p:cNvSpPr txBox="1"/>
              <p:nvPr/>
            </p:nvSpPr>
            <p:spPr>
              <a:xfrm>
                <a:off x="3668622" y="1441774"/>
                <a:ext cx="4085561" cy="437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𝐌</m:t>
                      </m:r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el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ext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38D5318-AF5C-ECA0-ED07-CF8ABFC4D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22" y="1441774"/>
                <a:ext cx="4085561" cy="437043"/>
              </a:xfrm>
              <a:prstGeom prst="rect">
                <a:avLst/>
              </a:prstGeom>
              <a:blipFill>
                <a:blip r:embed="rId3"/>
                <a:stretch>
                  <a:fillRect t="-11429"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1BB87CE-387F-C7FC-0374-A866863537DA}"/>
                  </a:ext>
                </a:extLst>
              </p:cNvPr>
              <p:cNvSpPr txBox="1"/>
              <p:nvPr/>
            </p:nvSpPr>
            <p:spPr>
              <a:xfrm>
                <a:off x="283093" y="2303172"/>
                <a:ext cx="2671430" cy="655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1BB87CE-387F-C7FC-0374-A8668635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93" y="2303172"/>
                <a:ext cx="2671430" cy="655179"/>
              </a:xfrm>
              <a:prstGeom prst="rect">
                <a:avLst/>
              </a:prstGeom>
              <a:blipFill>
                <a:blip r:embed="rId4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711C9B4-DE36-B91F-8A4B-5EC819FC415D}"/>
                  </a:ext>
                </a:extLst>
              </p:cNvPr>
              <p:cNvSpPr txBox="1"/>
              <p:nvPr/>
            </p:nvSpPr>
            <p:spPr>
              <a:xfrm>
                <a:off x="497073" y="3121773"/>
                <a:ext cx="4532128" cy="751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711C9B4-DE36-B91F-8A4B-5EC819FC4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73" y="3121773"/>
                <a:ext cx="4532128" cy="7512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ight Brace 31">
            <a:extLst>
              <a:ext uri="{FF2B5EF4-FFF2-40B4-BE49-F238E27FC236}">
                <a16:creationId xmlns:a16="http://schemas.microsoft.com/office/drawing/2014/main" id="{AC539E7B-0BB1-87FA-8512-A73028F300D2}"/>
              </a:ext>
            </a:extLst>
          </p:cNvPr>
          <p:cNvSpPr/>
          <p:nvPr/>
        </p:nvSpPr>
        <p:spPr>
          <a:xfrm>
            <a:off x="4930723" y="2233263"/>
            <a:ext cx="490815" cy="179828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6E78E4D-4253-B7B3-3F68-DC4184C79B62}"/>
                  </a:ext>
                </a:extLst>
              </p:cNvPr>
              <p:cNvSpPr txBox="1"/>
              <p:nvPr/>
            </p:nvSpPr>
            <p:spPr>
              <a:xfrm>
                <a:off x="5663755" y="2601683"/>
                <a:ext cx="5324727" cy="6350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𝐌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el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ext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6E78E4D-4253-B7B3-3F68-DC4184C79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755" y="2601683"/>
                <a:ext cx="5324727" cy="635046"/>
              </a:xfrm>
              <a:prstGeom prst="rect">
                <a:avLst/>
              </a:prstGeom>
              <a:blipFill>
                <a:blip r:embed="rId6"/>
                <a:stretch>
                  <a:fillRect l="-238" r="-238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Brace 33">
            <a:extLst>
              <a:ext uri="{FF2B5EF4-FFF2-40B4-BE49-F238E27FC236}">
                <a16:creationId xmlns:a16="http://schemas.microsoft.com/office/drawing/2014/main" id="{66BCA4AA-22F4-A1EF-753D-05B8855DBA51}"/>
              </a:ext>
            </a:extLst>
          </p:cNvPr>
          <p:cNvSpPr/>
          <p:nvPr/>
        </p:nvSpPr>
        <p:spPr>
          <a:xfrm rot="5400000">
            <a:off x="8006168" y="1134751"/>
            <a:ext cx="266856" cy="47635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897CFC1-E7E1-A350-8D5B-C761F50B1F5A}"/>
                  </a:ext>
                </a:extLst>
              </p:cNvPr>
              <p:cNvSpPr txBox="1"/>
              <p:nvPr/>
            </p:nvSpPr>
            <p:spPr>
              <a:xfrm>
                <a:off x="7036440" y="3720667"/>
                <a:ext cx="2688844" cy="344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Residual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897CFC1-E7E1-A350-8D5B-C761F50B1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440" y="3720667"/>
                <a:ext cx="2688844" cy="344133"/>
              </a:xfrm>
              <a:prstGeom prst="rect">
                <a:avLst/>
              </a:prstGeom>
              <a:blipFill>
                <a:blip r:embed="rId7"/>
                <a:stretch>
                  <a:fillRect l="-939" t="-3448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4A0C2583-5DCD-BAF6-CB98-75DBB55DA9AA}"/>
              </a:ext>
            </a:extLst>
          </p:cNvPr>
          <p:cNvGrpSpPr/>
          <p:nvPr/>
        </p:nvGrpSpPr>
        <p:grpSpPr>
          <a:xfrm>
            <a:off x="6404959" y="4211185"/>
            <a:ext cx="4465392" cy="2042305"/>
            <a:chOff x="6096000" y="4529470"/>
            <a:chExt cx="3962400" cy="2042305"/>
          </a:xfrm>
        </p:grpSpPr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96C6C0D5-C8A2-B1FC-EA52-190B3B2C73DE}"/>
                </a:ext>
              </a:extLst>
            </p:cNvPr>
            <p:cNvSpPr/>
            <p:nvPr/>
          </p:nvSpPr>
          <p:spPr>
            <a:xfrm>
              <a:off x="6096000" y="4529470"/>
              <a:ext cx="3962400" cy="2042305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8D6133B-F81E-8D38-8F6F-83E0706B371E}"/>
                    </a:ext>
                  </a:extLst>
                </p:cNvPr>
                <p:cNvSpPr txBox="1"/>
                <p:nvPr/>
              </p:nvSpPr>
              <p:spPr>
                <a:xfrm>
                  <a:off x="6863058" y="5615117"/>
                  <a:ext cx="3011475" cy="4499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update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ξ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vector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: 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400" i="1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𝝃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8D6133B-F81E-8D38-8F6F-83E0706B3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058" y="5615117"/>
                  <a:ext cx="3011475" cy="449995"/>
                </a:xfrm>
                <a:prstGeom prst="rect">
                  <a:avLst/>
                </a:prstGeom>
                <a:blipFill>
                  <a:blip r:embed="rId8"/>
                  <a:stretch>
                    <a:fillRect l="-2239" t="-2778" r="-22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D34767A-5E76-360E-5F05-D793D515A651}"/>
                </a:ext>
              </a:extLst>
            </p:cNvPr>
            <p:cNvSpPr txBox="1"/>
            <p:nvPr/>
          </p:nvSpPr>
          <p:spPr>
            <a:xfrm>
              <a:off x="6315481" y="4928576"/>
              <a:ext cx="1095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Repeat: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F920BE-84C2-5F0D-2B20-7EDD53DC08E5}"/>
                </a:ext>
              </a:extLst>
            </p:cNvPr>
            <p:cNvSpPr txBox="1"/>
            <p:nvPr/>
          </p:nvSpPr>
          <p:spPr>
            <a:xfrm>
              <a:off x="6315481" y="5845613"/>
              <a:ext cx="1095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/>
                <a:t>Until: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38E69B2-E358-7083-9049-476361C55A55}"/>
                    </a:ext>
                  </a:extLst>
                </p:cNvPr>
                <p:cNvSpPr txBox="1"/>
                <p:nvPr/>
              </p:nvSpPr>
              <p:spPr>
                <a:xfrm>
                  <a:off x="6863057" y="6164912"/>
                  <a:ext cx="3011475" cy="2202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</m:d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ϵ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38E69B2-E358-7083-9049-476361C55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057" y="6164912"/>
                  <a:ext cx="3011475" cy="220253"/>
                </a:xfrm>
                <a:prstGeom prst="rect">
                  <a:avLst/>
                </a:prstGeom>
                <a:blipFill>
                  <a:blip r:embed="rId9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E9F0F1C-4811-04EC-34F8-EBDE872C8D53}"/>
                </a:ext>
              </a:extLst>
            </p:cNvPr>
            <p:cNvSpPr txBox="1"/>
            <p:nvPr/>
          </p:nvSpPr>
          <p:spPr>
            <a:xfrm>
              <a:off x="7271309" y="4642769"/>
              <a:ext cx="23920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Newton-Raphson method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FC63A4D-E62D-FBAE-2030-033B89118A58}"/>
                    </a:ext>
                  </a:extLst>
                </p:cNvPr>
                <p:cNvSpPr txBox="1"/>
                <p:nvPr/>
              </p:nvSpPr>
              <p:spPr>
                <a:xfrm>
                  <a:off x="6551021" y="5141612"/>
                  <a:ext cx="3011475" cy="4596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el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∂</m:t>
                            </m:r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fex</m:t>
                            </m:r>
                            <m:r>
                              <m:rPr>
                                <m:sty m:val="p"/>
                              </m:rPr>
                              <a:rPr lang="en-US" sz="1400" b="0" i="1" baseline="3000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∂</m:t>
                            </m:r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ξ</m:t>
                            </m:r>
                          </m:den>
                        </m:f>
                      </m:oMath>
                    </m:oMathPara>
                  </a14:m>
                  <a:endParaRPr lang="en-US" sz="1400" baseline="30000" dirty="0"/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FC63A4D-E62D-FBAE-2030-033B89118A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21" y="5141612"/>
                  <a:ext cx="3011475" cy="459613"/>
                </a:xfrm>
                <a:prstGeom prst="rect">
                  <a:avLst/>
                </a:prstGeom>
                <a:blipFill>
                  <a:blip r:embed="rId10"/>
                  <a:stretch>
                    <a:fillRect t="-2632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6C10701-2A04-75F8-A277-824C30A3CA42}"/>
              </a:ext>
            </a:extLst>
          </p:cNvPr>
          <p:cNvGrpSpPr/>
          <p:nvPr/>
        </p:nvGrpSpPr>
        <p:grpSpPr>
          <a:xfrm>
            <a:off x="465285" y="4375683"/>
            <a:ext cx="3351803" cy="1959643"/>
            <a:chOff x="465285" y="4375683"/>
            <a:chExt cx="3351803" cy="1959643"/>
          </a:xfrm>
        </p:grpSpPr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106F96C3-528B-D7D7-1C5E-17DAC77B66A5}"/>
                </a:ext>
              </a:extLst>
            </p:cNvPr>
            <p:cNvSpPr/>
            <p:nvPr/>
          </p:nvSpPr>
          <p:spPr>
            <a:xfrm>
              <a:off x="465285" y="4375683"/>
              <a:ext cx="3351803" cy="1959643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55CA671-E217-4CF4-972C-A2CD3C4EE3BB}"/>
                    </a:ext>
                  </a:extLst>
                </p:cNvPr>
                <p:cNvSpPr txBox="1"/>
                <p:nvPr/>
              </p:nvSpPr>
              <p:spPr>
                <a:xfrm>
                  <a:off x="1743457" y="4414868"/>
                  <a:ext cx="1590631" cy="3561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/>
                    <a:t>Who is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el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? </m:t>
                      </m:r>
                    </m:oMath>
                  </a14:m>
                  <a:r>
                    <a:rPr lang="en-US" sz="1600" dirty="0"/>
                    <a:t> </a:t>
                  </a:r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855CA671-E217-4CF4-972C-A2CD3C4EE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3457" y="4414868"/>
                  <a:ext cx="1590631" cy="356123"/>
                </a:xfrm>
                <a:prstGeom prst="rect">
                  <a:avLst/>
                </a:prstGeom>
                <a:blipFill>
                  <a:blip r:embed="rId11"/>
                  <a:stretch>
                    <a:fillRect l="-2381" t="-6897"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4FE1327-5FD1-76BD-982E-2856EF84AC33}"/>
                    </a:ext>
                  </a:extLst>
                </p:cNvPr>
                <p:cNvSpPr txBox="1"/>
                <p:nvPr/>
              </p:nvSpPr>
              <p:spPr>
                <a:xfrm>
                  <a:off x="706002" y="5044580"/>
                  <a:ext cx="21922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el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≈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4FE1327-5FD1-76BD-982E-2856EF84A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002" y="5044580"/>
                  <a:ext cx="2192267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1724" t="-5000" b="-4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376904D-2C3E-9696-2C4E-B5B024A095F3}"/>
                    </a:ext>
                  </a:extLst>
                </p:cNvPr>
                <p:cNvSpPr txBox="1"/>
                <p:nvPr/>
              </p:nvSpPr>
              <p:spPr>
                <a:xfrm>
                  <a:off x="465285" y="5500783"/>
                  <a:ext cx="3177850" cy="75270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YA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e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k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l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376904D-2C3E-9696-2C4E-B5B024A095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285" y="5500783"/>
                  <a:ext cx="3177850" cy="752707"/>
                </a:xfrm>
                <a:prstGeom prst="rect">
                  <a:avLst/>
                </a:prstGeom>
                <a:blipFill>
                  <a:blip r:embed="rId13"/>
                  <a:stretch>
                    <a:fillRect t="-101639" b="-1557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7E0B3E51-C20E-FB07-93EC-746B450B5ED6}"/>
              </a:ext>
            </a:extLst>
          </p:cNvPr>
          <p:cNvSpPr/>
          <p:nvPr/>
        </p:nvSpPr>
        <p:spPr>
          <a:xfrm>
            <a:off x="104170" y="5207532"/>
            <a:ext cx="4479405" cy="1401612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4A0548-5079-A094-3841-E076AF5B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Monte Carlo Ensemble: Take-Off Probability Sweep</a:t>
            </a:r>
            <a:endParaRPr lang="ro-RO" sz="32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24DCED-0E1E-B6DB-C044-3128E0EAD88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00DE2B0-86C9-81A9-A567-7C4901D36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9267"/>
            <a:ext cx="12099002" cy="2280378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28DDD643-7D87-58BE-00B2-4382B2EE7202}"/>
              </a:ext>
            </a:extLst>
          </p:cNvPr>
          <p:cNvGrpSpPr/>
          <p:nvPr/>
        </p:nvGrpSpPr>
        <p:grpSpPr>
          <a:xfrm>
            <a:off x="92998" y="3521432"/>
            <a:ext cx="2893672" cy="1585732"/>
            <a:chOff x="243067" y="3935392"/>
            <a:chExt cx="2893672" cy="1585732"/>
          </a:xfrm>
        </p:grpSpPr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2FAFB204-CF70-DF42-0ED1-848E091AB797}"/>
                </a:ext>
              </a:extLst>
            </p:cNvPr>
            <p:cNvSpPr/>
            <p:nvPr/>
          </p:nvSpPr>
          <p:spPr>
            <a:xfrm>
              <a:off x="243067" y="3935392"/>
              <a:ext cx="2801073" cy="158573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605CD4E-9637-00E5-1911-9B134EA0C0C3}"/>
                    </a:ext>
                  </a:extLst>
                </p:cNvPr>
                <p:cNvSpPr txBox="1"/>
                <p:nvPr/>
              </p:nvSpPr>
              <p:spPr>
                <a:xfrm>
                  <a:off x="335666" y="4035760"/>
                  <a:ext cx="2801073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The grid</a:t>
                  </a:r>
                </a:p>
                <a:p>
                  <a:endParaRPr lang="en-US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=1,2,4,8 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threads</m:t>
                        </m:r>
                      </m:oMath>
                    </m:oMathPara>
                  </a14:m>
                  <a:endParaRPr lang="en-US" sz="16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1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=0.15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0.30 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en-US" sz="1600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=-4,-2,-1,0,1,2,4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605CD4E-9637-00E5-1911-9B134EA0C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666" y="4035760"/>
                  <a:ext cx="2801073" cy="1384995"/>
                </a:xfrm>
                <a:prstGeom prst="rect">
                  <a:avLst/>
                </a:prstGeom>
                <a:blipFill>
                  <a:blip r:embed="rId4"/>
                  <a:stretch>
                    <a:fillRect t="-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006EA6B-F2C4-CA72-2EA4-EAAC6DCED009}"/>
                  </a:ext>
                </a:extLst>
              </p:cNvPr>
              <p:cNvSpPr txBox="1"/>
              <p:nvPr/>
            </p:nvSpPr>
            <p:spPr>
              <a:xfrm>
                <a:off x="251963" y="5225638"/>
                <a:ext cx="4189635" cy="1382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The constants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=0.5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16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=7,41·10³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=0,5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=50,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end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=60 </m:t>
                      </m:r>
                      <m:r>
                        <m:rPr>
                          <m:nor/>
                        </m:rPr>
                        <a:rPr lang="en-US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006EA6B-F2C4-CA72-2EA4-EAAC6DCED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63" y="5225638"/>
                <a:ext cx="4189635" cy="1382430"/>
              </a:xfrm>
              <a:prstGeom prst="rect">
                <a:avLst/>
              </a:prstGeom>
              <a:blipFill>
                <a:blip r:embed="rId5"/>
                <a:stretch>
                  <a:fillRect t="-1818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82375CA9-F50F-0A50-776E-3192C3EBC0A8}"/>
              </a:ext>
            </a:extLst>
          </p:cNvPr>
          <p:cNvGrpSpPr/>
          <p:nvPr/>
        </p:nvGrpSpPr>
        <p:grpSpPr>
          <a:xfrm>
            <a:off x="3148314" y="3055716"/>
            <a:ext cx="2372810" cy="1122745"/>
            <a:chOff x="3148314" y="3055716"/>
            <a:chExt cx="2372810" cy="1122745"/>
          </a:xfrm>
        </p:grpSpPr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390829E0-B67E-B37F-7257-07D206ECF64A}"/>
                </a:ext>
              </a:extLst>
            </p:cNvPr>
            <p:cNvSpPr/>
            <p:nvPr/>
          </p:nvSpPr>
          <p:spPr>
            <a:xfrm>
              <a:off x="3148314" y="3521432"/>
              <a:ext cx="2372810" cy="657029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8C3DAF6-7BEE-8206-860D-64A0531D9AA3}"/>
                </a:ext>
              </a:extLst>
            </p:cNvPr>
            <p:cNvSpPr txBox="1"/>
            <p:nvPr/>
          </p:nvSpPr>
          <p:spPr>
            <a:xfrm>
              <a:off x="3240911" y="3557558"/>
              <a:ext cx="21876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Here we calculate a</a:t>
              </a:r>
              <a:r>
                <a:rPr lang="en-US" sz="1600" baseline="-25000" dirty="0"/>
                <a:t>n</a:t>
              </a:r>
              <a:r>
                <a:rPr lang="en-US" sz="1600" dirty="0"/>
                <a:t>, b</a:t>
              </a:r>
              <a:r>
                <a:rPr lang="en-US" sz="1600" baseline="-25000" dirty="0"/>
                <a:t>n</a:t>
              </a:r>
              <a:r>
                <a:rPr lang="en-US" sz="1600" dirty="0"/>
                <a:t>, </a:t>
              </a:r>
              <a:r>
                <a:rPr lang="en-US" sz="1600" dirty="0" err="1"/>
                <a:t>k</a:t>
              </a:r>
              <a:r>
                <a:rPr lang="en-US" sz="1600" baseline="-25000" dirty="0" err="1"/>
                <a:t>n</a:t>
              </a:r>
              <a:r>
                <a:rPr lang="en-US" sz="1600" dirty="0"/>
                <a:t> and </a:t>
              </a:r>
              <a:r>
                <a:rPr lang="en-US" sz="1600" dirty="0" err="1"/>
                <a:t>ω</a:t>
              </a:r>
              <a:r>
                <a:rPr lang="en-US" sz="1600" baseline="-25000" dirty="0" err="1"/>
                <a:t>n</a:t>
              </a:r>
              <a:endParaRPr lang="en-US" sz="1600" baseline="-25000" dirty="0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A8E0229-95BF-7C9A-4A72-19B892C2497E}"/>
                </a:ext>
              </a:extLst>
            </p:cNvPr>
            <p:cNvCxnSpPr>
              <a:endCxn id="57" idx="0"/>
            </p:cNvCxnSpPr>
            <p:nvPr/>
          </p:nvCxnSpPr>
          <p:spPr>
            <a:xfrm flipH="1">
              <a:off x="4334719" y="3055716"/>
              <a:ext cx="248856" cy="4657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31CF-ABDF-DD2A-B979-4D00A7DB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0D078-B294-CB86-E652-78194CA4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Ballooning of Spiders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E1AF8-634E-E092-791E-B797E3BC6102}"/>
              </a:ext>
            </a:extLst>
          </p:cNvPr>
          <p:cNvSpPr txBox="1"/>
          <p:nvPr/>
        </p:nvSpPr>
        <p:spPr>
          <a:xfrm>
            <a:off x="3455274" y="2630483"/>
            <a:ext cx="5281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Simulations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E90F0B-AFFD-2944-9C22-A279A8240DC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5F05E0-B655-D19C-AB55-4F5634A3FB1B}"/>
              </a:ext>
            </a:extLst>
          </p:cNvPr>
          <p:cNvSpPr txBox="1"/>
          <p:nvPr/>
        </p:nvSpPr>
        <p:spPr>
          <a:xfrm>
            <a:off x="3564836" y="3370544"/>
            <a:ext cx="4904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0">
                <a:solidFill>
                  <a:srgbClr val="852C86"/>
                </a:solidFill>
                <a:latin typeface="Arial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84565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3215-B2DB-9087-D004-678E6CAC1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AEB6CA-9591-7580-A8EA-3F9039B0E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  <a:endParaRPr lang="ro-RO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F859DA-7E48-7FD3-8931-FD981244C3A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471" y="6323329"/>
            <a:ext cx="1492133" cy="496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62CFF8-7AF2-2400-5F48-2A748D3C9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99" y="1927742"/>
            <a:ext cx="3924300" cy="276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2BB2C8-BD86-6CD9-852F-FF63D401E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86" y="1927742"/>
            <a:ext cx="4140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033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91145</TotalTime>
  <Words>1971</Words>
  <Application>Microsoft Macintosh PowerPoint</Application>
  <PresentationFormat>Widescreen</PresentationFormat>
  <Paragraphs>215</Paragraphs>
  <Slides>23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Google Sans Text</vt:lpstr>
      <vt:lpstr>Helvetica</vt:lpstr>
      <vt:lpstr>JetBrains Mono</vt:lpstr>
      <vt:lpstr>Plus Jakarta Sans</vt:lpstr>
      <vt:lpstr>1_Office Theme</vt:lpstr>
      <vt:lpstr>PowerPoint Presentation</vt:lpstr>
      <vt:lpstr>Agenda</vt:lpstr>
      <vt:lpstr>PowerPoint Presentation</vt:lpstr>
      <vt:lpstr>Ballooning of Spiders</vt:lpstr>
      <vt:lpstr>Anisotropic Viscous Drag</vt:lpstr>
      <vt:lpstr>Local Kinematic Decomposition</vt:lpstr>
      <vt:lpstr>Drag Coefficients</vt:lpstr>
      <vt:lpstr>Electrostatic Force</vt:lpstr>
      <vt:lpstr>Columb Repulsion</vt:lpstr>
      <vt:lpstr>Equilibrium Equations</vt:lpstr>
      <vt:lpstr>Single thread , still air</vt:lpstr>
      <vt:lpstr>Still Air Flight</vt:lpstr>
      <vt:lpstr>Deterministic Limit &amp; Drift Velocity</vt:lpstr>
      <vt:lpstr>Air Flow</vt:lpstr>
      <vt:lpstr>Air Flow</vt:lpstr>
      <vt:lpstr>Take-off Probability</vt:lpstr>
      <vt:lpstr>Connecting Airflow to Take-off Probability</vt:lpstr>
      <vt:lpstr>Ballooning of Spiders</vt:lpstr>
      <vt:lpstr>DER (Discrete Elastic Rods) Algorithm</vt:lpstr>
      <vt:lpstr>DER (Discrete Elastic Rods) Algorithm</vt:lpstr>
      <vt:lpstr>Monte Carlo Ensemble: Take-Off Probability Sweep</vt:lpstr>
      <vt:lpstr>Ballooning of Spiders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Qualify Market Potential (I)</dc:title>
  <dc:creator>Octavian Radu</dc:creator>
  <cp:lastModifiedBy>Octavian Radu</cp:lastModifiedBy>
  <cp:revision>22</cp:revision>
  <dcterms:created xsi:type="dcterms:W3CDTF">2024-01-29T10:19:11Z</dcterms:created>
  <dcterms:modified xsi:type="dcterms:W3CDTF">2026-10-16T15:40:52Z</dcterms:modified>
</cp:coreProperties>
</file>