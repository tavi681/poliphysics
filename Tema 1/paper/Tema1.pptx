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329" r:id="rId3"/>
    <p:sldId id="338" r:id="rId4"/>
    <p:sldId id="306" r:id="rId5"/>
    <p:sldId id="339" r:id="rId6"/>
    <p:sldId id="340" r:id="rId7"/>
    <p:sldId id="332" r:id="rId8"/>
    <p:sldId id="341" r:id="rId9"/>
    <p:sldId id="342" r:id="rId10"/>
    <p:sldId id="331" r:id="rId11"/>
    <p:sldId id="34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2175"/>
    <a:srgbClr val="F8EEEF"/>
    <a:srgbClr val="1CA497"/>
    <a:srgbClr val="F8A0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9BAE7D-2473-B849-81CD-13C40C9EC794}" v="70" dt="2026-07-27T21:46:24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95" autoAdjust="0"/>
    <p:restoredTop sz="96302" autoAdjust="0"/>
  </p:normalViewPr>
  <p:slideViewPr>
    <p:cSldViewPr snapToGrid="0">
      <p:cViewPr varScale="1">
        <p:scale>
          <a:sx n="120" d="100"/>
          <a:sy n="120" d="100"/>
        </p:scale>
        <p:origin x="184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2964" y="29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2E86F5-2987-464E-100F-5953944B43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3400E-F3CB-4024-86DC-70180CFF9B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34BBC0-246C-4EDF-BC1F-DD96E1F72B7E}" type="datetimeFigureOut">
              <a:rPr lang="ro-RO" smtClean="0"/>
              <a:t>12.10.2026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F9863-B6FC-AC26-2EAF-016896776A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BB37CA-584D-1085-D07C-29D7B9EF6F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DBF4C-D2F6-4906-B66A-55A4CD2836C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131720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38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:notes"/>
          <p:cNvSpPr txBox="1">
            <a:spLocks noGrp="1"/>
          </p:cNvSpPr>
          <p:nvPr>
            <p:ph type="sldNum" idx="429496729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>
            <a:spLocks noGrp="1"/>
          </p:cNvSpPr>
          <p:nvPr>
            <p:ph type="title"/>
          </p:nvPr>
        </p:nvSpPr>
        <p:spPr>
          <a:xfrm>
            <a:off x="820894" y="391295"/>
            <a:ext cx="7648210" cy="63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5"/>
          <p:cNvSpPr txBox="1">
            <a:spLocks noGrp="1"/>
          </p:cNvSpPr>
          <p:nvPr>
            <p:ph type="body" idx="1"/>
          </p:nvPr>
        </p:nvSpPr>
        <p:spPr>
          <a:xfrm>
            <a:off x="838200" y="1440409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December 2023	</a:t>
            </a:r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Rounded Rectangle 11">
            <a:extLst>
              <a:ext uri="{FF2B5EF4-FFF2-40B4-BE49-F238E27FC236}">
                <a16:creationId xmlns:a16="http://schemas.microsoft.com/office/drawing/2014/main" id="{638B3E5C-A52F-4456-5B0C-6E08E3585E2D}"/>
              </a:ext>
            </a:extLst>
          </p:cNvPr>
          <p:cNvSpPr/>
          <p:nvPr userDrawn="1"/>
        </p:nvSpPr>
        <p:spPr>
          <a:xfrm rot="5400000">
            <a:off x="4326695" y="-3131811"/>
            <a:ext cx="636608" cy="7682823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0"/>
                </a:schemeClr>
              </a:gs>
              <a:gs pos="88000">
                <a:schemeClr val="accent1">
                  <a:lumMod val="60000"/>
                  <a:lumOff val="4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912E7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172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9564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257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6816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85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884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713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9114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Ja4oMFOoK50?feature=oembed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"/>
          <p:cNvSpPr txBox="1"/>
          <p:nvPr/>
        </p:nvSpPr>
        <p:spPr>
          <a:xfrm>
            <a:off x="7269478" y="1851909"/>
            <a:ext cx="4717473" cy="3097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sz="60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Electrostatic Ballooning of Spiders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A471F-9696-A752-7DC8-4F7C657E5438}"/>
              </a:ext>
            </a:extLst>
          </p:cNvPr>
          <p:cNvSpPr/>
          <p:nvPr/>
        </p:nvSpPr>
        <p:spPr>
          <a:xfrm>
            <a:off x="0" y="0"/>
            <a:ext cx="9153939" cy="1505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F28FDB-F4FE-07B1-4680-A946F16E9DC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7869" y="322547"/>
            <a:ext cx="3059082" cy="1018698"/>
          </a:xfrm>
          <a:prstGeom prst="rect">
            <a:avLst/>
          </a:prstGeom>
        </p:spPr>
      </p:pic>
      <p:pic>
        <p:nvPicPr>
          <p:cNvPr id="11" name="Picture 10" descr="Spider Testing the Wind with Ballooning Silk - Steve Creek Wildlife  Photography">
            <a:extLst>
              <a:ext uri="{FF2B5EF4-FFF2-40B4-BE49-F238E27FC236}">
                <a16:creationId xmlns:a16="http://schemas.microsoft.com/office/drawing/2014/main" id="{0583273E-2321-549E-8D3D-CD82E65D2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7191909" cy="4800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ABAA74-1264-F352-D962-640090A31A5C}"/>
              </a:ext>
            </a:extLst>
          </p:cNvPr>
          <p:cNvSpPr txBox="1"/>
          <p:nvPr/>
        </p:nvSpPr>
        <p:spPr>
          <a:xfrm>
            <a:off x="7503274" y="5459968"/>
            <a:ext cx="4395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nalytical limits and take-off probability</a:t>
            </a:r>
          </a:p>
        </p:txBody>
      </p:sp>
      <p:pic>
        <p:nvPicPr>
          <p:cNvPr id="14" name="Picture 13" descr="Spider 'Ballooning' Flight With Silk Caught on Video | National Geographic">
            <a:extLst>
              <a:ext uri="{FF2B5EF4-FFF2-40B4-BE49-F238E27FC236}">
                <a16:creationId xmlns:a16="http://schemas.microsoft.com/office/drawing/2014/main" id="{343F480E-F9FF-9A85-D438-AFAF0999DDE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500" b="37643"/>
          <a:stretch>
            <a:fillRect/>
          </a:stretch>
        </p:blipFill>
        <p:spPr>
          <a:xfrm>
            <a:off x="-1" y="4800600"/>
            <a:ext cx="7191909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Agenda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1174981" y="1288360"/>
            <a:ext cx="5046830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A   PHYSICAL MODEL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B   NEAR SURFACE TURBULENCE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C   ANALITICAL SOLUTION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sz="2000" b="1" dirty="0">
                <a:solidFill>
                  <a:schemeClr val="accent5">
                    <a:lumMod val="50000"/>
                  </a:schemeClr>
                </a:solidFill>
              </a:rPr>
              <a:t>D   NUMERICAL METHOD</a:t>
            </a:r>
          </a:p>
          <a:p>
            <a:pPr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000000"/>
                </a:solidFill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sz="2000" b="1" dirty="0">
                <a:solidFill>
                  <a:schemeClr val="accent5">
                    <a:lumMod val="50000"/>
                  </a:schemeClr>
                </a:solidFill>
              </a:rPr>
              <a:t>E   RESULTS</a:t>
            </a:r>
          </a:p>
          <a:p>
            <a:pPr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000000"/>
                </a:solidFill>
                <a:cs typeface="Arial"/>
              </a:rPr>
              <a:t>…</a:t>
            </a: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2" name="Picture 1" descr="Bug Eric: Ballooning Spiders">
            <a:extLst>
              <a:ext uri="{FF2B5EF4-FFF2-40B4-BE49-F238E27FC236}">
                <a16:creationId xmlns:a16="http://schemas.microsoft.com/office/drawing/2014/main" id="{BFAB1EAE-1E77-1250-0EC3-13624C149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5905" y="1288360"/>
            <a:ext cx="385762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2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4375-0D4B-D933-EB3A-30EC73E60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nline Media 6" descr="How Spiders Use Electricity to Fly | Decoder">
            <a:hlinkClick r:id="" action="ppaction://media"/>
            <a:extLst>
              <a:ext uri="{FF2B5EF4-FFF2-40B4-BE49-F238E27FC236}">
                <a16:creationId xmlns:a16="http://schemas.microsoft.com/office/drawing/2014/main" id="{B4AEBBA1-6F2E-F5C8-6530-196242B1CBF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8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246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Ballooning of Spiders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4144651" y="2648675"/>
            <a:ext cx="3612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Physical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E103B0-0EF3-4C4D-553F-486C8D506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F676E-D298-A2B3-CA15-6ECE229EE687}"/>
              </a:ext>
            </a:extLst>
          </p:cNvPr>
          <p:cNvSpPr txBox="1"/>
          <p:nvPr/>
        </p:nvSpPr>
        <p:spPr>
          <a:xfrm>
            <a:off x="3564836" y="3370544"/>
            <a:ext cx="49042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3600" b="0">
                <a:solidFill>
                  <a:srgbClr val="852C86"/>
                </a:solidFill>
                <a:latin typeface="Arial"/>
              </a:defRPr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Resistive Force Theory (RFT) for Slender Filaments</a:t>
            </a:r>
          </a:p>
        </p:txBody>
      </p:sp>
      <p:pic>
        <p:nvPicPr>
          <p:cNvPr id="7" name="Picture 6" descr="image-a18da2a85f95223479ab0b761025ad51.jpg">
            <a:extLst>
              <a:ext uri="{FF2B5EF4-FFF2-40B4-BE49-F238E27FC236}">
                <a16:creationId xmlns:a16="http://schemas.microsoft.com/office/drawing/2014/main" id="{5FE0F124-1825-422A-E2E7-3511FDC09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651" y="3896557"/>
            <a:ext cx="3436363" cy="2532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48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E1502-59C7-308A-F092-F47B8E8FB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52699A-B542-BF37-7E13-53A9CF17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Anisotropic Viscous Drag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94D250-6DE1-016D-C35D-3C6B2831C54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FE7CCA-D737-87C4-06A1-D36388FEFEA7}"/>
              </a:ext>
            </a:extLst>
          </p:cNvPr>
          <p:cNvSpPr txBox="1"/>
          <p:nvPr/>
        </p:nvSpPr>
        <p:spPr>
          <a:xfrm>
            <a:off x="919716" y="1330452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852C86"/>
                </a:solidFill>
                <a:latin typeface="Arial"/>
              </a:defRPr>
            </a:pPr>
            <a:r>
              <a:t>Stokes regime  (Re ≪ 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20F50C-E6ED-84EA-0D56-1B5A4F7979B3}"/>
              </a:ext>
            </a:extLst>
          </p:cNvPr>
          <p:cNvSpPr txBox="1"/>
          <p:nvPr/>
        </p:nvSpPr>
        <p:spPr>
          <a:xfrm>
            <a:off x="919716" y="1741932"/>
            <a:ext cx="5257800" cy="786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26232B"/>
                </a:solidFill>
                <a:latin typeface="Arial"/>
              </a:defRPr>
            </a:pPr>
            <a:r>
              <a:t>Inertia is negligible. The Stokes equations are linear, so drag is proportional to relative velocity.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EB658A-5DA1-D368-8AAE-90C5FB7068E3}"/>
              </a:ext>
            </a:extLst>
          </p:cNvPr>
          <p:cNvSpPr txBox="1"/>
          <p:nvPr/>
        </p:nvSpPr>
        <p:spPr>
          <a:xfrm>
            <a:off x="919716" y="322326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852C86"/>
                </a:solidFill>
                <a:latin typeface="Arial"/>
              </a:defRPr>
            </a:pPr>
            <a:r>
              <a:t>Slender geometry effect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4B0625-9243-0F83-D734-C37655F9B673}"/>
              </a:ext>
            </a:extLst>
          </p:cNvPr>
          <p:cNvSpPr txBox="1"/>
          <p:nvPr/>
        </p:nvSpPr>
        <p:spPr>
          <a:xfrm>
            <a:off x="919716" y="3634740"/>
            <a:ext cx="5257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26232B"/>
                </a:solidFill>
                <a:latin typeface="Arial"/>
              </a:defRPr>
            </a:pPr>
            <a:r>
              <a:rPr dirty="0"/>
              <a:t>Tangential motion entrains fluid along adjacent segments, with less shear and lower resistance.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54715C-395D-5A02-A7DC-3F3D5AB732C0}"/>
              </a:ext>
            </a:extLst>
          </p:cNvPr>
          <p:cNvSpPr txBox="1"/>
          <p:nvPr/>
        </p:nvSpPr>
        <p:spPr>
          <a:xfrm>
            <a:off x="919716" y="4704588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852C86"/>
                </a:solidFill>
                <a:latin typeface="Arial"/>
              </a:defRPr>
            </a:pPr>
            <a:r>
              <a:rPr dirty="0"/>
              <a:t>Perpendicular resistance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366BD-E33F-E5AA-FB2E-BA9EC3CE0E9B}"/>
              </a:ext>
            </a:extLst>
          </p:cNvPr>
          <p:cNvSpPr txBox="1"/>
          <p:nvPr/>
        </p:nvSpPr>
        <p:spPr>
          <a:xfrm>
            <a:off x="919716" y="5116068"/>
            <a:ext cx="5257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26232B"/>
                </a:solidFill>
                <a:latin typeface="Arial"/>
              </a:defRPr>
            </a:pPr>
            <a:r>
              <a:t>Transverse motion displaces fluid around the cross-section, producing greater viscous dissipation.</a:t>
            </a:r>
          </a:p>
        </p:txBody>
      </p:sp>
      <p:pic>
        <p:nvPicPr>
          <p:cNvPr id="13" name="Picture 12" descr="image-a2547147ff2f44f5f05779dc354a5aa3.jpg">
            <a:extLst>
              <a:ext uri="{FF2B5EF4-FFF2-40B4-BE49-F238E27FC236}">
                <a16:creationId xmlns:a16="http://schemas.microsoft.com/office/drawing/2014/main" id="{3F57B484-4895-F0B2-2AEA-24CB6AAA7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1351" y="1303020"/>
            <a:ext cx="4355928" cy="425196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2C4733-B88D-0489-13DD-50C80223D96C}"/>
              </a:ext>
            </a:extLst>
          </p:cNvPr>
          <p:cNvSpPr txBox="1"/>
          <p:nvPr/>
        </p:nvSpPr>
        <p:spPr>
          <a:xfrm>
            <a:off x="7046196" y="5527548"/>
            <a:ext cx="420624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700" b="0">
                <a:solidFill>
                  <a:srgbClr val="852C86"/>
                </a:solidFill>
                <a:latin typeface="Cambria Math"/>
              </a:defRPr>
            </a:pPr>
            <a:r>
              <a:t>η⊥ ≈ 2η∥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A398B5-BFE4-F51C-8C32-50B0FEDDE576}"/>
              </a:ext>
            </a:extLst>
          </p:cNvPr>
          <p:cNvSpPr txBox="1"/>
          <p:nvPr/>
        </p:nvSpPr>
        <p:spPr>
          <a:xfrm>
            <a:off x="7046196" y="599389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524B59"/>
                </a:solidFill>
                <a:latin typeface="Arial"/>
              </a:defRPr>
            </a:pPr>
            <a:r>
              <a:t>Slender-filament limit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F6313B-6138-EEBB-3923-1589B94582FF}"/>
                  </a:ext>
                </a:extLst>
              </p:cNvPr>
              <p:cNvSpPr txBox="1"/>
              <p:nvPr/>
            </p:nvSpPr>
            <p:spPr>
              <a:xfrm>
                <a:off x="2510356" y="2589246"/>
                <a:ext cx="115256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∇p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μ∇</m:t>
                      </m:r>
                      <m:r>
                        <a:rPr lang="en-US" b="0" i="1" baseline="30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u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F6313B-6138-EEBB-3923-1589B945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356" y="2589246"/>
                <a:ext cx="1152560" cy="276999"/>
              </a:xfrm>
              <a:prstGeom prst="rect">
                <a:avLst/>
              </a:prstGeom>
              <a:blipFill>
                <a:blip r:embed="rId4"/>
                <a:stretch>
                  <a:fillRect l="-2174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16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3C618-E773-F542-FB9D-A0E3599B4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E2C8BB-27BD-89C2-1DEA-507755A5B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Local Kinematic Decomposition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4BA56F-20CB-0CBC-CF10-DD0F8BD2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C2A6692C-A01E-C3D0-9548-EE6401ECB2FF}"/>
              </a:ext>
            </a:extLst>
          </p:cNvPr>
          <p:cNvGrpSpPr/>
          <p:nvPr/>
        </p:nvGrpSpPr>
        <p:grpSpPr>
          <a:xfrm>
            <a:off x="6622093" y="1037292"/>
            <a:ext cx="4079424" cy="3668555"/>
            <a:chOff x="7233733" y="-390755"/>
            <a:chExt cx="4079424" cy="3668555"/>
          </a:xfrm>
        </p:grpSpPr>
        <p:sp>
          <p:nvSpPr>
            <p:cNvPr id="6" name="Arc 5">
              <a:extLst>
                <a:ext uri="{FF2B5EF4-FFF2-40B4-BE49-F238E27FC236}">
                  <a16:creationId xmlns:a16="http://schemas.microsoft.com/office/drawing/2014/main" id="{B935FFF4-1DB6-BB77-CBC5-35EEF6133ED4}"/>
                </a:ext>
              </a:extLst>
            </p:cNvPr>
            <p:cNvSpPr/>
            <p:nvPr/>
          </p:nvSpPr>
          <p:spPr>
            <a:xfrm rot="6171526">
              <a:off x="7118331" y="-275353"/>
              <a:ext cx="3668555" cy="3437752"/>
            </a:xfrm>
            <a:prstGeom prst="arc">
              <a:avLst/>
            </a:prstGeom>
            <a:ln w="1587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FB1F292-F167-A085-2D41-2F96B49E04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9033" y="1956391"/>
              <a:ext cx="1084518" cy="86123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92BBC98-3417-3122-4C2A-EF4C954F72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73609" y="2158409"/>
              <a:ext cx="595424" cy="659219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881CCE0-202D-4A2D-F6C1-E86138DA0292}"/>
                    </a:ext>
                  </a:extLst>
                </p:cNvPr>
                <p:cNvSpPr txBox="1"/>
                <p:nvPr/>
              </p:nvSpPr>
              <p:spPr>
                <a:xfrm>
                  <a:off x="11043917" y="2104111"/>
                  <a:ext cx="269240" cy="2828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881CCE0-202D-4A2D-F6C1-E86138DA0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43917" y="2104111"/>
                  <a:ext cx="269240" cy="282898"/>
                </a:xfrm>
                <a:prstGeom prst="rect">
                  <a:avLst/>
                </a:prstGeom>
                <a:blipFill>
                  <a:blip r:embed="rId3"/>
                  <a:stretch>
                    <a:fillRect l="-9091" r="-909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CF583CA0-B462-E20D-E9F0-4FA08212E2A9}"/>
                    </a:ext>
                  </a:extLst>
                </p:cNvPr>
                <p:cNvSpPr txBox="1"/>
                <p:nvPr/>
              </p:nvSpPr>
              <p:spPr>
                <a:xfrm>
                  <a:off x="9179383" y="2124739"/>
                  <a:ext cx="3093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⊥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CF583CA0-B462-E20D-E9F0-4FA08212E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9383" y="2124739"/>
                  <a:ext cx="30931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8000" r="-4000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9DDFCF-E79C-722A-7AA7-79B19C1300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88698" y="1361703"/>
              <a:ext cx="1122594" cy="819716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D4B9E94-27A9-1F0F-D617-50C132AA54B9}"/>
                </a:ext>
              </a:extLst>
            </p:cNvPr>
            <p:cNvCxnSpPr>
              <a:cxnSpLocks/>
            </p:cNvCxnSpPr>
            <p:nvPr/>
          </p:nvCxnSpPr>
          <p:spPr>
            <a:xfrm>
              <a:off x="10626381" y="1361703"/>
              <a:ext cx="527170" cy="594688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4A56D43-8160-EBC3-18D1-FC7CBA97A59A}"/>
                </a:ext>
              </a:extLst>
            </p:cNvPr>
            <p:cNvCxnSpPr/>
            <p:nvPr/>
          </p:nvCxnSpPr>
          <p:spPr>
            <a:xfrm flipV="1">
              <a:off x="10069033" y="1361703"/>
              <a:ext cx="557348" cy="14559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52EC8A1D-0A7D-ECDA-6087-6615C34F3BEA}"/>
                    </a:ext>
                  </a:extLst>
                </p:cNvPr>
                <p:cNvSpPr txBox="1"/>
                <p:nvPr/>
              </p:nvSpPr>
              <p:spPr>
                <a:xfrm>
                  <a:off x="10508885" y="1021185"/>
                  <a:ext cx="4167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rel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52EC8A1D-0A7D-ECDA-6087-6615C34F3B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885" y="1021185"/>
                  <a:ext cx="416716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882" r="-2941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C341D96-04A3-7CDC-FF91-14CA6B771618}"/>
              </a:ext>
            </a:extLst>
          </p:cNvPr>
          <p:cNvSpPr txBox="1"/>
          <p:nvPr/>
        </p:nvSpPr>
        <p:spPr>
          <a:xfrm>
            <a:off x="685800" y="14447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852C86"/>
                </a:solidFill>
                <a:latin typeface="Arial"/>
              </a:defRPr>
            </a:pPr>
            <a:r>
              <a:t>Frame definition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20EA642-20CA-9DE7-7D3C-3F224D3DC7BF}"/>
                  </a:ext>
                </a:extLst>
              </p:cNvPr>
              <p:cNvSpPr txBox="1"/>
              <p:nvPr/>
            </p:nvSpPr>
            <p:spPr>
              <a:xfrm>
                <a:off x="685800" y="1837943"/>
                <a:ext cx="5486400" cy="334707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>
                  <a:defRPr sz="1800" b="0">
                    <a:solidFill>
                      <a:srgbClr val="26232B"/>
                    </a:solidFill>
                    <a:latin typeface="Arial"/>
                  </a:defRPr>
                </a:pPr>
                <a:r>
                  <a:rPr dirty="0"/>
                  <a:t>Unit tangent along the local thread segment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20EA642-20CA-9DE7-7D3C-3F224D3DC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837943"/>
                <a:ext cx="5486400" cy="334707"/>
              </a:xfrm>
              <a:prstGeom prst="rect">
                <a:avLst/>
              </a:prstGeom>
              <a:blipFill>
                <a:blip r:embed="rId6"/>
                <a:stretch>
                  <a:fillRect l="-2771" t="-1111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2E5F7AAB-4CD8-01D6-4B10-A920B26A9EA0}"/>
              </a:ext>
            </a:extLst>
          </p:cNvPr>
          <p:cNvSpPr txBox="1"/>
          <p:nvPr/>
        </p:nvSpPr>
        <p:spPr>
          <a:xfrm>
            <a:off x="685800" y="2483523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852C86"/>
                </a:solidFill>
                <a:latin typeface="Arial"/>
              </a:defRPr>
            </a:pPr>
            <a:r>
              <a:rPr dirty="0"/>
              <a:t>Relative velocity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C9D78B6-68A4-BC46-8334-73AE270BBDF5}"/>
                  </a:ext>
                </a:extLst>
              </p:cNvPr>
              <p:cNvSpPr txBox="1"/>
              <p:nvPr/>
            </p:nvSpPr>
            <p:spPr>
              <a:xfrm>
                <a:off x="3056860" y="2494589"/>
                <a:ext cx="11941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rel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- 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C9D78B6-68A4-BC46-8334-73AE270BB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860" y="2494589"/>
                <a:ext cx="1194173" cy="276999"/>
              </a:xfrm>
              <a:prstGeom prst="rect">
                <a:avLst/>
              </a:prstGeom>
              <a:blipFill>
                <a:blip r:embed="rId7"/>
                <a:stretch>
                  <a:fillRect l="-4211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8A21D7B-936F-326C-B3BD-DA4E4C20B86C}"/>
                  </a:ext>
                </a:extLst>
              </p:cNvPr>
              <p:cNvSpPr txBox="1"/>
              <p:nvPr/>
            </p:nvSpPr>
            <p:spPr>
              <a:xfrm>
                <a:off x="10052817" y="4176103"/>
                <a:ext cx="1690912" cy="3247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8A21D7B-936F-326C-B3BD-DA4E4C20B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2817" y="4176103"/>
                <a:ext cx="1690912" cy="324704"/>
              </a:xfrm>
              <a:prstGeom prst="rect">
                <a:avLst/>
              </a:prstGeom>
              <a:blipFill>
                <a:blip r:embed="rId8"/>
                <a:stretch>
                  <a:fillRect l="-746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D41AF9C-3507-E9DF-BC6E-B992B06EA534}"/>
                  </a:ext>
                </a:extLst>
              </p:cNvPr>
              <p:cNvSpPr txBox="1"/>
              <p:nvPr/>
            </p:nvSpPr>
            <p:spPr>
              <a:xfrm>
                <a:off x="6896562" y="2867102"/>
                <a:ext cx="2263119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-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D41AF9C-3507-E9DF-BC6E-B992B06EA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6562" y="2867102"/>
                <a:ext cx="2263119" cy="312458"/>
              </a:xfrm>
              <a:prstGeom prst="rect">
                <a:avLst/>
              </a:prstGeom>
              <a:blipFill>
                <a:blip r:embed="rId9"/>
                <a:stretch>
                  <a:fillRect l="-556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A28E092-49C2-2B7C-1C74-30560C7C2832}"/>
                  </a:ext>
                </a:extLst>
              </p:cNvPr>
              <p:cNvSpPr txBox="1"/>
              <p:nvPr/>
            </p:nvSpPr>
            <p:spPr>
              <a:xfrm>
                <a:off x="594775" y="3263570"/>
                <a:ext cx="2783967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 -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-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A28E092-49C2-2B7C-1C74-30560C7C2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775" y="3263570"/>
                <a:ext cx="2783967" cy="330860"/>
              </a:xfrm>
              <a:prstGeom prst="rect">
                <a:avLst/>
              </a:prstGeom>
              <a:blipFill>
                <a:blip r:embed="rId10"/>
                <a:stretch>
                  <a:fillRect l="-91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7A79F8D-E420-BC4C-64B6-C9478F31D3F9}"/>
                  </a:ext>
                </a:extLst>
              </p:cNvPr>
              <p:cNvSpPr txBox="1"/>
              <p:nvPr/>
            </p:nvSpPr>
            <p:spPr>
              <a:xfrm>
                <a:off x="2512004" y="5065203"/>
                <a:ext cx="4474943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-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-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 − 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7A79F8D-E420-BC4C-64B6-C9478F31D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004" y="5065203"/>
                <a:ext cx="4474943" cy="330860"/>
              </a:xfrm>
              <a:prstGeom prst="rect">
                <a:avLst/>
              </a:prstGeom>
              <a:blipFill>
                <a:blip r:embed="rId11"/>
                <a:stretch>
                  <a:fillRect l="-565" r="-1130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460F8384-ECC1-22B5-5BEF-BAF2F1391C6F}"/>
              </a:ext>
            </a:extLst>
          </p:cNvPr>
          <p:cNvGrpSpPr/>
          <p:nvPr/>
        </p:nvGrpSpPr>
        <p:grpSpPr>
          <a:xfrm>
            <a:off x="1013880" y="5477292"/>
            <a:ext cx="1945758" cy="1172476"/>
            <a:chOff x="520995" y="5002715"/>
            <a:chExt cx="1945758" cy="1172476"/>
          </a:xfrm>
        </p:grpSpPr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CAD66184-915A-0FFC-5E1C-5EE5250285CE}"/>
                </a:ext>
              </a:extLst>
            </p:cNvPr>
            <p:cNvSpPr/>
            <p:nvPr/>
          </p:nvSpPr>
          <p:spPr>
            <a:xfrm>
              <a:off x="520995" y="5484611"/>
              <a:ext cx="1945758" cy="690580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01AE9B8-39E5-2CDA-F939-D1AFE1FEDA20}"/>
                </a:ext>
              </a:extLst>
            </p:cNvPr>
            <p:cNvSpPr txBox="1"/>
            <p:nvPr/>
          </p:nvSpPr>
          <p:spPr>
            <a:xfrm>
              <a:off x="685800" y="5553399"/>
              <a:ext cx="1653363" cy="5232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defRPr sz="1700" b="0">
                  <a:solidFill>
                    <a:srgbClr val="26232B"/>
                  </a:solidFill>
                  <a:latin typeface="Arial"/>
                </a:defRPr>
              </a:pPr>
              <a:r>
                <a:rPr dirty="0"/>
                <a:t>Local drag force</a:t>
              </a:r>
              <a:br>
                <a:rPr dirty="0"/>
              </a:br>
              <a:r>
                <a:rPr dirty="0"/>
                <a:t>per unit length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B8464BB-D706-0C64-E344-96D9763CA8AB}"/>
                </a:ext>
              </a:extLst>
            </p:cNvPr>
            <p:cNvCxnSpPr>
              <a:cxnSpLocks/>
              <a:endCxn id="55" idx="0"/>
            </p:cNvCxnSpPr>
            <p:nvPr/>
          </p:nvCxnSpPr>
          <p:spPr>
            <a:xfrm flipH="1">
              <a:off x="1493874" y="5002715"/>
              <a:ext cx="527533" cy="4818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1EE0D1A-27DB-0A14-7A11-9F781A8A9212}"/>
              </a:ext>
            </a:extLst>
          </p:cNvPr>
          <p:cNvGrpSpPr/>
          <p:nvPr/>
        </p:nvGrpSpPr>
        <p:grpSpPr>
          <a:xfrm>
            <a:off x="4623392" y="5396063"/>
            <a:ext cx="1945758" cy="1266727"/>
            <a:chOff x="4623392" y="5396063"/>
            <a:chExt cx="1945758" cy="1266727"/>
          </a:xfrm>
        </p:grpSpPr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86DCE368-7ABB-02F9-927D-9F837F280A21}"/>
                </a:ext>
              </a:extLst>
            </p:cNvPr>
            <p:cNvSpPr/>
            <p:nvPr/>
          </p:nvSpPr>
          <p:spPr>
            <a:xfrm>
              <a:off x="4623392" y="5972210"/>
              <a:ext cx="1945758" cy="690580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4D7EC8-6248-731E-9E99-0E57915CAD9F}"/>
                </a:ext>
              </a:extLst>
            </p:cNvPr>
            <p:cNvSpPr txBox="1"/>
            <p:nvPr/>
          </p:nvSpPr>
          <p:spPr>
            <a:xfrm>
              <a:off x="4932403" y="6055890"/>
              <a:ext cx="1367976" cy="5232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defRPr sz="1700" b="0">
                  <a:solidFill>
                    <a:srgbClr val="26232B"/>
                  </a:solidFill>
                  <a:latin typeface="Arial"/>
                </a:defRPr>
              </a:pPr>
              <a:r>
                <a:rPr dirty="0"/>
                <a:t>Normal drag</a:t>
              </a:r>
              <a:br>
                <a:rPr dirty="0"/>
              </a:br>
              <a:r>
                <a:rPr dirty="0"/>
                <a:t>coefficient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5EC30DB1-03BC-5538-44F4-F2E7A816BA07}"/>
                </a:ext>
              </a:extLst>
            </p:cNvPr>
            <p:cNvCxnSpPr>
              <a:cxnSpLocks/>
              <a:stCxn id="48" idx="2"/>
            </p:cNvCxnSpPr>
            <p:nvPr/>
          </p:nvCxnSpPr>
          <p:spPr>
            <a:xfrm>
              <a:off x="4749476" y="5396063"/>
              <a:ext cx="375417" cy="5761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129DB802-CFDF-3A95-20EC-8FCFEAD700B6}"/>
              </a:ext>
            </a:extLst>
          </p:cNvPr>
          <p:cNvGrpSpPr/>
          <p:nvPr/>
        </p:nvGrpSpPr>
        <p:grpSpPr>
          <a:xfrm>
            <a:off x="3330032" y="4155517"/>
            <a:ext cx="3078406" cy="963160"/>
            <a:chOff x="3330032" y="4155517"/>
            <a:chExt cx="3078406" cy="963160"/>
          </a:xfrm>
        </p:grpSpPr>
        <p:sp>
          <p:nvSpPr>
            <p:cNvPr id="60" name="Rounded Rectangle 59">
              <a:extLst>
                <a:ext uri="{FF2B5EF4-FFF2-40B4-BE49-F238E27FC236}">
                  <a16:creationId xmlns:a16="http://schemas.microsoft.com/office/drawing/2014/main" id="{13E52E52-4A5C-71B2-D1B6-6070064C1E6E}"/>
                </a:ext>
              </a:extLst>
            </p:cNvPr>
            <p:cNvSpPr/>
            <p:nvPr/>
          </p:nvSpPr>
          <p:spPr>
            <a:xfrm>
              <a:off x="4462680" y="4155517"/>
              <a:ext cx="1945758" cy="690580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EA260A8-7C9B-EA63-3DCF-0DAC85261FC6}"/>
                </a:ext>
              </a:extLst>
            </p:cNvPr>
            <p:cNvSpPr txBox="1"/>
            <p:nvPr/>
          </p:nvSpPr>
          <p:spPr>
            <a:xfrm>
              <a:off x="4652254" y="4224305"/>
              <a:ext cx="1557670" cy="5232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defRPr sz="1700" b="0">
                  <a:solidFill>
                    <a:srgbClr val="26232B"/>
                  </a:solidFill>
                  <a:latin typeface="Arial"/>
                </a:defRPr>
              </a:pPr>
              <a:r>
                <a:rPr dirty="0"/>
                <a:t>Tangential drag</a:t>
              </a:r>
              <a:br>
                <a:rPr dirty="0"/>
              </a:br>
              <a:r>
                <a:rPr dirty="0"/>
                <a:t>coefficient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4CFB9BC-178A-25C5-282C-25694575DF3E}"/>
                </a:ext>
              </a:extLst>
            </p:cNvPr>
            <p:cNvCxnSpPr>
              <a:cxnSpLocks/>
              <a:endCxn id="60" idx="1"/>
            </p:cNvCxnSpPr>
            <p:nvPr/>
          </p:nvCxnSpPr>
          <p:spPr>
            <a:xfrm flipV="1">
              <a:off x="3330032" y="4500807"/>
              <a:ext cx="1132648" cy="6178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15516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C904E-EAFC-C0D0-5AC8-0FAF2A42F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F07254-25C3-A048-D910-9F4D9394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Drag Coefficients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D0409C-BD2B-E41F-423B-3A4E24882AD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34E4462-B4F9-6F89-2F97-D6DE3A9AC57E}"/>
                  </a:ext>
                </a:extLst>
              </p:cNvPr>
              <p:cNvSpPr txBox="1"/>
              <p:nvPr/>
            </p:nvSpPr>
            <p:spPr>
              <a:xfrm>
                <a:off x="3128349" y="1433291"/>
                <a:ext cx="1436547" cy="7504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𝜋𝜇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-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34E4462-B4F9-6F89-2F97-D6DE3A9AC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349" y="1433291"/>
                <a:ext cx="1436547" cy="750462"/>
              </a:xfrm>
              <a:prstGeom prst="rect">
                <a:avLst/>
              </a:prstGeom>
              <a:blipFill>
                <a:blip r:embed="rId3"/>
                <a:stretch>
                  <a:fillRect l="-3509" t="-3333" r="-2632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F28742-9FC5-3071-616E-0D41C61CCB2C}"/>
                  </a:ext>
                </a:extLst>
              </p:cNvPr>
              <p:cNvSpPr txBox="1"/>
              <p:nvPr/>
            </p:nvSpPr>
            <p:spPr>
              <a:xfrm>
                <a:off x="5865969" y="1433291"/>
                <a:ext cx="1598451" cy="749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𝜋𝜇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F28742-9FC5-3071-616E-0D41C61CC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969" y="1433291"/>
                <a:ext cx="1598451" cy="749436"/>
              </a:xfrm>
              <a:prstGeom prst="rect">
                <a:avLst/>
              </a:prstGeom>
              <a:blipFill>
                <a:blip r:embed="rId4"/>
                <a:stretch>
                  <a:fillRect l="-2362" t="-1667" r="-315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BD6ECF7-6F4B-DE7D-24F7-F5F916DC0516}"/>
                  </a:ext>
                </a:extLst>
              </p:cNvPr>
              <p:cNvSpPr txBox="1"/>
              <p:nvPr/>
            </p:nvSpPr>
            <p:spPr>
              <a:xfrm>
                <a:off x="4510854" y="5697811"/>
                <a:ext cx="3170291" cy="9381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≈1.87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BD6ECF7-6F4B-DE7D-24F7-F5F916DC0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854" y="5697811"/>
                <a:ext cx="3170291" cy="938142"/>
              </a:xfrm>
              <a:prstGeom prst="rect">
                <a:avLst/>
              </a:prstGeom>
              <a:blipFill>
                <a:blip r:embed="rId5"/>
                <a:stretch>
                  <a:fillRect l="-2400" r="-12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F3075-4DFD-D9C0-5811-81FC0AB7038A}"/>
              </a:ext>
            </a:extLst>
          </p:cNvPr>
          <p:cNvGrpSpPr/>
          <p:nvPr/>
        </p:nvGrpSpPr>
        <p:grpSpPr>
          <a:xfrm>
            <a:off x="293935" y="2966484"/>
            <a:ext cx="5043609" cy="2424223"/>
            <a:chOff x="293935" y="2966484"/>
            <a:chExt cx="5043609" cy="2424223"/>
          </a:xfrm>
        </p:grpSpPr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7A18CB6D-2507-1055-86B8-668EC0F2692D}"/>
                </a:ext>
              </a:extLst>
            </p:cNvPr>
            <p:cNvSpPr/>
            <p:nvPr/>
          </p:nvSpPr>
          <p:spPr>
            <a:xfrm>
              <a:off x="293935" y="2966484"/>
              <a:ext cx="5043609" cy="2424223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DD921D4-8C87-8121-CE70-42E2EB3ECF65}"/>
                    </a:ext>
                  </a:extLst>
                </p:cNvPr>
                <p:cNvSpPr txBox="1"/>
                <p:nvPr/>
              </p:nvSpPr>
              <p:spPr>
                <a:xfrm>
                  <a:off x="464055" y="3522184"/>
                  <a:ext cx="4703368" cy="182049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just">
                    <a:buNone/>
                  </a:pPr>
                  <a:r>
                    <a:rPr lang="en-US" sz="1400" b="1" dirty="0">
                      <a:effectLst/>
                      <a:latin typeface="Google Sans Text"/>
                    </a:rPr>
                    <a:t>Parallel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𝜋𝜇</m:t>
                      </m:r>
                    </m:oMath>
                  </a14:m>
                  <a:r>
                    <a:rPr lang="en-US" sz="1400" b="1" dirty="0">
                      <a:effectLst/>
                      <a:latin typeface="Google Sans Text"/>
                    </a:rPr>
                    <a:t>):</a:t>
                  </a:r>
                  <a:r>
                    <a:rPr lang="en-US" sz="1400" dirty="0">
                      <a:effectLst/>
                      <a:latin typeface="Google Sans Text"/>
                    </a:rPr>
                    <a:t> Sliding the thread along its axis generates pure viscous shear stress integrated around the cylinder's perimeter.</a:t>
                  </a:r>
                </a:p>
                <a:p>
                  <a:pPr algn="just">
                    <a:buNone/>
                  </a:pPr>
                  <a:endParaRPr lang="en-US" sz="1400" dirty="0">
                    <a:effectLst/>
                    <a:latin typeface="Google Sans Text"/>
                  </a:endParaRPr>
                </a:p>
                <a:p>
                  <a:pPr algn="just">
                    <a:buNone/>
                  </a:pPr>
                  <a:r>
                    <a:rPr lang="en-US" sz="1400" b="1" dirty="0">
                      <a:effectLst/>
                      <a:latin typeface="Google Sans Text"/>
                    </a:rPr>
                    <a:t>Perpendicular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𝜋𝜇</m:t>
                      </m:r>
                    </m:oMath>
                  </a14:m>
                  <a:r>
                    <a:rPr lang="en-US" sz="1400" b="1" dirty="0">
                      <a:effectLst/>
                      <a:latin typeface="Google Sans Text"/>
                    </a:rPr>
                    <a:t>):</a:t>
                  </a:r>
                  <a:r>
                    <a:rPr lang="en-US" sz="1400" dirty="0">
                      <a:effectLst/>
                      <a:latin typeface="Google Sans Text"/>
                    </a:rPr>
                    <a:t> Moving sideways forces fluid around a broad cross-section, adding a frontal pressure difference to the shear stress. This strictly doubles the asymptotic resistance.</a:t>
                  </a:r>
                  <a:endParaRPr lang="en-US" dirty="0">
                    <a:effectLst/>
                    <a:latin typeface="Google Sans Text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DD921D4-8C87-8121-CE70-42E2EB3ECF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055" y="3522184"/>
                  <a:ext cx="4703368" cy="1820498"/>
                </a:xfrm>
                <a:prstGeom prst="rect">
                  <a:avLst/>
                </a:prstGeom>
                <a:blipFill>
                  <a:blip r:embed="rId6"/>
                  <a:stretch>
                    <a:fillRect l="-269" t="-694" r="-269" b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68525DC-0E49-7164-9063-6DF276B43668}"/>
                </a:ext>
              </a:extLst>
            </p:cNvPr>
            <p:cNvSpPr txBox="1"/>
            <p:nvPr/>
          </p:nvSpPr>
          <p:spPr>
            <a:xfrm>
              <a:off x="1959818" y="3059668"/>
              <a:ext cx="12937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Anisotropy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624D3C-6097-5C5D-76C8-3140DCC55442}"/>
              </a:ext>
            </a:extLst>
          </p:cNvPr>
          <p:cNvGrpSpPr/>
          <p:nvPr/>
        </p:nvGrpSpPr>
        <p:grpSpPr>
          <a:xfrm>
            <a:off x="5865969" y="2190307"/>
            <a:ext cx="6152364" cy="3200399"/>
            <a:chOff x="5865969" y="2190307"/>
            <a:chExt cx="6152364" cy="3200399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4862FCB-243C-D5F2-2DD2-A425A3318AFF}"/>
                </a:ext>
              </a:extLst>
            </p:cNvPr>
            <p:cNvGrpSpPr/>
            <p:nvPr/>
          </p:nvGrpSpPr>
          <p:grpSpPr>
            <a:xfrm>
              <a:off x="5865969" y="2966483"/>
              <a:ext cx="6152364" cy="2424223"/>
              <a:chOff x="5865969" y="2966483"/>
              <a:chExt cx="6152364" cy="2424223"/>
            </a:xfrm>
          </p:grpSpPr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A5243488-D4DE-9670-67B4-4721AA22F7DF}"/>
                  </a:ext>
                </a:extLst>
              </p:cNvPr>
              <p:cNvSpPr/>
              <p:nvPr/>
            </p:nvSpPr>
            <p:spPr>
              <a:xfrm>
                <a:off x="5865969" y="2966483"/>
                <a:ext cx="6152364" cy="2424223"/>
              </a:xfrm>
              <a:prstGeom prst="round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F7D9E9E3-FCD1-BF1D-E65E-B083C1EA09CB}"/>
                      </a:ext>
                    </a:extLst>
                  </p:cNvPr>
                  <p:cNvSpPr txBox="1"/>
                  <p:nvPr/>
                </p:nvSpPr>
                <p:spPr>
                  <a:xfrm>
                    <a:off x="6284074" y="3165996"/>
                    <a:ext cx="5613991" cy="217668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>
                      <a:buNone/>
                    </a:pPr>
                    <a:r>
                      <a:rPr lang="en-US" sz="1400" b="1" dirty="0">
                        <a:effectLst/>
                        <a:latin typeface="Google Sans Text"/>
                      </a:rPr>
                      <a:t>Point-Force Decay: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A point force in Stokes flow decays as </a:t>
                    </a:r>
                    <a14:m>
                      <m:oMath xmlns:m="http://schemas.openxmlformats.org/officeDocument/2006/math">
                        <m:r>
                          <a:rPr lang="en-US" sz="14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f>
                          <m:fPr>
                            <m:ctrlPr>
                              <a:rPr lang="en-US" sz="140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den>
                        </m:f>
                      </m:oMath>
                    </a14:m>
                    <a:endParaRPr lang="en-US" sz="1400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endParaRPr lang="en-US" sz="1400" b="1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r>
                      <a:rPr lang="en-US" sz="1400" b="1" dirty="0">
                        <a:effectLst/>
                        <a:latin typeface="Google Sans Text"/>
                      </a:rPr>
                      <a:t>Line Integration: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Summing these disturbances over a line of length </a:t>
                    </a:r>
                    <a:r>
                      <a:rPr lang="en-US" sz="1400" i="1" dirty="0">
                        <a:effectLst/>
                        <a:latin typeface="Google Sans Text"/>
                      </a:rPr>
                      <a:t>L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evaluated at boundary radius </a:t>
                    </a:r>
                    <a:r>
                      <a:rPr lang="en-US" sz="1400" i="1" dirty="0">
                        <a:effectLst/>
                        <a:latin typeface="Google Sans Text"/>
                      </a:rPr>
                      <a:t>r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requires evaluating:</a:t>
                    </a:r>
                  </a:p>
                  <a:p>
                    <a:pPr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trlPr>
                                <a:rPr lang="en-US" sz="1400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sz="1400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dR</m:t>
                              </m:r>
                              <m: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a:rPr lang="en-US" sz="1400" i="1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den>
                                  </m:f>
                                </m:e>
                              </m:d>
                            </m:e>
                          </m:nary>
                        </m:oMath>
                      </m:oMathPara>
                    </a14:m>
                    <a:endParaRPr lang="en-US" sz="1400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endParaRPr lang="en-US" sz="1400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r>
                      <a:rPr lang="en-US" sz="1400" dirty="0">
                        <a:effectLst/>
                        <a:latin typeface="Google Sans Text"/>
                      </a:rPr>
                      <a:t>Physical meaning: The hydrodynamics of a slender filament are dominated by long-range viscous interactions along its length.</a:t>
                    </a:r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F7D9E9E3-FCD1-BF1D-E65E-B083C1EA09C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84074" y="3165996"/>
                    <a:ext cx="5613991" cy="217668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6" b="-2790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17978B6-1D3D-F0AF-DBB7-43ED778A013A}"/>
                    </a:ext>
                  </a:extLst>
                </p:cNvPr>
                <p:cNvSpPr txBox="1"/>
                <p:nvPr/>
              </p:nvSpPr>
              <p:spPr>
                <a:xfrm>
                  <a:off x="7850285" y="2193360"/>
                  <a:ext cx="1481644" cy="5068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4"/>
                      </a:solidFill>
                    </a:rPr>
                    <a:t>Why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17978B6-1D3D-F0AF-DBB7-43ED778A01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0285" y="2193360"/>
                  <a:ext cx="1481644" cy="506870"/>
                </a:xfrm>
                <a:prstGeom prst="rect">
                  <a:avLst/>
                </a:prstGeom>
                <a:blipFill>
                  <a:blip r:embed="rId8"/>
                  <a:stretch>
                    <a:fillRect l="-4274"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DA8D3A4-C407-D286-A50D-EC7BD25095E5}"/>
                </a:ext>
              </a:extLst>
            </p:cNvPr>
            <p:cNvCxnSpPr/>
            <p:nvPr/>
          </p:nvCxnSpPr>
          <p:spPr>
            <a:xfrm>
              <a:off x="6858000" y="2190307"/>
              <a:ext cx="1733107" cy="7761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96473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898F4-587D-0E8B-6E92-640E9CBA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E65641-BB1A-1F7F-B312-EB5D23308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Electrostatic Force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3DB38D-E599-6C7D-FDC8-6666584E765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483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78C06-0274-8E99-4E67-A149ADCA1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C01121-74DA-2023-C9AC-3D2963BE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Columb Repulsion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742487-A373-B1A3-1774-58E1B3A5C58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063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Equilibrium Equations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19BF7-235C-64CA-8107-6BFBA4BCAD0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60DEB4B-04F7-7DFB-7BCD-130CC13D6389}"/>
                  </a:ext>
                </a:extLst>
              </p:cNvPr>
              <p:cNvSpPr txBox="1"/>
              <p:nvPr/>
            </p:nvSpPr>
            <p:spPr>
              <a:xfrm>
                <a:off x="1318871" y="5202500"/>
                <a:ext cx="2710422" cy="526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60DEB4B-04F7-7DFB-7BCD-130CC13D6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8871" y="5202500"/>
                <a:ext cx="2710422" cy="526683"/>
              </a:xfrm>
              <a:prstGeom prst="rect">
                <a:avLst/>
              </a:prstGeom>
              <a:blipFill>
                <a:blip r:embed="rId3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540FBB9-41F2-2B90-D6FF-8DBC75A7FFC5}"/>
              </a:ext>
            </a:extLst>
          </p:cNvPr>
          <p:cNvSpPr/>
          <p:nvPr/>
        </p:nvSpPr>
        <p:spPr>
          <a:xfrm>
            <a:off x="5316279" y="4614530"/>
            <a:ext cx="4805916" cy="195724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E9574C-FB27-38E9-7556-B19FEC0B8B5E}"/>
              </a:ext>
            </a:extLst>
          </p:cNvPr>
          <p:cNvSpPr txBox="1"/>
          <p:nvPr/>
        </p:nvSpPr>
        <p:spPr>
          <a:xfrm>
            <a:off x="6416748" y="4734804"/>
            <a:ext cx="2604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Boundary Conditions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1D16-753D-7C39-1853-D68ACD163304}"/>
              </a:ext>
            </a:extLst>
          </p:cNvPr>
          <p:cNvSpPr txBox="1"/>
          <p:nvPr/>
        </p:nvSpPr>
        <p:spPr>
          <a:xfrm>
            <a:off x="5452729" y="5202500"/>
            <a:ext cx="22133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 the spider (s=0)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A7814-F32A-3EC6-2C9C-CC9AF512B644}"/>
              </a:ext>
            </a:extLst>
          </p:cNvPr>
          <p:cNvSpPr txBox="1"/>
          <p:nvPr/>
        </p:nvSpPr>
        <p:spPr>
          <a:xfrm>
            <a:off x="5452729" y="5790470"/>
            <a:ext cx="22133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 the tip (s=L)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4D0F63-954D-1B59-B352-03D86FDDC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9047" y="1197224"/>
            <a:ext cx="7772400" cy="3179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927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38B1-4EB1-BEF9-677C-7FF2BC825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1EF71E2-6D85-6C15-C804-BCA939A6F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Air Flow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65BBEA-0844-E60E-21A8-46B44341F5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24164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85667</TotalTime>
  <Words>379</Words>
  <Application>Microsoft Macintosh PowerPoint</Application>
  <PresentationFormat>Widescreen</PresentationFormat>
  <Paragraphs>69</Paragraphs>
  <Slides>11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Cambria Math</vt:lpstr>
      <vt:lpstr>Google Sans Text</vt:lpstr>
      <vt:lpstr>1_Office Theme</vt:lpstr>
      <vt:lpstr>PowerPoint Presentation</vt:lpstr>
      <vt:lpstr>Agenda</vt:lpstr>
      <vt:lpstr>PowerPoint Presentation</vt:lpstr>
      <vt:lpstr>Ballooning of Spiders</vt:lpstr>
      <vt:lpstr>Anisotropic Viscous Drag</vt:lpstr>
      <vt:lpstr>Local Kinematic Decomposition</vt:lpstr>
      <vt:lpstr>Drag Coefficients</vt:lpstr>
      <vt:lpstr>Electrostatic Force</vt:lpstr>
      <vt:lpstr>Columb Repulsion</vt:lpstr>
      <vt:lpstr>Equilibrium Equations</vt:lpstr>
      <vt:lpstr>Air Flow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Qualify Market Potential (I)</dc:title>
  <dc:creator>Octavian Radu</dc:creator>
  <cp:lastModifiedBy>Octavian Radu</cp:lastModifiedBy>
  <cp:revision>15</cp:revision>
  <dcterms:created xsi:type="dcterms:W3CDTF">2024-01-29T10:19:11Z</dcterms:created>
  <dcterms:modified xsi:type="dcterms:W3CDTF">2026-10-12T20:22:49Z</dcterms:modified>
</cp:coreProperties>
</file>