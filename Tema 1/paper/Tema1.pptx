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6"/>
  </p:notesMasterIdLst>
  <p:handoutMasterIdLst>
    <p:handoutMasterId r:id="rId7"/>
  </p:handoutMasterIdLst>
  <p:sldIdLst>
    <p:sldId id="256" r:id="rId2"/>
    <p:sldId id="329" r:id="rId3"/>
    <p:sldId id="306" r:id="rId4"/>
    <p:sldId id="331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F2175"/>
    <a:srgbClr val="F8EEEF"/>
    <a:srgbClr val="1CA497"/>
    <a:srgbClr val="F8A0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69BAE7D-2473-B849-81CD-13C40C9EC794}" v="70" dt="2026-07-27T21:46:24.4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217" autoAdjust="0"/>
    <p:restoredTop sz="96302" autoAdjust="0"/>
  </p:normalViewPr>
  <p:slideViewPr>
    <p:cSldViewPr snapToGrid="0">
      <p:cViewPr varScale="1">
        <p:scale>
          <a:sx n="127" d="100"/>
          <a:sy n="127" d="100"/>
        </p:scale>
        <p:origin x="200" y="7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2964" y="29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C2E86F5-2987-464E-100F-5953944B43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83400E-F3CB-4024-86DC-70180CFF9B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734BBC0-246C-4EDF-BC1F-DD96E1F72B7E}" type="datetimeFigureOut">
              <a:rPr lang="ro-RO" smtClean="0"/>
              <a:t>07.10.2026</a:t>
            </a:fld>
            <a:endParaRPr lang="ro-R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9F9863-B6FC-AC26-2EAF-016896776A1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BB37CA-584D-1085-D07C-29D7B9EF6F7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4DBF4C-D2F6-4906-B66A-55A4CD2836C1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1317207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1CDB50-B4BA-4D46-B4BE-314329FF06FD}" type="datetimeFigureOut">
              <a:rPr lang="ro-RO" smtClean="0"/>
              <a:t>07.10.2026</a:t>
            </a:fld>
            <a:endParaRPr lang="ro-RO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o-RO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o-RO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o-RO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1E2B25-A6D5-422D-9B99-6181579AD4D7}" type="slidenum">
              <a:rPr lang="ro-RO" smtClean="0"/>
              <a:t>‹#›</a:t>
            </a:fld>
            <a:endParaRPr lang="ro-RO"/>
          </a:p>
        </p:txBody>
      </p:sp>
    </p:spTree>
    <p:extLst>
      <p:ext uri="{BB962C8B-B14F-4D97-AF65-F5344CB8AC3E}">
        <p14:creationId xmlns:p14="http://schemas.microsoft.com/office/powerpoint/2010/main" val="425556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1" name="Google Shape;16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2" name="Google Shape;162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fld id="{00000000-1234-1234-1234-123412341234}" type="slidenum">
              <a:rPr kumimoji="0" 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  <a:tabLst/>
                <a:defRPr/>
              </a:pPr>
              <a:t>1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5"/>
          <p:cNvSpPr txBox="1">
            <a:spLocks noGrp="1"/>
          </p:cNvSpPr>
          <p:nvPr>
            <p:ph type="title"/>
          </p:nvPr>
        </p:nvSpPr>
        <p:spPr>
          <a:xfrm>
            <a:off x="820894" y="391295"/>
            <a:ext cx="7648210" cy="636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5"/>
          <p:cNvSpPr txBox="1">
            <a:spLocks noGrp="1"/>
          </p:cNvSpPr>
          <p:nvPr>
            <p:ph type="body" idx="1"/>
          </p:nvPr>
        </p:nvSpPr>
        <p:spPr>
          <a:xfrm>
            <a:off x="838200" y="1440409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8" name="Google Shape;18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en-US"/>
              <a:t>December 2023	</a:t>
            </a:r>
            <a:endParaRPr/>
          </a:p>
        </p:txBody>
      </p:sp>
      <p:sp>
        <p:nvSpPr>
          <p:cNvPr id="19" name="Google Shape;19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" name="Rounded Rectangle 11">
            <a:extLst>
              <a:ext uri="{FF2B5EF4-FFF2-40B4-BE49-F238E27FC236}">
                <a16:creationId xmlns:a16="http://schemas.microsoft.com/office/drawing/2014/main" id="{638B3E5C-A52F-4456-5B0C-6E08E3585E2D}"/>
              </a:ext>
            </a:extLst>
          </p:cNvPr>
          <p:cNvSpPr/>
          <p:nvPr userDrawn="1"/>
        </p:nvSpPr>
        <p:spPr>
          <a:xfrm rot="5400000">
            <a:off x="4326695" y="-3131811"/>
            <a:ext cx="636608" cy="7682823"/>
          </a:xfrm>
          <a:prstGeom prst="round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88000">
                <a:schemeClr val="accent1">
                  <a:lumMod val="40000"/>
                  <a:lumOff val="60000"/>
                </a:schemeClr>
              </a:gs>
            </a:gsLst>
            <a:lin ang="189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912E7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5172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295646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925716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Content with Caption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68160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 with Caption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0859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Title and Vertical 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108845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 Title and 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171382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6911407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"/>
          <p:cNvSpPr txBox="1"/>
          <p:nvPr/>
        </p:nvSpPr>
        <p:spPr>
          <a:xfrm>
            <a:off x="7269478" y="1851909"/>
            <a:ext cx="4717473" cy="3097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sz="60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Electrostatic ballooning of spiders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CA471F-9696-A752-7DC8-4F7C657E5438}"/>
              </a:ext>
            </a:extLst>
          </p:cNvPr>
          <p:cNvSpPr/>
          <p:nvPr/>
        </p:nvSpPr>
        <p:spPr>
          <a:xfrm>
            <a:off x="0" y="0"/>
            <a:ext cx="9153939" cy="1505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o-RO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F28FDB-F4FE-07B1-4680-A946F16E9DC4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7869" y="322547"/>
            <a:ext cx="3059082" cy="1018698"/>
          </a:xfrm>
          <a:prstGeom prst="rect">
            <a:avLst/>
          </a:prstGeom>
        </p:spPr>
      </p:pic>
      <p:pic>
        <p:nvPicPr>
          <p:cNvPr id="11" name="Picture 10" descr="Spider Testing the Wind with Ballooning Silk - Steve Creek Wildlife  Photography">
            <a:extLst>
              <a:ext uri="{FF2B5EF4-FFF2-40B4-BE49-F238E27FC236}">
                <a16:creationId xmlns:a16="http://schemas.microsoft.com/office/drawing/2014/main" id="{0583273E-2321-549E-8D3D-CD82E65D2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7191909" cy="4800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4ABAA74-1264-F352-D962-640090A31A5C}"/>
              </a:ext>
            </a:extLst>
          </p:cNvPr>
          <p:cNvSpPr txBox="1"/>
          <p:nvPr/>
        </p:nvSpPr>
        <p:spPr>
          <a:xfrm>
            <a:off x="7503274" y="5459968"/>
            <a:ext cx="43953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400"/>
              <a:buFont typeface="Arial"/>
              <a:buNone/>
              <a:tabLst/>
              <a:defRPr/>
            </a:pPr>
            <a:r>
              <a:rPr lang="en-US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kern="0" dirty="0">
                <a:solidFill>
                  <a:srgbClr val="842E7B"/>
                </a:solidFill>
                <a:latin typeface="Arial"/>
                <a:ea typeface="Arial"/>
                <a:cs typeface="Arial"/>
                <a:sym typeface="Arial"/>
              </a:rPr>
              <a:t>nalytical limits and take-off probability</a:t>
            </a:r>
          </a:p>
        </p:txBody>
      </p:sp>
      <p:pic>
        <p:nvPicPr>
          <p:cNvPr id="14" name="Picture 13" descr="Spider 'Ballooning' Flight With Silk Caught on Video | National Geographic">
            <a:extLst>
              <a:ext uri="{FF2B5EF4-FFF2-40B4-BE49-F238E27FC236}">
                <a16:creationId xmlns:a16="http://schemas.microsoft.com/office/drawing/2014/main" id="{343F480E-F9FF-9A85-D438-AFAF0999DD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" y="4800600"/>
            <a:ext cx="7191909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Agenda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1174981" y="1288360"/>
            <a:ext cx="5046830" cy="2769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A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B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  <a:p>
            <a:pPr>
              <a:buClr>
                <a:srgbClr val="000000"/>
              </a:buClr>
              <a:defRPr/>
            </a:pPr>
            <a:r>
              <a:rPr lang="en-US" b="1" dirty="0">
                <a:solidFill>
                  <a:schemeClr val="accent5">
                    <a:lumMod val="50000"/>
                  </a:schemeClr>
                </a:solidFill>
              </a:rPr>
              <a:t>C</a:t>
            </a:r>
          </a:p>
          <a:p>
            <a:pPr>
              <a:buClr>
                <a:srgbClr val="000000"/>
              </a:buClr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</a:rPr>
              <a:t>…</a:t>
            </a:r>
          </a:p>
          <a:p>
            <a:pPr>
              <a:buClr>
                <a:srgbClr val="000000"/>
              </a:buClr>
              <a:defRPr/>
            </a:pPr>
            <a:endParaRPr lang="en-US" sz="2000" kern="0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pic>
        <p:nvPicPr>
          <p:cNvPr id="2" name="Picture 1" descr="Bug Eric: Ballooning Spiders">
            <a:extLst>
              <a:ext uri="{FF2B5EF4-FFF2-40B4-BE49-F238E27FC236}">
                <a16:creationId xmlns:a16="http://schemas.microsoft.com/office/drawing/2014/main" id="{BFAB1EAE-1E77-1250-0EC3-13624C1496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905" y="1288360"/>
            <a:ext cx="3857625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029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Graph Neural Networks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4295377" y="3200400"/>
            <a:ext cx="3173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Why Graphs?</a:t>
            </a:r>
          </a:p>
        </p:txBody>
      </p:sp>
    </p:spTree>
    <p:extLst>
      <p:ext uri="{BB962C8B-B14F-4D97-AF65-F5344CB8AC3E}">
        <p14:creationId xmlns:p14="http://schemas.microsoft.com/office/powerpoint/2010/main" val="3335487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EA4550-F326-0AC7-13DE-7FF4EA0FE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bg1"/>
                </a:solidFill>
              </a:rPr>
              <a:t>Why Graphs?</a:t>
            </a:r>
            <a:endParaRPr lang="ro-RO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31722-4350-0342-392E-0EB50DECD210}"/>
              </a:ext>
            </a:extLst>
          </p:cNvPr>
          <p:cNvSpPr txBox="1"/>
          <p:nvPr/>
        </p:nvSpPr>
        <p:spPr>
          <a:xfrm>
            <a:off x="889810" y="1300345"/>
            <a:ext cx="83881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lang="en-US" sz="2000" kern="0" dirty="0">
                <a:solidFill>
                  <a:srgbClr val="000000"/>
                </a:solidFill>
                <a:latin typeface="Arial"/>
                <a:cs typeface="Arial"/>
                <a:sym typeface="Arial"/>
              </a:rPr>
              <a:t>Graphs are a general language for describing and analyzing entities </a:t>
            </a:r>
            <a:r>
              <a:rPr lang="en-US" sz="2000" kern="0" dirty="0">
                <a:solidFill>
                  <a:schemeClr val="accent5">
                    <a:lumMod val="75000"/>
                  </a:schemeClr>
                </a:solidFill>
                <a:latin typeface="Arial"/>
                <a:cs typeface="Arial"/>
                <a:sym typeface="Arial"/>
              </a:rPr>
              <a:t>with relations / interactions.</a:t>
            </a:r>
            <a:r>
              <a:rPr kumimoji="0" lang="en-US" sz="2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	</a:t>
            </a:r>
            <a:endParaRPr kumimoji="0" lang="ro-RO" sz="2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7FB90733-1E30-2070-4675-66508C611E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8037" y="2167238"/>
            <a:ext cx="3323642" cy="28618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3892A1-0B3D-B324-49A8-2AED699CE2F9}"/>
              </a:ext>
            </a:extLst>
          </p:cNvPr>
          <p:cNvSpPr txBox="1"/>
          <p:nvPr/>
        </p:nvSpPr>
        <p:spPr>
          <a:xfrm>
            <a:off x="889810" y="2510681"/>
            <a:ext cx="63733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Lucida Grande"/>
              </a:rPr>
              <a:t>G</a:t>
            </a:r>
            <a:r>
              <a:rPr lang="en-US" b="0" i="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Lucida Grande"/>
              </a:rPr>
              <a:t>raphs are the main modality of data we receive from nature.</a:t>
            </a:r>
            <a:endParaRPr lang="en-US" b="1" i="0" dirty="0">
              <a:solidFill>
                <a:srgbClr val="000000"/>
              </a:solidFill>
              <a:effectLst/>
              <a:highlight>
                <a:srgbClr val="FFFFFF"/>
              </a:highlight>
              <a:latin typeface="Lucida Grande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FE89DB-5DCE-7391-C0B5-3319C8D10F1C}"/>
              </a:ext>
            </a:extLst>
          </p:cNvPr>
          <p:cNvSpPr txBox="1"/>
          <p:nvPr/>
        </p:nvSpPr>
        <p:spPr>
          <a:xfrm>
            <a:off x="889810" y="3245933"/>
            <a:ext cx="714886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 u="sng" dirty="0"/>
              <a:t>Examples</a:t>
            </a:r>
            <a:r>
              <a:rPr lang="en-US" dirty="0"/>
              <a:t>:</a:t>
            </a:r>
          </a:p>
          <a:p>
            <a:r>
              <a:rPr lang="en-US" dirty="0"/>
              <a:t>	</a:t>
            </a:r>
            <a:r>
              <a:rPr lang="en-US" i="1" dirty="0"/>
              <a:t>Molecule</a:t>
            </a:r>
            <a:r>
              <a:rPr lang="en-US" dirty="0"/>
              <a:t> - a graph of atoms connected by chemical bonds.</a:t>
            </a:r>
          </a:p>
          <a:p>
            <a:r>
              <a:rPr lang="en-US" dirty="0"/>
              <a:t>	</a:t>
            </a:r>
            <a:r>
              <a:rPr lang="en-US" i="1" dirty="0"/>
              <a:t>Brain</a:t>
            </a:r>
            <a:r>
              <a:rPr lang="en-US" dirty="0"/>
              <a:t> - a graph of neurons connected by synapses.</a:t>
            </a:r>
          </a:p>
          <a:p>
            <a:r>
              <a:rPr lang="en-US" dirty="0"/>
              <a:t>	</a:t>
            </a:r>
            <a:r>
              <a:rPr lang="en-US" i="1" dirty="0"/>
              <a:t>Food Web </a:t>
            </a:r>
            <a:r>
              <a:rPr lang="en-US" dirty="0"/>
              <a:t>- feeding relationships within a community.</a:t>
            </a:r>
            <a:endParaRPr lang="ro-RO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D8B405BC-40CF-6C09-96AC-776E40C9BD46}"/>
              </a:ext>
            </a:extLst>
          </p:cNvPr>
          <p:cNvGrpSpPr/>
          <p:nvPr/>
        </p:nvGrpSpPr>
        <p:grpSpPr>
          <a:xfrm>
            <a:off x="2872494" y="5029134"/>
            <a:ext cx="3223506" cy="1235409"/>
            <a:chOff x="540458" y="4535183"/>
            <a:chExt cx="3223506" cy="1235409"/>
          </a:xfrm>
        </p:grpSpPr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EA962DE9-0FA3-3F8F-A953-8C58FEED8AAD}"/>
                </a:ext>
              </a:extLst>
            </p:cNvPr>
            <p:cNvSpPr/>
            <p:nvPr/>
          </p:nvSpPr>
          <p:spPr>
            <a:xfrm>
              <a:off x="540458" y="4535183"/>
              <a:ext cx="3223506" cy="1235409"/>
            </a:xfrm>
            <a:prstGeom prst="roundRect">
              <a:avLst/>
            </a:prstGeom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ro-RO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C1350AC-F8AA-8E20-7707-D63C719B3D31}"/>
                </a:ext>
              </a:extLst>
            </p:cNvPr>
            <p:cNvSpPr txBox="1"/>
            <p:nvPr/>
          </p:nvSpPr>
          <p:spPr>
            <a:xfrm>
              <a:off x="1757353" y="4807624"/>
              <a:ext cx="1918628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i="1" dirty="0">
                  <a:solidFill>
                    <a:schemeClr val="accent6">
                      <a:lumMod val="75000"/>
                    </a:schemeClr>
                  </a:solidFill>
                </a:rPr>
                <a:t>Everything is Connected !</a:t>
              </a:r>
            </a:p>
          </p:txBody>
        </p:sp>
        <p:pic>
          <p:nvPicPr>
            <p:cNvPr id="19" name="Graphic 18" descr="Radar Chart outline">
              <a:extLst>
                <a:ext uri="{FF2B5EF4-FFF2-40B4-BE49-F238E27FC236}">
                  <a16:creationId xmlns:a16="http://schemas.microsoft.com/office/drawing/2014/main" id="{E1188CB9-883E-E61F-5738-AB907CAA769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91705" y="4695687"/>
              <a:ext cx="914400" cy="914400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84019BF7-235C-64CA-8107-6BFBA4BCAD06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32471" y="6323329"/>
            <a:ext cx="1492133" cy="496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927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</p:bldLst>
  </p:timing>
</p:sld>
</file>

<file path=ppt/theme/theme1.xml><?xml version="1.0" encoding="utf-8"?>
<a:theme xmlns:a="http://schemas.openxmlformats.org/drawingml/2006/main" name="1_Office Theme">
  <a:themeElements>
    <a:clrScheme name="Violet">
      <a:dk1>
        <a:sysClr val="windowText" lastClr="000000"/>
      </a:dk1>
      <a:lt1>
        <a:sysClr val="window" lastClr="FFFFFF"/>
      </a:lt1>
      <a:dk2>
        <a:srgbClr val="373545"/>
      </a:dk2>
      <a:lt2>
        <a:srgbClr val="DCD8DC"/>
      </a:lt2>
      <a:accent1>
        <a:srgbClr val="AD84C6"/>
      </a:accent1>
      <a:accent2>
        <a:srgbClr val="8784C7"/>
      </a:accent2>
      <a:accent3>
        <a:srgbClr val="5D739A"/>
      </a:accent3>
      <a:accent4>
        <a:srgbClr val="6997AF"/>
      </a:accent4>
      <a:accent5>
        <a:srgbClr val="84ACB6"/>
      </a:accent5>
      <a:accent6>
        <a:srgbClr val="6F8183"/>
      </a:accent6>
      <a:hlink>
        <a:srgbClr val="69A020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84264</TotalTime>
  <Words>93</Words>
  <Application>Microsoft Macintosh PowerPoint</Application>
  <PresentationFormat>Widescreen</PresentationFormat>
  <Paragraphs>22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Calibri</vt:lpstr>
      <vt:lpstr>Lucida Grande</vt:lpstr>
      <vt:lpstr>1_Office Theme</vt:lpstr>
      <vt:lpstr>PowerPoint Presentation</vt:lpstr>
      <vt:lpstr>Agenda</vt:lpstr>
      <vt:lpstr>Graph Neural Networks</vt:lpstr>
      <vt:lpstr>Why Graphs?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Qualify Market Potential (I)</dc:title>
  <dc:creator>Octavian Radu</dc:creator>
  <cp:lastModifiedBy>Octavian Radu</cp:lastModifiedBy>
  <cp:revision>12</cp:revision>
  <dcterms:created xsi:type="dcterms:W3CDTF">2024-01-29T10:19:11Z</dcterms:created>
  <dcterms:modified xsi:type="dcterms:W3CDTF">2026-10-07T20:02:55Z</dcterms:modified>
</cp:coreProperties>
</file>