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27"/>
  </p:notesMasterIdLst>
  <p:handoutMasterIdLst>
    <p:handoutMasterId r:id="rId28"/>
  </p:handoutMasterIdLst>
  <p:sldIdLst>
    <p:sldId id="256" r:id="rId2"/>
    <p:sldId id="329" r:id="rId3"/>
    <p:sldId id="335" r:id="rId4"/>
    <p:sldId id="349" r:id="rId5"/>
    <p:sldId id="331" r:id="rId6"/>
    <p:sldId id="332" r:id="rId7"/>
    <p:sldId id="333" r:id="rId8"/>
    <p:sldId id="336" r:id="rId9"/>
    <p:sldId id="352" r:id="rId10"/>
    <p:sldId id="346" r:id="rId11"/>
    <p:sldId id="343" r:id="rId12"/>
    <p:sldId id="353" r:id="rId13"/>
    <p:sldId id="344" r:id="rId14"/>
    <p:sldId id="345" r:id="rId15"/>
    <p:sldId id="337" r:id="rId16"/>
    <p:sldId id="338" r:id="rId17"/>
    <p:sldId id="339" r:id="rId18"/>
    <p:sldId id="350" r:id="rId19"/>
    <p:sldId id="340" r:id="rId20"/>
    <p:sldId id="347" r:id="rId21"/>
    <p:sldId id="348" r:id="rId22"/>
    <p:sldId id="341" r:id="rId23"/>
    <p:sldId id="342" r:id="rId24"/>
    <p:sldId id="351" r:id="rId25"/>
    <p:sldId id="354" r:id="rId2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9F2175"/>
    <a:srgbClr val="F8EEEF"/>
    <a:srgbClr val="1CA497"/>
    <a:srgbClr val="F8A0B5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D69BAE7D-2473-B849-81CD-13C40C9EC794}" v="70" dt="2026-07-27T21:46:24.483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D27102A9-8310-4765-A935-A1911B00CA55}" styleName="Light Style 1 - Accent 4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4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4"/>
              </a:solidFill>
            </a:ln>
          </a:bottom>
        </a:tcBdr>
        <a:fill>
          <a:noFill/>
        </a:fill>
      </a:tcStyle>
    </a:firstRow>
  </a:tblStyle>
  <a:tblStyle styleId="{F5AB1C69-6EDB-4FF4-983F-18BD219EF322}" styleName="Medium Style 2 - Acc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0395" autoAdjust="0"/>
    <p:restoredTop sz="80298" autoAdjust="0"/>
  </p:normalViewPr>
  <p:slideViewPr>
    <p:cSldViewPr snapToGrid="0">
      <p:cViewPr varScale="1">
        <p:scale>
          <a:sx n="127" d="100"/>
          <a:sy n="127" d="100"/>
        </p:scale>
        <p:origin x="1328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 snapToGrid="0">
      <p:cViewPr varScale="1">
        <p:scale>
          <a:sx n="74" d="100"/>
          <a:sy n="74" d="100"/>
        </p:scale>
        <p:origin x="2964" y="29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microsoft.com/office/2015/10/relationships/revisionInfo" Target="revisionInfo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handoutMaster" Target="handoutMasters/handout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notesMaster" Target="notesMasters/notesMaster1.xml"/><Relationship Id="rId30" Type="http://schemas.openxmlformats.org/officeDocument/2006/relationships/viewProps" Target="viewProps.xml"/><Relationship Id="rId8" Type="http://schemas.openxmlformats.org/officeDocument/2006/relationships/slide" Target="slides/slide7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5C2E86F5-2987-464E-100F-5953944B435B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o-RO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183400E-F3CB-4024-86DC-70180CFF9B59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734BBC0-246C-4EDF-BC1F-DD96E1F72B7E}" type="datetimeFigureOut">
              <a:rPr lang="ro-RO" smtClean="0"/>
              <a:t>10.10.2026</a:t>
            </a:fld>
            <a:endParaRPr lang="ro-RO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D9F9863-B6FC-AC26-2EAF-016896776A1D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o-RO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3BB37CA-584D-1085-D07C-29D7B9EF6F75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24DBF4C-D2F6-4906-B66A-55A4CD2836C1}" type="slidenum">
              <a:rPr lang="ro-RO" smtClean="0"/>
              <a:t>‹#›</a:t>
            </a:fld>
            <a:endParaRPr lang="ro-RO"/>
          </a:p>
        </p:txBody>
      </p:sp>
    </p:spTree>
    <p:extLst>
      <p:ext uri="{BB962C8B-B14F-4D97-AF65-F5344CB8AC3E}">
        <p14:creationId xmlns:p14="http://schemas.microsoft.com/office/powerpoint/2010/main" val="4213172077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50999245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2" name="Google Shape;162;p1:notes"/>
          <p:cNvSpPr txBox="1">
            <a:spLocks noGrp="1"/>
          </p:cNvSpPr>
          <p:nvPr>
            <p:ph type="sldNum" idx="429496729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tabLst/>
              <a:defRPr/>
            </a:pPr>
            <a:fld id="{00000000-1234-1234-1234-123412341234}" type="slidenum">
              <a:rPr kumimoji="0" lang="en-US" sz="1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cs typeface="Arial"/>
                <a:sym typeface="Arial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  <a:tabLst/>
                <a:defRPr/>
              </a:pPr>
              <a:t>1</a:t>
            </a:fld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Notes Placeholder 2"/>
          <p:cNvSpPr>
            <a:spLocks noGrp="1"/>
          </p:cNvSpPr>
          <p:nvPr>
            <p:ph type="body" sz="quarter" idx="4294967295"/>
          </p:nvPr>
        </p:nvSpPr>
        <p:spPr/>
        <p:txBody>
          <a:bodyPr/>
          <a:lstStyle/>
          <a:p>
            <a:r>
              <a:rPr lang="en-US"/>
              <a:t>The analogy concerns particle motion relative to wave propagation</a:t>
            </a:r>
            <a:r>
              <a:t>. </a:t>
            </a:r>
            <a:r>
              <a:rPr lang="en-US"/>
              <a:t>The physical mechanisms in rock and in a thread differ</a:t>
            </a:r>
            <a:r>
              <a:t>.</a:t>
            </a:r>
          </a:p>
          <a:p>
            <a:endParaRPr/>
          </a:p>
          <a:p>
            <a:r>
              <a:t>[Sources]</a:t>
            </a:r>
          </a:p>
          <a:p>
            <a:r>
              <a:t>USGS, Body waves inside the earth</a:t>
            </a:r>
          </a:p>
          <a:p>
            <a:r>
              <a:t>https://earthquake.usgs.gov/earthquakes/events/1906calif/18april/earthwaves.php</a:t>
            </a:r>
            <a:endParaRPr lang="en-US"/>
          </a:p>
          <a:p>
            <a:r>
              <a:rPr lang="en-US"/>
              <a:t>Illustrations: AI-generated conceptual schematics of P/S particle motion and the thread initial condition, based on the existing slide 5 setup.</a:t>
            </a:r>
            <a:endParaRPr/>
          </a:p>
          <a:p>
            <a:r>
              <a:t>[/Sources]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FD82711-C736-0ACF-74F4-58745EB33C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9D827D1-77CF-F0EE-8DA9-3A6559ADEA83}"/>
              </a:ext>
            </a:extLst>
          </p:cNvPr>
          <p:cNvSpPr>
            <a:spLocks noGrp="1"/>
          </p:cNvSpPr>
          <p:nvPr>
            <p:ph type="body" sz="quarter" idx="4294967295"/>
          </p:nvPr>
        </p:nvSpPr>
        <p:spPr/>
        <p:txBody>
          <a:bodyPr/>
          <a:lstStyle/>
          <a:p>
            <a:r>
              <a:rPr lang="en-US"/>
              <a:t>The analogy concerns particle motion relative to wave propagation</a:t>
            </a:r>
            <a:r>
              <a:t>. </a:t>
            </a:r>
            <a:r>
              <a:rPr lang="en-US"/>
              <a:t>The physical mechanisms in rock and in a thread differ</a:t>
            </a:r>
            <a:r>
              <a:t>.</a:t>
            </a:r>
          </a:p>
          <a:p>
            <a:endParaRPr/>
          </a:p>
          <a:p>
            <a:r>
              <a:t>[Sources]</a:t>
            </a:r>
          </a:p>
          <a:p>
            <a:r>
              <a:t>USGS, Body waves inside the earth</a:t>
            </a:r>
          </a:p>
          <a:p>
            <a:r>
              <a:t>https://earthquake.usgs.gov/earthquakes/events/1906calif/18april/earthwaves.php</a:t>
            </a:r>
            <a:endParaRPr lang="en-US"/>
          </a:p>
          <a:p>
            <a:r>
              <a:rPr lang="en-US"/>
              <a:t>Illustrations: AI-generated conceptual schematics of P/S particle motion and the thread initial condition, based on the existing slide 5 setup.</a:t>
            </a:r>
            <a:endParaRPr/>
          </a:p>
          <a:p>
            <a:r>
              <a:t>[/Sources]</a:t>
            </a:r>
          </a:p>
        </p:txBody>
      </p:sp>
    </p:spTree>
    <p:extLst>
      <p:ext uri="{BB962C8B-B14F-4D97-AF65-F5344CB8AC3E}">
        <p14:creationId xmlns:p14="http://schemas.microsoft.com/office/powerpoint/2010/main" val="3130774028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/>
          <a:lstStyle/>
          <a:p>
            <a:r>
              <a:rPr lang="en-US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Cum se </a:t>
            </a:r>
            <a:r>
              <a:rPr lang="en-US" sz="1200" b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obține</a:t>
            </a:r>
            <a:r>
              <a:rPr lang="en-US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valoarea</a:t>
            </a:r>
            <a:r>
              <a:rPr lang="en-US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numerică</a:t>
            </a:r>
            <a:endParaRPr lang="en-US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1. </a:t>
            </a:r>
            <a:r>
              <a:rPr lang="en-US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Plasa: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stea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cu N=8 radiale, R=1 m,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fiecare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radială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împărțită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în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n_s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=20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segmente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cu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deformația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de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pretensionare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\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epsilon_p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pe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toate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segmentele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</a:p>
          <a:p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2. </a:t>
            </a:r>
            <a:r>
              <a:rPr lang="en-US" sz="1200" b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Încărcarea</a:t>
            </a:r>
            <a:r>
              <a:rPr lang="en-US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nu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există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dronă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Hub-ul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primește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o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deplasare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impusă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pe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verticală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z_h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(t)=-v\,t, cu v=0.3 m/s,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mult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sub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vitezele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undelor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</a:p>
          <a:p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3. </a:t>
            </a:r>
            <a:r>
              <a:rPr lang="en-US" sz="1200" b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Amortizarea</a:t>
            </a:r>
            <a:r>
              <a:rPr lang="en-US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în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ecuația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de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mișcare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se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adaugă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o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forță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vâscoasă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\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vect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a_i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=\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vect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F_i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/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m_i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-c\,\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vect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v_i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cu c=400\ \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mathrm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{s^{-1}}.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Ea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stinge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oscilațiile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așa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că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plasa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urmărește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echilibrul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cvasistatic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Metoda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se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numește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relaxare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dinamică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Rulările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de impact din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articol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nu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folosesc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amortizare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;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doar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acest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test.</a:t>
            </a:r>
          </a:p>
          <a:p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4. </a:t>
            </a:r>
            <a:r>
              <a:rPr lang="en-US" sz="1200" b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Integrarea</a:t>
            </a:r>
            <a:r>
              <a:rPr lang="en-US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velocity Verlet cu C=0.5,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până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la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primul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segment care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atinge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\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epsilon_b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Momentul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ruperii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t_{first}, e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reținut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cu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precizia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pasului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de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timp.</a:t>
            </a:r>
            <a:endParaRPr lang="en-US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5. </a:t>
            </a:r>
            <a:r>
              <a:rPr lang="en-US" sz="1200" b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Deplasarea</a:t>
            </a:r>
            <a:r>
              <a:rPr lang="en-US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la </a:t>
            </a:r>
            <a:r>
              <a:rPr lang="en-US" sz="1200" b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rupere</a:t>
            </a:r>
            <a:r>
              <a:rPr lang="en-US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w_{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b,num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}=v\,t_{first}.</a:t>
            </a:r>
          </a:p>
          <a:p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6. </a:t>
            </a:r>
            <a:r>
              <a:rPr lang="en-US" sz="1200" b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Randamentul</a:t>
            </a:r>
            <a:r>
              <a:rPr lang="en-US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Energia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elastică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U_{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el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}=\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sum_sA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\,\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ell_s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\,\Phi(\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epsilon_s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 se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salvează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la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fiecare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1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ms.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Pentru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U_{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el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} se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ia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ultimul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cadru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salvat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înainte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de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rupere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</a:t>
            </a:r>
          </a:p>
          <a:p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\eta_{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A,num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}=\frac{U_{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el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}-U_{prestress}}{m_{net}\,e_{mat}},\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qquad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m_{net}=\frac{N\rho AR}{1+\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epsilon_p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}.</a:t>
            </a:r>
          </a:p>
          <a:p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Se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folosește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energia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elastică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nu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lucrul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mecanic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făcut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de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forța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impusă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deci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energia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pierdută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prin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amortizare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nu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intră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în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\eta.</a:t>
            </a:r>
          </a:p>
          <a:p>
            <a:r>
              <a:rPr lang="en-US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De </a:t>
            </a:r>
            <a:r>
              <a:rPr lang="en-US" sz="1200" b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ce</a:t>
            </a:r>
            <a:r>
              <a:rPr lang="en-US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valoarea</a:t>
            </a:r>
            <a:r>
              <a:rPr lang="en-US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numerică</a:t>
            </a:r>
            <a:r>
              <a:rPr lang="en-US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iese</a:t>
            </a:r>
            <a:r>
              <a:rPr lang="en-US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puțin</a:t>
            </a:r>
            <a:r>
              <a:rPr lang="en-US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sub </a:t>
            </a:r>
            <a:r>
              <a:rPr lang="en-US" sz="1200" b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cea</a:t>
            </a:r>
            <a:r>
              <a:rPr lang="en-US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analitică</a:t>
            </a:r>
            <a:endParaRPr lang="en-US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Diferența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vine din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eșantionarea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ieșirii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nu din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fizică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și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nici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din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discretizare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</a:p>
          <a:p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• La v=0.3 m/s,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ultimul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cadru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salvat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poate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fi cu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până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la \Delta w=0.3 mm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înainte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de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rupere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iar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energia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crește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abrupt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chiar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lângă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w_b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</a:p>
          <a:p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•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Pentru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 cu \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epsilon_p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=0, U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crește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aproximativ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ca w^4,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deci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\Delta U/U\approx4\,\Delta w/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w_b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=4\cdot0.0003/0.255\approx0.5\%. Asta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explică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exact 0.995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față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de 1.000.</a:t>
            </a:r>
          </a:p>
          <a:p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•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Pentru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S,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energia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crește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mai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lent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în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raport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cu w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lângă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rupere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iar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diferența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e de circa 0.15%: 0.9985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față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de 1.</a:t>
            </a:r>
          </a:p>
          <a:p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Confirmarea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w_b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calculat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din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momentul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exact al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ruperii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și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nu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dintr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-un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cadru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salvat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coincide cu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valoarea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analitică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până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la a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șasea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cifră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(de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exemplu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0.254998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față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de 0.254998 la D).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Dacă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U s-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ar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interpola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la t_{first},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și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\eta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ar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coincide.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5071698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 type="obj">
  <p:cSld name="Title and Content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25"/>
          <p:cNvSpPr txBox="1">
            <a:spLocks noGrp="1"/>
          </p:cNvSpPr>
          <p:nvPr>
            <p:ph type="title"/>
          </p:nvPr>
        </p:nvSpPr>
        <p:spPr>
          <a:xfrm>
            <a:off x="820894" y="391295"/>
            <a:ext cx="7648210" cy="6366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7" name="Google Shape;17;p25"/>
          <p:cNvSpPr txBox="1">
            <a:spLocks noGrp="1"/>
          </p:cNvSpPr>
          <p:nvPr>
            <p:ph type="body" idx="1"/>
          </p:nvPr>
        </p:nvSpPr>
        <p:spPr>
          <a:xfrm>
            <a:off x="838200" y="1440409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8" name="Google Shape;18;p25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en-US"/>
              <a:t>December 2023	</a:t>
            </a:r>
            <a:endParaRPr/>
          </a:p>
        </p:txBody>
      </p:sp>
      <p:sp>
        <p:nvSpPr>
          <p:cNvPr id="19" name="Google Shape;19;p25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0" name="Google Shape;20;p25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2" name="Rounded Rectangle 11">
            <a:extLst>
              <a:ext uri="{FF2B5EF4-FFF2-40B4-BE49-F238E27FC236}">
                <a16:creationId xmlns:a16="http://schemas.microsoft.com/office/drawing/2014/main" id="{638B3E5C-A52F-4456-5B0C-6E08E3585E2D}"/>
              </a:ext>
            </a:extLst>
          </p:cNvPr>
          <p:cNvSpPr/>
          <p:nvPr userDrawn="1"/>
        </p:nvSpPr>
        <p:spPr>
          <a:xfrm rot="5400000">
            <a:off x="4326695" y="-3131811"/>
            <a:ext cx="636608" cy="7682823"/>
          </a:xfrm>
          <a:prstGeom prst="roundRect">
            <a:avLst/>
          </a:prstGeom>
          <a:gradFill flip="none" rotWithShape="1">
            <a:gsLst>
              <a:gs pos="0">
                <a:schemeClr val="accent1">
                  <a:lumMod val="75000"/>
                </a:schemeClr>
              </a:gs>
              <a:gs pos="88000">
                <a:schemeClr val="accent1">
                  <a:lumMod val="40000"/>
                  <a:lumOff val="60000"/>
                </a:schemeClr>
              </a:gs>
            </a:gsLst>
            <a:lin ang="189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rgbClr val="912E7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5517216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 Only">
    <p:spTree>
      <p:nvGrpSpPr>
        <p:cNvPr id="1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30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1" name="Google Shape;51;p30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2" name="Google Shape;52;p30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3" name="Google Shape;53;p30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12956463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31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6" name="Google Shape;56;p31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7" name="Google Shape;57;p31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09257163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with Caption" type="objTx">
  <p:cSld name="Content with Caption">
    <p:spTree>
      <p:nvGrpSpPr>
        <p:cNvPr id="1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32"/>
          <p:cNvSpPr txBox="1"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0" name="Google Shape;60;p32"/>
          <p:cNvSpPr txBox="1">
            <a:spLocks noGrp="1"/>
          </p:cNvSpPr>
          <p:nvPr>
            <p:ph type="body" idx="1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318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marL="914400" lvl="1" indent="-406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2pPr>
            <a:lvl3pPr marL="1371600" lvl="2" indent="-381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marL="1828800" lvl="3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4pPr>
            <a:lvl5pPr marL="2286000" lvl="4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5pPr>
            <a:lvl6pPr marL="2743200" lvl="5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marL="3200400" lvl="6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marL="3657600" lvl="7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marL="4114800" lvl="8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>
            <a:endParaRPr/>
          </a:p>
        </p:txBody>
      </p:sp>
      <p:sp>
        <p:nvSpPr>
          <p:cNvPr id="61" name="Google Shape;61;p32"/>
          <p:cNvSpPr txBox="1">
            <a:spLocks noGrp="1"/>
          </p:cNvSpPr>
          <p:nvPr>
            <p:ph type="body" idx="2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62" name="Google Shape;62;p32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3" name="Google Shape;63;p32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4" name="Google Shape;64;p32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24681606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icture with Caption" type="picTx">
  <p:cSld name="Picture with Caption">
    <p:spTree>
      <p:nvGrpSpPr>
        <p:cNvPr id="1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33"/>
          <p:cNvSpPr txBox="1"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7" name="Google Shape;67;p33"/>
          <p:cNvSpPr>
            <a:spLocks noGrp="1"/>
          </p:cNvSpPr>
          <p:nvPr>
            <p:ph type="pic" idx="2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8" name="Google Shape;68;p33"/>
          <p:cNvSpPr txBox="1">
            <a:spLocks noGrp="1"/>
          </p:cNvSpPr>
          <p:nvPr>
            <p:ph type="body" idx="1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69" name="Google Shape;69;p33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33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1" name="Google Shape;71;p33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2085924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Vertical Text" type="vertTx">
  <p:cSld name="Title and Vertical Text">
    <p:spTree>
      <p:nvGrpSpPr>
        <p:cNvPr id="1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p34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4" name="Google Shape;74;p34"/>
          <p:cNvSpPr txBox="1">
            <a:spLocks noGrp="1"/>
          </p:cNvSpPr>
          <p:nvPr>
            <p:ph type="body" idx="1"/>
          </p:nvPr>
        </p:nvSpPr>
        <p:spPr>
          <a:xfrm rot="5400000">
            <a:off x="3920331" y="-1256506"/>
            <a:ext cx="4351338" cy="1051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5" name="Google Shape;75;p34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6" name="Google Shape;76;p34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7" name="Google Shape;77;p34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10884557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Vertical Title and Text" type="vertTitleAndTx">
  <p:cSld name="Vertical Title and Text">
    <p:spTree>
      <p:nvGrpSpPr>
        <p:cNvPr id="1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35"/>
          <p:cNvSpPr txBox="1">
            <a:spLocks noGrp="1"/>
          </p:cNvSpPr>
          <p:nvPr>
            <p:ph type="title"/>
          </p:nvPr>
        </p:nvSpPr>
        <p:spPr>
          <a:xfrm rot="5400000">
            <a:off x="7133431" y="1956594"/>
            <a:ext cx="5811838" cy="262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0" name="Google Shape;80;p35"/>
          <p:cNvSpPr txBox="1">
            <a:spLocks noGrp="1"/>
          </p:cNvSpPr>
          <p:nvPr>
            <p:ph type="body" idx="1"/>
          </p:nvPr>
        </p:nvSpPr>
        <p:spPr>
          <a:xfrm rot="5400000">
            <a:off x="1799431" y="-596106"/>
            <a:ext cx="5811838" cy="773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81" name="Google Shape;81;p35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2" name="Google Shape;82;p35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3" name="Google Shape;83;p35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421713829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4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1" name="Google Shape;11;p24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4064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2" name="Google Shape;12;p24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3" name="Google Shape;13;p24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4" name="Google Shape;14;p24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686911407"/>
      </p:ext>
    </p:extLst>
  </p:cSld>
  <p:clrMap bg1="lt1" tx1="dk1" bg2="dk2" tx2="lt2" accent1="accent1" accent2="accent2" accent3="accent3" accent4="accent4" accent5="accent5" accent6="accent6" hlink="hlink" folHlink="folHlink"/>
  <p:sldLayoutIdLst>
    <p:sldLayoutId id="2147483661" r:id="rId1"/>
    <p:sldLayoutId id="2147483664" r:id="rId2"/>
    <p:sldLayoutId id="2147483665" r:id="rId3"/>
    <p:sldLayoutId id="2147483666" r:id="rId4"/>
    <p:sldLayoutId id="2147483667" r:id="rId5"/>
    <p:sldLayoutId id="2147483668" r:id="rId6"/>
    <p:sldLayoutId id="2147483669" r:id="rId7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jpe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image" Target="../media/image7.sv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0.svg"/><Relationship Id="rId5" Type="http://schemas.openxmlformats.org/officeDocument/2006/relationships/image" Target="../media/image9.jpg"/><Relationship Id="rId4" Type="http://schemas.openxmlformats.org/officeDocument/2006/relationships/image" Target="../media/image8.jp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6.png"/><Relationship Id="rId13" Type="http://schemas.openxmlformats.org/officeDocument/2006/relationships/image" Target="../media/image21.png"/><Relationship Id="rId3" Type="http://schemas.openxmlformats.org/officeDocument/2006/relationships/image" Target="../media/image11.png"/><Relationship Id="rId7" Type="http://schemas.openxmlformats.org/officeDocument/2006/relationships/image" Target="../media/image15.png"/><Relationship Id="rId12" Type="http://schemas.openxmlformats.org/officeDocument/2006/relationships/image" Target="../media/image20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4.png"/><Relationship Id="rId11" Type="http://schemas.openxmlformats.org/officeDocument/2006/relationships/image" Target="../media/image19.png"/><Relationship Id="rId5" Type="http://schemas.openxmlformats.org/officeDocument/2006/relationships/image" Target="../media/image13.png"/><Relationship Id="rId10" Type="http://schemas.openxmlformats.org/officeDocument/2006/relationships/image" Target="../media/image18.png"/><Relationship Id="rId4" Type="http://schemas.openxmlformats.org/officeDocument/2006/relationships/image" Target="../media/image12.png"/><Relationship Id="rId9" Type="http://schemas.openxmlformats.org/officeDocument/2006/relationships/image" Target="../media/image17.png"/><Relationship Id="rId14" Type="http://schemas.openxmlformats.org/officeDocument/2006/relationships/image" Target="../media/image22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28.png"/><Relationship Id="rId13" Type="http://schemas.openxmlformats.org/officeDocument/2006/relationships/image" Target="../media/image33.png"/><Relationship Id="rId3" Type="http://schemas.openxmlformats.org/officeDocument/2006/relationships/image" Target="../media/image23.png"/><Relationship Id="rId7" Type="http://schemas.openxmlformats.org/officeDocument/2006/relationships/image" Target="../media/image27.png"/><Relationship Id="rId12" Type="http://schemas.openxmlformats.org/officeDocument/2006/relationships/image" Target="../media/image3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6.png"/><Relationship Id="rId11" Type="http://schemas.openxmlformats.org/officeDocument/2006/relationships/image" Target="../media/image31.png"/><Relationship Id="rId5" Type="http://schemas.openxmlformats.org/officeDocument/2006/relationships/image" Target="../media/image25.png"/><Relationship Id="rId10" Type="http://schemas.openxmlformats.org/officeDocument/2006/relationships/image" Target="../media/image30.png"/><Relationship Id="rId4" Type="http://schemas.openxmlformats.org/officeDocument/2006/relationships/image" Target="../media/image24.png"/><Relationship Id="rId9" Type="http://schemas.openxmlformats.org/officeDocument/2006/relationships/image" Target="../media/image29.png"/><Relationship Id="rId14" Type="http://schemas.openxmlformats.org/officeDocument/2006/relationships/image" Target="../media/image34.pn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40.png"/><Relationship Id="rId3" Type="http://schemas.openxmlformats.org/officeDocument/2006/relationships/image" Target="../media/image35.png"/><Relationship Id="rId7" Type="http://schemas.openxmlformats.org/officeDocument/2006/relationships/image" Target="../media/image39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8.png"/><Relationship Id="rId5" Type="http://schemas.openxmlformats.org/officeDocument/2006/relationships/image" Target="../media/image37.png"/><Relationship Id="rId10" Type="http://schemas.openxmlformats.org/officeDocument/2006/relationships/image" Target="../media/image42.png"/><Relationship Id="rId4" Type="http://schemas.openxmlformats.org/officeDocument/2006/relationships/image" Target="../media/image36.png"/><Relationship Id="rId9" Type="http://schemas.openxmlformats.org/officeDocument/2006/relationships/image" Target="../media/image41.sv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png"/><Relationship Id="rId7" Type="http://schemas.openxmlformats.org/officeDocument/2006/relationships/image" Target="../media/image47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6.png"/><Relationship Id="rId5" Type="http://schemas.openxmlformats.org/officeDocument/2006/relationships/image" Target="../media/image45.png"/><Relationship Id="rId4" Type="http://schemas.openxmlformats.org/officeDocument/2006/relationships/image" Target="../media/image44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8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1.svg"/><Relationship Id="rId5" Type="http://schemas.openxmlformats.org/officeDocument/2006/relationships/image" Target="../media/image50.png"/><Relationship Id="rId4" Type="http://schemas.openxmlformats.org/officeDocument/2006/relationships/image" Target="../media/image49.png"/></Relationships>
</file>

<file path=ppt/slides/_rels/slide10.xml.rels><?xml version="1.0" encoding="UTF-8" standalone="yes"?>
<Relationships xmlns="http://schemas.openxmlformats.org/package/2006/relationships"><Relationship Id="rId13" Type="http://schemas.openxmlformats.org/officeDocument/2006/relationships/image" Target="../media/image61.png"/><Relationship Id="rId18" Type="http://schemas.openxmlformats.org/officeDocument/2006/relationships/image" Target="../media/image66.png"/><Relationship Id="rId26" Type="http://schemas.openxmlformats.org/officeDocument/2006/relationships/image" Target="../media/image74.png"/><Relationship Id="rId3" Type="http://schemas.openxmlformats.org/officeDocument/2006/relationships/image" Target="../media/image51.png"/><Relationship Id="rId21" Type="http://schemas.openxmlformats.org/officeDocument/2006/relationships/image" Target="../media/image69.png"/><Relationship Id="rId34" Type="http://schemas.openxmlformats.org/officeDocument/2006/relationships/image" Target="../media/image82.png"/><Relationship Id="rId7" Type="http://schemas.openxmlformats.org/officeDocument/2006/relationships/image" Target="../media/image55.png"/><Relationship Id="rId12" Type="http://schemas.openxmlformats.org/officeDocument/2006/relationships/image" Target="../media/image60.png"/><Relationship Id="rId17" Type="http://schemas.openxmlformats.org/officeDocument/2006/relationships/image" Target="../media/image65.png"/><Relationship Id="rId25" Type="http://schemas.openxmlformats.org/officeDocument/2006/relationships/image" Target="../media/image73.png"/><Relationship Id="rId33" Type="http://schemas.openxmlformats.org/officeDocument/2006/relationships/image" Target="../media/image81.png"/><Relationship Id="rId2" Type="http://schemas.openxmlformats.org/officeDocument/2006/relationships/image" Target="../media/image1.png"/><Relationship Id="rId16" Type="http://schemas.openxmlformats.org/officeDocument/2006/relationships/image" Target="../media/image64.png"/><Relationship Id="rId20" Type="http://schemas.openxmlformats.org/officeDocument/2006/relationships/image" Target="../media/image68.png"/><Relationship Id="rId29" Type="http://schemas.openxmlformats.org/officeDocument/2006/relationships/image" Target="../media/image77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4.png"/><Relationship Id="rId11" Type="http://schemas.openxmlformats.org/officeDocument/2006/relationships/image" Target="../media/image59.png"/><Relationship Id="rId24" Type="http://schemas.openxmlformats.org/officeDocument/2006/relationships/image" Target="../media/image72.png"/><Relationship Id="rId32" Type="http://schemas.openxmlformats.org/officeDocument/2006/relationships/image" Target="../media/image80.png"/><Relationship Id="rId5" Type="http://schemas.openxmlformats.org/officeDocument/2006/relationships/image" Target="../media/image53.png"/><Relationship Id="rId15" Type="http://schemas.openxmlformats.org/officeDocument/2006/relationships/image" Target="../media/image63.png"/><Relationship Id="rId23" Type="http://schemas.openxmlformats.org/officeDocument/2006/relationships/image" Target="../media/image71.png"/><Relationship Id="rId28" Type="http://schemas.openxmlformats.org/officeDocument/2006/relationships/image" Target="../media/image76.png"/><Relationship Id="rId10" Type="http://schemas.openxmlformats.org/officeDocument/2006/relationships/image" Target="../media/image58.png"/><Relationship Id="rId19" Type="http://schemas.openxmlformats.org/officeDocument/2006/relationships/image" Target="../media/image67.png"/><Relationship Id="rId31" Type="http://schemas.openxmlformats.org/officeDocument/2006/relationships/image" Target="../media/image79.png"/><Relationship Id="rId4" Type="http://schemas.openxmlformats.org/officeDocument/2006/relationships/image" Target="../media/image52.png"/><Relationship Id="rId9" Type="http://schemas.openxmlformats.org/officeDocument/2006/relationships/image" Target="../media/image57.png"/><Relationship Id="rId14" Type="http://schemas.openxmlformats.org/officeDocument/2006/relationships/image" Target="../media/image62.png"/><Relationship Id="rId22" Type="http://schemas.openxmlformats.org/officeDocument/2006/relationships/image" Target="../media/image70.png"/><Relationship Id="rId27" Type="http://schemas.openxmlformats.org/officeDocument/2006/relationships/image" Target="../media/image75.png"/><Relationship Id="rId30" Type="http://schemas.openxmlformats.org/officeDocument/2006/relationships/image" Target="../media/image78.png"/><Relationship Id="rId8" Type="http://schemas.openxmlformats.org/officeDocument/2006/relationships/image" Target="../media/image56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83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86.png"/><Relationship Id="rId5" Type="http://schemas.openxmlformats.org/officeDocument/2006/relationships/image" Target="../media/image85.png"/><Relationship Id="rId4" Type="http://schemas.openxmlformats.org/officeDocument/2006/relationships/image" Target="../media/image84.png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92.png"/><Relationship Id="rId3" Type="http://schemas.openxmlformats.org/officeDocument/2006/relationships/image" Target="../media/image1.png"/><Relationship Id="rId7" Type="http://schemas.openxmlformats.org/officeDocument/2006/relationships/image" Target="../media/image91.png"/><Relationship Id="rId2" Type="http://schemas.openxmlformats.org/officeDocument/2006/relationships/image" Target="../media/image87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90.png"/><Relationship Id="rId5" Type="http://schemas.openxmlformats.org/officeDocument/2006/relationships/image" Target="../media/image89.png"/><Relationship Id="rId10" Type="http://schemas.openxmlformats.org/officeDocument/2006/relationships/image" Target="../media/image94.png"/><Relationship Id="rId4" Type="http://schemas.openxmlformats.org/officeDocument/2006/relationships/image" Target="../media/image88.png"/><Relationship Id="rId9" Type="http://schemas.openxmlformats.org/officeDocument/2006/relationships/image" Target="../media/image93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95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97.png"/><Relationship Id="rId4" Type="http://schemas.openxmlformats.org/officeDocument/2006/relationships/image" Target="../media/image96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98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00.png"/><Relationship Id="rId4" Type="http://schemas.openxmlformats.org/officeDocument/2006/relationships/image" Target="../media/image99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10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02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3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05.png"/><Relationship Id="rId4" Type="http://schemas.openxmlformats.org/officeDocument/2006/relationships/image" Target="../media/image104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7.png"/><Relationship Id="rId7" Type="http://schemas.openxmlformats.org/officeDocument/2006/relationships/image" Target="../media/image111.svg"/><Relationship Id="rId2" Type="http://schemas.openxmlformats.org/officeDocument/2006/relationships/image" Target="../media/image106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10.png"/><Relationship Id="rId5" Type="http://schemas.openxmlformats.org/officeDocument/2006/relationships/image" Target="../media/image109.png"/><Relationship Id="rId4" Type="http://schemas.openxmlformats.org/officeDocument/2006/relationships/image" Target="../media/image108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14.png"/><Relationship Id="rId4" Type="http://schemas.openxmlformats.org/officeDocument/2006/relationships/image" Target="../media/image113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3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17.png"/><Relationship Id="rId5" Type="http://schemas.openxmlformats.org/officeDocument/2006/relationships/image" Target="../media/image116.png"/><Relationship Id="rId4" Type="http://schemas.openxmlformats.org/officeDocument/2006/relationships/image" Target="../media/image115.png"/></Relationships>
</file>

<file path=ppt/slides/_rels/slide20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3.png"/><Relationship Id="rId3" Type="http://schemas.openxmlformats.org/officeDocument/2006/relationships/image" Target="../media/image118.png"/><Relationship Id="rId7" Type="http://schemas.openxmlformats.org/officeDocument/2006/relationships/image" Target="../media/image12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21.png"/><Relationship Id="rId11" Type="http://schemas.openxmlformats.org/officeDocument/2006/relationships/image" Target="../media/image126.png"/><Relationship Id="rId5" Type="http://schemas.openxmlformats.org/officeDocument/2006/relationships/image" Target="../media/image120.png"/><Relationship Id="rId10" Type="http://schemas.openxmlformats.org/officeDocument/2006/relationships/image" Target="../media/image125.png"/><Relationship Id="rId4" Type="http://schemas.openxmlformats.org/officeDocument/2006/relationships/image" Target="../media/image119.png"/><Relationship Id="rId9" Type="http://schemas.openxmlformats.org/officeDocument/2006/relationships/image" Target="../media/image124.png"/></Relationships>
</file>

<file path=ppt/slides/_rels/slide2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2.png"/><Relationship Id="rId3" Type="http://schemas.openxmlformats.org/officeDocument/2006/relationships/image" Target="../media/image127.png"/><Relationship Id="rId7" Type="http://schemas.openxmlformats.org/officeDocument/2006/relationships/image" Target="../media/image131.png"/><Relationship Id="rId12" Type="http://schemas.openxmlformats.org/officeDocument/2006/relationships/image" Target="../media/image135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30.png"/><Relationship Id="rId11" Type="http://schemas.openxmlformats.org/officeDocument/2006/relationships/image" Target="../media/image117.png"/><Relationship Id="rId5" Type="http://schemas.openxmlformats.org/officeDocument/2006/relationships/image" Target="../media/image129.png"/><Relationship Id="rId10" Type="http://schemas.openxmlformats.org/officeDocument/2006/relationships/image" Target="../media/image134.png"/><Relationship Id="rId4" Type="http://schemas.openxmlformats.org/officeDocument/2006/relationships/image" Target="../media/image128.png"/><Relationship Id="rId9" Type="http://schemas.openxmlformats.org/officeDocument/2006/relationships/image" Target="../media/image133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6.png"/><Relationship Id="rId7" Type="http://schemas.openxmlformats.org/officeDocument/2006/relationships/image" Target="../media/image140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39.png"/><Relationship Id="rId5" Type="http://schemas.openxmlformats.org/officeDocument/2006/relationships/image" Target="../media/image138.png"/><Relationship Id="rId4" Type="http://schemas.openxmlformats.org/officeDocument/2006/relationships/image" Target="../media/image137.png"/></Relationships>
</file>

<file path=ppt/slides/_rels/slide2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45.png"/><Relationship Id="rId3" Type="http://schemas.openxmlformats.org/officeDocument/2006/relationships/image" Target="../media/image117.png"/><Relationship Id="rId7" Type="http://schemas.openxmlformats.org/officeDocument/2006/relationships/image" Target="../media/image144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43.png"/><Relationship Id="rId11" Type="http://schemas.openxmlformats.org/officeDocument/2006/relationships/image" Target="../media/image148.png"/><Relationship Id="rId5" Type="http://schemas.openxmlformats.org/officeDocument/2006/relationships/image" Target="../media/image142.png"/><Relationship Id="rId10" Type="http://schemas.openxmlformats.org/officeDocument/2006/relationships/image" Target="../media/image147.png"/><Relationship Id="rId4" Type="http://schemas.openxmlformats.org/officeDocument/2006/relationships/image" Target="../media/image141.png"/><Relationship Id="rId9" Type="http://schemas.openxmlformats.org/officeDocument/2006/relationships/image" Target="../media/image146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9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50.png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"/>
          <p:cNvSpPr txBox="1"/>
          <p:nvPr/>
        </p:nvSpPr>
        <p:spPr>
          <a:xfrm>
            <a:off x="7181155" y="1274808"/>
            <a:ext cx="4717473" cy="384833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9144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4400"/>
              <a:buFont typeface="Arial"/>
              <a:buNone/>
              <a:tabLst/>
              <a:defRPr/>
            </a:pPr>
            <a:r>
              <a:rPr lang="en-US" sz="6000" kern="0" dirty="0">
                <a:solidFill>
                  <a:srgbClr val="842E7B"/>
                </a:solidFill>
                <a:latin typeface="Arial"/>
                <a:ea typeface="Arial"/>
                <a:cs typeface="Arial"/>
                <a:sym typeface="Arial"/>
              </a:rPr>
              <a:t>Spider Webs and Sacrificial Failure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13CA471F-9696-A752-7DC8-4F7C657E5438}"/>
              </a:ext>
            </a:extLst>
          </p:cNvPr>
          <p:cNvSpPr/>
          <p:nvPr/>
        </p:nvSpPr>
        <p:spPr>
          <a:xfrm>
            <a:off x="0" y="0"/>
            <a:ext cx="9153939" cy="150577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o-RO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53F28FDB-F4FE-07B1-4680-A946F16E9DC4}"/>
              </a:ext>
            </a:extLst>
          </p:cNvPr>
          <p:cNvPicPr>
            <a:picLocks noChangeAspect="1"/>
          </p:cNvPicPr>
          <p:nvPr/>
        </p:nvPicPr>
        <p:blipFill>
          <a:blip r:embed="rId3">
            <a:clrChange>
              <a:clrFrom>
                <a:srgbClr val="000000"/>
              </a:clrFrom>
              <a:clrTo>
                <a:srgbClr val="000000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927869" y="322547"/>
            <a:ext cx="3059082" cy="1018698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34ABAA74-1264-F352-D962-640090A31A5C}"/>
              </a:ext>
            </a:extLst>
          </p:cNvPr>
          <p:cNvSpPr txBox="1"/>
          <p:nvPr/>
        </p:nvSpPr>
        <p:spPr>
          <a:xfrm>
            <a:off x="7503274" y="5459968"/>
            <a:ext cx="4395354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9144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4400"/>
              <a:buFont typeface="Arial"/>
              <a:buNone/>
              <a:tabLst/>
              <a:defRPr/>
            </a:pPr>
            <a:r>
              <a:rPr lang="en-US" kern="0" dirty="0">
                <a:solidFill>
                  <a:srgbClr val="842E7B"/>
                </a:solidFill>
                <a:latin typeface="Arial"/>
                <a:ea typeface="Arial"/>
                <a:cs typeface="Arial"/>
                <a:sym typeface="Arial"/>
              </a:rPr>
              <a:t>Impact regimes and quasi-static capacity</a:t>
            </a:r>
            <a:endParaRPr lang="en-US" sz="1800" kern="0" dirty="0">
              <a:solidFill>
                <a:srgbClr val="842E7B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4" name="Picture 3" descr="The Most Beautiful Spider Webs Ever Found in Nature">
            <a:extLst>
              <a:ext uri="{FF2B5EF4-FFF2-40B4-BE49-F238E27FC236}">
                <a16:creationId xmlns:a16="http://schemas.microsoft.com/office/drawing/2014/main" id="{C0728887-A316-2F96-E88D-96D9AC741EA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18909" y="1274808"/>
            <a:ext cx="6901024" cy="4566854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02EA4550-F326-0AC7-13DE-7FF4EA0FE0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>
                <a:solidFill>
                  <a:schemeClr val="bg1"/>
                </a:solidFill>
              </a:rPr>
              <a:t>Agenda</a:t>
            </a:r>
            <a:endParaRPr lang="ro-RO" dirty="0">
              <a:solidFill>
                <a:schemeClr val="bg1"/>
              </a:solidFill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FC31722-4350-0342-392E-0EB50DECD210}"/>
              </a:ext>
            </a:extLst>
          </p:cNvPr>
          <p:cNvSpPr txBox="1"/>
          <p:nvPr/>
        </p:nvSpPr>
        <p:spPr>
          <a:xfrm>
            <a:off x="1355735" y="2256104"/>
            <a:ext cx="5046830" cy="264687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buClr>
                <a:srgbClr val="000000"/>
              </a:buClr>
              <a:defRPr/>
            </a:pPr>
            <a:r>
              <a:rPr lang="en-US" b="1" dirty="0">
                <a:solidFill>
                  <a:schemeClr val="accent5">
                    <a:lumMod val="50000"/>
                  </a:schemeClr>
                </a:solidFill>
              </a:rPr>
              <a:t>Single Thread Impact</a:t>
            </a:r>
          </a:p>
          <a:p>
            <a:pPr>
              <a:buClr>
                <a:srgbClr val="000000"/>
              </a:buClr>
              <a:defRPr/>
            </a:pPr>
            <a:endParaRPr lang="en-US" sz="2000" kern="0" dirty="0">
              <a:solidFill>
                <a:srgbClr val="000000"/>
              </a:solidFill>
              <a:latin typeface="Arial"/>
              <a:cs typeface="Arial"/>
            </a:endParaRPr>
          </a:p>
          <a:p>
            <a:pPr>
              <a:buClr>
                <a:srgbClr val="000000"/>
              </a:buClr>
              <a:defRPr/>
            </a:pPr>
            <a:r>
              <a:rPr lang="en-US" b="1" dirty="0">
                <a:solidFill>
                  <a:schemeClr val="accent5">
                    <a:lumMod val="50000"/>
                  </a:schemeClr>
                </a:solidFill>
              </a:rPr>
              <a:t>Breaking Conditions</a:t>
            </a:r>
            <a:endParaRPr lang="en-US" sz="2000" kern="0" dirty="0">
              <a:solidFill>
                <a:srgbClr val="000000"/>
              </a:solidFill>
              <a:latin typeface="Arial"/>
              <a:cs typeface="Arial"/>
            </a:endParaRPr>
          </a:p>
          <a:p>
            <a:pPr>
              <a:buClr>
                <a:srgbClr val="000000"/>
              </a:buClr>
              <a:defRPr/>
            </a:pPr>
            <a:endParaRPr lang="en-US" sz="2000" kern="0" dirty="0">
              <a:solidFill>
                <a:srgbClr val="000000"/>
              </a:solidFill>
              <a:latin typeface="Arial"/>
              <a:cs typeface="Arial"/>
            </a:endParaRPr>
          </a:p>
          <a:p>
            <a:pPr>
              <a:buClr>
                <a:srgbClr val="000000"/>
              </a:buClr>
              <a:defRPr/>
            </a:pPr>
            <a:r>
              <a:rPr lang="en-US" b="1" dirty="0">
                <a:solidFill>
                  <a:schemeClr val="accent5">
                    <a:lumMod val="50000"/>
                  </a:schemeClr>
                </a:solidFill>
              </a:rPr>
              <a:t>Numerical Simulations</a:t>
            </a:r>
          </a:p>
          <a:p>
            <a:pPr>
              <a:buClr>
                <a:srgbClr val="000000"/>
              </a:buClr>
              <a:defRPr/>
            </a:pPr>
            <a:endParaRPr lang="en-US" kern="0" dirty="0">
              <a:solidFill>
                <a:srgbClr val="000000"/>
              </a:solidFill>
              <a:latin typeface="Arial"/>
              <a:cs typeface="Arial"/>
            </a:endParaRPr>
          </a:p>
          <a:p>
            <a:pPr>
              <a:buClr>
                <a:srgbClr val="000000"/>
              </a:buClr>
              <a:defRPr/>
            </a:pPr>
            <a:r>
              <a:rPr lang="en-US" b="1" dirty="0">
                <a:solidFill>
                  <a:schemeClr val="accent5">
                    <a:lumMod val="50000"/>
                  </a:schemeClr>
                </a:solidFill>
              </a:rPr>
              <a:t>Minimum Net Mass &amp; Material Utilization</a:t>
            </a:r>
            <a:endParaRPr lang="en-US" sz="2000" kern="0" dirty="0">
              <a:solidFill>
                <a:srgbClr val="000000"/>
              </a:solidFill>
              <a:cs typeface="Arial"/>
            </a:endParaRPr>
          </a:p>
          <a:p>
            <a:pPr>
              <a:buClr>
                <a:srgbClr val="000000"/>
              </a:buClr>
              <a:defRPr/>
            </a:pPr>
            <a:endParaRPr lang="en-US" kern="0" dirty="0">
              <a:solidFill>
                <a:srgbClr val="000000"/>
              </a:solidFill>
              <a:latin typeface="Arial"/>
              <a:cs typeface="Arial"/>
            </a:endParaRPr>
          </a:p>
          <a:p>
            <a:pPr>
              <a:buClr>
                <a:srgbClr val="000000"/>
              </a:buClr>
              <a:defRPr/>
            </a:pPr>
            <a:r>
              <a:rPr lang="en-US" b="1" dirty="0">
                <a:solidFill>
                  <a:schemeClr val="accent5">
                    <a:lumMod val="50000"/>
                  </a:schemeClr>
                </a:solidFill>
              </a:rPr>
              <a:t>Surprise Bonus!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7A6C29E8-7734-A82F-3754-F7CAD4B5B0A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08053" y="1543721"/>
            <a:ext cx="2965452" cy="41127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860294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1846FB-298D-24F0-0112-7EA19B7A3D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E9E43649-49E8-E3BF-7813-35584CEE554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>
                <a:solidFill>
                  <a:schemeClr val="bg1"/>
                </a:solidFill>
              </a:rPr>
              <a:t>Impact waves in single thread</a:t>
            </a:r>
            <a:endParaRPr lang="ro-RO" dirty="0">
              <a:solidFill>
                <a:schemeClr val="bg1"/>
              </a:solidFill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3A15EDD-9959-F1A5-0CEB-F90B1441A72E}"/>
              </a:ext>
            </a:extLst>
          </p:cNvPr>
          <p:cNvPicPr>
            <a:picLocks noChangeAspect="1"/>
          </p:cNvPicPr>
          <p:nvPr/>
        </p:nvPicPr>
        <p:blipFill>
          <a:blip r:embed="rId3">
            <a:clrChange>
              <a:clrFrom>
                <a:srgbClr val="000000"/>
              </a:clrFrom>
              <a:clrTo>
                <a:srgbClr val="000000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432471" y="6323329"/>
            <a:ext cx="1492133" cy="496892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1EE12E47-87F3-0487-9D86-5721523E66A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61017" y="1486343"/>
            <a:ext cx="2358360" cy="3537540"/>
          </a:xfrm>
          <a:prstGeom prst="rect">
            <a:avLst/>
          </a:prstGeom>
        </p:spPr>
      </p:pic>
      <p:grpSp>
        <p:nvGrpSpPr>
          <p:cNvPr id="31" name="Group 30">
            <a:extLst>
              <a:ext uri="{FF2B5EF4-FFF2-40B4-BE49-F238E27FC236}">
                <a16:creationId xmlns:a16="http://schemas.microsoft.com/office/drawing/2014/main" id="{039EE56C-4C3F-0B34-1A15-CA12C72AFACF}"/>
              </a:ext>
            </a:extLst>
          </p:cNvPr>
          <p:cNvGrpSpPr/>
          <p:nvPr/>
        </p:nvGrpSpPr>
        <p:grpSpPr>
          <a:xfrm>
            <a:off x="4965405" y="1999169"/>
            <a:ext cx="6668545" cy="1429831"/>
            <a:chOff x="4965405" y="1999169"/>
            <a:chExt cx="6668545" cy="1429831"/>
          </a:xfrm>
        </p:grpSpPr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DEF57E95-DBF2-6A46-441E-5712188975E9}"/>
                </a:ext>
              </a:extLst>
            </p:cNvPr>
            <p:cNvCxnSpPr>
              <a:cxnSpLocks/>
            </p:cNvCxnSpPr>
            <p:nvPr/>
          </p:nvCxnSpPr>
          <p:spPr>
            <a:xfrm>
              <a:off x="4965405" y="2359632"/>
              <a:ext cx="6453515" cy="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Arrow Connector 14">
              <a:extLst>
                <a:ext uri="{FF2B5EF4-FFF2-40B4-BE49-F238E27FC236}">
                  <a16:creationId xmlns:a16="http://schemas.microsoft.com/office/drawing/2014/main" id="{C597E1E6-3174-415C-6D4A-B459F6385681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922025" y="2400758"/>
              <a:ext cx="0" cy="49819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4"/>
            </a:lnRef>
            <a:fillRef idx="0">
              <a:schemeClr val="accent4"/>
            </a:fillRef>
            <a:effectRef idx="0">
              <a:schemeClr val="accent4"/>
            </a:effectRef>
            <a:fontRef idx="minor">
              <a:schemeClr val="tx1"/>
            </a:fontRef>
          </p:style>
        </p:cxn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20" name="TextBox 19">
                  <a:extLst>
                    <a:ext uri="{FF2B5EF4-FFF2-40B4-BE49-F238E27FC236}">
                      <a16:creationId xmlns:a16="http://schemas.microsoft.com/office/drawing/2014/main" id="{557422EC-1AF0-7C56-7B57-FB7D0D591B35}"/>
                    </a:ext>
                  </a:extLst>
                </p:cNvPr>
                <p:cNvSpPr txBox="1"/>
                <p:nvPr/>
              </p:nvSpPr>
              <p:spPr>
                <a:xfrm>
                  <a:off x="8046483" y="2562035"/>
                  <a:ext cx="205184" cy="215444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 lang="en-US" sz="1400" i="1" smtClean="0">
                            <a:solidFill>
                              <a:schemeClr val="accent4"/>
                            </a:solidFill>
                            <a:latin typeface="Cambria Math" panose="02040503050406030204" pitchFamily="18" charset="0"/>
                          </a:rPr>
                          <m:t>v</m:t>
                        </m:r>
                        <m:r>
                          <a:rPr lang="en-US" sz="1400" b="0" i="1" baseline="-25000" smtClean="0">
                            <a:solidFill>
                              <a:schemeClr val="accent4"/>
                            </a:solidFill>
                            <a:latin typeface="Cambria Math" panose="02040503050406030204" pitchFamily="18" charset="0"/>
                          </a:rPr>
                          <m:t>0</m:t>
                        </m:r>
                      </m:oMath>
                    </m:oMathPara>
                  </a14:m>
                  <a:endParaRPr lang="en-US" sz="1400" dirty="0">
                    <a:solidFill>
                      <a:schemeClr val="accent4"/>
                    </a:solidFill>
                  </a:endParaRPr>
                </a:p>
              </p:txBody>
            </p:sp>
          </mc:Choice>
          <mc:Fallback>
            <p:sp>
              <p:nvSpPr>
                <p:cNvPr id="20" name="TextBox 19">
                  <a:extLst>
                    <a:ext uri="{FF2B5EF4-FFF2-40B4-BE49-F238E27FC236}">
                      <a16:creationId xmlns:a16="http://schemas.microsoft.com/office/drawing/2014/main" id="{557422EC-1AF0-7C56-7B57-FB7D0D591B3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046483" y="2562035"/>
                  <a:ext cx="205184" cy="215444"/>
                </a:xfrm>
                <a:prstGeom prst="rect">
                  <a:avLst/>
                </a:prstGeom>
                <a:blipFill>
                  <a:blip r:embed="rId5"/>
                  <a:stretch>
                    <a:fillRect l="-11765" r="-5882" b="-1666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pic>
          <p:nvPicPr>
            <p:cNvPr id="26" name="Picture 25">
              <a:extLst>
                <a:ext uri="{FF2B5EF4-FFF2-40B4-BE49-F238E27FC236}">
                  <a16:creationId xmlns:a16="http://schemas.microsoft.com/office/drawing/2014/main" id="{9BDBC3E4-DCE4-7F87-6FCF-916A5FB55914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 rot="15289763">
              <a:off x="7715980" y="2905420"/>
              <a:ext cx="479020" cy="568140"/>
            </a:xfrm>
            <a:prstGeom prst="rect">
              <a:avLst/>
            </a:prstGeom>
          </p:spPr>
        </p:pic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6ABAF493-23BB-925A-1E3D-0FFE3C738E77}"/>
                </a:ext>
              </a:extLst>
            </p:cNvPr>
            <p:cNvSpPr txBox="1"/>
            <p:nvPr/>
          </p:nvSpPr>
          <p:spPr>
            <a:xfrm>
              <a:off x="9230992" y="1999169"/>
              <a:ext cx="2402958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400" b="1" dirty="0">
                  <a:solidFill>
                    <a:schemeClr val="accent1">
                      <a:lumMod val="75000"/>
                    </a:schemeClr>
                  </a:solidFill>
                </a:rPr>
                <a:t>Single infinite silk thread</a:t>
              </a:r>
            </a:p>
          </p:txBody>
        </p:sp>
      </p:grpSp>
      <p:sp>
        <p:nvSpPr>
          <p:cNvPr id="32" name="TextBox 31">
            <a:extLst>
              <a:ext uri="{FF2B5EF4-FFF2-40B4-BE49-F238E27FC236}">
                <a16:creationId xmlns:a16="http://schemas.microsoft.com/office/drawing/2014/main" id="{C37B8724-C2DD-9AF4-185C-011F7B61EBD2}"/>
              </a:ext>
            </a:extLst>
          </p:cNvPr>
          <p:cNvSpPr txBox="1"/>
          <p:nvPr/>
        </p:nvSpPr>
        <p:spPr>
          <a:xfrm>
            <a:off x="4245128" y="3883954"/>
            <a:ext cx="426011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b="1" dirty="0">
                <a:solidFill>
                  <a:srgbClr val="0070C0"/>
                </a:solidFill>
              </a:rPr>
              <a:t>How will the silk thread behave after impact?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A14B52E3-CB25-003C-1266-D5954A651DCF}"/>
              </a:ext>
            </a:extLst>
          </p:cNvPr>
          <p:cNvSpPr txBox="1"/>
          <p:nvPr/>
        </p:nvSpPr>
        <p:spPr>
          <a:xfrm>
            <a:off x="7779489" y="4829416"/>
            <a:ext cx="3650306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b="1" dirty="0">
                <a:solidFill>
                  <a:srgbClr val="0070C0"/>
                </a:solidFill>
              </a:rPr>
              <a:t>What’s the critical speed to break the silk thread?</a:t>
            </a:r>
          </a:p>
        </p:txBody>
      </p:sp>
      <p:pic>
        <p:nvPicPr>
          <p:cNvPr id="35" name="Graphic 34" descr="Help with solid fill">
            <a:extLst>
              <a:ext uri="{FF2B5EF4-FFF2-40B4-BE49-F238E27FC236}">
                <a16:creationId xmlns:a16="http://schemas.microsoft.com/office/drawing/2014/main" id="{EF713D59-0B90-6ADE-FC9A-2C7C10441A9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5830186" y="4648811"/>
            <a:ext cx="914400" cy="914400"/>
          </a:xfrm>
          <a:prstGeom prst="rect">
            <a:avLst/>
          </a:prstGeom>
        </p:spPr>
      </p:pic>
      <p:sp>
        <p:nvSpPr>
          <p:cNvPr id="36" name="TextBox 35">
            <a:extLst>
              <a:ext uri="{FF2B5EF4-FFF2-40B4-BE49-F238E27FC236}">
                <a16:creationId xmlns:a16="http://schemas.microsoft.com/office/drawing/2014/main" id="{42E699E3-BD55-76C3-AF35-7786D0DD514E}"/>
              </a:ext>
            </a:extLst>
          </p:cNvPr>
          <p:cNvSpPr txBox="1"/>
          <p:nvPr/>
        </p:nvSpPr>
        <p:spPr>
          <a:xfrm>
            <a:off x="4444410" y="5923898"/>
            <a:ext cx="426011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b="1" dirty="0">
                <a:solidFill>
                  <a:srgbClr val="0070C0"/>
                </a:solidFill>
              </a:rPr>
              <a:t>How will the stress in the silk thread change over time? </a:t>
            </a:r>
          </a:p>
        </p:txBody>
      </p:sp>
    </p:spTree>
    <p:extLst>
      <p:ext uri="{BB962C8B-B14F-4D97-AF65-F5344CB8AC3E}">
        <p14:creationId xmlns:p14="http://schemas.microsoft.com/office/powerpoint/2010/main" val="279691653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2" grpId="0"/>
      <p:bldP spid="33" grpId="0"/>
      <p:bldP spid="36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CC5798B-BC04-4DFB-A80E-E4D5E857BA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0D49974F-A33B-D811-2282-F4CE997B46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>
                <a:solidFill>
                  <a:schemeClr val="bg1"/>
                </a:solidFill>
              </a:rPr>
              <a:t>Impact waves in single thread</a:t>
            </a:r>
            <a:endParaRPr lang="ro-RO" dirty="0">
              <a:solidFill>
                <a:schemeClr val="bg1"/>
              </a:solidFill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2345297-F32E-526D-1382-9449340BA5B1}"/>
              </a:ext>
            </a:extLst>
          </p:cNvPr>
          <p:cNvSpPr txBox="1"/>
          <p:nvPr/>
        </p:nvSpPr>
        <p:spPr>
          <a:xfrm>
            <a:off x="889711" y="1300276"/>
            <a:ext cx="4892040" cy="178308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lvl="0" algn="just">
              <a:spcAft>
                <a:spcPts val="0"/>
              </a:spcAft>
              <a:buClr>
                <a:srgbClr val="000000"/>
              </a:buClr>
              <a:defRPr/>
            </a:pPr>
            <a:r>
              <a:rPr lang="en-US" sz="2000" kern="0" dirty="0">
                <a:solidFill>
                  <a:srgbClr val="000000"/>
                </a:solidFill>
                <a:cs typeface="Arial"/>
                <a:sym typeface="Arial"/>
              </a:rPr>
              <a:t>Earthquake waves offer an analogy for thread impact. P waves are longitudinal: particle motion is parallel to propagation. S waves are transverse: particle motion is perpendicular to propagation.</a:t>
            </a:r>
            <a:endParaRPr kumimoji="0" lang="ro-RO" sz="2000" b="1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cs typeface="Arial"/>
              <a:sym typeface="Arial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12F1FC0-A500-EEC7-7A3C-71D2CDE9FF34}"/>
              </a:ext>
            </a:extLst>
          </p:cNvPr>
          <p:cNvPicPr>
            <a:picLocks noChangeAspect="1"/>
          </p:cNvPicPr>
          <p:nvPr/>
        </p:nvPicPr>
        <p:blipFill>
          <a:blip r:embed="rId3">
            <a:clrChange>
              <a:clrFrom>
                <a:srgbClr val="000000"/>
              </a:clrFrom>
              <a:clrTo>
                <a:srgbClr val="000000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432471" y="6323329"/>
            <a:ext cx="1492133" cy="496892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799B1D16-5F29-C505-DE15-85242336FC05}"/>
              </a:ext>
            </a:extLst>
          </p:cNvPr>
          <p:cNvSpPr txBox="1"/>
          <p:nvPr/>
        </p:nvSpPr>
        <p:spPr>
          <a:xfrm>
            <a:off x="6217920" y="1300276"/>
            <a:ext cx="4892040" cy="17830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just">
              <a:spcAft>
                <a:spcPts val="0"/>
              </a:spcAft>
            </a:pPr>
            <a:r>
              <a:rPr lang="en-US" sz="2000" kern="0" dirty="0">
                <a:solidFill>
                  <a:srgbClr val="000000"/>
                </a:solidFill>
                <a:cs typeface="Arial"/>
                <a:sym typeface="Arial"/>
              </a:rPr>
              <a:t>Consider a thread initially at rest and unstrained. At x = 0, we suddenly impose a constant transverse velocity v₀. How does the thread respond?</a:t>
            </a:r>
          </a:p>
        </p:txBody>
      </p:sp>
      <p:pic>
        <p:nvPicPr>
          <p:cNvPr id="8" name="Picture 7" descr="image-6e0c89fbcb4d578d650100f64f2af292.jpg">
            <a:extLst>
              <a:ext uri="{FF2B5EF4-FFF2-40B4-BE49-F238E27FC236}">
                <a16:creationId xmlns:a16="http://schemas.microsoft.com/office/drawing/2014/main" id="{A60F17C8-28EE-0F32-DF05-9EA366AAC75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26617" y="3154680"/>
            <a:ext cx="4012741" cy="2606040"/>
          </a:xfrm>
          <a:prstGeom prst="rect">
            <a:avLst/>
          </a:prstGeom>
        </p:spPr>
      </p:pic>
      <p:pic>
        <p:nvPicPr>
          <p:cNvPr id="9" name="Picture 8" descr="image-7a185b9c87ed71f3abbcd25a45258cc1.jpg">
            <a:extLst>
              <a:ext uri="{FF2B5EF4-FFF2-40B4-BE49-F238E27FC236}">
                <a16:creationId xmlns:a16="http://schemas.microsoft.com/office/drawing/2014/main" id="{D2619D24-9310-636A-3E47-D964C0E5874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86356" y="3154680"/>
            <a:ext cx="4355167" cy="2606040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3A6C09D2-4EBE-101D-FE71-0E2CCB6F01F4}"/>
              </a:ext>
            </a:extLst>
          </p:cNvPr>
          <p:cNvSpPr txBox="1"/>
          <p:nvPr/>
        </p:nvSpPr>
        <p:spPr>
          <a:xfrm>
            <a:off x="1867906" y="5982363"/>
            <a:ext cx="8286187" cy="4114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0"/>
              </a:spcAft>
            </a:pPr>
            <a:r>
              <a:rPr lang="en-US" sz="2000" kern="0" dirty="0">
                <a:solidFill>
                  <a:schemeClr val="accent1">
                    <a:lumMod val="75000"/>
                  </a:schemeClr>
                </a:solidFill>
                <a:cs typeface="Arial"/>
                <a:sym typeface="Arial"/>
              </a:rPr>
              <a:t>How can transverse motion generate a longitudinal wave in the thread?</a:t>
            </a:r>
          </a:p>
        </p:txBody>
      </p:sp>
      <p:pic>
        <p:nvPicPr>
          <p:cNvPr id="3" name="Graphic 2" descr="Question Mark with solid fill">
            <a:extLst>
              <a:ext uri="{FF2B5EF4-FFF2-40B4-BE49-F238E27FC236}">
                <a16:creationId xmlns:a16="http://schemas.microsoft.com/office/drawing/2014/main" id="{0E614A70-8AE5-3B4D-703F-CBD688D59FC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427975" y="5874736"/>
            <a:ext cx="522150" cy="5221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4099696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3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13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3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16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10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02EA4550-F326-0AC7-13DE-7FF4EA0FE0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>
                <a:solidFill>
                  <a:schemeClr val="bg1"/>
                </a:solidFill>
              </a:rPr>
              <a:t>Impact waves in single thread</a:t>
            </a:r>
            <a:endParaRPr lang="ro-RO" dirty="0">
              <a:solidFill>
                <a:schemeClr val="bg1"/>
              </a:solidFill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FC31722-4350-0342-392E-0EB50DECD210}"/>
              </a:ext>
            </a:extLst>
          </p:cNvPr>
          <p:cNvSpPr txBox="1"/>
          <p:nvPr/>
        </p:nvSpPr>
        <p:spPr>
          <a:xfrm>
            <a:off x="889809" y="1300345"/>
            <a:ext cx="9757169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>
              <a:buClr>
                <a:srgbClr val="000000"/>
              </a:buClr>
              <a:defRPr/>
            </a:pPr>
            <a:r>
              <a:rPr lang="en-US" sz="2000" kern="0" dirty="0">
                <a:solidFill>
                  <a:srgbClr val="000000"/>
                </a:solidFill>
                <a:cs typeface="Arial"/>
                <a:sym typeface="Arial"/>
              </a:rPr>
              <a:t>Consider a long thread along </a:t>
            </a:r>
            <a:r>
              <a:rPr lang="en-US" sz="2000" i="1" kern="0" dirty="0">
                <a:solidFill>
                  <a:srgbClr val="000000"/>
                </a:solidFill>
                <a:cs typeface="Arial"/>
                <a:sym typeface="Arial"/>
              </a:rPr>
              <a:t>x</a:t>
            </a:r>
            <a:r>
              <a:rPr lang="en-US" sz="2000" kern="0" dirty="0">
                <a:solidFill>
                  <a:srgbClr val="000000"/>
                </a:solidFill>
                <a:cs typeface="Arial"/>
                <a:sym typeface="Arial"/>
              </a:rPr>
              <a:t>, at rest and unstrained, whose point </a:t>
            </a:r>
            <a:r>
              <a:rPr lang="en-US" sz="2000" i="1" kern="0" dirty="0">
                <a:solidFill>
                  <a:srgbClr val="000000"/>
                </a:solidFill>
                <a:cs typeface="Arial"/>
                <a:sym typeface="Arial"/>
              </a:rPr>
              <a:t>x=0</a:t>
            </a:r>
            <a:r>
              <a:rPr lang="en-US" sz="2000" kern="0" dirty="0">
                <a:solidFill>
                  <a:srgbClr val="000000"/>
                </a:solidFill>
                <a:cs typeface="Arial"/>
                <a:sym typeface="Arial"/>
              </a:rPr>
              <a:t> is suddenly given a constant transverse velocity v</a:t>
            </a:r>
            <a:r>
              <a:rPr lang="en-US" sz="2000" kern="0" baseline="-25000" dirty="0">
                <a:solidFill>
                  <a:srgbClr val="000000"/>
                </a:solidFill>
                <a:cs typeface="Arial"/>
                <a:sym typeface="Arial"/>
              </a:rPr>
              <a:t>0</a:t>
            </a:r>
            <a:r>
              <a:rPr lang="en-US" sz="2000" kern="0" dirty="0">
                <a:solidFill>
                  <a:srgbClr val="000000"/>
                </a:solidFill>
                <a:cs typeface="Arial"/>
                <a:sym typeface="Arial"/>
              </a:rPr>
              <a:t>.</a:t>
            </a:r>
            <a:r>
              <a:rPr kumimoji="0" lang="en-US" sz="2000" b="1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cs typeface="Arial"/>
                <a:sym typeface="Arial"/>
              </a:rPr>
              <a:t>	</a:t>
            </a:r>
            <a:endParaRPr kumimoji="0" lang="ro-RO" sz="2000" b="1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cs typeface="Arial"/>
              <a:sym typeface="Arial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4019BF7-235C-64CA-8107-6BFBA4BCAD06}"/>
              </a:ext>
            </a:extLst>
          </p:cNvPr>
          <p:cNvPicPr>
            <a:picLocks noChangeAspect="1"/>
          </p:cNvPicPr>
          <p:nvPr/>
        </p:nvPicPr>
        <p:blipFill>
          <a:blip r:embed="rId2">
            <a:clrChange>
              <a:clrFrom>
                <a:srgbClr val="000000"/>
              </a:clrFrom>
              <a:clrTo>
                <a:srgbClr val="000000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432471" y="6323329"/>
            <a:ext cx="1492133" cy="496892"/>
          </a:xfrm>
          <a:prstGeom prst="rect">
            <a:avLst/>
          </a:prstGeom>
        </p:spPr>
      </p:pic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8D580F07-E278-4A82-D273-CD73186ECEA1}"/>
              </a:ext>
            </a:extLst>
          </p:cNvPr>
          <p:cNvCxnSpPr/>
          <p:nvPr/>
        </p:nvCxnSpPr>
        <p:spPr>
          <a:xfrm>
            <a:off x="1427376" y="2759223"/>
            <a:ext cx="839585" cy="0"/>
          </a:xfrm>
          <a:prstGeom prst="line">
            <a:avLst/>
          </a:prstGeom>
        </p:spPr>
        <p:style>
          <a:lnRef idx="2">
            <a:schemeClr val="accent5"/>
          </a:lnRef>
          <a:fillRef idx="0">
            <a:schemeClr val="accent5"/>
          </a:fillRef>
          <a:effectRef idx="1">
            <a:schemeClr val="accent5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3CC4F105-4AC8-4B7F-9906-8608CE531533}"/>
                  </a:ext>
                </a:extLst>
              </p:cNvPr>
              <p:cNvSpPr txBox="1"/>
              <p:nvPr/>
            </p:nvSpPr>
            <p:spPr>
              <a:xfrm>
                <a:off x="1739103" y="2403628"/>
                <a:ext cx="218841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accent3"/>
                          </a:solidFill>
                          <a:latin typeface="Cambria Math" panose="02040503050406030204" pitchFamily="18" charset="0"/>
                        </a:rPr>
                        <m:t>𝑋</m:t>
                      </m:r>
                    </m:oMath>
                  </m:oMathPara>
                </a14:m>
                <a:endParaRPr lang="en-US" b="0" dirty="0">
                  <a:solidFill>
                    <a:schemeClr val="accent3"/>
                  </a:solidFill>
                </a:endParaRPr>
              </a:p>
            </p:txBody>
          </p:sp>
        </mc:Choice>
        <mc:Fallback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3CC4F105-4AC8-4B7F-9906-8608CE53153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739103" y="2403628"/>
                <a:ext cx="218841" cy="276999"/>
              </a:xfrm>
              <a:prstGeom prst="rect">
                <a:avLst/>
              </a:prstGeom>
              <a:blipFill>
                <a:blip r:embed="rId3"/>
                <a:stretch>
                  <a:fillRect l="-15789" r="-15789" b="-869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B763D5FB-D11E-1B7B-3522-8A639D98DA1E}"/>
              </a:ext>
            </a:extLst>
          </p:cNvPr>
          <p:cNvCxnSpPr>
            <a:cxnSpLocks/>
          </p:cNvCxnSpPr>
          <p:nvPr/>
        </p:nvCxnSpPr>
        <p:spPr>
          <a:xfrm flipV="1">
            <a:off x="820894" y="3295222"/>
            <a:ext cx="1446067" cy="4619"/>
          </a:xfrm>
          <a:prstGeom prst="line">
            <a:avLst/>
          </a:prstGeom>
          <a:ln>
            <a:solidFill>
              <a:srgbClr val="C00000"/>
            </a:solidFill>
          </a:ln>
        </p:spPr>
        <p:style>
          <a:lnRef idx="2">
            <a:schemeClr val="accent5"/>
          </a:lnRef>
          <a:fillRef idx="0">
            <a:schemeClr val="accent5"/>
          </a:fillRef>
          <a:effectRef idx="1">
            <a:schemeClr val="accent5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FF930E62-ED67-3536-B392-FDFC413F5DAE}"/>
              </a:ext>
            </a:extLst>
          </p:cNvPr>
          <p:cNvCxnSpPr>
            <a:cxnSpLocks/>
          </p:cNvCxnSpPr>
          <p:nvPr/>
        </p:nvCxnSpPr>
        <p:spPr>
          <a:xfrm>
            <a:off x="2266961" y="3006758"/>
            <a:ext cx="0" cy="702266"/>
          </a:xfrm>
          <a:prstGeom prst="line">
            <a:avLst/>
          </a:prstGeom>
          <a:ln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16BBCB98-AD65-F9EA-AB73-E32EFD4B02FD}"/>
                  </a:ext>
                </a:extLst>
              </p:cNvPr>
              <p:cNvSpPr txBox="1"/>
              <p:nvPr/>
            </p:nvSpPr>
            <p:spPr>
              <a:xfrm>
                <a:off x="921208" y="3410981"/>
                <a:ext cx="1345753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L</m:t>
                      </m:r>
                      <m:r>
                        <a:rPr lang="en-US" b="0" i="0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=(1+</m:t>
                      </m:r>
                      <m:r>
                        <m:rPr>
                          <m:sty m:val="p"/>
                        </m:rPr>
                        <a:rPr lang="en-US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ϵ</m:t>
                      </m:r>
                      <m:r>
                        <a:rPr lang="en-US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  <m:r>
                        <a:rPr lang="en-US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𝑋</m:t>
                      </m:r>
                    </m:oMath>
                  </m:oMathPara>
                </a14:m>
                <a:endParaRPr lang="en-US" b="0" dirty="0">
                  <a:solidFill>
                    <a:srgbClr val="C00000"/>
                  </a:solidFill>
                </a:endParaRPr>
              </a:p>
            </p:txBody>
          </p:sp>
        </mc:Choice>
        <mc:Fallback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16BBCB98-AD65-F9EA-AB73-E32EFD4B02F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21208" y="3410981"/>
                <a:ext cx="1345753" cy="276999"/>
              </a:xfrm>
              <a:prstGeom prst="rect">
                <a:avLst/>
              </a:prstGeom>
              <a:blipFill>
                <a:blip r:embed="rId4"/>
                <a:stretch>
                  <a:fillRect l="-2804" r="-2804" b="-3913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9" name="TextBox 18">
            <a:extLst>
              <a:ext uri="{FF2B5EF4-FFF2-40B4-BE49-F238E27FC236}">
                <a16:creationId xmlns:a16="http://schemas.microsoft.com/office/drawing/2014/main" id="{F045609F-7D5B-A615-D0DE-FAC2160F4B4B}"/>
              </a:ext>
            </a:extLst>
          </p:cNvPr>
          <p:cNvSpPr txBox="1"/>
          <p:nvPr/>
        </p:nvSpPr>
        <p:spPr>
          <a:xfrm>
            <a:off x="2317460" y="2663746"/>
            <a:ext cx="1713411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>
                <a:solidFill>
                  <a:schemeClr val="accent4"/>
                </a:solidFill>
              </a:rPr>
              <a:t>Before longitudinal wave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60B1AED3-B28E-5322-BA9F-B72DED2432C9}"/>
              </a:ext>
            </a:extLst>
          </p:cNvPr>
          <p:cNvSpPr txBox="1"/>
          <p:nvPr/>
        </p:nvSpPr>
        <p:spPr>
          <a:xfrm>
            <a:off x="2317460" y="3172111"/>
            <a:ext cx="1713411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>
                <a:solidFill>
                  <a:srgbClr val="C00000"/>
                </a:solidFill>
              </a:rPr>
              <a:t>After longitudinal wave</a:t>
            </a:r>
          </a:p>
        </p:txBody>
      </p:sp>
      <p:sp>
        <p:nvSpPr>
          <p:cNvPr id="24" name="Right Brace 23">
            <a:extLst>
              <a:ext uri="{FF2B5EF4-FFF2-40B4-BE49-F238E27FC236}">
                <a16:creationId xmlns:a16="http://schemas.microsoft.com/office/drawing/2014/main" id="{5ABC692A-CBA3-14A5-9B83-8760CC330BC7}"/>
              </a:ext>
            </a:extLst>
          </p:cNvPr>
          <p:cNvSpPr/>
          <p:nvPr/>
        </p:nvSpPr>
        <p:spPr>
          <a:xfrm>
            <a:off x="4104640" y="2542127"/>
            <a:ext cx="396240" cy="1166897"/>
          </a:xfrm>
          <a:prstGeom prst="rightBrac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F5D2B278-F1E6-8158-03FB-A579130FC4F9}"/>
                  </a:ext>
                </a:extLst>
              </p:cNvPr>
              <p:cNvSpPr txBox="1"/>
              <p:nvPr/>
            </p:nvSpPr>
            <p:spPr>
              <a:xfrm>
                <a:off x="4989805" y="2589537"/>
                <a:ext cx="971420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b="0" i="1" smtClean="0">
                          <a:latin typeface="Cambria Math" panose="02040503050406030204" pitchFamily="18" charset="0"/>
                        </a:rPr>
                        <m:t>Δl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m:rPr>
                          <m:sty m:val="p"/>
                        </m:rPr>
                        <a:rPr lang="en-US" b="0" i="1" smtClean="0">
                          <a:latin typeface="Cambria Math" panose="02040503050406030204" pitchFamily="18" charset="0"/>
                        </a:rPr>
                        <m:t>ϵ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⋅</m:t>
                      </m:r>
                      <m:r>
                        <m:rPr>
                          <m:sty m:val="p"/>
                        </m:rPr>
                        <a:rPr lang="en-US" b="0" i="1" smtClean="0">
                          <a:latin typeface="Cambria Math" panose="02040503050406030204" pitchFamily="18" charset="0"/>
                        </a:rPr>
                        <m:t>X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F5D2B278-F1E6-8158-03FB-A579130FC4F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989805" y="2589537"/>
                <a:ext cx="971420" cy="276999"/>
              </a:xfrm>
              <a:prstGeom prst="rect">
                <a:avLst/>
              </a:prstGeom>
              <a:blipFill>
                <a:blip r:embed="rId5"/>
                <a:stretch>
                  <a:fillRect l="-6494" r="-3896" b="-1363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49C1122F-B127-699B-3924-0D6452F3E4F8}"/>
                  </a:ext>
                </a:extLst>
              </p:cNvPr>
              <p:cNvSpPr txBox="1"/>
              <p:nvPr/>
            </p:nvSpPr>
            <p:spPr>
              <a:xfrm>
                <a:off x="4989805" y="2999194"/>
                <a:ext cx="1106072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b="0" i="1" smtClean="0">
                          <a:latin typeface="Cambria Math" panose="02040503050406030204" pitchFamily="18" charset="0"/>
                        </a:rPr>
                        <m:t>X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m:rPr>
                          <m:sty m:val="p"/>
                        </m:rPr>
                        <a:rPr lang="en-US" b="0" i="1" smtClean="0">
                          <a:latin typeface="Cambria Math" panose="02040503050406030204" pitchFamily="18" charset="0"/>
                        </a:rPr>
                        <m:t>cL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⋅</m:t>
                      </m:r>
                      <m:r>
                        <m:rPr>
                          <m:sty m:val="p"/>
                        </m:rPr>
                        <a:rPr lang="en-US" b="0" i="1" smtClean="0">
                          <a:latin typeface="Cambria Math" panose="02040503050406030204" pitchFamily="18" charset="0"/>
                        </a:rPr>
                        <m:t>Δt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49C1122F-B127-699B-3924-0D6452F3E4F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989805" y="2999194"/>
                <a:ext cx="1106072" cy="276999"/>
              </a:xfrm>
              <a:prstGeom prst="rect">
                <a:avLst/>
              </a:prstGeom>
              <a:blipFill>
                <a:blip r:embed="rId6"/>
                <a:stretch>
                  <a:fillRect l="-2273" r="-1136" b="-1818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DBB18368-45D4-292C-8930-3C83670EF989}"/>
                  </a:ext>
                </a:extLst>
              </p:cNvPr>
              <p:cNvSpPr txBox="1"/>
              <p:nvPr/>
            </p:nvSpPr>
            <p:spPr>
              <a:xfrm>
                <a:off x="4986265" y="3408851"/>
                <a:ext cx="1309654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l-GR" b="0" i="1" smtClean="0">
                          <a:latin typeface="Cambria Math" panose="02040503050406030204" pitchFamily="18" charset="0"/>
                        </a:rPr>
                        <m:t>Δ</m:t>
                      </m:r>
                      <m:r>
                        <m:rPr>
                          <m:sty m:val="p"/>
                        </m:rPr>
                        <a:rPr lang="en-US" b="0" i="1" smtClean="0">
                          <a:latin typeface="Cambria Math" panose="02040503050406030204" pitchFamily="18" charset="0"/>
                        </a:rPr>
                        <m:t>l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 = </m:t>
                      </m:r>
                      <m:r>
                        <m:rPr>
                          <m:sty m:val="p"/>
                        </m:rPr>
                        <a:rPr lang="en-US" b="0" i="1" smtClean="0">
                          <a:latin typeface="Cambria Math" panose="02040503050406030204" pitchFamily="18" charset="0"/>
                        </a:rPr>
                        <m:t>u</m:t>
                      </m:r>
                      <m:r>
                        <a:rPr lang="en-US" b="0" i="1" baseline="-25000" smtClean="0">
                          <a:latin typeface="Cambria Math" panose="02040503050406030204" pitchFamily="18" charset="0"/>
                        </a:rPr>
                        <m:t>2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⋅</m:t>
                      </m:r>
                      <m:r>
                        <m:rPr>
                          <m:sty m:val="p"/>
                        </m:rPr>
                        <a:rPr lang="en-US" b="0" i="1" smtClean="0">
                          <a:latin typeface="Cambria Math" panose="02040503050406030204" pitchFamily="18" charset="0"/>
                        </a:rPr>
                        <m:t>Δt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DBB18368-45D4-292C-8930-3C83670EF98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986265" y="3408851"/>
                <a:ext cx="1309654" cy="276999"/>
              </a:xfrm>
              <a:prstGeom prst="rect">
                <a:avLst/>
              </a:prstGeom>
              <a:blipFill>
                <a:blip r:embed="rId7"/>
                <a:stretch>
                  <a:fillRect l="-962" t="-4348" r="-1923" b="-3913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40" name="Group 39">
            <a:extLst>
              <a:ext uri="{FF2B5EF4-FFF2-40B4-BE49-F238E27FC236}">
                <a16:creationId xmlns:a16="http://schemas.microsoft.com/office/drawing/2014/main" id="{92F662CF-360C-B1D4-F82D-DF77FD08D218}"/>
              </a:ext>
            </a:extLst>
          </p:cNvPr>
          <p:cNvGrpSpPr/>
          <p:nvPr/>
        </p:nvGrpSpPr>
        <p:grpSpPr>
          <a:xfrm>
            <a:off x="889809" y="2843213"/>
            <a:ext cx="537567" cy="307777"/>
            <a:chOff x="889809" y="2843213"/>
            <a:chExt cx="537567" cy="307777"/>
          </a:xfrm>
        </p:grpSpPr>
        <p:cxnSp>
          <p:nvCxnSpPr>
            <p:cNvPr id="30" name="Straight Arrow Connector 29">
              <a:extLst>
                <a:ext uri="{FF2B5EF4-FFF2-40B4-BE49-F238E27FC236}">
                  <a16:creationId xmlns:a16="http://schemas.microsoft.com/office/drawing/2014/main" id="{722FDC5E-0CCD-4582-DEFF-741AA4422204}"/>
                </a:ext>
              </a:extLst>
            </p:cNvPr>
            <p:cNvCxnSpPr/>
            <p:nvPr/>
          </p:nvCxnSpPr>
          <p:spPr>
            <a:xfrm>
              <a:off x="889809" y="3125575"/>
              <a:ext cx="537567" cy="0"/>
            </a:xfrm>
            <a:prstGeom prst="straightConnector1">
              <a:avLst/>
            </a:prstGeom>
            <a:ln>
              <a:headEnd type="triangl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32" name="TextBox 31">
                  <a:extLst>
                    <a:ext uri="{FF2B5EF4-FFF2-40B4-BE49-F238E27FC236}">
                      <a16:creationId xmlns:a16="http://schemas.microsoft.com/office/drawing/2014/main" id="{0003B1B4-DB74-D9E5-6E41-A9A0DC7ED2AA}"/>
                    </a:ext>
                  </a:extLst>
                </p:cNvPr>
                <p:cNvSpPr txBox="1"/>
                <p:nvPr/>
              </p:nvSpPr>
              <p:spPr>
                <a:xfrm>
                  <a:off x="1002389" y="2843213"/>
                  <a:ext cx="396232" cy="307777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 lang="en-US" sz="1400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Δl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>
            <p:sp>
              <p:nvSpPr>
                <p:cNvPr id="32" name="TextBox 31">
                  <a:extLst>
                    <a:ext uri="{FF2B5EF4-FFF2-40B4-BE49-F238E27FC236}">
                      <a16:creationId xmlns:a16="http://schemas.microsoft.com/office/drawing/2014/main" id="{0003B1B4-DB74-D9E5-6E41-A9A0DC7ED2A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02389" y="2843213"/>
                  <a:ext cx="396232" cy="307777"/>
                </a:xfrm>
                <a:prstGeom prst="rect">
                  <a:avLst/>
                </a:prstGeom>
                <a:blipFill>
                  <a:blip r:embed="rId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mc:AlternateContent xmlns:mc="http://schemas.openxmlformats.org/markup-compatibility/2006">
        <mc:Choice xmlns:a14="http://schemas.microsoft.com/office/drawing/2010/main" Requires="a14">
          <p:sp>
            <p:nvSpPr>
              <p:cNvPr id="34" name="TextBox 33">
                <a:extLst>
                  <a:ext uri="{FF2B5EF4-FFF2-40B4-BE49-F238E27FC236}">
                    <a16:creationId xmlns:a16="http://schemas.microsoft.com/office/drawing/2014/main" id="{BBCD7298-783B-9BC7-B1DB-D90AEA40D1F4}"/>
                  </a:ext>
                </a:extLst>
              </p:cNvPr>
              <p:cNvSpPr txBox="1"/>
              <p:nvPr/>
            </p:nvSpPr>
            <p:spPr>
              <a:xfrm>
                <a:off x="6584802" y="2906861"/>
                <a:ext cx="1338425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⇒</m:t>
                      </m:r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𝑢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𝑐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𝐿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</a:rPr>
                        <m:t> 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𝜖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34" name="TextBox 33">
                <a:extLst>
                  <a:ext uri="{FF2B5EF4-FFF2-40B4-BE49-F238E27FC236}">
                    <a16:creationId xmlns:a16="http://schemas.microsoft.com/office/drawing/2014/main" id="{BBCD7298-783B-9BC7-B1DB-D90AEA40D1F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84802" y="2906861"/>
                <a:ext cx="1338425" cy="369332"/>
              </a:xfrm>
              <a:prstGeom prst="rect">
                <a:avLst/>
              </a:prstGeom>
              <a:blipFill>
                <a:blip r:embed="rId9"/>
                <a:stretch>
                  <a:fillRect b="-20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6" name="TextBox 35">
                <a:extLst>
                  <a:ext uri="{FF2B5EF4-FFF2-40B4-BE49-F238E27FC236}">
                    <a16:creationId xmlns:a16="http://schemas.microsoft.com/office/drawing/2014/main" id="{31812D6E-DD1B-A787-0E50-3B23D0A4461D}"/>
                  </a:ext>
                </a:extLst>
              </p:cNvPr>
              <p:cNvSpPr txBox="1"/>
              <p:nvPr/>
            </p:nvSpPr>
            <p:spPr>
              <a:xfrm>
                <a:off x="4644999" y="5356093"/>
                <a:ext cx="2346961" cy="40312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⇒</m:t>
                      </m:r>
                      <m:r>
                        <a:rPr lang="en-US" i="1" smtClean="0">
                          <a:latin typeface="Cambria Math" panose="02040503050406030204" pitchFamily="18" charset="0"/>
                        </a:rPr>
                        <m:t>𝑇</m:t>
                      </m:r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𝜖</m:t>
                          </m:r>
                        </m:e>
                      </m:d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𝜇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𝑐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𝐿</m:t>
                          </m:r>
                        </m:sub>
                      </m:sSub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𝑢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</a:rPr>
                        <m:t> 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36" name="TextBox 35">
                <a:extLst>
                  <a:ext uri="{FF2B5EF4-FFF2-40B4-BE49-F238E27FC236}">
                    <a16:creationId xmlns:a16="http://schemas.microsoft.com/office/drawing/2014/main" id="{31812D6E-DD1B-A787-0E50-3B23D0A4461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44999" y="5356093"/>
                <a:ext cx="2346961" cy="403124"/>
              </a:xfrm>
              <a:prstGeom prst="rect">
                <a:avLst/>
              </a:prstGeom>
              <a:blipFill>
                <a:blip r:embed="rId10"/>
                <a:stretch>
                  <a:fillRect b="-2121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55" name="Group 54">
            <a:extLst>
              <a:ext uri="{FF2B5EF4-FFF2-40B4-BE49-F238E27FC236}">
                <a16:creationId xmlns:a16="http://schemas.microsoft.com/office/drawing/2014/main" id="{F60D1E06-A824-E51E-4E08-45E7B1918A95}"/>
              </a:ext>
            </a:extLst>
          </p:cNvPr>
          <p:cNvGrpSpPr/>
          <p:nvPr/>
        </p:nvGrpSpPr>
        <p:grpSpPr>
          <a:xfrm>
            <a:off x="820894" y="4246880"/>
            <a:ext cx="3472104" cy="2219825"/>
            <a:chOff x="820894" y="4246880"/>
            <a:chExt cx="3472104" cy="2219825"/>
          </a:xfrm>
        </p:grpSpPr>
        <p:sp>
          <p:nvSpPr>
            <p:cNvPr id="41" name="TextBox 40">
              <a:extLst>
                <a:ext uri="{FF2B5EF4-FFF2-40B4-BE49-F238E27FC236}">
                  <a16:creationId xmlns:a16="http://schemas.microsoft.com/office/drawing/2014/main" id="{D41A4CBC-C50D-0AC1-C114-37F776CF4D6A}"/>
                </a:ext>
              </a:extLst>
            </p:cNvPr>
            <p:cNvSpPr txBox="1"/>
            <p:nvPr/>
          </p:nvSpPr>
          <p:spPr>
            <a:xfrm>
              <a:off x="820894" y="4246880"/>
              <a:ext cx="3209977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/>
                <a:t>Momentum change</a:t>
              </a:r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42" name="TextBox 41">
                  <a:extLst>
                    <a:ext uri="{FF2B5EF4-FFF2-40B4-BE49-F238E27FC236}">
                      <a16:creationId xmlns:a16="http://schemas.microsoft.com/office/drawing/2014/main" id="{B2F6881D-DB4C-51A7-D0DC-C90DEEB288DF}"/>
                    </a:ext>
                  </a:extLst>
                </p:cNvPr>
                <p:cNvSpPr txBox="1"/>
                <p:nvPr/>
              </p:nvSpPr>
              <p:spPr>
                <a:xfrm>
                  <a:off x="893675" y="4826368"/>
                  <a:ext cx="1009892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 lang="en-US" b="0" i="1" smtClean="0">
                            <a:latin typeface="Cambria Math" panose="02040503050406030204" pitchFamily="18" charset="0"/>
                          </a:rPr>
                          <m:t>P</m:t>
                        </m:r>
                        <m:r>
                          <m:rPr>
                            <m:sty m:val="p"/>
                          </m:rPr>
                          <a:rPr lang="en-US" b="0" i="1" baseline="-25000" smtClean="0">
                            <a:latin typeface="Cambria Math" panose="02040503050406030204" pitchFamily="18" charset="0"/>
                          </a:rPr>
                          <m:t>initial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=0</m:t>
                        </m:r>
                      </m:oMath>
                    </m:oMathPara>
                  </a14:m>
                  <a:endParaRPr lang="en-US" dirty="0"/>
                </a:p>
              </p:txBody>
            </p:sp>
          </mc:Choice>
          <mc:Fallback>
            <p:sp>
              <p:nvSpPr>
                <p:cNvPr id="42" name="TextBox 41">
                  <a:extLst>
                    <a:ext uri="{FF2B5EF4-FFF2-40B4-BE49-F238E27FC236}">
                      <a16:creationId xmlns:a16="http://schemas.microsoft.com/office/drawing/2014/main" id="{B2F6881D-DB4C-51A7-D0DC-C90DEEB288D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93675" y="4826368"/>
                  <a:ext cx="1009892" cy="276999"/>
                </a:xfrm>
                <a:prstGeom prst="rect">
                  <a:avLst/>
                </a:prstGeom>
                <a:blipFill>
                  <a:blip r:embed="rId11"/>
                  <a:stretch>
                    <a:fillRect l="-3750" r="-5000" b="-1818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43" name="TextBox 42">
                  <a:extLst>
                    <a:ext uri="{FF2B5EF4-FFF2-40B4-BE49-F238E27FC236}">
                      <a16:creationId xmlns:a16="http://schemas.microsoft.com/office/drawing/2014/main" id="{9DBB4465-0678-DA0D-360C-5AD7FD49706D}"/>
                    </a:ext>
                  </a:extLst>
                </p:cNvPr>
                <p:cNvSpPr txBox="1"/>
                <p:nvPr/>
              </p:nvSpPr>
              <p:spPr>
                <a:xfrm>
                  <a:off x="820894" y="5313523"/>
                  <a:ext cx="3472104" cy="270652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 lang="en-US" b="0" i="1" smtClean="0">
                            <a:latin typeface="Cambria Math" panose="02040503050406030204" pitchFamily="18" charset="0"/>
                          </a:rPr>
                          <m:t>P</m:t>
                        </m:r>
                        <m:r>
                          <m:rPr>
                            <m:sty m:val="p"/>
                          </m:rPr>
                          <a:rPr lang="en-US" b="0" i="1" baseline="-25000" smtClean="0">
                            <a:latin typeface="Cambria Math" panose="02040503050406030204" pitchFamily="18" charset="0"/>
                          </a:rPr>
                          <m:t>final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m:rPr>
                            <m:sty m:val="p"/>
                          </m:rPr>
                          <a:rPr lang="en-US" b="0" i="1" smtClean="0">
                            <a:latin typeface="Cambria Math" panose="02040503050406030204" pitchFamily="18" charset="0"/>
                          </a:rPr>
                          <m:t>m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⋅</m:t>
                        </m:r>
                        <m:r>
                          <m:rPr>
                            <m:sty m:val="p"/>
                          </m:rPr>
                          <a:rPr lang="en-US" b="0" i="1" smtClean="0">
                            <a:latin typeface="Cambria Math" panose="02040503050406030204" pitchFamily="18" charset="0"/>
                          </a:rPr>
                          <m:t>Δv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 = (</m:t>
                        </m:r>
                        <m:r>
                          <m:rPr>
                            <m:sty m:val="p"/>
                          </m:rPr>
                          <a:rPr lang="en-US" b="0" i="1" smtClean="0">
                            <a:latin typeface="Cambria Math" panose="02040503050406030204" pitchFamily="18" charset="0"/>
                          </a:rPr>
                          <m:t>μ</m:t>
                        </m:r>
                        <m:r>
                          <a:rPr lang="en-US" b="0" i="1" baseline="-25000" smtClean="0">
                            <a:latin typeface="Cambria Math" panose="02040503050406030204" pitchFamily="18" charset="0"/>
                          </a:rPr>
                          <m:t>0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⋅</m:t>
                        </m:r>
                        <m:r>
                          <m:rPr>
                            <m:sty m:val="p"/>
                          </m:rPr>
                          <a:rPr lang="en-US" b="0" i="1" smtClean="0">
                            <a:latin typeface="Cambria Math" panose="02040503050406030204" pitchFamily="18" charset="0"/>
                          </a:rPr>
                          <m:t>cL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⋅</m:t>
                        </m:r>
                        <m:r>
                          <m:rPr>
                            <m:sty m:val="p"/>
                          </m:rPr>
                          <a:rPr lang="en-US" b="0" i="1" smtClean="0">
                            <a:latin typeface="Cambria Math" panose="02040503050406030204" pitchFamily="18" charset="0"/>
                          </a:rPr>
                          <m:t>Δt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)⋅</m:t>
                        </m:r>
                        <m:r>
                          <m:rPr>
                            <m:sty m:val="p"/>
                          </m:rPr>
                          <a:rPr lang="en-US" b="0" i="1" smtClean="0">
                            <a:latin typeface="Cambria Math" panose="02040503050406030204" pitchFamily="18" charset="0"/>
                          </a:rPr>
                          <m:t>u</m:t>
                        </m:r>
                        <m:r>
                          <a:rPr lang="en-US" b="0" i="1" baseline="-25000" smtClean="0">
                            <a:latin typeface="Cambria Math" panose="02040503050406030204" pitchFamily="18" charset="0"/>
                          </a:rPr>
                          <m:t>2 </m:t>
                        </m:r>
                      </m:oMath>
                    </m:oMathPara>
                  </a14:m>
                  <a:endParaRPr lang="en-US" baseline="-25000" dirty="0"/>
                </a:p>
              </p:txBody>
            </p:sp>
          </mc:Choice>
          <mc:Fallback>
            <p:sp>
              <p:nvSpPr>
                <p:cNvPr id="43" name="TextBox 42">
                  <a:extLst>
                    <a:ext uri="{FF2B5EF4-FFF2-40B4-BE49-F238E27FC236}">
                      <a16:creationId xmlns:a16="http://schemas.microsoft.com/office/drawing/2014/main" id="{9DBB4465-0678-DA0D-360C-5AD7FD49706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20894" y="5313523"/>
                  <a:ext cx="3472104" cy="270652"/>
                </a:xfrm>
                <a:prstGeom prst="rect">
                  <a:avLst/>
                </a:prstGeom>
                <a:blipFill>
                  <a:blip r:embed="rId12"/>
                  <a:stretch>
                    <a:fillRect t="-9091" b="-500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44" name="TextBox 43">
                  <a:extLst>
                    <a:ext uri="{FF2B5EF4-FFF2-40B4-BE49-F238E27FC236}">
                      <a16:creationId xmlns:a16="http://schemas.microsoft.com/office/drawing/2014/main" id="{2BEC5FB9-9A30-3382-3921-5FF2985B3E18}"/>
                    </a:ext>
                  </a:extLst>
                </p:cNvPr>
                <p:cNvSpPr txBox="1"/>
                <p:nvPr/>
              </p:nvSpPr>
              <p:spPr>
                <a:xfrm>
                  <a:off x="867100" y="5940151"/>
                  <a:ext cx="2917465" cy="526554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f>
                          <m:f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m:rPr>
                                <m:sty m:val="p"/>
                              </m:rPr>
                              <a:rPr lang="en-US" b="0" i="1" smtClean="0">
                                <a:latin typeface="Cambria Math" panose="02040503050406030204" pitchFamily="18" charset="0"/>
                              </a:rPr>
                              <m:t>Δp</m:t>
                            </m:r>
                          </m:num>
                          <m:den>
                            <m:r>
                              <m:rPr>
                                <m:sty m:val="p"/>
                              </m:rPr>
                              <a:rPr lang="en-US" b="0" i="1" smtClean="0">
                                <a:latin typeface="Cambria Math" panose="02040503050406030204" pitchFamily="18" charset="0"/>
                              </a:rPr>
                              <m:t>Δt</m:t>
                            </m:r>
                          </m:den>
                        </m:f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=</m:t>
                        </m:r>
                        <m:f>
                          <m:f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m:rPr>
                                <m:sty m:val="p"/>
                              </m:rPr>
                              <a:rPr lang="en-US" i="1">
                                <a:latin typeface="Cambria Math" panose="02040503050406030204" pitchFamily="18" charset="0"/>
                              </a:rPr>
                              <m:t>Pfinal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m:rPr>
                                <m:sty m:val="p"/>
                              </m:rPr>
                              <a:rPr lang="en-US" i="1">
                                <a:latin typeface="Cambria Math" panose="02040503050406030204" pitchFamily="18" charset="0"/>
                              </a:rPr>
                              <m:t>Pinitial</m:t>
                            </m:r>
                          </m:num>
                          <m:den>
                            <m:r>
                              <m:rPr>
                                <m:sty m:val="p"/>
                              </m:rPr>
                              <a:rPr lang="en-US" b="0" i="1" smtClean="0">
                                <a:latin typeface="Cambria Math" panose="02040503050406030204" pitchFamily="18" charset="0"/>
                              </a:rPr>
                              <m:t>Δt</m:t>
                            </m:r>
                          </m:den>
                        </m:f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m:rPr>
                            <m:sty m:val="p"/>
                          </m:rPr>
                          <a:rPr lang="en-US" b="0" i="1" smtClean="0">
                            <a:latin typeface="Cambria Math" panose="02040503050406030204" pitchFamily="18" charset="0"/>
                          </a:rPr>
                          <m:t>T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m:rPr>
                            <m:sty m:val="p"/>
                          </m:rPr>
                          <a:rPr lang="en-US" b="0" i="1" smtClean="0">
                            <a:latin typeface="Cambria Math" panose="02040503050406030204" pitchFamily="18" charset="0"/>
                          </a:rPr>
                          <m:t>ϵ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en-US" dirty="0"/>
                </a:p>
              </p:txBody>
            </p:sp>
          </mc:Choice>
          <mc:Fallback>
            <p:sp>
              <p:nvSpPr>
                <p:cNvPr id="44" name="TextBox 43">
                  <a:extLst>
                    <a:ext uri="{FF2B5EF4-FFF2-40B4-BE49-F238E27FC236}">
                      <a16:creationId xmlns:a16="http://schemas.microsoft.com/office/drawing/2014/main" id="{2BEC5FB9-9A30-3382-3921-5FF2985B3E1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67100" y="5940151"/>
                  <a:ext cx="2917465" cy="526554"/>
                </a:xfrm>
                <a:prstGeom prst="rect">
                  <a:avLst/>
                </a:prstGeom>
                <a:blipFill>
                  <a:blip r:embed="rId13"/>
                  <a:stretch>
                    <a:fillRect l="-2165" t="-2326" r="-1732" b="-1395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45" name="Right Brace 44">
            <a:extLst>
              <a:ext uri="{FF2B5EF4-FFF2-40B4-BE49-F238E27FC236}">
                <a16:creationId xmlns:a16="http://schemas.microsoft.com/office/drawing/2014/main" id="{9FE3158A-BB0C-94BA-75AC-4142A71EF4F0}"/>
              </a:ext>
            </a:extLst>
          </p:cNvPr>
          <p:cNvSpPr/>
          <p:nvPr/>
        </p:nvSpPr>
        <p:spPr>
          <a:xfrm>
            <a:off x="4383852" y="4826368"/>
            <a:ext cx="396240" cy="1496961"/>
          </a:xfrm>
          <a:prstGeom prst="rightBrac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7" name="Straight Arrow Connector 46">
            <a:extLst>
              <a:ext uri="{FF2B5EF4-FFF2-40B4-BE49-F238E27FC236}">
                <a16:creationId xmlns:a16="http://schemas.microsoft.com/office/drawing/2014/main" id="{51DFEA62-7EC6-A350-E3EC-7A44550AAE8B}"/>
              </a:ext>
            </a:extLst>
          </p:cNvPr>
          <p:cNvCxnSpPr>
            <a:cxnSpLocks/>
          </p:cNvCxnSpPr>
          <p:nvPr/>
        </p:nvCxnSpPr>
        <p:spPr>
          <a:xfrm>
            <a:off x="7792720" y="3295221"/>
            <a:ext cx="1005840" cy="876568"/>
          </a:xfrm>
          <a:prstGeom prst="straightConnector1">
            <a:avLst/>
          </a:prstGeom>
          <a:ln>
            <a:solidFill>
              <a:srgbClr val="0070C0"/>
            </a:solidFill>
            <a:tailEnd type="triangle"/>
          </a:ln>
        </p:spPr>
        <p:style>
          <a:lnRef idx="2">
            <a:schemeClr val="accent3"/>
          </a:lnRef>
          <a:fillRef idx="0">
            <a:schemeClr val="accent3"/>
          </a:fillRef>
          <a:effectRef idx="1">
            <a:schemeClr val="accent3"/>
          </a:effectRef>
          <a:fontRef idx="minor">
            <a:schemeClr val="tx1"/>
          </a:fontRef>
        </p:style>
      </p:cxnSp>
      <p:cxnSp>
        <p:nvCxnSpPr>
          <p:cNvPr id="48" name="Straight Arrow Connector 47">
            <a:extLst>
              <a:ext uri="{FF2B5EF4-FFF2-40B4-BE49-F238E27FC236}">
                <a16:creationId xmlns:a16="http://schemas.microsoft.com/office/drawing/2014/main" id="{9A24E5A6-FEBF-1824-9B79-6889000145B7}"/>
              </a:ext>
            </a:extLst>
          </p:cNvPr>
          <p:cNvCxnSpPr>
            <a:cxnSpLocks/>
          </p:cNvCxnSpPr>
          <p:nvPr/>
        </p:nvCxnSpPr>
        <p:spPr>
          <a:xfrm flipV="1">
            <a:off x="6584802" y="4964867"/>
            <a:ext cx="2130629" cy="619308"/>
          </a:xfrm>
          <a:prstGeom prst="straightConnector1">
            <a:avLst/>
          </a:prstGeom>
          <a:ln>
            <a:solidFill>
              <a:srgbClr val="0070C0"/>
            </a:solidFill>
            <a:tailEnd type="triangle"/>
          </a:ln>
        </p:spPr>
        <p:style>
          <a:lnRef idx="2">
            <a:schemeClr val="accent3"/>
          </a:lnRef>
          <a:fillRef idx="0">
            <a:schemeClr val="accent3"/>
          </a:fillRef>
          <a:effectRef idx="1">
            <a:schemeClr val="accent3"/>
          </a:effectRef>
          <a:fontRef idx="minor">
            <a:schemeClr val="tx1"/>
          </a:fontRef>
        </p:style>
      </p:cxnSp>
      <p:grpSp>
        <p:nvGrpSpPr>
          <p:cNvPr id="52" name="Group 51">
            <a:extLst>
              <a:ext uri="{FF2B5EF4-FFF2-40B4-BE49-F238E27FC236}">
                <a16:creationId xmlns:a16="http://schemas.microsoft.com/office/drawing/2014/main" id="{6CB0DDD6-E711-8D00-2323-D208B21AFF6C}"/>
              </a:ext>
            </a:extLst>
          </p:cNvPr>
          <p:cNvGrpSpPr/>
          <p:nvPr/>
        </p:nvGrpSpPr>
        <p:grpSpPr>
          <a:xfrm>
            <a:off x="8589319" y="4135120"/>
            <a:ext cx="1843152" cy="998727"/>
            <a:chOff x="8672448" y="4104640"/>
            <a:chExt cx="1843152" cy="998727"/>
          </a:xfrm>
        </p:grpSpPr>
        <mc:AlternateContent xmlns:mc="http://schemas.openxmlformats.org/markup-compatibility/2006">
          <mc:Choice xmlns:a14="http://schemas.microsoft.com/office/drawing/2010/main" Requires="a14">
            <p:sp>
              <p:nvSpPr>
                <p:cNvPr id="39" name="TextBox 38">
                  <a:extLst>
                    <a:ext uri="{FF2B5EF4-FFF2-40B4-BE49-F238E27FC236}">
                      <a16:creationId xmlns:a16="http://schemas.microsoft.com/office/drawing/2014/main" id="{3057ABE2-E44E-0A2F-1CBC-2152F7A72706}"/>
                    </a:ext>
                  </a:extLst>
                </p:cNvPr>
                <p:cNvSpPr txBox="1"/>
                <p:nvPr/>
              </p:nvSpPr>
              <p:spPr>
                <a:xfrm>
                  <a:off x="8672448" y="4141309"/>
                  <a:ext cx="1633402" cy="910699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i="1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  <m:t> </m:t>
                        </m:r>
                        <m:sSub>
                          <m:sSubPr>
                            <m:ctrlPr>
                              <a:rPr lang="en-US" i="1">
                                <a:solidFill>
                                  <a:srgbClr val="0070C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solidFill>
                                  <a:srgbClr val="0070C0"/>
                                </a:solidFill>
                                <a:latin typeface="Cambria Math" panose="02040503050406030204" pitchFamily="18" charset="0"/>
                              </a:rPr>
                              <m:t>𝑐</m:t>
                            </m:r>
                          </m:e>
                          <m:sub>
                            <m:r>
                              <a:rPr lang="en-US" i="1">
                                <a:solidFill>
                                  <a:srgbClr val="0070C0"/>
                                </a:solidFill>
                                <a:latin typeface="Cambria Math" panose="02040503050406030204" pitchFamily="18" charset="0"/>
                              </a:rPr>
                              <m:t>𝐿</m:t>
                            </m:r>
                          </m:sub>
                        </m:sSub>
                        <m:r>
                          <a:rPr lang="en-US" i="1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  <m:t>=</m:t>
                        </m:r>
                        <m:rad>
                          <m:radPr>
                            <m:degHide m:val="on"/>
                            <m:ctrlPr>
                              <a:rPr lang="en-US" i="1">
                                <a:solidFill>
                                  <a:srgbClr val="0070C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radPr>
                          <m:deg/>
                          <m:e>
                            <m:f>
                              <m:fPr>
                                <m:ctrlPr>
                                  <a:rPr lang="en-US" i="1">
                                    <a:solidFill>
                                      <a:srgbClr val="0070C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r>
                                  <a:rPr lang="en-US" i="1">
                                    <a:solidFill>
                                      <a:srgbClr val="0070C0"/>
                                    </a:solidFill>
                                    <a:latin typeface="Cambria Math" panose="02040503050406030204" pitchFamily="18" charset="0"/>
                                  </a:rPr>
                                  <m:t>𝑇</m:t>
                                </m:r>
                                <m:d>
                                  <m:dPr>
                                    <m:ctrlPr>
                                      <a:rPr lang="en-US" i="1">
                                        <a:solidFill>
                                          <a:srgbClr val="0070C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i="1">
                                        <a:solidFill>
                                          <a:srgbClr val="0070C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𝜖</m:t>
                                    </m:r>
                                  </m:e>
                                </m:d>
                              </m:num>
                              <m:den>
                                <m:sSub>
                                  <m:sSubPr>
                                    <m:ctrlPr>
                                      <a:rPr lang="en-US" i="1">
                                        <a:solidFill>
                                          <a:srgbClr val="0070C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i="1">
                                        <a:solidFill>
                                          <a:srgbClr val="0070C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𝜇</m:t>
                                    </m:r>
                                  </m:e>
                                  <m:sub>
                                    <m:r>
                                      <a:rPr lang="en-US" i="1">
                                        <a:solidFill>
                                          <a:srgbClr val="0070C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0</m:t>
                                    </m:r>
                                  </m:sub>
                                </m:sSub>
                                <m:r>
                                  <a:rPr lang="en-US" i="1">
                                    <a:solidFill>
                                      <a:srgbClr val="0070C0"/>
                                    </a:solidFill>
                                    <a:latin typeface="Cambria Math" panose="02040503050406030204" pitchFamily="18" charset="0"/>
                                  </a:rPr>
                                  <m:t> </m:t>
                                </m:r>
                                <m:r>
                                  <a:rPr lang="en-US" i="1">
                                    <a:solidFill>
                                      <a:srgbClr val="0070C0"/>
                                    </a:solidFill>
                                    <a:latin typeface="Cambria Math" panose="02040503050406030204" pitchFamily="18" charset="0"/>
                                  </a:rPr>
                                  <m:t>𝜖</m:t>
                                </m:r>
                              </m:den>
                            </m:f>
                          </m:e>
                        </m:rad>
                      </m:oMath>
                    </m:oMathPara>
                  </a14:m>
                  <a:endParaRPr lang="en-US" dirty="0">
                    <a:solidFill>
                      <a:srgbClr val="0070C0"/>
                    </a:solidFill>
                  </a:endParaRPr>
                </a:p>
              </p:txBody>
            </p:sp>
          </mc:Choice>
          <mc:Fallback>
            <p:sp>
              <p:nvSpPr>
                <p:cNvPr id="39" name="TextBox 38">
                  <a:extLst>
                    <a:ext uri="{FF2B5EF4-FFF2-40B4-BE49-F238E27FC236}">
                      <a16:creationId xmlns:a16="http://schemas.microsoft.com/office/drawing/2014/main" id="{3057ABE2-E44E-0A2F-1CBC-2152F7A7270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672448" y="4141309"/>
                  <a:ext cx="1633402" cy="910699"/>
                </a:xfrm>
                <a:prstGeom prst="rect">
                  <a:avLst/>
                </a:prstGeom>
                <a:blipFill>
                  <a:blip r:embed="rId1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51" name="Rounded Rectangle 50">
              <a:extLst>
                <a:ext uri="{FF2B5EF4-FFF2-40B4-BE49-F238E27FC236}">
                  <a16:creationId xmlns:a16="http://schemas.microsoft.com/office/drawing/2014/main" id="{077139CF-BAED-3824-97D3-3ABFF535D8C3}"/>
                </a:ext>
              </a:extLst>
            </p:cNvPr>
            <p:cNvSpPr/>
            <p:nvPr/>
          </p:nvSpPr>
          <p:spPr>
            <a:xfrm>
              <a:off x="8798560" y="4104640"/>
              <a:ext cx="1717040" cy="998727"/>
            </a:xfrm>
            <a:prstGeom prst="roundRect">
              <a:avLst/>
            </a:prstGeom>
            <a:noFill/>
            <a:ln>
              <a:solidFill>
                <a:srgbClr val="0070C0"/>
              </a:solidFill>
            </a:ln>
          </p:spPr>
          <p:style>
            <a:lnRef idx="2">
              <a:schemeClr val="accent3"/>
            </a:lnRef>
            <a:fillRef idx="1">
              <a:schemeClr val="lt1"/>
            </a:fillRef>
            <a:effectRef idx="0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56" name="TextBox 55">
            <a:extLst>
              <a:ext uri="{FF2B5EF4-FFF2-40B4-BE49-F238E27FC236}">
                <a16:creationId xmlns:a16="http://schemas.microsoft.com/office/drawing/2014/main" id="{A7A11891-CEB8-2C82-1AD0-7C7E604320C7}"/>
              </a:ext>
            </a:extLst>
          </p:cNvPr>
          <p:cNvSpPr txBox="1"/>
          <p:nvPr/>
        </p:nvSpPr>
        <p:spPr>
          <a:xfrm>
            <a:off x="9027177" y="3236791"/>
            <a:ext cx="199892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rgbClr val="0070C0"/>
                </a:solidFill>
              </a:rPr>
              <a:t>Longitudinal Wave Velocity</a:t>
            </a:r>
          </a:p>
        </p:txBody>
      </p:sp>
    </p:spTree>
    <p:extLst>
      <p:ext uri="{BB962C8B-B14F-4D97-AF65-F5344CB8AC3E}">
        <p14:creationId xmlns:p14="http://schemas.microsoft.com/office/powerpoint/2010/main" val="157892745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4" grpId="0" animBg="1"/>
      <p:bldP spid="25" grpId="0"/>
      <p:bldP spid="26" grpId="0"/>
      <p:bldP spid="27" grpId="0"/>
      <p:bldP spid="34" grpId="0"/>
      <p:bldP spid="36" grpId="0"/>
      <p:bldP spid="45" grpId="0" animBg="1"/>
      <p:bldP spid="56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D1D011-E630-BC43-8FF3-A56F32778C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528E6843-2719-0AB9-012B-9DF5560B0FC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>
                <a:solidFill>
                  <a:schemeClr val="bg1"/>
                </a:solidFill>
              </a:rPr>
              <a:t>Impact waves in single thread</a:t>
            </a:r>
            <a:endParaRPr lang="ro-RO" dirty="0">
              <a:solidFill>
                <a:schemeClr val="bg1"/>
              </a:solidFill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14310E3-FFCF-BF14-5CA1-94F73AB69DBF}"/>
              </a:ext>
            </a:extLst>
          </p:cNvPr>
          <p:cNvSpPr txBox="1"/>
          <p:nvPr/>
        </p:nvSpPr>
        <p:spPr>
          <a:xfrm>
            <a:off x="889809" y="1300345"/>
            <a:ext cx="975716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>
              <a:buClr>
                <a:srgbClr val="000000"/>
              </a:buClr>
              <a:defRPr/>
            </a:pPr>
            <a:r>
              <a:rPr lang="en-US" sz="2000" kern="0">
                <a:solidFill>
                  <a:srgbClr val="000000"/>
                </a:solidFill>
                <a:cs typeface="Arial"/>
                <a:sym typeface="Arial"/>
              </a:rPr>
              <a:t>Mass conservation and thread tension determine the transverse wave speed.</a:t>
            </a:r>
            <a:endParaRPr kumimoji="0" lang="ro-RO" sz="2000" b="1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cs typeface="Arial"/>
              <a:sym typeface="Arial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DF35152-DFB2-9D3C-C31C-1E704B11373D}"/>
              </a:ext>
            </a:extLst>
          </p:cNvPr>
          <p:cNvPicPr>
            <a:picLocks noChangeAspect="1"/>
          </p:cNvPicPr>
          <p:nvPr/>
        </p:nvPicPr>
        <p:blipFill>
          <a:blip r:embed="rId2">
            <a:clrChange>
              <a:clrFrom>
                <a:srgbClr val="000000"/>
              </a:clrFrom>
              <a:clrTo>
                <a:srgbClr val="000000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432471" y="6323329"/>
            <a:ext cx="1492133" cy="496892"/>
          </a:xfrm>
          <a:prstGeom prst="rect">
            <a:avLst/>
          </a:prstGeom>
        </p:spPr>
      </p:pic>
      <p:grpSp>
        <p:nvGrpSpPr>
          <p:cNvPr id="15" name="Group 14">
            <a:extLst>
              <a:ext uri="{FF2B5EF4-FFF2-40B4-BE49-F238E27FC236}">
                <a16:creationId xmlns:a16="http://schemas.microsoft.com/office/drawing/2014/main" id="{D48E989F-7A33-1180-4880-BA1DEF7A25C2}"/>
              </a:ext>
            </a:extLst>
          </p:cNvPr>
          <p:cNvGrpSpPr/>
          <p:nvPr/>
        </p:nvGrpSpPr>
        <p:grpSpPr>
          <a:xfrm>
            <a:off x="5050768" y="2021644"/>
            <a:ext cx="6082194" cy="1407356"/>
            <a:chOff x="3844342" y="1272972"/>
            <a:chExt cx="6082194" cy="1407356"/>
          </a:xfrm>
        </p:grpSpPr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0" name="TextBox 9">
                  <a:extLst>
                    <a:ext uri="{FF2B5EF4-FFF2-40B4-BE49-F238E27FC236}">
                      <a16:creationId xmlns:a16="http://schemas.microsoft.com/office/drawing/2014/main" id="{D044E6A1-57E0-C21C-A26D-D3EC2456E6B0}"/>
                    </a:ext>
                  </a:extLst>
                </p:cNvPr>
                <p:cNvSpPr txBox="1"/>
                <p:nvPr/>
              </p:nvSpPr>
              <p:spPr>
                <a:xfrm>
                  <a:off x="8671385" y="1960589"/>
                  <a:ext cx="1255151" cy="477182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 lang="en-US" b="0" i="1" smtClean="0">
                            <a:latin typeface="Cambria Math" panose="02040503050406030204" pitchFamily="18" charset="0"/>
                          </a:rPr>
                          <m:t>μ</m:t>
                        </m:r>
                        <m:r>
                          <m:rPr>
                            <m:sty m:val="p"/>
                          </m:rPr>
                          <a:rPr lang="en-US" b="0" i="1" baseline="-25000" smtClean="0">
                            <a:latin typeface="Cambria Math" panose="02040503050406030204" pitchFamily="18" charset="0"/>
                          </a:rPr>
                          <m:t>real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=</m:t>
                        </m:r>
                        <m:f>
                          <m:f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m:rPr>
                                <m:sty m:val="p"/>
                              </m:rPr>
                              <a:rPr lang="en-US" b="0" i="1" smtClean="0">
                                <a:latin typeface="Cambria Math" panose="02040503050406030204" pitchFamily="18" charset="0"/>
                              </a:rPr>
                              <m:t>μ</m:t>
                            </m:r>
                            <m:r>
                              <a:rPr lang="en-US" b="0" i="1" baseline="-25000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num>
                          <m:den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1+</m:t>
                            </m:r>
                            <m:r>
                              <m:rPr>
                                <m:sty m:val="p"/>
                              </m:rPr>
                              <a:rPr lang="en-US" b="0" i="1" smtClean="0">
                                <a:latin typeface="Cambria Math" panose="02040503050406030204" pitchFamily="18" charset="0"/>
                              </a:rPr>
                              <m:t>ϵ</m:t>
                            </m:r>
                          </m:den>
                        </m:f>
                      </m:oMath>
                    </m:oMathPara>
                  </a14:m>
                  <a:endParaRPr lang="en-US" dirty="0"/>
                </a:p>
              </p:txBody>
            </p:sp>
          </mc:Choice>
          <mc:Fallback>
            <p:sp>
              <p:nvSpPr>
                <p:cNvPr id="10" name="TextBox 9">
                  <a:extLst>
                    <a:ext uri="{FF2B5EF4-FFF2-40B4-BE49-F238E27FC236}">
                      <a16:creationId xmlns:a16="http://schemas.microsoft.com/office/drawing/2014/main" id="{D044E6A1-57E0-C21C-A26D-D3EC2456E6B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671385" y="1960589"/>
                  <a:ext cx="1255151" cy="477182"/>
                </a:xfrm>
                <a:prstGeom prst="rect">
                  <a:avLst/>
                </a:prstGeom>
                <a:blipFill>
                  <a:blip r:embed="rId3"/>
                  <a:stretch>
                    <a:fillRect l="-3000" t="-2564" r="-2000" b="-12821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1" name="TextBox 10">
                  <a:extLst>
                    <a:ext uri="{FF2B5EF4-FFF2-40B4-BE49-F238E27FC236}">
                      <a16:creationId xmlns:a16="http://schemas.microsoft.com/office/drawing/2014/main" id="{4314E9A1-FF78-F9E9-679D-0A1CA1F57908}"/>
                    </a:ext>
                  </a:extLst>
                </p:cNvPr>
                <p:cNvSpPr txBox="1"/>
                <p:nvPr/>
              </p:nvSpPr>
              <p:spPr>
                <a:xfrm>
                  <a:off x="3844342" y="1898468"/>
                  <a:ext cx="2827697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 lang="en-US" b="0" i="1" smtClean="0">
                            <a:latin typeface="Cambria Math" panose="02040503050406030204" pitchFamily="18" charset="0"/>
                          </a:rPr>
                          <m:t>M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m:rPr>
                            <m:sty m:val="p"/>
                          </m:rPr>
                          <a:rPr lang="en-US" b="0" i="1" baseline="-25000" smtClean="0">
                            <a:latin typeface="Cambria Math" panose="02040503050406030204" pitchFamily="18" charset="0"/>
                          </a:rPr>
                          <m:t>init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 = </m:t>
                        </m:r>
                        <m:r>
                          <m:rPr>
                            <m:sty m:val="p"/>
                          </m:rPr>
                          <a:rPr lang="en-US" b="0" i="1" smtClean="0">
                            <a:latin typeface="Cambria Math" panose="02040503050406030204" pitchFamily="18" charset="0"/>
                          </a:rPr>
                          <m:t>μ</m:t>
                        </m:r>
                        <m:r>
                          <a:rPr lang="en-US" b="0" i="1" baseline="-25000" smtClean="0">
                            <a:latin typeface="Cambria Math" panose="02040503050406030204" pitchFamily="18" charset="0"/>
                          </a:rPr>
                          <m:t>0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⋅</m:t>
                        </m:r>
                        <m:r>
                          <m:rPr>
                            <m:sty m:val="p"/>
                          </m:rPr>
                          <a:rPr lang="en-US" b="0" i="1" smtClean="0">
                            <a:latin typeface="Cambria Math" panose="02040503050406030204" pitchFamily="18" charset="0"/>
                          </a:rPr>
                          <m:t>X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m:rPr>
                            <m:sty m:val="p"/>
                          </m:rPr>
                          <a:rPr lang="en-US" b="0" i="1" smtClean="0">
                            <a:latin typeface="Cambria Math" panose="02040503050406030204" pitchFamily="18" charset="0"/>
                          </a:rPr>
                          <m:t>μ</m:t>
                        </m:r>
                        <m:r>
                          <a:rPr lang="en-US" b="0" i="1" baseline="-25000" smtClean="0">
                            <a:latin typeface="Cambria Math" panose="02040503050406030204" pitchFamily="18" charset="0"/>
                          </a:rPr>
                          <m:t>0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⋅</m:t>
                        </m:r>
                        <m:r>
                          <m:rPr>
                            <m:sty m:val="p"/>
                          </m:rPr>
                          <a:rPr lang="en-US" b="0" i="1" smtClean="0">
                            <a:latin typeface="Cambria Math" panose="02040503050406030204" pitchFamily="18" charset="0"/>
                          </a:rPr>
                          <m:t>cL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 ⋅</m:t>
                        </m:r>
                        <m:r>
                          <m:rPr>
                            <m:sty m:val="p"/>
                          </m:rPr>
                          <a:rPr lang="en-US" b="0" i="1" smtClean="0">
                            <a:latin typeface="Cambria Math" panose="02040503050406030204" pitchFamily="18" charset="0"/>
                          </a:rPr>
                          <m:t>Δt</m:t>
                        </m:r>
                      </m:oMath>
                    </m:oMathPara>
                  </a14:m>
                  <a:endParaRPr lang="en-US" dirty="0"/>
                </a:p>
              </p:txBody>
            </p:sp>
          </mc:Choice>
          <mc:Fallback>
            <p:sp>
              <p:nvSpPr>
                <p:cNvPr id="11" name="TextBox 10">
                  <a:extLst>
                    <a:ext uri="{FF2B5EF4-FFF2-40B4-BE49-F238E27FC236}">
                      <a16:creationId xmlns:a16="http://schemas.microsoft.com/office/drawing/2014/main" id="{4314E9A1-FF78-F9E9-679D-0A1CA1F5790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844342" y="1898468"/>
                  <a:ext cx="2827697" cy="276999"/>
                </a:xfrm>
                <a:prstGeom prst="rect">
                  <a:avLst/>
                </a:prstGeom>
                <a:blipFill>
                  <a:blip r:embed="rId4"/>
                  <a:stretch>
                    <a:fillRect t="-4348" b="-3913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2" name="TextBox 11">
                  <a:extLst>
                    <a:ext uri="{FF2B5EF4-FFF2-40B4-BE49-F238E27FC236}">
                      <a16:creationId xmlns:a16="http://schemas.microsoft.com/office/drawing/2014/main" id="{E90981CE-9503-B86B-C13F-8D613ED2B51F}"/>
                    </a:ext>
                  </a:extLst>
                </p:cNvPr>
                <p:cNvSpPr txBox="1"/>
                <p:nvPr/>
              </p:nvSpPr>
              <p:spPr>
                <a:xfrm>
                  <a:off x="3844342" y="2403329"/>
                  <a:ext cx="4012317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 lang="en-US" b="0" i="1" smtClean="0">
                            <a:latin typeface="Cambria Math" panose="02040503050406030204" pitchFamily="18" charset="0"/>
                          </a:rPr>
                          <m:t>M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m:rPr>
                            <m:sty m:val="p"/>
                          </m:rPr>
                          <a:rPr lang="en-US" b="0" i="1" baseline="-25000" smtClean="0">
                            <a:latin typeface="Cambria Math" panose="02040503050406030204" pitchFamily="18" charset="0"/>
                          </a:rPr>
                          <m:t>final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 = </m:t>
                        </m:r>
                        <m:r>
                          <m:rPr>
                            <m:sty m:val="p"/>
                          </m:rPr>
                          <a:rPr lang="en-US" b="0" i="1" smtClean="0">
                            <a:latin typeface="Cambria Math" panose="02040503050406030204" pitchFamily="18" charset="0"/>
                          </a:rPr>
                          <m:t>μreal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⋅</m:t>
                        </m:r>
                        <m:r>
                          <m:rPr>
                            <m:sty m:val="p"/>
                          </m:rPr>
                          <a:rPr lang="en-US" b="0" i="1" smtClean="0">
                            <a:latin typeface="Cambria Math" panose="02040503050406030204" pitchFamily="18" charset="0"/>
                          </a:rPr>
                          <m:t>L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m:rPr>
                            <m:sty m:val="p"/>
                          </m:rPr>
                          <a:rPr lang="en-US" b="0" i="1" smtClean="0">
                            <a:latin typeface="Cambria Math" panose="02040503050406030204" pitchFamily="18" charset="0"/>
                          </a:rPr>
                          <m:t>μreal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⋅(1+</m:t>
                        </m:r>
                        <m:r>
                          <m:rPr>
                            <m:sty m:val="p"/>
                          </m:rPr>
                          <a:rPr lang="en-US" b="0" i="1" smtClean="0">
                            <a:latin typeface="Cambria Math" panose="02040503050406030204" pitchFamily="18" charset="0"/>
                          </a:rPr>
                          <m:t>ϵ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)⋅</m:t>
                        </m:r>
                        <m:r>
                          <m:rPr>
                            <m:sty m:val="p"/>
                          </m:rPr>
                          <a:rPr lang="en-US" b="0" i="1" smtClean="0">
                            <a:latin typeface="Cambria Math" panose="02040503050406030204" pitchFamily="18" charset="0"/>
                          </a:rPr>
                          <m:t>cL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 ⋅</m:t>
                        </m:r>
                        <m:r>
                          <m:rPr>
                            <m:sty m:val="p"/>
                          </m:rPr>
                          <a:rPr lang="en-US" b="0" i="1" smtClean="0">
                            <a:latin typeface="Cambria Math" panose="02040503050406030204" pitchFamily="18" charset="0"/>
                          </a:rPr>
                          <m:t>Δt</m:t>
                        </m:r>
                      </m:oMath>
                    </m:oMathPara>
                  </a14:m>
                  <a:endParaRPr lang="en-US" dirty="0"/>
                </a:p>
              </p:txBody>
            </p:sp>
          </mc:Choice>
          <mc:Fallback>
            <p:sp>
              <p:nvSpPr>
                <p:cNvPr id="12" name="TextBox 11">
                  <a:extLst>
                    <a:ext uri="{FF2B5EF4-FFF2-40B4-BE49-F238E27FC236}">
                      <a16:creationId xmlns:a16="http://schemas.microsoft.com/office/drawing/2014/main" id="{E90981CE-9503-B86B-C13F-8D613ED2B51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844342" y="2403329"/>
                  <a:ext cx="4012317" cy="276999"/>
                </a:xfrm>
                <a:prstGeom prst="rect">
                  <a:avLst/>
                </a:prstGeom>
                <a:blipFill>
                  <a:blip r:embed="rId5"/>
                  <a:stretch>
                    <a:fillRect l="-631" t="-4348" r="-631" b="-3913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3" name="Right Brace 12">
              <a:extLst>
                <a:ext uri="{FF2B5EF4-FFF2-40B4-BE49-F238E27FC236}">
                  <a16:creationId xmlns:a16="http://schemas.microsoft.com/office/drawing/2014/main" id="{A4E630E1-8E37-0C2E-CA42-AA915F7C3B51}"/>
                </a:ext>
              </a:extLst>
            </p:cNvPr>
            <p:cNvSpPr/>
            <p:nvPr/>
          </p:nvSpPr>
          <p:spPr>
            <a:xfrm>
              <a:off x="8065902" y="1850978"/>
              <a:ext cx="396240" cy="818367"/>
            </a:xfrm>
            <a:prstGeom prst="rightBrac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F2EBED4A-FBD4-7EF2-F2B8-B67C2F342125}"/>
                </a:ext>
              </a:extLst>
            </p:cNvPr>
            <p:cNvSpPr txBox="1"/>
            <p:nvPr/>
          </p:nvSpPr>
          <p:spPr>
            <a:xfrm>
              <a:off x="5201920" y="1272972"/>
              <a:ext cx="1788160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400" dirty="0"/>
                <a:t>Mass Conservation</a:t>
              </a:r>
            </a:p>
          </p:txBody>
        </p:sp>
      </p:grp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C133F058-2198-D78E-607D-66716F1303B1}"/>
              </a:ext>
            </a:extLst>
          </p:cNvPr>
          <p:cNvCxnSpPr/>
          <p:nvPr/>
        </p:nvCxnSpPr>
        <p:spPr>
          <a:xfrm>
            <a:off x="1427376" y="2534685"/>
            <a:ext cx="839585" cy="0"/>
          </a:xfrm>
          <a:prstGeom prst="line">
            <a:avLst/>
          </a:prstGeom>
        </p:spPr>
        <p:style>
          <a:lnRef idx="2">
            <a:schemeClr val="accent5"/>
          </a:lnRef>
          <a:fillRef idx="0">
            <a:schemeClr val="accent5"/>
          </a:fillRef>
          <a:effectRef idx="1">
            <a:schemeClr val="accent5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BD85D870-16C4-5D08-41B7-CB1C412D9902}"/>
                  </a:ext>
                </a:extLst>
              </p:cNvPr>
              <p:cNvSpPr txBox="1"/>
              <p:nvPr/>
            </p:nvSpPr>
            <p:spPr>
              <a:xfrm>
                <a:off x="1739103" y="2179090"/>
                <a:ext cx="218841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accent3"/>
                          </a:solidFill>
                          <a:latin typeface="Cambria Math" panose="02040503050406030204" pitchFamily="18" charset="0"/>
                        </a:rPr>
                        <m:t>𝑋</m:t>
                      </m:r>
                    </m:oMath>
                  </m:oMathPara>
                </a14:m>
                <a:endParaRPr lang="en-US" b="0" dirty="0">
                  <a:solidFill>
                    <a:schemeClr val="accent3"/>
                  </a:solidFill>
                </a:endParaRPr>
              </a:p>
            </p:txBody>
          </p:sp>
        </mc:Choice>
        <mc:Fallback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BD85D870-16C4-5D08-41B7-CB1C412D990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739103" y="2179090"/>
                <a:ext cx="218841" cy="276999"/>
              </a:xfrm>
              <a:prstGeom prst="rect">
                <a:avLst/>
              </a:prstGeom>
              <a:blipFill>
                <a:blip r:embed="rId6"/>
                <a:stretch>
                  <a:fillRect l="-15789" r="-15789" b="-869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4762ADE2-DB8F-8C62-4841-B4654DB733DA}"/>
              </a:ext>
            </a:extLst>
          </p:cNvPr>
          <p:cNvCxnSpPr>
            <a:cxnSpLocks/>
          </p:cNvCxnSpPr>
          <p:nvPr/>
        </p:nvCxnSpPr>
        <p:spPr>
          <a:xfrm flipV="1">
            <a:off x="820894" y="3070684"/>
            <a:ext cx="1446067" cy="4619"/>
          </a:xfrm>
          <a:prstGeom prst="line">
            <a:avLst/>
          </a:prstGeom>
          <a:ln>
            <a:solidFill>
              <a:srgbClr val="C00000"/>
            </a:solidFill>
          </a:ln>
        </p:spPr>
        <p:style>
          <a:lnRef idx="2">
            <a:schemeClr val="accent5"/>
          </a:lnRef>
          <a:fillRef idx="0">
            <a:schemeClr val="accent5"/>
          </a:fillRef>
          <a:effectRef idx="1">
            <a:schemeClr val="accent5"/>
          </a:effectRef>
          <a:fontRef idx="minor">
            <a:schemeClr val="tx1"/>
          </a:fontRef>
        </p:style>
      </p:cxn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2E71C44A-580C-CE70-FB3E-38FE98EC1079}"/>
              </a:ext>
            </a:extLst>
          </p:cNvPr>
          <p:cNvCxnSpPr>
            <a:cxnSpLocks/>
          </p:cNvCxnSpPr>
          <p:nvPr/>
        </p:nvCxnSpPr>
        <p:spPr>
          <a:xfrm>
            <a:off x="2266961" y="2782220"/>
            <a:ext cx="0" cy="702266"/>
          </a:xfrm>
          <a:prstGeom prst="line">
            <a:avLst/>
          </a:prstGeom>
          <a:ln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6A5DF751-C3A5-3444-F929-3747357BBCD3}"/>
                  </a:ext>
                </a:extLst>
              </p:cNvPr>
              <p:cNvSpPr txBox="1"/>
              <p:nvPr/>
            </p:nvSpPr>
            <p:spPr>
              <a:xfrm>
                <a:off x="921208" y="3186443"/>
                <a:ext cx="1345753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L</m:t>
                      </m:r>
                      <m:r>
                        <a:rPr lang="en-US" b="0" i="0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=(1+</m:t>
                      </m:r>
                      <m:r>
                        <m:rPr>
                          <m:sty m:val="p"/>
                        </m:rPr>
                        <a:rPr lang="en-US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ϵ</m:t>
                      </m:r>
                      <m:r>
                        <a:rPr lang="en-US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  <m:r>
                        <a:rPr lang="en-US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𝑋</m:t>
                      </m:r>
                    </m:oMath>
                  </m:oMathPara>
                </a14:m>
                <a:endParaRPr lang="en-US" b="0" dirty="0">
                  <a:solidFill>
                    <a:srgbClr val="C00000"/>
                  </a:solidFill>
                </a:endParaRPr>
              </a:p>
            </p:txBody>
          </p:sp>
        </mc:Choice>
        <mc:Fallback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6A5DF751-C3A5-3444-F929-3747357BBCD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21208" y="3186443"/>
                <a:ext cx="1345753" cy="276999"/>
              </a:xfrm>
              <a:prstGeom prst="rect">
                <a:avLst/>
              </a:prstGeom>
              <a:blipFill>
                <a:blip r:embed="rId7"/>
                <a:stretch>
                  <a:fillRect l="-2804" r="-2804" b="-4090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1" name="TextBox 20">
            <a:extLst>
              <a:ext uri="{FF2B5EF4-FFF2-40B4-BE49-F238E27FC236}">
                <a16:creationId xmlns:a16="http://schemas.microsoft.com/office/drawing/2014/main" id="{DB4F95F6-7497-0A30-9231-C5027A2F8E7B}"/>
              </a:ext>
            </a:extLst>
          </p:cNvPr>
          <p:cNvSpPr txBox="1"/>
          <p:nvPr/>
        </p:nvSpPr>
        <p:spPr>
          <a:xfrm>
            <a:off x="2317460" y="2439208"/>
            <a:ext cx="1713411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>
                <a:solidFill>
                  <a:schemeClr val="accent4"/>
                </a:solidFill>
              </a:rPr>
              <a:t>Before longitudinal wave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4FFE7BCC-E52A-4DC8-4EAA-6C99CCC9F7DD}"/>
              </a:ext>
            </a:extLst>
          </p:cNvPr>
          <p:cNvSpPr txBox="1"/>
          <p:nvPr/>
        </p:nvSpPr>
        <p:spPr>
          <a:xfrm>
            <a:off x="2317460" y="2947573"/>
            <a:ext cx="1713411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>
                <a:solidFill>
                  <a:srgbClr val="C00000"/>
                </a:solidFill>
              </a:rPr>
              <a:t>After longitudinal wave</a:t>
            </a:r>
          </a:p>
        </p:txBody>
      </p:sp>
      <p:grpSp>
        <p:nvGrpSpPr>
          <p:cNvPr id="23" name="Group 22">
            <a:extLst>
              <a:ext uri="{FF2B5EF4-FFF2-40B4-BE49-F238E27FC236}">
                <a16:creationId xmlns:a16="http://schemas.microsoft.com/office/drawing/2014/main" id="{68495673-EF31-F3C5-2D45-51D984FE86BF}"/>
              </a:ext>
            </a:extLst>
          </p:cNvPr>
          <p:cNvGrpSpPr/>
          <p:nvPr/>
        </p:nvGrpSpPr>
        <p:grpSpPr>
          <a:xfrm>
            <a:off x="889809" y="2618675"/>
            <a:ext cx="537567" cy="307777"/>
            <a:chOff x="889809" y="2843213"/>
            <a:chExt cx="537567" cy="307777"/>
          </a:xfrm>
        </p:grpSpPr>
        <p:cxnSp>
          <p:nvCxnSpPr>
            <p:cNvPr id="24" name="Straight Arrow Connector 23">
              <a:extLst>
                <a:ext uri="{FF2B5EF4-FFF2-40B4-BE49-F238E27FC236}">
                  <a16:creationId xmlns:a16="http://schemas.microsoft.com/office/drawing/2014/main" id="{FD3BDA4F-D93B-A4B4-07C4-11FE836E3466}"/>
                </a:ext>
              </a:extLst>
            </p:cNvPr>
            <p:cNvCxnSpPr/>
            <p:nvPr/>
          </p:nvCxnSpPr>
          <p:spPr>
            <a:xfrm>
              <a:off x="889809" y="3125575"/>
              <a:ext cx="537567" cy="0"/>
            </a:xfrm>
            <a:prstGeom prst="straightConnector1">
              <a:avLst/>
            </a:prstGeom>
            <a:ln>
              <a:headEnd type="triangl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25" name="TextBox 24">
                  <a:extLst>
                    <a:ext uri="{FF2B5EF4-FFF2-40B4-BE49-F238E27FC236}">
                      <a16:creationId xmlns:a16="http://schemas.microsoft.com/office/drawing/2014/main" id="{FEA1602F-04BA-765C-B117-29B20A150BF1}"/>
                    </a:ext>
                  </a:extLst>
                </p:cNvPr>
                <p:cNvSpPr txBox="1"/>
                <p:nvPr/>
              </p:nvSpPr>
              <p:spPr>
                <a:xfrm>
                  <a:off x="1002389" y="2843213"/>
                  <a:ext cx="396232" cy="307777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 lang="en-US" sz="1400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Δl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>
            <p:sp>
              <p:nvSpPr>
                <p:cNvPr id="25" name="TextBox 24">
                  <a:extLst>
                    <a:ext uri="{FF2B5EF4-FFF2-40B4-BE49-F238E27FC236}">
                      <a16:creationId xmlns:a16="http://schemas.microsoft.com/office/drawing/2014/main" id="{FEA1602F-04BA-765C-B117-29B20A150BF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02389" y="2843213"/>
                  <a:ext cx="396232" cy="307777"/>
                </a:xfrm>
                <a:prstGeom prst="rect">
                  <a:avLst/>
                </a:prstGeom>
                <a:blipFill>
                  <a:blip r:embed="rId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mc:AlternateContent xmlns:mc="http://schemas.openxmlformats.org/markup-compatibility/2006">
        <mc:Choice xmlns:a14="http://schemas.microsoft.com/office/drawing/2010/main" Requires="a14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3647253C-A9F7-BDDB-2C05-86F20610D20A}"/>
                  </a:ext>
                </a:extLst>
              </p:cNvPr>
              <p:cNvSpPr txBox="1"/>
              <p:nvPr/>
            </p:nvSpPr>
            <p:spPr>
              <a:xfrm>
                <a:off x="6702940" y="5449284"/>
                <a:ext cx="1713418" cy="81836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</a:rPr>
                            <m:t>𝑐</m:t>
                          </m:r>
                        </m:e>
                        <m:sub>
                          <m:r>
                            <a:rPr lang="en-US" i="1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</m:sub>
                      </m:sSub>
                      <m:r>
                        <a:rPr lang="en-US" i="1">
                          <a:solidFill>
                            <a:srgbClr val="0070C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ad>
                        <m:radPr>
                          <m:degHide m:val="on"/>
                          <m:ctrlPr>
                            <a:rPr lang="en-US" i="1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</a:rPr>
                          </m:ctrlPr>
                        </m:radPr>
                        <m:deg/>
                        <m:e>
                          <m:f>
                            <m:fPr>
                              <m:ctrlPr>
                                <a:rPr lang="en-US" i="1">
                                  <a:solidFill>
                                    <a:srgbClr val="0070C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i="1">
                                  <a:solidFill>
                                    <a:srgbClr val="0070C0"/>
                                  </a:solidFill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  <m:d>
                                <m:dPr>
                                  <m:ctrlPr>
                                    <a:rPr lang="en-US" i="1">
                                      <a:solidFill>
                                        <a:srgbClr val="0070C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i="1">
                                      <a:solidFill>
                                        <a:srgbClr val="0070C0"/>
                                      </a:solidFill>
                                      <a:latin typeface="Cambria Math" panose="02040503050406030204" pitchFamily="18" charset="0"/>
                                    </a:rPr>
                                    <m:t>𝜖</m:t>
                                  </m:r>
                                </m:e>
                              </m:d>
                            </m:num>
                            <m:den>
                              <m:sSub>
                                <m:sSubPr>
                                  <m:ctrlPr>
                                    <a:rPr lang="en-US" i="1">
                                      <a:solidFill>
                                        <a:srgbClr val="0070C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solidFill>
                                        <a:srgbClr val="0070C0"/>
                                      </a:solidFill>
                                      <a:latin typeface="Cambria Math" panose="02040503050406030204" pitchFamily="18" charset="0"/>
                                    </a:rPr>
                                    <m:t>𝜇</m:t>
                                  </m:r>
                                </m:e>
                                <m:sub>
                                  <m:r>
                                    <a:rPr lang="en-US" i="1">
                                      <a:solidFill>
                                        <a:srgbClr val="0070C0"/>
                                      </a:solidFill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</m:sSub>
                              <m:d>
                                <m:dPr>
                                  <m:ctrlPr>
                                    <a:rPr lang="en-US" i="1">
                                      <a:solidFill>
                                        <a:srgbClr val="0070C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i="1">
                                      <a:solidFill>
                                        <a:srgbClr val="0070C0"/>
                                      </a:solidFill>
                                      <a:latin typeface="Cambria Math" panose="02040503050406030204" pitchFamily="18" charset="0"/>
                                    </a:rPr>
                                    <m:t>1+</m:t>
                                  </m:r>
                                  <m:r>
                                    <a:rPr lang="en-US" i="1">
                                      <a:solidFill>
                                        <a:srgbClr val="0070C0"/>
                                      </a:solidFill>
                                      <a:latin typeface="Cambria Math" panose="02040503050406030204" pitchFamily="18" charset="0"/>
                                    </a:rPr>
                                    <m:t>𝜖</m:t>
                                  </m:r>
                                </m:e>
                              </m:d>
                            </m:den>
                          </m:f>
                        </m:e>
                      </m:rad>
                    </m:oMath>
                  </m:oMathPara>
                </a14:m>
                <a:endParaRPr lang="en-US" dirty="0">
                  <a:solidFill>
                    <a:srgbClr val="0070C0"/>
                  </a:solidFill>
                </a:endParaRPr>
              </a:p>
            </p:txBody>
          </p:sp>
        </mc:Choice>
        <mc:Fallback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3647253C-A9F7-BDDB-2C05-86F20610D20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02940" y="5449284"/>
                <a:ext cx="1713418" cy="818366"/>
              </a:xfrm>
              <a:prstGeom prst="rect">
                <a:avLst/>
              </a:prstGeom>
              <a:blipFill>
                <a:blip r:embed="rId9"/>
                <a:stretch>
                  <a:fillRect l="-148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865BC9B2-3286-ADA3-72C4-C4627751A167}"/>
                  </a:ext>
                </a:extLst>
              </p:cNvPr>
              <p:cNvSpPr txBox="1"/>
              <p:nvPr/>
            </p:nvSpPr>
            <p:spPr>
              <a:xfrm>
                <a:off x="4113902" y="4062180"/>
                <a:ext cx="1721817" cy="81836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b="0" i="1" smtClean="0">
                          <a:latin typeface="Cambria Math" panose="02040503050406030204" pitchFamily="18" charset="0"/>
                        </a:rPr>
                        <m:t>V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m:rPr>
                              <m:sty m:val="p"/>
                            </m:rPr>
                            <a:rPr lang="en-US" b="0" i="1" smtClean="0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</a:rPr>
                            <m:t>Δs</m:t>
                          </m:r>
                        </m:num>
                        <m:den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Δt</m:t>
                          </m:r>
                        </m:den>
                      </m:f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rad>
                        <m:radPr>
                          <m:degHide m:val="on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radPr>
                        <m:deg/>
                        <m:e>
                          <m:f>
                            <m:f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m:rPr>
                                  <m:sty m:val="p"/>
                                </m:r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T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m:rPr>
                                  <m:sty m:val="p"/>
                                </m:r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ϵ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num>
                            <m:den>
                              <m:r>
                                <m:rPr>
                                  <m:sty m:val="p"/>
                                </m:r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μ</m:t>
                              </m:r>
                              <m:r>
                                <m:rPr>
                                  <m:sty m:val="p"/>
                                </m:rPr>
                                <a:rPr lang="en-US" b="0" i="1" baseline="-25000" smtClean="0">
                                  <a:latin typeface="Cambria Math" panose="02040503050406030204" pitchFamily="18" charset="0"/>
                                </a:rPr>
                                <m:t>real</m:t>
                              </m:r>
                            </m:den>
                          </m:f>
                        </m:e>
                      </m:rad>
                      <m:r>
                        <a:rPr lang="en-US" b="0" i="1" baseline="-25000" smtClean="0">
                          <a:latin typeface="Cambria Math" panose="02040503050406030204" pitchFamily="18" charset="0"/>
                        </a:rPr>
                        <m:t>  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865BC9B2-3286-ADA3-72C4-C4627751A16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13902" y="4062180"/>
                <a:ext cx="1721817" cy="818366"/>
              </a:xfrm>
              <a:prstGeom prst="rect">
                <a:avLst/>
              </a:prstGeom>
              <a:blipFill>
                <a:blip r:embed="rId10"/>
                <a:stretch>
                  <a:fillRect l="-2941" r="-220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6E529AFF-DA6E-3C6B-2A0D-1D6E30D35F1E}"/>
                  </a:ext>
                </a:extLst>
              </p:cNvPr>
              <p:cNvSpPr txBox="1"/>
              <p:nvPr/>
            </p:nvSpPr>
            <p:spPr>
              <a:xfrm>
                <a:off x="6267822" y="4062180"/>
                <a:ext cx="2149819" cy="81836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⇒</m:t>
                      </m:r>
                      <m:r>
                        <m:rPr>
                          <m:sty m:val="p"/>
                        </m:rPr>
                        <a:rPr lang="en-US" b="0" i="1" smtClean="0">
                          <a:latin typeface="Cambria Math" panose="02040503050406030204" pitchFamily="18" charset="0"/>
                        </a:rPr>
                        <m:t>V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rad>
                        <m:radPr>
                          <m:degHide m:val="on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radPr>
                        <m:deg/>
                        <m:e>
                          <m:f>
                            <m:f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m:rPr>
                                  <m:sty m:val="p"/>
                                </m:r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T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m:rPr>
                                  <m:sty m:val="p"/>
                                </m:r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ϵ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)(1+</m:t>
                              </m:r>
                              <m:r>
                                <m:rPr>
                                  <m:sty m:val="p"/>
                                </m:r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ϵ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num>
                            <m:den>
                              <m:r>
                                <m:rPr>
                                  <m:sty m:val="p"/>
                                </m:r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μ</m:t>
                              </m:r>
                              <m:r>
                                <a:rPr lang="en-US" b="0" i="1" baseline="-25000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den>
                          </m:f>
                        </m:e>
                      </m:rad>
                      <m:r>
                        <a:rPr lang="en-US" b="0" i="1" baseline="-25000" smtClean="0">
                          <a:latin typeface="Cambria Math" panose="02040503050406030204" pitchFamily="18" charset="0"/>
                        </a:rPr>
                        <m:t>  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6E529AFF-DA6E-3C6B-2A0D-1D6E30D35F1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67822" y="4062180"/>
                <a:ext cx="2149819" cy="818366"/>
              </a:xfrm>
              <a:prstGeom prst="rect">
                <a:avLst/>
              </a:prstGeom>
              <a:blipFill>
                <a:blip r:embed="rId11"/>
                <a:stretch>
                  <a:fillRect l="-1176" r="-176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9B6ABD64-8281-57DF-BB63-F400844F4EE2}"/>
                  </a:ext>
                </a:extLst>
              </p:cNvPr>
              <p:cNvSpPr txBox="1"/>
              <p:nvPr/>
            </p:nvSpPr>
            <p:spPr>
              <a:xfrm>
                <a:off x="4113902" y="5406187"/>
                <a:ext cx="1604606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b="0" i="1" smtClean="0">
                          <a:solidFill>
                            <a:srgbClr val="00B050"/>
                          </a:solidFill>
                          <a:latin typeface="Cambria Math" panose="02040503050406030204" pitchFamily="18" charset="0"/>
                        </a:rPr>
                        <m:t>Δs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=(1+</m:t>
                      </m:r>
                      <m:r>
                        <m:rPr>
                          <m:sty m:val="p"/>
                        </m:rPr>
                        <a:rPr lang="en-US" b="0" i="1" smtClean="0">
                          <a:latin typeface="Cambria Math" panose="02040503050406030204" pitchFamily="18" charset="0"/>
                        </a:rPr>
                        <m:t>ϵ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)⋅</m:t>
                      </m:r>
                      <m:r>
                        <m:rPr>
                          <m:sty m:val="p"/>
                        </m:rPr>
                        <a:rPr lang="en-US" b="0" i="1" smtClean="0">
                          <a:latin typeface="Cambria Math" panose="02040503050406030204" pitchFamily="18" charset="0"/>
                        </a:rPr>
                        <m:t>X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9B6ABD64-8281-57DF-BB63-F400844F4EE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13902" y="5406187"/>
                <a:ext cx="1604606" cy="276999"/>
              </a:xfrm>
              <a:prstGeom prst="rect">
                <a:avLst/>
              </a:prstGeom>
              <a:blipFill>
                <a:blip r:embed="rId12"/>
                <a:stretch>
                  <a:fillRect l="-3150" r="-2362" b="-3913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82293EB2-DC03-0C7D-0811-3C4978C9D913}"/>
                  </a:ext>
                </a:extLst>
              </p:cNvPr>
              <p:cNvSpPr txBox="1"/>
              <p:nvPr/>
            </p:nvSpPr>
            <p:spPr>
              <a:xfrm>
                <a:off x="4113902" y="6086053"/>
                <a:ext cx="1074012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b="0" i="1" smtClean="0">
                          <a:latin typeface="Cambria Math" panose="02040503050406030204" pitchFamily="18" charset="0"/>
                        </a:rPr>
                        <m:t>X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m:rPr>
                          <m:sty m:val="p"/>
                        </m:rPr>
                        <a:rPr lang="en-US" b="0" i="1" smtClean="0">
                          <a:latin typeface="Cambria Math" panose="02040503050406030204" pitchFamily="18" charset="0"/>
                        </a:rPr>
                        <m:t>cT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⋅</m:t>
                      </m:r>
                      <m:r>
                        <m:rPr>
                          <m:sty m:val="p"/>
                        </m:rPr>
                        <a:rPr lang="en-US" b="0" i="1" smtClean="0">
                          <a:latin typeface="Cambria Math" panose="02040503050406030204" pitchFamily="18" charset="0"/>
                        </a:rPr>
                        <m:t>Δt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82293EB2-DC03-0C7D-0811-3C4978C9D91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13902" y="6086053"/>
                <a:ext cx="1074012" cy="276999"/>
              </a:xfrm>
              <a:prstGeom prst="rect">
                <a:avLst/>
              </a:prstGeom>
              <a:blipFill>
                <a:blip r:embed="rId13"/>
                <a:stretch>
                  <a:fillRect l="-4706" r="-3529" b="-1304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1" name="Right Brace 30">
            <a:extLst>
              <a:ext uri="{FF2B5EF4-FFF2-40B4-BE49-F238E27FC236}">
                <a16:creationId xmlns:a16="http://schemas.microsoft.com/office/drawing/2014/main" id="{705A3637-B2A6-4C9E-69DC-732208475F22}"/>
              </a:ext>
            </a:extLst>
          </p:cNvPr>
          <p:cNvSpPr/>
          <p:nvPr/>
        </p:nvSpPr>
        <p:spPr>
          <a:xfrm>
            <a:off x="6012604" y="5445544"/>
            <a:ext cx="396240" cy="963845"/>
          </a:xfrm>
          <a:prstGeom prst="rightBrac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Rounded Rectangle 31">
            <a:extLst>
              <a:ext uri="{FF2B5EF4-FFF2-40B4-BE49-F238E27FC236}">
                <a16:creationId xmlns:a16="http://schemas.microsoft.com/office/drawing/2014/main" id="{0334F6BF-DAE3-F79F-A940-1DC6CFAB9B7A}"/>
              </a:ext>
            </a:extLst>
          </p:cNvPr>
          <p:cNvSpPr/>
          <p:nvPr/>
        </p:nvSpPr>
        <p:spPr>
          <a:xfrm>
            <a:off x="6702940" y="5364325"/>
            <a:ext cx="1766164" cy="998727"/>
          </a:xfrm>
          <a:prstGeom prst="roundRect">
            <a:avLst/>
          </a:prstGeom>
          <a:noFill/>
          <a:ln>
            <a:solidFill>
              <a:srgbClr val="0070C0"/>
            </a:solidFill>
          </a:ln>
        </p:spPr>
        <p:style>
          <a:lnRef idx="2">
            <a:schemeClr val="accent3"/>
          </a:lnRef>
          <a:fillRef idx="1">
            <a:schemeClr val="lt1"/>
          </a:fillRef>
          <a:effectRef idx="0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BAB50038-E957-BEE0-0F5A-0423A01F1D04}"/>
              </a:ext>
            </a:extLst>
          </p:cNvPr>
          <p:cNvGrpSpPr/>
          <p:nvPr/>
        </p:nvGrpSpPr>
        <p:grpSpPr>
          <a:xfrm>
            <a:off x="265818" y="4446568"/>
            <a:ext cx="2852810" cy="1639485"/>
            <a:chOff x="-186335" y="4445532"/>
            <a:chExt cx="2902135" cy="1639485"/>
          </a:xfrm>
        </p:grpSpPr>
        <p:sp>
          <p:nvSpPr>
            <p:cNvPr id="33" name="Arc 32">
              <a:extLst>
                <a:ext uri="{FF2B5EF4-FFF2-40B4-BE49-F238E27FC236}">
                  <a16:creationId xmlns:a16="http://schemas.microsoft.com/office/drawing/2014/main" id="{FEA4DE5A-8C73-2691-3340-C8400847A7C0}"/>
                </a:ext>
              </a:extLst>
            </p:cNvPr>
            <p:cNvSpPr/>
            <p:nvPr/>
          </p:nvSpPr>
          <p:spPr>
            <a:xfrm>
              <a:off x="-186335" y="4479737"/>
              <a:ext cx="2773680" cy="1605280"/>
            </a:xfrm>
            <a:prstGeom prst="arc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4" name="Arc 33">
              <a:extLst>
                <a:ext uri="{FF2B5EF4-FFF2-40B4-BE49-F238E27FC236}">
                  <a16:creationId xmlns:a16="http://schemas.microsoft.com/office/drawing/2014/main" id="{CE723F21-50B3-4951-F436-CD2128B49C3E}"/>
                </a:ext>
              </a:extLst>
            </p:cNvPr>
            <p:cNvSpPr/>
            <p:nvPr/>
          </p:nvSpPr>
          <p:spPr>
            <a:xfrm>
              <a:off x="1853261" y="4669480"/>
              <a:ext cx="464199" cy="350874"/>
            </a:xfrm>
            <a:prstGeom prst="arc">
              <a:avLst>
                <a:gd name="adj1" fmla="val 15925566"/>
                <a:gd name="adj2" fmla="val 21471919"/>
              </a:avLst>
            </a:prstGeom>
            <a:ln>
              <a:solidFill>
                <a:srgbClr val="00B050"/>
              </a:solidFill>
            </a:ln>
          </p:spPr>
          <p:style>
            <a:lnRef idx="3">
              <a:schemeClr val="accent3"/>
            </a:lnRef>
            <a:fillRef idx="0">
              <a:schemeClr val="accent3"/>
            </a:fillRef>
            <a:effectRef idx="2">
              <a:schemeClr val="accent3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A27BFBA6-6E02-77C9-B208-D8805C244146}"/>
                </a:ext>
              </a:extLst>
            </p:cNvPr>
            <p:cNvSpPr txBox="1"/>
            <p:nvPr/>
          </p:nvSpPr>
          <p:spPr>
            <a:xfrm>
              <a:off x="1002389" y="5511615"/>
              <a:ext cx="1713411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000" dirty="0">
                  <a:solidFill>
                    <a:schemeClr val="accent4"/>
                  </a:solidFill>
                </a:rPr>
                <a:t>Thread deformation due to transversal wave.</a:t>
              </a:r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36" name="TextBox 35">
                  <a:extLst>
                    <a:ext uri="{FF2B5EF4-FFF2-40B4-BE49-F238E27FC236}">
                      <a16:creationId xmlns:a16="http://schemas.microsoft.com/office/drawing/2014/main" id="{627648F8-A798-DD87-CAD7-53AC5E445B4F}"/>
                    </a:ext>
                  </a:extLst>
                </p:cNvPr>
                <p:cNvSpPr txBox="1"/>
                <p:nvPr/>
              </p:nvSpPr>
              <p:spPr>
                <a:xfrm>
                  <a:off x="2183572" y="4445532"/>
                  <a:ext cx="396232" cy="307777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 lang="en-US" sz="1400" b="0" i="1" smtClean="0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  <m:t>Δs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>
            <p:sp>
              <p:nvSpPr>
                <p:cNvPr id="36" name="TextBox 35">
                  <a:extLst>
                    <a:ext uri="{FF2B5EF4-FFF2-40B4-BE49-F238E27FC236}">
                      <a16:creationId xmlns:a16="http://schemas.microsoft.com/office/drawing/2014/main" id="{627648F8-A798-DD87-CAD7-53AC5E445B4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183572" y="4445532"/>
                  <a:ext cx="396232" cy="307777"/>
                </a:xfrm>
                <a:prstGeom prst="rect">
                  <a:avLst/>
                </a:prstGeom>
                <a:blipFill>
                  <a:blip r:embed="rId1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37" name="TextBox 36">
            <a:extLst>
              <a:ext uri="{FF2B5EF4-FFF2-40B4-BE49-F238E27FC236}">
                <a16:creationId xmlns:a16="http://schemas.microsoft.com/office/drawing/2014/main" id="{D7BE5E05-44CE-5626-2781-D196CD1F5EC4}"/>
              </a:ext>
            </a:extLst>
          </p:cNvPr>
          <p:cNvSpPr txBox="1"/>
          <p:nvPr/>
        </p:nvSpPr>
        <p:spPr>
          <a:xfrm>
            <a:off x="8525518" y="5173632"/>
            <a:ext cx="199892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rgbClr val="0070C0"/>
                </a:solidFill>
              </a:rPr>
              <a:t>Transversal Wave Velocity</a:t>
            </a:r>
          </a:p>
        </p:txBody>
      </p:sp>
    </p:spTree>
    <p:extLst>
      <p:ext uri="{BB962C8B-B14F-4D97-AF65-F5344CB8AC3E}">
        <p14:creationId xmlns:p14="http://schemas.microsoft.com/office/powerpoint/2010/main" val="163999254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6" grpId="0"/>
      <p:bldP spid="27" grpId="0"/>
      <p:bldP spid="28" grpId="0"/>
      <p:bldP spid="29" grpId="0"/>
      <p:bldP spid="30" grpId="0"/>
      <p:bldP spid="31" grpId="0" animBg="1"/>
      <p:bldP spid="32" grpId="0" animBg="1"/>
      <p:bldP spid="37" grpId="0"/>
      <p:bldP spid="37" grpId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D0CE86-1613-6F14-BB6E-053D946625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19DFBE7D-28B4-6DF6-7CF4-884721EDCF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>
                <a:solidFill>
                  <a:schemeClr val="bg1"/>
                </a:solidFill>
              </a:rPr>
              <a:t>Impact waves in single thread</a:t>
            </a:r>
            <a:endParaRPr lang="ro-RO" dirty="0">
              <a:solidFill>
                <a:schemeClr val="bg1"/>
              </a:solidFill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B02B79F-D998-06B5-4B83-1FCB94580F27}"/>
              </a:ext>
            </a:extLst>
          </p:cNvPr>
          <p:cNvPicPr>
            <a:picLocks noChangeAspect="1"/>
          </p:cNvPicPr>
          <p:nvPr/>
        </p:nvPicPr>
        <p:blipFill>
          <a:blip r:embed="rId2">
            <a:clrChange>
              <a:clrFrom>
                <a:srgbClr val="000000"/>
              </a:clrFrom>
              <a:clrTo>
                <a:srgbClr val="000000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432471" y="6323329"/>
            <a:ext cx="1492133" cy="496892"/>
          </a:xfrm>
          <a:prstGeom prst="rect">
            <a:avLst/>
          </a:prstGeom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CDBCD18D-6FDA-3B2A-7049-A61BBF129E37}"/>
                  </a:ext>
                </a:extLst>
              </p:cNvPr>
              <p:cNvSpPr txBox="1"/>
              <p:nvPr/>
            </p:nvSpPr>
            <p:spPr>
              <a:xfrm>
                <a:off x="698108" y="3949680"/>
                <a:ext cx="3734164" cy="28251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i="1" smtClean="0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en-US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  <m:sup>
                          <m:r>
                            <a:rPr lang="en-US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bSup>
                      <m:r>
                        <a:rPr lang="en-US" i="1" smtClean="0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en-US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i="1" smtClean="0">
                                  <a:latin typeface="Cambria Math" panose="02040503050406030204" pitchFamily="18" charset="0"/>
                                </a:rPr>
                                <m:t>1+</m:t>
                              </m:r>
                              <m:r>
                                <a:rPr lang="en-US" i="1" smtClean="0">
                                  <a:latin typeface="Cambria Math" panose="02040503050406030204" pitchFamily="18" charset="0"/>
                                </a:rPr>
                                <m:t>𝜖</m:t>
                              </m:r>
                            </m:e>
                          </m:d>
                        </m:e>
                        <m:sup>
                          <m:r>
                            <a:rPr lang="en-US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sSubSup>
                        <m:sSubSup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i="1" smtClean="0">
                              <a:latin typeface="Cambria Math" panose="02040503050406030204" pitchFamily="18" charset="0"/>
                            </a:rPr>
                            <m:t>𝑐</m:t>
                          </m:r>
                        </m:e>
                        <m:sub>
                          <m:r>
                            <a:rPr lang="en-US" i="1" smtClean="0">
                              <a:latin typeface="Cambria Math" panose="02040503050406030204" pitchFamily="18" charset="0"/>
                            </a:rPr>
                            <m:t>𝑇</m:t>
                          </m:r>
                        </m:sub>
                        <m:sup>
                          <m:r>
                            <a:rPr lang="en-US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bSup>
                      <m:r>
                        <a:rPr lang="en-US" i="1" smtClean="0">
                          <a:latin typeface="Cambria Math" panose="02040503050406030204" pitchFamily="18" charset="0"/>
                        </a:rPr>
                        <m:t>−</m:t>
                      </m:r>
                      <m:sSup>
                        <m:sSup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begChr m:val="["/>
                              <m:endChr m:val="]"/>
                              <m:ctrlPr>
                                <a:rPr lang="en-US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d>
                                <m:dPr>
                                  <m:ctrlPr>
                                    <a:rPr lang="en-US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i="1" smtClean="0">
                                      <a:latin typeface="Cambria Math" panose="02040503050406030204" pitchFamily="18" charset="0"/>
                                    </a:rPr>
                                    <m:t>1+</m:t>
                                  </m:r>
                                  <m:r>
                                    <a:rPr lang="en-US" i="1" smtClean="0">
                                      <a:latin typeface="Cambria Math" panose="02040503050406030204" pitchFamily="18" charset="0"/>
                                    </a:rPr>
                                    <m:t>𝜖</m:t>
                                  </m:r>
                                </m:e>
                              </m:d>
                              <m:sSub>
                                <m:sSubPr>
                                  <m:ctrlPr>
                                    <a:rPr lang="en-US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 smtClean="0">
                                      <a:latin typeface="Cambria Math" panose="02040503050406030204" pitchFamily="18" charset="0"/>
                                    </a:rPr>
                                    <m:t>𝑐</m:t>
                                  </m:r>
                                </m:e>
                                <m:sub>
                                  <m:r>
                                    <a:rPr lang="en-US" i="1" smtClean="0">
                                      <a:latin typeface="Cambria Math" panose="02040503050406030204" pitchFamily="18" charset="0"/>
                                    </a:rPr>
                                    <m:t>𝑇</m:t>
                                  </m:r>
                                </m:sub>
                              </m:sSub>
                              <m:r>
                                <a:rPr lang="en-US" i="1" smtClean="0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en-US" i="1" smtClean="0">
                                  <a:latin typeface="Cambria Math" panose="02040503050406030204" pitchFamily="18" charset="0"/>
                                </a:rPr>
                                <m:t>𝜖</m:t>
                              </m:r>
                              <m:sSub>
                                <m:sSubPr>
                                  <m:ctrlPr>
                                    <a:rPr lang="en-US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 smtClean="0">
                                      <a:latin typeface="Cambria Math" panose="02040503050406030204" pitchFamily="18" charset="0"/>
                                    </a:rPr>
                                    <m:t>𝑐</m:t>
                                  </m:r>
                                </m:e>
                                <m:sub>
                                  <m:r>
                                    <a:rPr lang="en-US" i="1" smtClean="0"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sub>
                              </m:sSub>
                            </m:e>
                          </m:d>
                        </m:e>
                        <m:sup>
                          <m:r>
                            <a:rPr lang="en-US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CDBCD18D-6FDA-3B2A-7049-A61BBF129E3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8108" y="3949680"/>
                <a:ext cx="3734164" cy="282513"/>
              </a:xfrm>
              <a:prstGeom prst="rect">
                <a:avLst/>
              </a:prstGeom>
              <a:blipFill>
                <a:blip r:embed="rId3"/>
                <a:stretch>
                  <a:fillRect l="-340" b="-1739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27" name="Group 26">
            <a:extLst>
              <a:ext uri="{FF2B5EF4-FFF2-40B4-BE49-F238E27FC236}">
                <a16:creationId xmlns:a16="http://schemas.microsoft.com/office/drawing/2014/main" id="{6ECCD0E7-F7EC-D9D1-B603-C90A2AF7BABB}"/>
              </a:ext>
            </a:extLst>
          </p:cNvPr>
          <p:cNvGrpSpPr/>
          <p:nvPr/>
        </p:nvGrpSpPr>
        <p:grpSpPr>
          <a:xfrm>
            <a:off x="2736348" y="1590124"/>
            <a:ext cx="7160001" cy="1522914"/>
            <a:chOff x="2153920" y="1869617"/>
            <a:chExt cx="7160001" cy="1522914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77E027CF-89C6-3A44-5349-924A62E01151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422000" y="1869617"/>
              <a:ext cx="3000641" cy="94488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5AD84581-80BB-16C1-13A7-C000D5EF5588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5422641" y="1869617"/>
              <a:ext cx="3505200" cy="860301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Arrow Connector 13">
              <a:extLst>
                <a:ext uri="{FF2B5EF4-FFF2-40B4-BE49-F238E27FC236}">
                  <a16:creationId xmlns:a16="http://schemas.microsoft.com/office/drawing/2014/main" id="{705135A0-681E-53D4-0F43-C8BDC7DF73F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422641" y="1869617"/>
              <a:ext cx="0" cy="944880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4"/>
            </a:lnRef>
            <a:fillRef idx="0">
              <a:schemeClr val="accent4"/>
            </a:fillRef>
            <a:effectRef idx="0">
              <a:schemeClr val="accent4"/>
            </a:effectRef>
            <a:fontRef idx="minor">
              <a:schemeClr val="tx1"/>
            </a:fontRef>
          </p:style>
        </p:cxn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0F7B6874-04C7-CB46-10D5-6A351D61A718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153920" y="2733217"/>
              <a:ext cx="7160001" cy="98399"/>
            </a:xfrm>
            <a:prstGeom prst="line">
              <a:avLst/>
            </a:prstGeom>
            <a:ln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8" name="TextBox 17">
                  <a:extLst>
                    <a:ext uri="{FF2B5EF4-FFF2-40B4-BE49-F238E27FC236}">
                      <a16:creationId xmlns:a16="http://schemas.microsoft.com/office/drawing/2014/main" id="{4A01A517-6E92-76BC-1C61-C9164D6AE999}"/>
                    </a:ext>
                  </a:extLst>
                </p:cNvPr>
                <p:cNvSpPr txBox="1"/>
                <p:nvPr/>
              </p:nvSpPr>
              <p:spPr>
                <a:xfrm>
                  <a:off x="5422640" y="2301417"/>
                  <a:ext cx="504561" cy="215444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 lang="en-US" sz="1400" i="1" smtClean="0">
                            <a:solidFill>
                              <a:schemeClr val="accent4"/>
                            </a:solidFill>
                            <a:latin typeface="Cambria Math" panose="02040503050406030204" pitchFamily="18" charset="0"/>
                          </a:rPr>
                          <m:t>v</m:t>
                        </m:r>
                        <m:r>
                          <a:rPr lang="en-US" sz="1400" b="0" i="1" baseline="-25000" smtClean="0">
                            <a:solidFill>
                              <a:schemeClr val="accent4"/>
                            </a:solidFill>
                            <a:latin typeface="Cambria Math" panose="02040503050406030204" pitchFamily="18" charset="0"/>
                          </a:rPr>
                          <m:t>0</m:t>
                        </m:r>
                        <m:r>
                          <a:rPr lang="en-US" sz="1400" b="0" i="1" smtClean="0">
                            <a:solidFill>
                              <a:schemeClr val="accent4"/>
                            </a:solidFill>
                            <a:latin typeface="Cambria Math" panose="02040503050406030204" pitchFamily="18" charset="0"/>
                          </a:rPr>
                          <m:t>⋅</m:t>
                        </m:r>
                        <m:r>
                          <m:rPr>
                            <m:sty m:val="p"/>
                          </m:rPr>
                          <a:rPr lang="en-US" sz="1400" b="0" i="1" smtClean="0">
                            <a:solidFill>
                              <a:schemeClr val="accent4"/>
                            </a:solidFill>
                            <a:latin typeface="Cambria Math" panose="02040503050406030204" pitchFamily="18" charset="0"/>
                          </a:rPr>
                          <m:t>Δt</m:t>
                        </m:r>
                      </m:oMath>
                    </m:oMathPara>
                  </a14:m>
                  <a:endParaRPr lang="en-US" sz="1400" dirty="0">
                    <a:solidFill>
                      <a:schemeClr val="accent4"/>
                    </a:solidFill>
                  </a:endParaRPr>
                </a:p>
              </p:txBody>
            </p:sp>
          </mc:Choice>
          <mc:Fallback>
            <p:sp>
              <p:nvSpPr>
                <p:cNvPr id="18" name="TextBox 17">
                  <a:extLst>
                    <a:ext uri="{FF2B5EF4-FFF2-40B4-BE49-F238E27FC236}">
                      <a16:creationId xmlns:a16="http://schemas.microsoft.com/office/drawing/2014/main" id="{4A01A517-6E92-76BC-1C61-C9164D6AE99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422640" y="2301417"/>
                  <a:ext cx="504561" cy="215444"/>
                </a:xfrm>
                <a:prstGeom prst="rect">
                  <a:avLst/>
                </a:prstGeom>
                <a:blipFill>
                  <a:blip r:embed="rId4"/>
                  <a:stretch>
                    <a:fillRect l="-2439" r="-7317" b="-1666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20" name="TextBox 19">
                  <a:extLst>
                    <a:ext uri="{FF2B5EF4-FFF2-40B4-BE49-F238E27FC236}">
                      <a16:creationId xmlns:a16="http://schemas.microsoft.com/office/drawing/2014/main" id="{919DEB1B-53EE-D78D-86F5-088576321433}"/>
                    </a:ext>
                  </a:extLst>
                </p:cNvPr>
                <p:cNvSpPr txBox="1"/>
                <p:nvPr/>
              </p:nvSpPr>
              <p:spPr>
                <a:xfrm>
                  <a:off x="7048421" y="2001692"/>
                  <a:ext cx="1191480" cy="210507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1400" b="0" i="1" smtClean="0">
                            <a:solidFill>
                              <a:schemeClr val="accent1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(1+</m:t>
                        </m:r>
                        <m:r>
                          <m:rPr>
                            <m:sty m:val="p"/>
                          </m:rPr>
                          <a:rPr lang="en-US" sz="1400" b="0" i="1" smtClean="0">
                            <a:solidFill>
                              <a:schemeClr val="accent1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ϵ</m:t>
                        </m:r>
                        <m:r>
                          <a:rPr lang="en-US" sz="1400" b="0" i="1" smtClean="0">
                            <a:solidFill>
                              <a:schemeClr val="accent1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)⋅</m:t>
                        </m:r>
                        <m:r>
                          <m:rPr>
                            <m:sty m:val="p"/>
                          </m:rPr>
                          <a:rPr lang="en-US" sz="1400" b="0" i="1" smtClean="0">
                            <a:solidFill>
                              <a:schemeClr val="accent1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cT</m:t>
                        </m:r>
                        <m:r>
                          <a:rPr lang="en-US" sz="1400" b="0" i="1" smtClean="0">
                            <a:solidFill>
                              <a:schemeClr val="accent1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⋅</m:t>
                        </m:r>
                        <m:r>
                          <m:rPr>
                            <m:sty m:val="p"/>
                          </m:rPr>
                          <a:rPr lang="en-US" sz="1400" b="0" i="1" smtClean="0">
                            <a:solidFill>
                              <a:schemeClr val="accent1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Δt</m:t>
                        </m:r>
                      </m:oMath>
                    </m:oMathPara>
                  </a14:m>
                  <a:endParaRPr lang="en-US" sz="1400" baseline="-25000" dirty="0">
                    <a:solidFill>
                      <a:schemeClr val="accent1">
                        <a:lumMod val="75000"/>
                      </a:schemeClr>
                    </a:solidFill>
                  </a:endParaRPr>
                </a:p>
              </p:txBody>
            </p:sp>
          </mc:Choice>
          <mc:Fallback>
            <p:sp>
              <p:nvSpPr>
                <p:cNvPr id="20" name="TextBox 19">
                  <a:extLst>
                    <a:ext uri="{FF2B5EF4-FFF2-40B4-BE49-F238E27FC236}">
                      <a16:creationId xmlns:a16="http://schemas.microsoft.com/office/drawing/2014/main" id="{919DEB1B-53EE-D78D-86F5-08857632143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048421" y="2001692"/>
                  <a:ext cx="1191480" cy="210507"/>
                </a:xfrm>
                <a:prstGeom prst="rect">
                  <a:avLst/>
                </a:prstGeom>
                <a:blipFill>
                  <a:blip r:embed="rId5"/>
                  <a:stretch>
                    <a:fillRect l="-3158" t="-5556" r="-1053" b="-3333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21" name="TextBox 20">
                  <a:extLst>
                    <a:ext uri="{FF2B5EF4-FFF2-40B4-BE49-F238E27FC236}">
                      <a16:creationId xmlns:a16="http://schemas.microsoft.com/office/drawing/2014/main" id="{0B0DC36A-9BE9-1F0E-6EAD-9B6707003742}"/>
                    </a:ext>
                  </a:extLst>
                </p:cNvPr>
                <p:cNvSpPr txBox="1"/>
                <p:nvPr/>
              </p:nvSpPr>
              <p:spPr>
                <a:xfrm>
                  <a:off x="6173523" y="3182024"/>
                  <a:ext cx="2003434" cy="210507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1400" b="0" i="1" smtClean="0">
                            <a:solidFill>
                              <a:srgbClr val="9F2175"/>
                            </a:solidFill>
                            <a:latin typeface="Cambria Math" panose="02040503050406030204" pitchFamily="18" charset="0"/>
                          </a:rPr>
                          <m:t>(1+</m:t>
                        </m:r>
                        <m:r>
                          <m:rPr>
                            <m:sty m:val="p"/>
                          </m:rPr>
                          <a:rPr lang="en-US" sz="1400" b="0" i="1" smtClean="0">
                            <a:solidFill>
                              <a:srgbClr val="9F2175"/>
                            </a:solidFill>
                            <a:latin typeface="Cambria Math" panose="02040503050406030204" pitchFamily="18" charset="0"/>
                          </a:rPr>
                          <m:t>ϵ</m:t>
                        </m:r>
                        <m:r>
                          <a:rPr lang="en-US" sz="1400" b="0" i="1" smtClean="0">
                            <a:solidFill>
                              <a:srgbClr val="9F2175"/>
                            </a:solidFill>
                            <a:latin typeface="Cambria Math" panose="02040503050406030204" pitchFamily="18" charset="0"/>
                          </a:rPr>
                          <m:t>)⋅</m:t>
                        </m:r>
                        <m:r>
                          <m:rPr>
                            <m:sty m:val="p"/>
                          </m:rPr>
                          <a:rPr lang="en-US" sz="1400" b="0" i="1" smtClean="0">
                            <a:solidFill>
                              <a:srgbClr val="9F2175"/>
                            </a:solidFill>
                            <a:latin typeface="Cambria Math" panose="02040503050406030204" pitchFamily="18" charset="0"/>
                          </a:rPr>
                          <m:t>cT</m:t>
                        </m:r>
                        <m:r>
                          <a:rPr lang="en-US" sz="1400" b="0" i="1" smtClean="0">
                            <a:solidFill>
                              <a:srgbClr val="9F2175"/>
                            </a:solidFill>
                            <a:latin typeface="Cambria Math" panose="02040503050406030204" pitchFamily="18" charset="0"/>
                          </a:rPr>
                          <m:t>⋅</m:t>
                        </m:r>
                        <m:r>
                          <m:rPr>
                            <m:sty m:val="p"/>
                          </m:rPr>
                          <a:rPr lang="en-US" sz="1400" b="0" i="1" smtClean="0">
                            <a:solidFill>
                              <a:srgbClr val="9F2175"/>
                            </a:solidFill>
                            <a:latin typeface="Cambria Math" panose="02040503050406030204" pitchFamily="18" charset="0"/>
                          </a:rPr>
                          <m:t>Δt</m:t>
                        </m:r>
                        <m:r>
                          <a:rPr lang="en-US" sz="1400" b="0" i="1" baseline="-25000" smtClean="0">
                            <a:solidFill>
                              <a:srgbClr val="9F2175"/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sz="1400" b="0" i="1" smtClean="0">
                            <a:solidFill>
                              <a:srgbClr val="9F2175"/>
                            </a:solidFill>
                            <a:latin typeface="Cambria Math" panose="02040503050406030204" pitchFamily="18" charset="0"/>
                          </a:rPr>
                          <m:t>- </m:t>
                        </m:r>
                        <m:r>
                          <m:rPr>
                            <m:sty m:val="p"/>
                          </m:rPr>
                          <a:rPr lang="en-US" sz="1400" b="0" i="1" smtClean="0">
                            <a:solidFill>
                              <a:srgbClr val="9F2175"/>
                            </a:solidFill>
                            <a:latin typeface="Cambria Math" panose="02040503050406030204" pitchFamily="18" charset="0"/>
                          </a:rPr>
                          <m:t>ϵ</m:t>
                        </m:r>
                        <m:r>
                          <a:rPr lang="en-US" sz="1400" b="0" i="1" smtClean="0">
                            <a:solidFill>
                              <a:srgbClr val="9F2175"/>
                            </a:solidFill>
                            <a:latin typeface="Cambria Math" panose="02040503050406030204" pitchFamily="18" charset="0"/>
                          </a:rPr>
                          <m:t>⋅</m:t>
                        </m:r>
                        <m:r>
                          <m:rPr>
                            <m:sty m:val="p"/>
                          </m:rPr>
                          <a:rPr lang="en-US" sz="1400" b="0" i="1" smtClean="0">
                            <a:solidFill>
                              <a:srgbClr val="9F2175"/>
                            </a:solidFill>
                            <a:latin typeface="Cambria Math" panose="02040503050406030204" pitchFamily="18" charset="0"/>
                          </a:rPr>
                          <m:t>cL</m:t>
                        </m:r>
                        <m:r>
                          <a:rPr lang="en-US" sz="1400" b="0" i="1" smtClean="0">
                            <a:solidFill>
                              <a:srgbClr val="9F2175"/>
                            </a:solidFill>
                            <a:latin typeface="Cambria Math" panose="02040503050406030204" pitchFamily="18" charset="0"/>
                          </a:rPr>
                          <m:t>⋅</m:t>
                        </m:r>
                        <m:r>
                          <m:rPr>
                            <m:sty m:val="p"/>
                          </m:rPr>
                          <a:rPr lang="en-US" sz="1400" b="0" i="1" smtClean="0">
                            <a:solidFill>
                              <a:srgbClr val="9F2175"/>
                            </a:solidFill>
                            <a:latin typeface="Cambria Math" panose="02040503050406030204" pitchFamily="18" charset="0"/>
                          </a:rPr>
                          <m:t>Δt</m:t>
                        </m:r>
                      </m:oMath>
                    </m:oMathPara>
                  </a14:m>
                  <a:endParaRPr lang="en-US" sz="1400" baseline="-25000" dirty="0">
                    <a:solidFill>
                      <a:srgbClr val="9F2175"/>
                    </a:solidFill>
                  </a:endParaRPr>
                </a:p>
              </p:txBody>
            </p:sp>
          </mc:Choice>
          <mc:Fallback>
            <p:sp>
              <p:nvSpPr>
                <p:cNvPr id="21" name="TextBox 20">
                  <a:extLst>
                    <a:ext uri="{FF2B5EF4-FFF2-40B4-BE49-F238E27FC236}">
                      <a16:creationId xmlns:a16="http://schemas.microsoft.com/office/drawing/2014/main" id="{0B0DC36A-9BE9-1F0E-6EAD-9B670700374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173523" y="3182024"/>
                  <a:ext cx="2003434" cy="210507"/>
                </a:xfrm>
                <a:prstGeom prst="rect">
                  <a:avLst/>
                </a:prstGeom>
                <a:blipFill>
                  <a:blip r:embed="rId6"/>
                  <a:stretch>
                    <a:fillRect l="-1258" t="-5556" b="-500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6" name="Right Brace 25">
              <a:extLst>
                <a:ext uri="{FF2B5EF4-FFF2-40B4-BE49-F238E27FC236}">
                  <a16:creationId xmlns:a16="http://schemas.microsoft.com/office/drawing/2014/main" id="{6D6B94F1-4C14-41E5-64AA-0824DC3D8E95}"/>
                </a:ext>
              </a:extLst>
            </p:cNvPr>
            <p:cNvSpPr/>
            <p:nvPr/>
          </p:nvSpPr>
          <p:spPr>
            <a:xfrm rot="5400000">
              <a:off x="7007600" y="1260811"/>
              <a:ext cx="335280" cy="3505201"/>
            </a:xfrm>
            <a:prstGeom prst="rightBrace">
              <a:avLst/>
            </a:prstGeom>
            <a:ln>
              <a:solidFill>
                <a:srgbClr val="9F2175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mc:AlternateContent xmlns:mc="http://schemas.openxmlformats.org/markup-compatibility/2006">
        <mc:Choice xmlns:a14="http://schemas.microsoft.com/office/drawing/2010/main" Requires="a14"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9CC98C93-23EC-E393-54DB-0DD3AAA3C61D}"/>
                  </a:ext>
                </a:extLst>
              </p:cNvPr>
              <p:cNvSpPr txBox="1"/>
              <p:nvPr/>
            </p:nvSpPr>
            <p:spPr>
              <a:xfrm>
                <a:off x="705760" y="4443782"/>
                <a:ext cx="4061176" cy="44698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 xmlns:m="http://schemas.openxmlformats.org/officeDocument/2006/math">
                    <m:sSubSup>
                      <m:sSubSupPr>
                        <m:ctrlPr>
                          <a:rPr lang="en-US" i="1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i="1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i="1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  <m:sup>
                        <m:r>
                          <a:rPr lang="en-US" i="1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bSup>
                    <m:r>
                      <a:rPr lang="en-US" i="1">
                        <a:solidFill>
                          <a:srgbClr val="0070C0"/>
                        </a:solidFill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i="1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i="1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  <m:d>
                          <m:dPr>
                            <m:ctrlPr>
                              <a:rPr lang="en-US" i="1">
                                <a:solidFill>
                                  <a:srgbClr val="0070C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i="1">
                                <a:solidFill>
                                  <a:srgbClr val="0070C0"/>
                                </a:solidFill>
                                <a:latin typeface="Cambria Math" panose="02040503050406030204" pitchFamily="18" charset="0"/>
                              </a:rPr>
                              <m:t>𝜖</m:t>
                            </m:r>
                          </m:e>
                        </m:d>
                      </m:num>
                      <m:den>
                        <m:sSub>
                          <m:sSubPr>
                            <m:ctrlPr>
                              <a:rPr lang="en-US" i="1">
                                <a:solidFill>
                                  <a:srgbClr val="0070C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solidFill>
                                  <a:srgbClr val="0070C0"/>
                                </a:solidFill>
                                <a:latin typeface="Cambria Math" panose="02040503050406030204" pitchFamily="18" charset="0"/>
                              </a:rPr>
                              <m:t>𝜇</m:t>
                            </m:r>
                          </m:e>
                          <m:sub>
                            <m:r>
                              <a:rPr lang="en-US" i="1">
                                <a:solidFill>
                                  <a:srgbClr val="0070C0"/>
                                </a:solidFill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den>
                    </m:f>
                    <m:d>
                      <m:dPr>
                        <m:begChr m:val="["/>
                        <m:endChr m:val="]"/>
                        <m:ctrlPr>
                          <a:rPr lang="en-US" i="1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  <m:rad>
                          <m:radPr>
                            <m:degHide m:val="on"/>
                            <m:ctrlPr>
                              <a:rPr lang="en-US" i="1">
                                <a:solidFill>
                                  <a:srgbClr val="0070C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radPr>
                          <m:deg/>
                          <m:e>
                            <m:r>
                              <a:rPr lang="en-US" i="1">
                                <a:solidFill>
                                  <a:srgbClr val="0070C0"/>
                                </a:solidFill>
                                <a:latin typeface="Cambria Math" panose="02040503050406030204" pitchFamily="18" charset="0"/>
                              </a:rPr>
                              <m:t>𝜖</m:t>
                            </m:r>
                            <m:d>
                              <m:dPr>
                                <m:ctrlPr>
                                  <a:rPr lang="en-US" i="1">
                                    <a:solidFill>
                                      <a:srgbClr val="0070C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i="1">
                                    <a:solidFill>
                                      <a:srgbClr val="0070C0"/>
                                    </a:solidFill>
                                    <a:latin typeface="Cambria Math" panose="02040503050406030204" pitchFamily="18" charset="0"/>
                                  </a:rPr>
                                  <m:t>1+</m:t>
                                </m:r>
                                <m:r>
                                  <a:rPr lang="en-US" i="1">
                                    <a:solidFill>
                                      <a:srgbClr val="0070C0"/>
                                    </a:solidFill>
                                    <a:latin typeface="Cambria Math" panose="02040503050406030204" pitchFamily="18" charset="0"/>
                                  </a:rPr>
                                  <m:t>𝜖</m:t>
                                </m:r>
                              </m:e>
                            </m:d>
                          </m:e>
                        </m:rad>
                        <m:r>
                          <a:rPr lang="en-US" i="1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i="1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  <m:t>𝜖</m:t>
                        </m:r>
                      </m:e>
                    </m:d>
                  </m:oMath>
                </a14:m>
                <a:r>
                  <a:rPr lang="en-US" dirty="0">
                    <a:solidFill>
                      <a:srgbClr val="0070C0"/>
                    </a:solidFill>
                  </a:rPr>
                  <a:t> (Smith, 1958)</a:t>
                </a:r>
              </a:p>
            </p:txBody>
          </p:sp>
        </mc:Choice>
        <mc:Fallback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9CC98C93-23EC-E393-54DB-0DD3AAA3C61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5760" y="4443782"/>
                <a:ext cx="4061176" cy="446982"/>
              </a:xfrm>
              <a:prstGeom prst="rect">
                <a:avLst/>
              </a:prstGeom>
              <a:blipFill>
                <a:blip r:embed="rId7"/>
                <a:stretch>
                  <a:fillRect l="-1558" t="-2778" r="-2492" b="-1388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9" name="TextBox 28">
            <a:extLst>
              <a:ext uri="{FF2B5EF4-FFF2-40B4-BE49-F238E27FC236}">
                <a16:creationId xmlns:a16="http://schemas.microsoft.com/office/drawing/2014/main" id="{511FBA56-BA58-0532-90E6-8DE225CBC643}"/>
              </a:ext>
            </a:extLst>
          </p:cNvPr>
          <p:cNvSpPr txBox="1"/>
          <p:nvPr/>
        </p:nvSpPr>
        <p:spPr>
          <a:xfrm>
            <a:off x="698108" y="3386588"/>
            <a:ext cx="2782748" cy="3657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Pythagoras Theorem: </a:t>
            </a:r>
          </a:p>
        </p:txBody>
      </p:sp>
      <p:grpSp>
        <p:nvGrpSpPr>
          <p:cNvPr id="34" name="Group 33">
            <a:extLst>
              <a:ext uri="{FF2B5EF4-FFF2-40B4-BE49-F238E27FC236}">
                <a16:creationId xmlns:a16="http://schemas.microsoft.com/office/drawing/2014/main" id="{312C055A-B645-6599-7F4E-F7BC9A7A9181}"/>
              </a:ext>
            </a:extLst>
          </p:cNvPr>
          <p:cNvGrpSpPr/>
          <p:nvPr/>
        </p:nvGrpSpPr>
        <p:grpSpPr>
          <a:xfrm>
            <a:off x="6170428" y="3791919"/>
            <a:ext cx="5444813" cy="2065788"/>
            <a:chOff x="5708739" y="3952240"/>
            <a:chExt cx="5444813" cy="2065788"/>
          </a:xfrm>
        </p:grpSpPr>
        <p:sp>
          <p:nvSpPr>
            <p:cNvPr id="30" name="Rectangle: Rounded Corners 34">
              <a:extLst>
                <a:ext uri="{FF2B5EF4-FFF2-40B4-BE49-F238E27FC236}">
                  <a16:creationId xmlns:a16="http://schemas.microsoft.com/office/drawing/2014/main" id="{414E1675-6496-1E91-AF77-C927CFA247C9}"/>
                </a:ext>
              </a:extLst>
            </p:cNvPr>
            <p:cNvSpPr/>
            <p:nvPr/>
          </p:nvSpPr>
          <p:spPr>
            <a:xfrm>
              <a:off x="5708739" y="3952240"/>
              <a:ext cx="5444813" cy="2065788"/>
            </a:xfrm>
            <a:prstGeom prst="roundRect">
              <a:avLst/>
            </a:prstGeom>
            <a:solidFill>
              <a:schemeClr val="accent6">
                <a:lumMod val="20000"/>
                <a:lumOff val="80000"/>
              </a:schemeClr>
            </a:solidFill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ro-RO"/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31" name="TextBox 30">
                  <a:extLst>
                    <a:ext uri="{FF2B5EF4-FFF2-40B4-BE49-F238E27FC236}">
                      <a16:creationId xmlns:a16="http://schemas.microsoft.com/office/drawing/2014/main" id="{CC48F459-C85F-C7D4-A9BC-F184FC3ECF89}"/>
                    </a:ext>
                  </a:extLst>
                </p:cNvPr>
                <p:cNvSpPr txBox="1"/>
                <p:nvPr/>
              </p:nvSpPr>
              <p:spPr>
                <a:xfrm>
                  <a:off x="6520695" y="4614965"/>
                  <a:ext cx="4473572" cy="1260345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sz="1600" dirty="0">
                      <a:solidFill>
                        <a:schemeClr val="accent6">
                          <a:lumMod val="75000"/>
                        </a:schemeClr>
                      </a:solidFill>
                    </a:rPr>
                    <a:t>Having the approximations  </a:t>
                  </a:r>
                  <a14:m>
                    <m:oMath xmlns:m="http://schemas.openxmlformats.org/officeDocument/2006/math">
                      <m:r>
                        <a:rPr lang="en-US" sz="1600" i="1" smtClean="0">
                          <a:solidFill>
                            <a:schemeClr val="accent6">
                              <a:lumMod val="75000"/>
                            </a:schemeClr>
                          </a:solidFill>
                          <a:latin typeface="Cambria Math" panose="02040503050406030204" pitchFamily="18" charset="0"/>
                        </a:rPr>
                        <m:t>2</m:t>
                      </m:r>
                      <m:rad>
                        <m:radPr>
                          <m:degHide m:val="on"/>
                          <m:ctrlPr>
                            <a:rPr lang="en-US" sz="1600" i="1" smtClean="0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radPr>
                        <m:deg/>
                        <m:e>
                          <m:r>
                            <a:rPr lang="en-US" sz="1600" i="1" smtClean="0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𝜖</m:t>
                          </m:r>
                          <m:d>
                            <m:dPr>
                              <m:ctrlPr>
                                <a:rPr lang="en-US" sz="1600" i="1" smtClean="0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1600" i="1" smtClean="0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1+</m:t>
                              </m:r>
                              <m:r>
                                <a:rPr lang="en-US" sz="1600" i="1" smtClean="0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𝜖</m:t>
                              </m:r>
                            </m:e>
                          </m:d>
                        </m:e>
                      </m:rad>
                      <m:r>
                        <a:rPr lang="en-US" sz="1600" i="1" smtClean="0">
                          <a:solidFill>
                            <a:schemeClr val="accent6">
                              <a:lumMod val="75000"/>
                            </a:schemeClr>
                          </a:solidFill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en-US" sz="1600" i="1" smtClean="0">
                          <a:solidFill>
                            <a:schemeClr val="accent6">
                              <a:lumMod val="75000"/>
                            </a:schemeClr>
                          </a:solidFill>
                          <a:latin typeface="Cambria Math" panose="02040503050406030204" pitchFamily="18" charset="0"/>
                        </a:rPr>
                        <m:t>𝜖</m:t>
                      </m:r>
                      <m:r>
                        <a:rPr lang="en-US" sz="1600" i="1" smtClean="0">
                          <a:solidFill>
                            <a:schemeClr val="accent6">
                              <a:lumMod val="75000"/>
                            </a:schemeClr>
                          </a:solidFill>
                          <a:latin typeface="Cambria Math" panose="02040503050406030204" pitchFamily="18" charset="0"/>
                        </a:rPr>
                        <m:t>≈2</m:t>
                      </m:r>
                      <m:rad>
                        <m:radPr>
                          <m:degHide m:val="on"/>
                          <m:ctrlPr>
                            <a:rPr lang="en-US" sz="1600" i="1" smtClean="0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radPr>
                        <m:deg/>
                        <m:e>
                          <m:r>
                            <a:rPr lang="en-US" sz="1600" i="1" smtClean="0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𝜖</m:t>
                          </m:r>
                        </m:e>
                      </m:rad>
                    </m:oMath>
                  </a14:m>
                  <a:r>
                    <a:rPr lang="en-US" sz="1600" dirty="0">
                      <a:solidFill>
                        <a:schemeClr val="accent6">
                          <a:lumMod val="75000"/>
                        </a:schemeClr>
                      </a:solidFill>
                    </a:rPr>
                    <a:t>  and </a:t>
                  </a:r>
                  <a14:m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sz="1600" b="0" i="1" smtClean="0">
                          <a:solidFill>
                            <a:schemeClr val="accent6">
                              <a:lumMod val="75000"/>
                            </a:schemeClr>
                          </a:solidFill>
                          <a:latin typeface="Cambria Math" panose="02040503050406030204" pitchFamily="18" charset="0"/>
                        </a:rPr>
                        <m:t>T</m:t>
                      </m:r>
                      <m:r>
                        <a:rPr lang="en-US" sz="1600" b="0" i="1" smtClean="0">
                          <a:solidFill>
                            <a:schemeClr val="accent6">
                              <a:lumMod val="75000"/>
                            </a:schemeClr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m:rPr>
                          <m:sty m:val="p"/>
                        </m:rPr>
                        <a:rPr lang="en-US" sz="1600" b="0" i="1" smtClean="0">
                          <a:solidFill>
                            <a:schemeClr val="accent6">
                              <a:lumMod val="75000"/>
                            </a:schemeClr>
                          </a:solidFill>
                          <a:latin typeface="Cambria Math" panose="02040503050406030204" pitchFamily="18" charset="0"/>
                        </a:rPr>
                        <m:t>EAϵ</m:t>
                      </m:r>
                    </m:oMath>
                  </a14:m>
                  <a:r>
                    <a:rPr lang="en-US" sz="1600" dirty="0">
                      <a:solidFill>
                        <a:schemeClr val="accent6">
                          <a:lumMod val="75000"/>
                        </a:schemeClr>
                      </a:solidFill>
                    </a:rPr>
                    <a:t>, Smith equation become:</a:t>
                  </a:r>
                </a:p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en-US" sz="1600" i="1" smtClean="0">
                                <a:solidFill>
                                  <a:schemeClr val="accent6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sz="1600" i="1" smtClean="0">
                                <a:solidFill>
                                  <a:schemeClr val="accent6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𝑣</m:t>
                            </m:r>
                          </m:e>
                          <m:sub>
                            <m:r>
                              <a:rPr lang="en-US" sz="1600" i="1" smtClean="0">
                                <a:solidFill>
                                  <a:schemeClr val="accent6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  <m:sup>
                            <m:r>
                              <a:rPr lang="en-US" sz="1600" i="1" smtClean="0">
                                <a:solidFill>
                                  <a:schemeClr val="accent6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bSup>
                        <m:r>
                          <a:rPr lang="en-US" sz="1600" i="1" smtClean="0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≈2</m:t>
                        </m:r>
                        <m:sSubSup>
                          <m:sSubSupPr>
                            <m:ctrlPr>
                              <a:rPr lang="en-US" sz="1600" i="1" smtClean="0">
                                <a:solidFill>
                                  <a:schemeClr val="accent6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sz="1600" i="1" smtClean="0">
                                <a:solidFill>
                                  <a:schemeClr val="accent6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𝑐</m:t>
                            </m:r>
                          </m:e>
                          <m:sub>
                            <m:r>
                              <a:rPr lang="en-US" sz="1600" i="1" smtClean="0">
                                <a:solidFill>
                                  <a:schemeClr val="accent6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  <m:sup>
                            <m:r>
                              <a:rPr lang="en-US" sz="1600" i="1" smtClean="0">
                                <a:solidFill>
                                  <a:schemeClr val="accent6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bSup>
                        <m:sSup>
                          <m:sSupPr>
                            <m:ctrlPr>
                              <a:rPr lang="en-US" sz="1600" i="1" smtClean="0">
                                <a:solidFill>
                                  <a:schemeClr val="accent6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1600" i="1" smtClean="0">
                                <a:solidFill>
                                  <a:schemeClr val="accent6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𝜖</m:t>
                            </m:r>
                          </m:e>
                          <m:sup>
                            <m:r>
                              <a:rPr lang="en-US" sz="1600" i="1" smtClean="0">
                                <a:solidFill>
                                  <a:schemeClr val="accent6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3</m:t>
                            </m:r>
                            <m:r>
                              <m:rPr>
                                <m:lit/>
                              </m:rPr>
                              <a:rPr lang="en-US" sz="1600" i="1" smtClean="0">
                                <a:solidFill>
                                  <a:schemeClr val="accent6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/</m:t>
                            </m:r>
                            <m:r>
                              <a:rPr lang="en-US" sz="1600" i="1" smtClean="0">
                                <a:solidFill>
                                  <a:schemeClr val="accent6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en-US" sz="1600" i="1" smtClean="0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 ⇒ </m:t>
                        </m:r>
                        <m:r>
                          <a:rPr lang="en-US" sz="1600" i="1" smtClean="0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𝜖</m:t>
                        </m:r>
                        <m:r>
                          <a:rPr lang="en-US" sz="1600" i="1" smtClean="0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≈</m:t>
                        </m:r>
                        <m:sSup>
                          <m:sSupPr>
                            <m:ctrlPr>
                              <a:rPr lang="en-US" sz="1600" i="1" smtClean="0">
                                <a:solidFill>
                                  <a:schemeClr val="accent6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d>
                              <m:dPr>
                                <m:ctrlPr>
                                  <a:rPr lang="en-US" sz="1600" i="1" smtClean="0">
                                    <a:solidFill>
                                      <a:schemeClr val="accent6">
                                        <a:lumMod val="7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f>
                                  <m:fPr>
                                    <m:ctrlPr>
                                      <a:rPr lang="en-US" sz="1600" i="1" smtClean="0">
                                        <a:solidFill>
                                          <a:schemeClr val="accent6">
                                            <a:lumMod val="75000"/>
                                          </a:schemeClr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sSub>
                                      <m:sSubPr>
                                        <m:ctrlPr>
                                          <a:rPr lang="en-US" sz="1600" i="1" smtClean="0">
                                            <a:solidFill>
                                              <a:schemeClr val="accent6">
                                                <a:lumMod val="75000"/>
                                              </a:schemeClr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sz="1600" i="1" smtClean="0">
                                            <a:solidFill>
                                              <a:schemeClr val="accent6">
                                                <a:lumMod val="75000"/>
                                              </a:schemeClr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𝑣</m:t>
                                        </m:r>
                                      </m:e>
                                      <m:sub>
                                        <m:r>
                                          <a:rPr lang="en-US" sz="1600" i="1" smtClean="0">
                                            <a:solidFill>
                                              <a:schemeClr val="accent6">
                                                <a:lumMod val="75000"/>
                                              </a:schemeClr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0</m:t>
                                        </m:r>
                                      </m:sub>
                                    </m:sSub>
                                  </m:num>
                                  <m:den>
                                    <m:rad>
                                      <m:radPr>
                                        <m:degHide m:val="on"/>
                                        <m:ctrlPr>
                                          <a:rPr lang="en-US" sz="1600" i="1" smtClean="0">
                                            <a:solidFill>
                                              <a:schemeClr val="accent6">
                                                <a:lumMod val="75000"/>
                                              </a:schemeClr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radPr>
                                      <m:deg/>
                                      <m:e>
                                        <m:r>
                                          <a:rPr lang="en-US" sz="1600" i="1" smtClean="0">
                                            <a:solidFill>
                                              <a:schemeClr val="accent6">
                                                <a:lumMod val="75000"/>
                                              </a:schemeClr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2</m:t>
                                        </m:r>
                                      </m:e>
                                    </m:rad>
                                    <m:sSub>
                                      <m:sSubPr>
                                        <m:ctrlPr>
                                          <a:rPr lang="en-US" sz="1600" i="1" smtClean="0">
                                            <a:solidFill>
                                              <a:schemeClr val="accent6">
                                                <a:lumMod val="75000"/>
                                              </a:schemeClr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sz="1600" i="1" smtClean="0">
                                            <a:solidFill>
                                              <a:schemeClr val="accent6">
                                                <a:lumMod val="75000"/>
                                              </a:schemeClr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𝑐</m:t>
                                        </m:r>
                                      </m:e>
                                      <m:sub>
                                        <m:r>
                                          <a:rPr lang="en-US" sz="1600" i="1" smtClean="0">
                                            <a:solidFill>
                                              <a:schemeClr val="accent6">
                                                <a:lumMod val="75000"/>
                                              </a:schemeClr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0</m:t>
                                        </m:r>
                                      </m:sub>
                                    </m:sSub>
                                  </m:den>
                                </m:f>
                              </m:e>
                            </m:d>
                          </m:e>
                          <m:sup>
                            <m:r>
                              <a:rPr lang="en-US" sz="1600" i="1" smtClean="0">
                                <a:solidFill>
                                  <a:schemeClr val="accent6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4</m:t>
                            </m:r>
                            <m:r>
                              <m:rPr>
                                <m:lit/>
                              </m:rPr>
                              <a:rPr lang="en-US" sz="1600" i="1" smtClean="0">
                                <a:solidFill>
                                  <a:schemeClr val="accent6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/</m:t>
                            </m:r>
                            <m:r>
                              <a:rPr lang="en-US" sz="1600" i="1" smtClean="0">
                                <a:solidFill>
                                  <a:schemeClr val="accent6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3</m:t>
                            </m:r>
                          </m:sup>
                        </m:sSup>
                      </m:oMath>
                    </m:oMathPara>
                  </a14:m>
                  <a:endParaRPr lang="en-US" sz="1600" dirty="0">
                    <a:solidFill>
                      <a:schemeClr val="accent6">
                        <a:lumMod val="75000"/>
                      </a:schemeClr>
                    </a:solidFill>
                  </a:endParaRPr>
                </a:p>
              </p:txBody>
            </p:sp>
          </mc:Choice>
          <mc:Fallback>
            <p:sp>
              <p:nvSpPr>
                <p:cNvPr id="31" name="TextBox 30">
                  <a:extLst>
                    <a:ext uri="{FF2B5EF4-FFF2-40B4-BE49-F238E27FC236}">
                      <a16:creationId xmlns:a16="http://schemas.microsoft.com/office/drawing/2014/main" id="{CC48F459-C85F-C7D4-A9BC-F184FC3ECF8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520695" y="4614965"/>
                  <a:ext cx="4473572" cy="1260345"/>
                </a:xfrm>
                <a:prstGeom prst="rect">
                  <a:avLst/>
                </a:prstGeom>
                <a:blipFill>
                  <a:blip r:embed="rId8"/>
                  <a:stretch>
                    <a:fillRect l="-567" b="-10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pic>
          <p:nvPicPr>
            <p:cNvPr id="32" name="Graphic 31" descr="Angel face outline with solid fill">
              <a:extLst>
                <a:ext uri="{FF2B5EF4-FFF2-40B4-BE49-F238E27FC236}">
                  <a16:creationId xmlns:a16="http://schemas.microsoft.com/office/drawing/2014/main" id="{22135D76-37CE-D791-3B69-2AC9A265189D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p:blipFill>
          <p:spPr>
            <a:xfrm>
              <a:off x="5742285" y="4675571"/>
              <a:ext cx="619125" cy="619125"/>
            </a:xfrm>
            <a:prstGeom prst="rect">
              <a:avLst/>
            </a:prstGeom>
          </p:spPr>
        </p:pic>
        <mc:AlternateContent xmlns:mc="http://schemas.openxmlformats.org/markup-compatibility/2006">
          <mc:Choice xmlns:a14="http://schemas.microsoft.com/office/drawing/2010/main" Requires="a14">
            <p:sp>
              <p:nvSpPr>
                <p:cNvPr id="33" name="TextBox 32">
                  <a:extLst>
                    <a:ext uri="{FF2B5EF4-FFF2-40B4-BE49-F238E27FC236}">
                      <a16:creationId xmlns:a16="http://schemas.microsoft.com/office/drawing/2014/main" id="{34048FE8-55A3-061E-DF00-A3E85982CA72}"/>
                    </a:ext>
                  </a:extLst>
                </p:cNvPr>
                <p:cNvSpPr txBox="1"/>
                <p:nvPr/>
              </p:nvSpPr>
              <p:spPr>
                <a:xfrm>
                  <a:off x="6435201" y="4135120"/>
                  <a:ext cx="4414862" cy="246221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m:rPr>
                            <m:nor/>
                          </m:rPr>
                          <a:rPr lang="en-US" sz="1600" b="1"/>
                          <m:t>Strain</m:t>
                        </m:r>
                        <m:r>
                          <m:rPr>
                            <m:nor/>
                          </m:rPr>
                          <a:rPr lang="en-US" sz="1600" b="1"/>
                          <m:t>–</m:t>
                        </m:r>
                        <m:r>
                          <m:rPr>
                            <m:nor/>
                          </m:rPr>
                          <a:rPr lang="en-US" sz="1600" b="1"/>
                          <m:t>Velocity</m:t>
                        </m:r>
                        <m:r>
                          <m:rPr>
                            <m:nor/>
                          </m:rPr>
                          <a:rPr lang="en-US" sz="1600" b="1"/>
                          <m:t> </m:t>
                        </m:r>
                        <m:r>
                          <m:rPr>
                            <m:nor/>
                          </m:rPr>
                          <a:rPr lang="en-US" sz="1600" b="1"/>
                          <m:t>Curve</m:t>
                        </m:r>
                        <m:r>
                          <m:rPr>
                            <m:nor/>
                          </m:rPr>
                          <a:rPr lang="en-US" sz="1600" b="1"/>
                          <m:t> (</m:t>
                        </m:r>
                        <m:r>
                          <m:rPr>
                            <m:nor/>
                          </m:rPr>
                          <a:rPr lang="en-US" sz="1600" b="1"/>
                          <m:t>Linear</m:t>
                        </m:r>
                        <m:r>
                          <m:rPr>
                            <m:nor/>
                          </m:rPr>
                          <a:rPr lang="en-US" sz="1600" b="1"/>
                          <m:t> </m:t>
                        </m:r>
                        <m:r>
                          <m:rPr>
                            <m:nor/>
                          </m:rPr>
                          <a:rPr lang="en-US" sz="1600" b="1"/>
                          <m:t>Regime</m:t>
                        </m:r>
                        <m:r>
                          <m:rPr>
                            <m:nor/>
                          </m:rPr>
                          <a:rPr lang="en-US" sz="1600" b="1"/>
                          <m:t>, </m:t>
                        </m:r>
                        <m:r>
                          <a:rPr lang="en-US" sz="1600" b="1" i="1" smtClean="0"/>
                          <m:t>𝝐</m:t>
                        </m:r>
                        <m:r>
                          <a:rPr lang="en-US" sz="1600" b="1" i="1" smtClean="0">
                            <a:latin typeface="Cambria Math" panose="02040503050406030204" pitchFamily="18" charset="0"/>
                          </a:rPr>
                          <m:t>≪</m:t>
                        </m:r>
                        <m:r>
                          <a:rPr lang="en-US" sz="1600" b="1" i="1" smtClean="0">
                            <a:latin typeface="Cambria Math" panose="02040503050406030204" pitchFamily="18" charset="0"/>
                          </a:rPr>
                          <m:t>𝟏</m:t>
                        </m:r>
                        <m:r>
                          <m:rPr>
                            <m:nor/>
                          </m:rPr>
                          <a:rPr lang="en-US" sz="1600" b="1"/>
                          <m:t>)</m:t>
                        </m:r>
                      </m:oMath>
                    </m:oMathPara>
                  </a14:m>
                  <a:endParaRPr lang="en-US" sz="1600" b="1" dirty="0"/>
                </a:p>
              </p:txBody>
            </p:sp>
          </mc:Choice>
          <mc:Fallback>
            <p:sp>
              <p:nvSpPr>
                <p:cNvPr id="33" name="TextBox 32">
                  <a:extLst>
                    <a:ext uri="{FF2B5EF4-FFF2-40B4-BE49-F238E27FC236}">
                      <a16:creationId xmlns:a16="http://schemas.microsoft.com/office/drawing/2014/main" id="{34048FE8-55A3-061E-DF00-A3E85982CA7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435201" y="4135120"/>
                  <a:ext cx="4414862" cy="246221"/>
                </a:xfrm>
                <a:prstGeom prst="rect">
                  <a:avLst/>
                </a:prstGeom>
                <a:blipFill>
                  <a:blip r:embed="rId10"/>
                  <a:stretch>
                    <a:fillRect l="-573" t="-9524" r="-1146" b="-3809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35" name="TextBox 34">
            <a:extLst>
              <a:ext uri="{FF2B5EF4-FFF2-40B4-BE49-F238E27FC236}">
                <a16:creationId xmlns:a16="http://schemas.microsoft.com/office/drawing/2014/main" id="{54A9F22D-A589-1E26-6D8A-BEDAE4375CD9}"/>
              </a:ext>
            </a:extLst>
          </p:cNvPr>
          <p:cNvSpPr txBox="1"/>
          <p:nvPr/>
        </p:nvSpPr>
        <p:spPr>
          <a:xfrm>
            <a:off x="705760" y="5306584"/>
            <a:ext cx="447005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J. C. Smith, F. L. McCrackin, and H. F. Schiefer – “</a:t>
            </a:r>
            <a:r>
              <a:rPr lang="en-US" sz="1200" i="1" dirty="0"/>
              <a:t>Stress-strain relationships in yarns subjected to rapid impact loading</a:t>
            </a:r>
            <a:r>
              <a:rPr lang="en-US" sz="1200" dirty="0"/>
              <a:t>”, J. Res. Natl. Bur. Stand, 1958</a:t>
            </a:r>
          </a:p>
        </p:txBody>
      </p:sp>
    </p:spTree>
    <p:extLst>
      <p:ext uri="{BB962C8B-B14F-4D97-AF65-F5344CB8AC3E}">
        <p14:creationId xmlns:p14="http://schemas.microsoft.com/office/powerpoint/2010/main" val="335187711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BFD1945-F75E-5207-8C5D-FA4487D51F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F0A95632-2B24-D534-502B-B13B3FE1C7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>
                <a:solidFill>
                  <a:schemeClr val="bg1"/>
                </a:solidFill>
              </a:rPr>
              <a:t>Thread breaking conditions</a:t>
            </a:r>
            <a:endParaRPr lang="ro-RO" dirty="0">
              <a:solidFill>
                <a:schemeClr val="bg1"/>
              </a:solidFill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ED9B07B-D156-8E94-466E-F7FA240E698B}"/>
              </a:ext>
            </a:extLst>
          </p:cNvPr>
          <p:cNvPicPr>
            <a:picLocks noChangeAspect="1"/>
          </p:cNvPicPr>
          <p:nvPr/>
        </p:nvPicPr>
        <p:blipFill>
          <a:blip r:embed="rId2">
            <a:clrChange>
              <a:clrFrom>
                <a:srgbClr val="000000"/>
              </a:clrFrom>
              <a:clrTo>
                <a:srgbClr val="000000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432471" y="6323329"/>
            <a:ext cx="1492133" cy="496892"/>
          </a:xfrm>
          <a:prstGeom prst="rect">
            <a:avLst/>
          </a:prstGeom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D0F1A6A4-BE3F-0DD4-E8B4-A9309E111FC9}"/>
                  </a:ext>
                </a:extLst>
              </p:cNvPr>
              <p:cNvSpPr txBox="1"/>
              <p:nvPr/>
            </p:nvSpPr>
            <p:spPr>
              <a:xfrm>
                <a:off x="959341" y="2112620"/>
                <a:ext cx="5233015" cy="109876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buNone/>
                </a:pPr>
                <a:r>
                  <a:rPr lang="en-US" dirty="0">
                    <a:effectLst/>
                    <a:latin typeface="Helvetica" pitchFamily="2" charset="0"/>
                  </a:rPr>
                  <a:t>The thread breaks immediately at impact when the strain reaches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smtClean="0">
                            <a:effectLst/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b="0" i="1" smtClean="0">
                            <a:effectLst/>
                            <a:latin typeface="Cambria Math" panose="02040503050406030204" pitchFamily="18" charset="0"/>
                          </a:rPr>
                          <m:t>ϵ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b="0" i="1" smtClean="0">
                            <a:effectLst/>
                            <a:latin typeface="Cambria Math" panose="02040503050406030204" pitchFamily="18" charset="0"/>
                          </a:rPr>
                          <m:t>b</m:t>
                        </m:r>
                      </m:sub>
                    </m:sSub>
                  </m:oMath>
                </a14:m>
                <a:r>
                  <a:rPr lang="en-US" dirty="0">
                    <a:effectLst/>
                    <a:latin typeface="Helvetica" pitchFamily="2" charset="0"/>
                  </a:rPr>
                  <a:t> (derived directly from Smith’s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i="1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i="1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i="1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  <m:sup>
                        <m:r>
                          <a:rPr lang="en-US" i="1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bSup>
                    <m:r>
                      <a:rPr lang="en-US" i="1">
                        <a:solidFill>
                          <a:srgbClr val="0070C0"/>
                        </a:solidFill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i="1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i="1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  <m:d>
                          <m:dPr>
                            <m:ctrlPr>
                              <a:rPr lang="en-US" i="1">
                                <a:solidFill>
                                  <a:srgbClr val="0070C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i="1">
                                <a:solidFill>
                                  <a:srgbClr val="0070C0"/>
                                </a:solidFill>
                                <a:latin typeface="Cambria Math" panose="02040503050406030204" pitchFamily="18" charset="0"/>
                              </a:rPr>
                              <m:t>𝜖</m:t>
                            </m:r>
                          </m:e>
                        </m:d>
                      </m:num>
                      <m:den>
                        <m:sSub>
                          <m:sSubPr>
                            <m:ctrlPr>
                              <a:rPr lang="en-US" i="1">
                                <a:solidFill>
                                  <a:srgbClr val="0070C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solidFill>
                                  <a:srgbClr val="0070C0"/>
                                </a:solidFill>
                                <a:latin typeface="Cambria Math" panose="02040503050406030204" pitchFamily="18" charset="0"/>
                              </a:rPr>
                              <m:t>𝜇</m:t>
                            </m:r>
                          </m:e>
                          <m:sub>
                            <m:r>
                              <a:rPr lang="en-US" i="1">
                                <a:solidFill>
                                  <a:srgbClr val="0070C0"/>
                                </a:solidFill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den>
                    </m:f>
                    <m:d>
                      <m:dPr>
                        <m:begChr m:val="["/>
                        <m:endChr m:val="]"/>
                        <m:ctrlPr>
                          <a:rPr lang="en-US" i="1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  <m:rad>
                          <m:radPr>
                            <m:degHide m:val="on"/>
                            <m:ctrlPr>
                              <a:rPr lang="en-US" i="1">
                                <a:solidFill>
                                  <a:srgbClr val="0070C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radPr>
                          <m:deg/>
                          <m:e>
                            <m:r>
                              <a:rPr lang="en-US" i="1">
                                <a:solidFill>
                                  <a:srgbClr val="0070C0"/>
                                </a:solidFill>
                                <a:latin typeface="Cambria Math" panose="02040503050406030204" pitchFamily="18" charset="0"/>
                              </a:rPr>
                              <m:t>𝜖</m:t>
                            </m:r>
                            <m:d>
                              <m:dPr>
                                <m:ctrlPr>
                                  <a:rPr lang="en-US" i="1">
                                    <a:solidFill>
                                      <a:srgbClr val="0070C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i="1">
                                    <a:solidFill>
                                      <a:srgbClr val="0070C0"/>
                                    </a:solidFill>
                                    <a:latin typeface="Cambria Math" panose="02040503050406030204" pitchFamily="18" charset="0"/>
                                  </a:rPr>
                                  <m:t>1+</m:t>
                                </m:r>
                                <m:r>
                                  <a:rPr lang="en-US" i="1">
                                    <a:solidFill>
                                      <a:srgbClr val="0070C0"/>
                                    </a:solidFill>
                                    <a:latin typeface="Cambria Math" panose="02040503050406030204" pitchFamily="18" charset="0"/>
                                  </a:rPr>
                                  <m:t>𝜖</m:t>
                                </m:r>
                              </m:e>
                            </m:d>
                          </m:e>
                        </m:rad>
                        <m:r>
                          <a:rPr lang="en-US" i="1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i="1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  <m:t>𝜖</m:t>
                        </m:r>
                      </m:e>
                    </m:d>
                    <m:r>
                      <a:rPr lang="en-US" i="1">
                        <a:solidFill>
                          <a:srgbClr val="0070C0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dirty="0">
                    <a:effectLst/>
                    <a:latin typeface="Helvetica" pitchFamily="2" charset="0"/>
                  </a:rPr>
                  <a:t>):</a:t>
                </a:r>
              </a:p>
            </p:txBody>
          </p:sp>
        </mc:Choice>
        <mc:Fallback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D0F1A6A4-BE3F-0DD4-E8B4-A9309E111FC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59341" y="2112620"/>
                <a:ext cx="5233015" cy="1098762"/>
              </a:xfrm>
              <a:prstGeom prst="rect">
                <a:avLst/>
              </a:prstGeom>
              <a:blipFill>
                <a:blip r:embed="rId3"/>
                <a:stretch>
                  <a:fillRect l="-969" t="-229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F02B4781-670A-A208-8751-D4FAA39D534C}"/>
                  </a:ext>
                </a:extLst>
              </p:cNvPr>
              <p:cNvSpPr txBox="1"/>
              <p:nvPr/>
            </p:nvSpPr>
            <p:spPr>
              <a:xfrm>
                <a:off x="2161504" y="3499673"/>
                <a:ext cx="2833083" cy="81836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v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c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rad>
                        <m:radPr>
                          <m:degHide m:val="on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radPr>
                        <m:deg/>
                        <m:e>
                          <m:f>
                            <m:f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σ</m:t>
                                  </m:r>
                                </m:e>
                                <m:sub>
                                  <m:r>
                                    <m:rPr>
                                      <m:sty m:val="p"/>
                                    </m:r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b</m:t>
                                  </m:r>
                                </m:sub>
                              </m:sSub>
                            </m:num>
                            <m:den>
                              <m:r>
                                <m:rPr>
                                  <m:sty m:val="p"/>
                                </m:r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ρ</m:t>
                              </m:r>
                            </m:den>
                          </m:f>
                          <m:d>
                            <m:dPr>
                              <m:begChr m:val="["/>
                              <m:endChr m:val="]"/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  <m:rad>
                                <m:radPr>
                                  <m:degHide m:val="on"/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radPr>
                                <m:deg/>
                                <m:e>
                                  <m:sSub>
                                    <m:sSubPr>
                                      <m:ctrlP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m:rPr>
                                          <m:sty m:val="p"/>
                                        </m:rP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ϵ</m:t>
                                      </m:r>
                                    </m:e>
                                    <m:sub>
                                      <m:r>
                                        <m:rPr>
                                          <m:sty m:val="p"/>
                                        </m:rP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b</m:t>
                                      </m:r>
                                    </m:sub>
                                  </m:s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(1+</m:t>
                                  </m:r>
                                  <m:sSub>
                                    <m:sSubPr>
                                      <m:ctrlP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m:rPr>
                                          <m:sty m:val="p"/>
                                        </m:rP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ϵ</m:t>
                                      </m:r>
                                    </m:e>
                                    <m:sub>
                                      <m:r>
                                        <m:rPr>
                                          <m:sty m:val="p"/>
                                        </m:rP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b</m:t>
                                      </m:r>
                                    </m:sub>
                                  </m:s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)</m:t>
                                  </m:r>
                                </m:e>
                              </m:rad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-</m:t>
                              </m:r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ϵ</m:t>
                                  </m:r>
                                </m:e>
                                <m:sub>
                                  <m:r>
                                    <m:rPr>
                                      <m:sty m:val="p"/>
                                    </m:r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b</m:t>
                                  </m:r>
                                </m:sub>
                              </m:sSub>
                            </m:e>
                          </m:d>
                        </m:e>
                      </m:rad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F02B4781-670A-A208-8751-D4FAA39D534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61504" y="3499673"/>
                <a:ext cx="2833083" cy="818366"/>
              </a:xfrm>
              <a:prstGeom prst="rect">
                <a:avLst/>
              </a:prstGeom>
              <a:blipFill>
                <a:blip r:embed="rId4"/>
                <a:stretch>
                  <a:fillRect l="-44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3877872A-3328-972B-9A36-B433C16F950E}"/>
                  </a:ext>
                </a:extLst>
              </p:cNvPr>
              <p:cNvSpPr txBox="1"/>
              <p:nvPr/>
            </p:nvSpPr>
            <p:spPr>
              <a:xfrm>
                <a:off x="2236038" y="4777109"/>
                <a:ext cx="7514018" cy="33855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buNone/>
                </a:pPr>
                <a:r>
                  <a:rPr lang="en-US" sz="1600" b="1" dirty="0">
                    <a:solidFill>
                      <a:schemeClr val="accent1">
                        <a:lumMod val="75000"/>
                      </a:schemeClr>
                    </a:solidFill>
                    <a:effectLst/>
                    <a:latin typeface="Helvetica" pitchFamily="2" charset="0"/>
                  </a:rPr>
                  <a:t>Numerically we get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600" b="1" i="1" smtClean="0">
                            <a:solidFill>
                              <a:schemeClr val="accent1">
                                <a:lumMod val="75000"/>
                              </a:schemeClr>
                            </a:solidFill>
                            <a:effectLst/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600" b="1" i="1" smtClean="0">
                            <a:solidFill>
                              <a:schemeClr val="accent1">
                                <a:lumMod val="75000"/>
                              </a:schemeClr>
                            </a:solidFill>
                            <a:effectLst/>
                            <a:latin typeface="Cambria Math" panose="02040503050406030204" pitchFamily="18" charset="0"/>
                          </a:rPr>
                          <m:t>𝒗</m:t>
                        </m:r>
                      </m:e>
                      <m:sub>
                        <m:r>
                          <a:rPr lang="en-US" sz="1600" b="1" i="1" smtClean="0">
                            <a:solidFill>
                              <a:schemeClr val="accent1">
                                <a:lumMod val="75000"/>
                              </a:schemeClr>
                            </a:solidFill>
                            <a:effectLst/>
                            <a:latin typeface="Cambria Math" panose="02040503050406030204" pitchFamily="18" charset="0"/>
                          </a:rPr>
                          <m:t>𝒄</m:t>
                        </m:r>
                      </m:sub>
                    </m:sSub>
                    <m:r>
                      <a:rPr lang="en-US" sz="1600" b="1" i="1" smtClean="0">
                        <a:solidFill>
                          <a:schemeClr val="accent1">
                            <a:lumMod val="75000"/>
                          </a:schemeClr>
                        </a:solidFill>
                        <a:effectLst/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≈</m:t>
                    </m:r>
                    <m:r>
                      <a:rPr lang="en-US" sz="1600" b="1" i="1" smtClean="0">
                        <a:solidFill>
                          <a:schemeClr val="accent1">
                            <a:lumMod val="75000"/>
                          </a:schemeClr>
                        </a:solidFill>
                        <a:effectLst/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𝟗𝟑𝟔</m:t>
                    </m:r>
                    <m:r>
                      <a:rPr lang="en-US" sz="1600" b="1" i="1" smtClean="0">
                        <a:solidFill>
                          <a:schemeClr val="accent1">
                            <a:lumMod val="75000"/>
                          </a:schemeClr>
                        </a:solidFill>
                        <a:effectLst/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  <m:r>
                      <a:rPr lang="en-US" sz="1600" b="1" i="1" smtClean="0">
                        <a:solidFill>
                          <a:schemeClr val="accent1">
                            <a:lumMod val="75000"/>
                          </a:schemeClr>
                        </a:solidFill>
                        <a:effectLst/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𝒎</m:t>
                    </m:r>
                    <m:r>
                      <a:rPr lang="en-US" sz="1600" b="1" i="1" smtClean="0">
                        <a:solidFill>
                          <a:schemeClr val="accent1">
                            <a:lumMod val="75000"/>
                          </a:schemeClr>
                        </a:solidFill>
                        <a:effectLst/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/</m:t>
                    </m:r>
                    <m:r>
                      <a:rPr lang="en-US" sz="1600" b="1" i="1" smtClean="0">
                        <a:solidFill>
                          <a:schemeClr val="accent1">
                            <a:lumMod val="75000"/>
                          </a:schemeClr>
                        </a:solidFill>
                        <a:effectLst/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𝒔</m:t>
                    </m:r>
                  </m:oMath>
                </a14:m>
                <a:r>
                  <a:rPr lang="en-US" sz="1600" b="1" dirty="0">
                    <a:solidFill>
                      <a:schemeClr val="accent1">
                        <a:lumMod val="75000"/>
                      </a:schemeClr>
                    </a:solidFill>
                    <a:effectLst/>
                    <a:latin typeface="Helvetica" pitchFamily="2" charset="0"/>
                  </a:rPr>
                  <a:t> for Silk and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600" b="1" i="1">
                            <a:solidFill>
                              <a:schemeClr val="accent1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600" b="1" i="1">
                            <a:solidFill>
                              <a:schemeClr val="accent1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𝒗</m:t>
                        </m:r>
                      </m:e>
                      <m:sub>
                        <m:r>
                          <a:rPr lang="en-US" sz="1600" b="1" i="1">
                            <a:solidFill>
                              <a:schemeClr val="accent1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𝒄</m:t>
                        </m:r>
                      </m:sub>
                    </m:sSub>
                    <m:r>
                      <a:rPr lang="en-US" sz="1600" b="1" i="1">
                        <a:solidFill>
                          <a:schemeClr val="accent1">
                            <a:lumMod val="75000"/>
                          </a:schemeClr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≈</m:t>
                    </m:r>
                    <m:r>
                      <a:rPr lang="en-US" sz="1600" b="1" i="1" smtClean="0">
                        <a:solidFill>
                          <a:schemeClr val="accent1">
                            <a:lumMod val="75000"/>
                          </a:schemeClr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𝟏𝟎𝟗𝟒</m:t>
                    </m:r>
                    <m:r>
                      <a:rPr lang="en-US" sz="1600" b="1" i="1">
                        <a:solidFill>
                          <a:schemeClr val="accent1">
                            <a:lumMod val="75000"/>
                          </a:schemeClr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  <m:r>
                      <a:rPr lang="en-US" sz="1600" b="1" i="1">
                        <a:solidFill>
                          <a:schemeClr val="accent1">
                            <a:lumMod val="75000"/>
                          </a:schemeClr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𝒎</m:t>
                    </m:r>
                    <m:r>
                      <a:rPr lang="en-US" sz="1600" b="1" i="1">
                        <a:solidFill>
                          <a:schemeClr val="accent1">
                            <a:lumMod val="75000"/>
                          </a:schemeClr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/</m:t>
                    </m:r>
                    <m:r>
                      <a:rPr lang="en-US" sz="1600" b="1" i="1">
                        <a:solidFill>
                          <a:schemeClr val="accent1">
                            <a:lumMod val="75000"/>
                          </a:schemeClr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𝒔</m:t>
                    </m:r>
                    <m:r>
                      <a:rPr lang="en-US" sz="1600" b="1" i="1">
                        <a:solidFill>
                          <a:schemeClr val="accent1">
                            <a:lumMod val="75000"/>
                          </a:schemeClr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 </m:t>
                    </m:r>
                  </m:oMath>
                </a14:m>
                <a:r>
                  <a:rPr lang="en-US" sz="1600" b="1" dirty="0">
                    <a:solidFill>
                      <a:schemeClr val="accent1">
                        <a:lumMod val="75000"/>
                      </a:schemeClr>
                    </a:solidFill>
                    <a:effectLst/>
                    <a:latin typeface="Helvetica" pitchFamily="2" charset="0"/>
                  </a:rPr>
                  <a:t> for Dyneema.</a:t>
                </a:r>
              </a:p>
            </p:txBody>
          </p:sp>
        </mc:Choice>
        <mc:Fallback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3877872A-3328-972B-9A36-B433C16F950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236038" y="4777109"/>
                <a:ext cx="7514018" cy="338554"/>
              </a:xfrm>
              <a:prstGeom prst="rect">
                <a:avLst/>
              </a:prstGeom>
              <a:blipFill>
                <a:blip r:embed="rId5"/>
                <a:stretch>
                  <a:fillRect l="-507" t="-7407" b="-2222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30" name="Group 29">
            <a:extLst>
              <a:ext uri="{FF2B5EF4-FFF2-40B4-BE49-F238E27FC236}">
                <a16:creationId xmlns:a16="http://schemas.microsoft.com/office/drawing/2014/main" id="{51443595-5999-0DF8-D790-8C5310EDBC3F}"/>
              </a:ext>
            </a:extLst>
          </p:cNvPr>
          <p:cNvGrpSpPr/>
          <p:nvPr/>
        </p:nvGrpSpPr>
        <p:grpSpPr>
          <a:xfrm>
            <a:off x="7370964" y="2112620"/>
            <a:ext cx="4553640" cy="1991547"/>
            <a:chOff x="7057114" y="1676686"/>
            <a:chExt cx="4553640" cy="1991547"/>
          </a:xfrm>
        </p:grpSpPr>
        <p:sp>
          <p:nvSpPr>
            <p:cNvPr id="22" name="Rounded Rectangle 21">
              <a:extLst>
                <a:ext uri="{FF2B5EF4-FFF2-40B4-BE49-F238E27FC236}">
                  <a16:creationId xmlns:a16="http://schemas.microsoft.com/office/drawing/2014/main" id="{CCEE6FA0-3517-129F-5D5D-2E0FE86AD90A}"/>
                </a:ext>
              </a:extLst>
            </p:cNvPr>
            <p:cNvSpPr/>
            <p:nvPr/>
          </p:nvSpPr>
          <p:spPr>
            <a:xfrm>
              <a:off x="7057114" y="1676686"/>
              <a:ext cx="4553640" cy="1991547"/>
            </a:xfrm>
            <a:prstGeom prst="roundRect">
              <a:avLst/>
            </a:prstGeom>
            <a:solidFill>
              <a:schemeClr val="accent5">
                <a:lumMod val="40000"/>
                <a:lumOff val="60000"/>
              </a:schemeClr>
            </a:solidFill>
          </p:spPr>
          <p:style>
            <a:lnRef idx="2">
              <a:schemeClr val="accent5">
                <a:shade val="15000"/>
              </a:schemeClr>
            </a:lnRef>
            <a:fillRef idx="1">
              <a:schemeClr val="accent5"/>
            </a:fillRef>
            <a:effectRef idx="0">
              <a:schemeClr val="accent5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537BCB83-7701-3E1B-33CE-D479B264FBE3}"/>
                </a:ext>
              </a:extLst>
            </p:cNvPr>
            <p:cNvSpPr txBox="1"/>
            <p:nvPr/>
          </p:nvSpPr>
          <p:spPr>
            <a:xfrm>
              <a:off x="8284694" y="1825143"/>
              <a:ext cx="2147777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600" b="1" dirty="0"/>
                <a:t>Material Constants</a:t>
              </a:r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24" name="TextBox 23">
                  <a:extLst>
                    <a:ext uri="{FF2B5EF4-FFF2-40B4-BE49-F238E27FC236}">
                      <a16:creationId xmlns:a16="http://schemas.microsoft.com/office/drawing/2014/main" id="{63812210-1BEA-2117-4336-4E2FFCCD168B}"/>
                    </a:ext>
                  </a:extLst>
                </p:cNvPr>
                <p:cNvSpPr txBox="1"/>
                <p:nvPr/>
              </p:nvSpPr>
              <p:spPr>
                <a:xfrm>
                  <a:off x="7239000" y="2349628"/>
                  <a:ext cx="1995377" cy="1015663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sz="1200" b="1" i="1" dirty="0"/>
                    <a:t>Silk</a:t>
                  </a:r>
                </a:p>
                <a:p>
                  <a:endParaRPr lang="en-US" sz="1200" dirty="0"/>
                </a:p>
                <a:p>
                  <a:pPr/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 lang="en-US" sz="1200" b="0" i="1" smtClean="0">
                            <a:latin typeface="Cambria Math" panose="02040503050406030204" pitchFamily="18" charset="0"/>
                          </a:rPr>
                          <m:t>Density</m:t>
                        </m:r>
                        <m:r>
                          <a:rPr lang="en-US" sz="1200" b="0" i="1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m:rPr>
                            <m:sty m:val="p"/>
                          </m:rPr>
                          <a:rPr lang="en-US" sz="1200" b="0" i="1" smtClean="0">
                            <a:latin typeface="Cambria Math" panose="02040503050406030204" pitchFamily="18" charset="0"/>
                          </a:rPr>
                          <m:t>ρ</m:t>
                        </m:r>
                        <m:r>
                          <a:rPr lang="en-US" sz="1200" b="0" i="1" smtClean="0">
                            <a:latin typeface="Cambria Math" panose="02040503050406030204" pitchFamily="18" charset="0"/>
                          </a:rPr>
                          <m:t>= 1300 </m:t>
                        </m:r>
                        <m:r>
                          <m:rPr>
                            <m:sty m:val="p"/>
                          </m:rPr>
                          <a:rPr lang="en-US" sz="1200" b="0" i="1" smtClean="0">
                            <a:latin typeface="Cambria Math" panose="02040503050406030204" pitchFamily="18" charset="0"/>
                          </a:rPr>
                          <m:t>kg</m:t>
                        </m:r>
                        <m:r>
                          <a:rPr lang="en-US" sz="1200" b="0" i="1" smtClean="0">
                            <a:latin typeface="Cambria Math" panose="02040503050406030204" pitchFamily="18" charset="0"/>
                          </a:rPr>
                          <m:t>/</m:t>
                        </m:r>
                        <m:sSup>
                          <m:sSupPr>
                            <m:ctrlPr>
                              <a:rPr lang="en-US" sz="1200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m:rPr>
                                <m:sty m:val="p"/>
                              </m:rPr>
                              <a:rPr lang="en-US" sz="1200" b="0" i="1" smtClean="0">
                                <a:latin typeface="Cambria Math" panose="02040503050406030204" pitchFamily="18" charset="0"/>
                              </a:rPr>
                              <m:t>m</m:t>
                            </m:r>
                          </m:e>
                          <m:sup>
                            <m:r>
                              <a:rPr lang="en-US" sz="1200" b="0" i="1" smtClean="0">
                                <a:latin typeface="Cambria Math" panose="02040503050406030204" pitchFamily="18" charset="0"/>
                              </a:rPr>
                              <m:t>3</m:t>
                            </m:r>
                          </m:sup>
                        </m:sSup>
                      </m:oMath>
                    </m:oMathPara>
                  </a14:m>
                  <a:endParaRPr lang="en-US" sz="1200" b="0" i="1" dirty="0">
                    <a:latin typeface="Cambria Math" panose="02040503050406030204" pitchFamily="18" charset="0"/>
                  </a:endParaRPr>
                </a:p>
                <a:p>
                  <a:pPr/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 lang="en-US" sz="1200" b="0" i="1" smtClean="0">
                            <a:latin typeface="Cambria Math" panose="02040503050406030204" pitchFamily="18" charset="0"/>
                          </a:rPr>
                          <m:t>Failure</m:t>
                        </m:r>
                        <m:r>
                          <a:rPr lang="en-US" sz="1200" b="0" i="1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m:rPr>
                            <m:sty m:val="p"/>
                          </m:rPr>
                          <a:rPr lang="en-US" sz="1200" b="0" i="1" smtClean="0">
                            <a:latin typeface="Cambria Math" panose="02040503050406030204" pitchFamily="18" charset="0"/>
                          </a:rPr>
                          <m:t>strain</m:t>
                        </m:r>
                        <m:r>
                          <a:rPr lang="en-US" sz="1200" b="0" i="1" smtClean="0">
                            <a:latin typeface="Cambria Math" panose="02040503050406030204" pitchFamily="18" charset="0"/>
                          </a:rPr>
                          <m:t> </m:t>
                        </m:r>
                        <m:sSub>
                          <m:sSubPr>
                            <m:ctrlPr>
                              <a:rPr lang="en-US" sz="12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1200" b="0" i="1" smtClean="0">
                                <a:latin typeface="Cambria Math" panose="02040503050406030204" pitchFamily="18" charset="0"/>
                              </a:rPr>
                              <m:t>ϵ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sz="1200" b="0" i="1" smtClean="0">
                                <a:latin typeface="Cambria Math" panose="02040503050406030204" pitchFamily="18" charset="0"/>
                              </a:rPr>
                              <m:t>b</m:t>
                            </m:r>
                          </m:sub>
                        </m:sSub>
                        <m:r>
                          <a:rPr lang="en-US" sz="1200" b="0" i="1" smtClean="0">
                            <a:latin typeface="Cambria Math" panose="02040503050406030204" pitchFamily="18" charset="0"/>
                          </a:rPr>
                          <m:t>=0.3</m:t>
                        </m:r>
                      </m:oMath>
                    </m:oMathPara>
                  </a14:m>
                  <a:endParaRPr lang="en-US" sz="1200" dirty="0"/>
                </a:p>
                <a:p>
                  <a:pPr/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 lang="en-US" sz="1200" i="1">
                            <a:latin typeface="Cambria Math" panose="02040503050406030204" pitchFamily="18" charset="0"/>
                          </a:rPr>
                          <m:t>Failure</m:t>
                        </m:r>
                        <m:r>
                          <a:rPr lang="en-US" sz="1200" i="1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m:rPr>
                            <m:sty m:val="p"/>
                          </m:rPr>
                          <a:rPr lang="en-US" sz="1200" b="0" i="1" smtClean="0">
                            <a:latin typeface="Cambria Math" panose="02040503050406030204" pitchFamily="18" charset="0"/>
                          </a:rPr>
                          <m:t>stress</m:t>
                        </m:r>
                        <m:r>
                          <a:rPr lang="en-US" sz="1200" i="1">
                            <a:latin typeface="Cambria Math" panose="02040503050406030204" pitchFamily="18" charset="0"/>
                          </a:rPr>
                          <m:t> </m:t>
                        </m:r>
                        <m:sSub>
                          <m:sSubPr>
                            <m:ctrlPr>
                              <a:rPr lang="en-US" sz="12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1200" b="0" i="1" smtClean="0">
                                <a:latin typeface="Cambria Math" panose="02040503050406030204" pitchFamily="18" charset="0"/>
                              </a:rPr>
                              <m:t>σ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sz="1200" i="1">
                                <a:latin typeface="Cambria Math" panose="02040503050406030204" pitchFamily="18" charset="0"/>
                              </a:rPr>
                              <m:t>b</m:t>
                            </m:r>
                          </m:sub>
                        </m:sSub>
                        <m:r>
                          <a:rPr lang="en-US" sz="1200" i="1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en-US" sz="1200" b="0" i="1" smtClean="0">
                            <a:latin typeface="Cambria Math" panose="02040503050406030204" pitchFamily="18" charset="0"/>
                          </a:rPr>
                          <m:t>1.2 </m:t>
                        </m:r>
                        <m:r>
                          <m:rPr>
                            <m:sty m:val="p"/>
                          </m:rPr>
                          <a:rPr lang="en-US" sz="1200" b="0" i="1" smtClean="0">
                            <a:latin typeface="Cambria Math" panose="02040503050406030204" pitchFamily="18" charset="0"/>
                          </a:rPr>
                          <m:t>GPa</m:t>
                        </m:r>
                      </m:oMath>
                    </m:oMathPara>
                  </a14:m>
                  <a:endParaRPr lang="en-US" sz="1200" dirty="0"/>
                </a:p>
              </p:txBody>
            </p:sp>
          </mc:Choice>
          <mc:Fallback>
            <p:sp>
              <p:nvSpPr>
                <p:cNvPr id="24" name="TextBox 23">
                  <a:extLst>
                    <a:ext uri="{FF2B5EF4-FFF2-40B4-BE49-F238E27FC236}">
                      <a16:creationId xmlns:a16="http://schemas.microsoft.com/office/drawing/2014/main" id="{63812210-1BEA-2117-4336-4E2FFCCD168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239000" y="2349628"/>
                  <a:ext cx="1995377" cy="1015663"/>
                </a:xfrm>
                <a:prstGeom prst="rect">
                  <a:avLst/>
                </a:prstGeom>
                <a:blipFill>
                  <a:blip r:embed="rId6"/>
                  <a:stretch>
                    <a:fillRect b="-123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25" name="TextBox 24">
                  <a:extLst>
                    <a:ext uri="{FF2B5EF4-FFF2-40B4-BE49-F238E27FC236}">
                      <a16:creationId xmlns:a16="http://schemas.microsoft.com/office/drawing/2014/main" id="{22E7CDCE-7B57-E120-A1FF-12E4180F6D0C}"/>
                    </a:ext>
                  </a:extLst>
                </p:cNvPr>
                <p:cNvSpPr txBox="1"/>
                <p:nvPr/>
              </p:nvSpPr>
              <p:spPr>
                <a:xfrm>
                  <a:off x="9334256" y="2330891"/>
                  <a:ext cx="2276498" cy="1015663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sz="1200" b="1" i="1" dirty="0"/>
                    <a:t>Dyneema</a:t>
                  </a:r>
                </a:p>
                <a:p>
                  <a:endParaRPr lang="en-US" sz="1200" dirty="0"/>
                </a:p>
                <a:p>
                  <a:pPr/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 lang="en-US" sz="1200" b="0" i="1" smtClean="0">
                            <a:latin typeface="Cambria Math" panose="02040503050406030204" pitchFamily="18" charset="0"/>
                          </a:rPr>
                          <m:t>Density</m:t>
                        </m:r>
                        <m:r>
                          <a:rPr lang="en-US" sz="1200" b="0" i="1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m:rPr>
                            <m:sty m:val="p"/>
                          </m:rPr>
                          <a:rPr lang="en-US" sz="1200" b="0" i="1" smtClean="0">
                            <a:latin typeface="Cambria Math" panose="02040503050406030204" pitchFamily="18" charset="0"/>
                          </a:rPr>
                          <m:t>ρ</m:t>
                        </m:r>
                        <m:r>
                          <a:rPr lang="en-US" sz="1200" b="0" i="1" smtClean="0">
                            <a:latin typeface="Cambria Math" panose="02040503050406030204" pitchFamily="18" charset="0"/>
                          </a:rPr>
                          <m:t>= 975 </m:t>
                        </m:r>
                        <m:r>
                          <m:rPr>
                            <m:sty m:val="p"/>
                          </m:rPr>
                          <a:rPr lang="en-US" sz="1200" b="0" i="1" smtClean="0">
                            <a:latin typeface="Cambria Math" panose="02040503050406030204" pitchFamily="18" charset="0"/>
                          </a:rPr>
                          <m:t>kg</m:t>
                        </m:r>
                        <m:r>
                          <a:rPr lang="en-US" sz="1200" b="0" i="1" smtClean="0">
                            <a:latin typeface="Cambria Math" panose="02040503050406030204" pitchFamily="18" charset="0"/>
                          </a:rPr>
                          <m:t>/</m:t>
                        </m:r>
                        <m:sSup>
                          <m:sSupPr>
                            <m:ctrlPr>
                              <a:rPr lang="en-US" sz="1200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m:rPr>
                                <m:sty m:val="p"/>
                              </m:rPr>
                              <a:rPr lang="en-US" sz="1200" b="0" i="1" smtClean="0">
                                <a:latin typeface="Cambria Math" panose="02040503050406030204" pitchFamily="18" charset="0"/>
                              </a:rPr>
                              <m:t>m</m:t>
                            </m:r>
                          </m:e>
                          <m:sup>
                            <m:r>
                              <a:rPr lang="en-US" sz="1200" b="0" i="1" smtClean="0">
                                <a:latin typeface="Cambria Math" panose="02040503050406030204" pitchFamily="18" charset="0"/>
                              </a:rPr>
                              <m:t>3</m:t>
                            </m:r>
                          </m:sup>
                        </m:sSup>
                      </m:oMath>
                    </m:oMathPara>
                  </a14:m>
                  <a:endParaRPr lang="en-US" sz="1200" b="0" i="1" dirty="0">
                    <a:latin typeface="Cambria Math" panose="02040503050406030204" pitchFamily="18" charset="0"/>
                  </a:endParaRPr>
                </a:p>
                <a:p>
                  <a:pPr/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 lang="en-US" sz="1200" b="0" i="1" smtClean="0">
                            <a:latin typeface="Cambria Math" panose="02040503050406030204" pitchFamily="18" charset="0"/>
                          </a:rPr>
                          <m:t>Failure</m:t>
                        </m:r>
                        <m:r>
                          <a:rPr lang="en-US" sz="1200" b="0" i="1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m:rPr>
                            <m:sty m:val="p"/>
                          </m:rPr>
                          <a:rPr lang="en-US" sz="1200" b="0" i="1" smtClean="0">
                            <a:latin typeface="Cambria Math" panose="02040503050406030204" pitchFamily="18" charset="0"/>
                          </a:rPr>
                          <m:t>strain</m:t>
                        </m:r>
                        <m:r>
                          <a:rPr lang="en-US" sz="1200" b="0" i="1" smtClean="0">
                            <a:latin typeface="Cambria Math" panose="02040503050406030204" pitchFamily="18" charset="0"/>
                          </a:rPr>
                          <m:t> </m:t>
                        </m:r>
                        <m:sSub>
                          <m:sSubPr>
                            <m:ctrlPr>
                              <a:rPr lang="en-US" sz="12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1200" b="0" i="1" smtClean="0">
                                <a:latin typeface="Cambria Math" panose="02040503050406030204" pitchFamily="18" charset="0"/>
                              </a:rPr>
                              <m:t>ϵ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sz="1200" b="0" i="1" smtClean="0">
                                <a:latin typeface="Cambria Math" panose="02040503050406030204" pitchFamily="18" charset="0"/>
                              </a:rPr>
                              <m:t>b</m:t>
                            </m:r>
                          </m:sub>
                        </m:sSub>
                        <m:r>
                          <a:rPr lang="en-US" sz="1200" b="0" i="1" smtClean="0">
                            <a:latin typeface="Cambria Math" panose="02040503050406030204" pitchFamily="18" charset="0"/>
                          </a:rPr>
                          <m:t>=0.032</m:t>
                        </m:r>
                      </m:oMath>
                    </m:oMathPara>
                  </a14:m>
                  <a:endParaRPr lang="en-US" sz="1200" dirty="0"/>
                </a:p>
                <a:p>
                  <a:pPr/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 lang="en-US" sz="1200" i="1">
                            <a:latin typeface="Cambria Math" panose="02040503050406030204" pitchFamily="18" charset="0"/>
                          </a:rPr>
                          <m:t>Failure</m:t>
                        </m:r>
                        <m:r>
                          <a:rPr lang="en-US" sz="1200" i="1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m:rPr>
                            <m:sty m:val="p"/>
                          </m:rPr>
                          <a:rPr lang="en-US" sz="1200" b="0" i="1" smtClean="0">
                            <a:latin typeface="Cambria Math" panose="02040503050406030204" pitchFamily="18" charset="0"/>
                          </a:rPr>
                          <m:t>stress</m:t>
                        </m:r>
                        <m:r>
                          <a:rPr lang="en-US" sz="1200" i="1">
                            <a:latin typeface="Cambria Math" panose="02040503050406030204" pitchFamily="18" charset="0"/>
                          </a:rPr>
                          <m:t> </m:t>
                        </m:r>
                        <m:sSub>
                          <m:sSubPr>
                            <m:ctrlPr>
                              <a:rPr lang="en-US" sz="12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1200" b="0" i="1" smtClean="0">
                                <a:latin typeface="Cambria Math" panose="02040503050406030204" pitchFamily="18" charset="0"/>
                              </a:rPr>
                              <m:t>σ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sz="1200" i="1">
                                <a:latin typeface="Cambria Math" panose="02040503050406030204" pitchFamily="18" charset="0"/>
                              </a:rPr>
                              <m:t>b</m:t>
                            </m:r>
                          </m:sub>
                        </m:sSub>
                        <m:r>
                          <a:rPr lang="en-US" sz="1200" i="1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en-US" sz="1200" b="0" i="1" smtClean="0">
                            <a:latin typeface="Cambria Math" panose="02040503050406030204" pitchFamily="18" charset="0"/>
                          </a:rPr>
                          <m:t>3.52 </m:t>
                        </m:r>
                        <m:r>
                          <m:rPr>
                            <m:sty m:val="p"/>
                          </m:rPr>
                          <a:rPr lang="en-US" sz="1200" b="0" i="1" smtClean="0">
                            <a:latin typeface="Cambria Math" panose="02040503050406030204" pitchFamily="18" charset="0"/>
                          </a:rPr>
                          <m:t>GPa</m:t>
                        </m:r>
                      </m:oMath>
                    </m:oMathPara>
                  </a14:m>
                  <a:endParaRPr lang="en-US" sz="1200" dirty="0"/>
                </a:p>
              </p:txBody>
            </p:sp>
          </mc:Choice>
          <mc:Fallback>
            <p:sp>
              <p:nvSpPr>
                <p:cNvPr id="25" name="TextBox 24">
                  <a:extLst>
                    <a:ext uri="{FF2B5EF4-FFF2-40B4-BE49-F238E27FC236}">
                      <a16:creationId xmlns:a16="http://schemas.microsoft.com/office/drawing/2014/main" id="{22E7CDCE-7B57-E120-A1FF-12E4180F6D0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334256" y="2330891"/>
                  <a:ext cx="2276498" cy="1015663"/>
                </a:xfrm>
                <a:prstGeom prst="rect">
                  <a:avLst/>
                </a:prstGeom>
                <a:blipFill>
                  <a:blip r:embed="rId7"/>
                  <a:stretch>
                    <a:fillRect b="-246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96752150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F5FD416-D2BE-3B6E-06B9-22F4E26711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5FBAA590-2956-FB81-7E21-6C46F056F2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>
                <a:solidFill>
                  <a:schemeClr val="bg1"/>
                </a:solidFill>
              </a:rPr>
              <a:t>Model material elasticity</a:t>
            </a:r>
            <a:endParaRPr lang="ro-RO" dirty="0">
              <a:solidFill>
                <a:schemeClr val="bg1"/>
              </a:solidFill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FB6E562B-EC65-625A-2E69-4A20DEDF3521}"/>
              </a:ext>
            </a:extLst>
          </p:cNvPr>
          <p:cNvPicPr>
            <a:picLocks noChangeAspect="1"/>
          </p:cNvPicPr>
          <p:nvPr/>
        </p:nvPicPr>
        <p:blipFill>
          <a:blip r:embed="rId2">
            <a:clrChange>
              <a:clrFrom>
                <a:srgbClr val="000000"/>
              </a:clrFrom>
              <a:clrTo>
                <a:srgbClr val="000000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432471" y="6323329"/>
            <a:ext cx="1492133" cy="496892"/>
          </a:xfrm>
          <a:prstGeom prst="rect">
            <a:avLst/>
          </a:prstGeom>
        </p:spPr>
      </p:pic>
      <p:grpSp>
        <p:nvGrpSpPr>
          <p:cNvPr id="2" name="Group 1">
            <a:extLst>
              <a:ext uri="{FF2B5EF4-FFF2-40B4-BE49-F238E27FC236}">
                <a16:creationId xmlns:a16="http://schemas.microsoft.com/office/drawing/2014/main" id="{082571FD-DF7F-AD2F-BACA-6ABF673037C5}"/>
              </a:ext>
            </a:extLst>
          </p:cNvPr>
          <p:cNvGrpSpPr/>
          <p:nvPr/>
        </p:nvGrpSpPr>
        <p:grpSpPr>
          <a:xfrm>
            <a:off x="3436918" y="1538461"/>
            <a:ext cx="5350354" cy="2546035"/>
            <a:chOff x="3436918" y="1538461"/>
            <a:chExt cx="5350354" cy="2546035"/>
          </a:xfrm>
        </p:grpSpPr>
        <p:sp>
          <p:nvSpPr>
            <p:cNvPr id="22" name="Rounded Rectangle 21">
              <a:extLst>
                <a:ext uri="{FF2B5EF4-FFF2-40B4-BE49-F238E27FC236}">
                  <a16:creationId xmlns:a16="http://schemas.microsoft.com/office/drawing/2014/main" id="{4435A1ED-AA49-9D17-E87D-1516C1974FF2}"/>
                </a:ext>
              </a:extLst>
            </p:cNvPr>
            <p:cNvSpPr/>
            <p:nvPr/>
          </p:nvSpPr>
          <p:spPr>
            <a:xfrm>
              <a:off x="3436918" y="1538461"/>
              <a:ext cx="5350354" cy="2546035"/>
            </a:xfrm>
            <a:prstGeom prst="roundRect">
              <a:avLst/>
            </a:prstGeom>
            <a:solidFill>
              <a:schemeClr val="accent5">
                <a:lumMod val="40000"/>
                <a:lumOff val="60000"/>
              </a:schemeClr>
            </a:solidFill>
          </p:spPr>
          <p:style>
            <a:lnRef idx="2">
              <a:schemeClr val="accent5">
                <a:shade val="15000"/>
              </a:schemeClr>
            </a:lnRef>
            <a:fillRef idx="1">
              <a:schemeClr val="accent5"/>
            </a:fillRef>
            <a:effectRef idx="0">
              <a:schemeClr val="accent5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E2040426-7554-C11E-671F-4AA608673BC5}"/>
                </a:ext>
              </a:extLst>
            </p:cNvPr>
            <p:cNvSpPr txBox="1"/>
            <p:nvPr/>
          </p:nvSpPr>
          <p:spPr>
            <a:xfrm>
              <a:off x="4664498" y="1686918"/>
              <a:ext cx="2147777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600" b="1" dirty="0"/>
                <a:t>Material Constants</a:t>
              </a:r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24" name="TextBox 23">
                  <a:extLst>
                    <a:ext uri="{FF2B5EF4-FFF2-40B4-BE49-F238E27FC236}">
                      <a16:creationId xmlns:a16="http://schemas.microsoft.com/office/drawing/2014/main" id="{7ED3A795-8DD9-E274-2578-92024DAF1BFE}"/>
                    </a:ext>
                  </a:extLst>
                </p:cNvPr>
                <p:cNvSpPr txBox="1"/>
                <p:nvPr/>
              </p:nvSpPr>
              <p:spPr>
                <a:xfrm>
                  <a:off x="3743009" y="2361943"/>
                  <a:ext cx="2147777" cy="1384995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sz="1200" b="1" i="1" dirty="0"/>
                    <a:t>Silk</a:t>
                  </a:r>
                </a:p>
                <a:p>
                  <a:endParaRPr lang="en-US" sz="1200" dirty="0"/>
                </a:p>
                <a:p>
                  <a:pPr/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 lang="en-US" sz="1200" b="0" i="1" smtClean="0">
                            <a:latin typeface="Cambria Math" panose="02040503050406030204" pitchFamily="18" charset="0"/>
                          </a:rPr>
                          <m:t>Density</m:t>
                        </m:r>
                        <m:r>
                          <a:rPr lang="en-US" sz="1200" b="0" i="1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m:rPr>
                            <m:sty m:val="p"/>
                          </m:rPr>
                          <a:rPr lang="en-US" sz="1200" b="0" i="1" smtClean="0">
                            <a:latin typeface="Cambria Math" panose="02040503050406030204" pitchFamily="18" charset="0"/>
                          </a:rPr>
                          <m:t>ρ</m:t>
                        </m:r>
                        <m:r>
                          <a:rPr lang="en-US" sz="1200" b="0" i="1" smtClean="0">
                            <a:latin typeface="Cambria Math" panose="02040503050406030204" pitchFamily="18" charset="0"/>
                          </a:rPr>
                          <m:t>= 1300 </m:t>
                        </m:r>
                        <m:r>
                          <m:rPr>
                            <m:sty m:val="p"/>
                          </m:rPr>
                          <a:rPr lang="en-US" sz="1200" b="0" i="1" smtClean="0">
                            <a:latin typeface="Cambria Math" panose="02040503050406030204" pitchFamily="18" charset="0"/>
                          </a:rPr>
                          <m:t>kg</m:t>
                        </m:r>
                        <m:r>
                          <a:rPr lang="en-US" sz="1200" b="0" i="1" smtClean="0">
                            <a:latin typeface="Cambria Math" panose="02040503050406030204" pitchFamily="18" charset="0"/>
                          </a:rPr>
                          <m:t>/</m:t>
                        </m:r>
                        <m:sSup>
                          <m:sSupPr>
                            <m:ctrlPr>
                              <a:rPr lang="en-US" sz="1200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m:rPr>
                                <m:sty m:val="p"/>
                              </m:rPr>
                              <a:rPr lang="en-US" sz="1200" b="0" i="1" smtClean="0">
                                <a:latin typeface="Cambria Math" panose="02040503050406030204" pitchFamily="18" charset="0"/>
                              </a:rPr>
                              <m:t>m</m:t>
                            </m:r>
                          </m:e>
                          <m:sup>
                            <m:r>
                              <a:rPr lang="en-US" sz="1200" b="0" i="1" smtClean="0">
                                <a:latin typeface="Cambria Math" panose="02040503050406030204" pitchFamily="18" charset="0"/>
                              </a:rPr>
                              <m:t>3</m:t>
                            </m:r>
                          </m:sup>
                        </m:sSup>
                      </m:oMath>
                    </m:oMathPara>
                  </a14:m>
                  <a:endParaRPr lang="en-US" sz="1200" b="0" i="1" dirty="0">
                    <a:latin typeface="Cambria Math" panose="02040503050406030204" pitchFamily="18" charset="0"/>
                  </a:endParaRPr>
                </a:p>
                <a:p>
                  <a:pPr/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 lang="en-US" sz="1200" b="0" i="1" smtClean="0">
                            <a:latin typeface="Cambria Math" panose="02040503050406030204" pitchFamily="18" charset="0"/>
                          </a:rPr>
                          <m:t>Failure</m:t>
                        </m:r>
                        <m:r>
                          <a:rPr lang="en-US" sz="1200" b="0" i="1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m:rPr>
                            <m:sty m:val="p"/>
                          </m:rPr>
                          <a:rPr lang="en-US" sz="1200" b="0" i="1" smtClean="0">
                            <a:latin typeface="Cambria Math" panose="02040503050406030204" pitchFamily="18" charset="0"/>
                          </a:rPr>
                          <m:t>strain</m:t>
                        </m:r>
                        <m:r>
                          <a:rPr lang="en-US" sz="1200" b="0" i="1" smtClean="0">
                            <a:latin typeface="Cambria Math" panose="02040503050406030204" pitchFamily="18" charset="0"/>
                          </a:rPr>
                          <m:t> </m:t>
                        </m:r>
                        <m:sSub>
                          <m:sSubPr>
                            <m:ctrlPr>
                              <a:rPr lang="en-US" sz="12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1200" b="0" i="1" smtClean="0">
                                <a:latin typeface="Cambria Math" panose="02040503050406030204" pitchFamily="18" charset="0"/>
                              </a:rPr>
                              <m:t>ϵ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sz="1200" b="0" i="1" smtClean="0">
                                <a:latin typeface="Cambria Math" panose="02040503050406030204" pitchFamily="18" charset="0"/>
                              </a:rPr>
                              <m:t>b</m:t>
                            </m:r>
                          </m:sub>
                        </m:sSub>
                        <m:r>
                          <a:rPr lang="en-US" sz="1200" b="0" i="1" smtClean="0">
                            <a:latin typeface="Cambria Math" panose="02040503050406030204" pitchFamily="18" charset="0"/>
                          </a:rPr>
                          <m:t>=0.3</m:t>
                        </m:r>
                      </m:oMath>
                    </m:oMathPara>
                  </a14:m>
                  <a:endParaRPr lang="en-US" sz="1200" dirty="0"/>
                </a:p>
                <a:p>
                  <a:pPr/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 lang="en-US" sz="1200" i="1">
                            <a:latin typeface="Cambria Math" panose="02040503050406030204" pitchFamily="18" charset="0"/>
                          </a:rPr>
                          <m:t>Failure</m:t>
                        </m:r>
                        <m:r>
                          <a:rPr lang="en-US" sz="1200" i="1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m:rPr>
                            <m:sty m:val="p"/>
                          </m:rPr>
                          <a:rPr lang="en-US" sz="1200" b="0" i="1" smtClean="0">
                            <a:latin typeface="Cambria Math" panose="02040503050406030204" pitchFamily="18" charset="0"/>
                          </a:rPr>
                          <m:t>stress</m:t>
                        </m:r>
                        <m:r>
                          <a:rPr lang="en-US" sz="1200" i="1">
                            <a:latin typeface="Cambria Math" panose="02040503050406030204" pitchFamily="18" charset="0"/>
                          </a:rPr>
                          <m:t> </m:t>
                        </m:r>
                        <m:sSub>
                          <m:sSubPr>
                            <m:ctrlPr>
                              <a:rPr lang="en-US" sz="12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1200" b="0" i="1" smtClean="0">
                                <a:latin typeface="Cambria Math" panose="02040503050406030204" pitchFamily="18" charset="0"/>
                              </a:rPr>
                              <m:t>σ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sz="1200" i="1">
                                <a:latin typeface="Cambria Math" panose="02040503050406030204" pitchFamily="18" charset="0"/>
                              </a:rPr>
                              <m:t>b</m:t>
                            </m:r>
                          </m:sub>
                        </m:sSub>
                        <m:r>
                          <a:rPr lang="en-US" sz="1200" i="1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en-US" sz="1200" b="0" i="1" smtClean="0">
                            <a:latin typeface="Cambria Math" panose="02040503050406030204" pitchFamily="18" charset="0"/>
                          </a:rPr>
                          <m:t>1.2 </m:t>
                        </m:r>
                        <m:r>
                          <m:rPr>
                            <m:sty m:val="p"/>
                          </m:rPr>
                          <a:rPr lang="en-US" sz="1200" b="0" i="1" smtClean="0">
                            <a:latin typeface="Cambria Math" panose="02040503050406030204" pitchFamily="18" charset="0"/>
                          </a:rPr>
                          <m:t>GPa</m:t>
                        </m:r>
                      </m:oMath>
                    </m:oMathPara>
                  </a14:m>
                  <a:endParaRPr lang="en-US" sz="1200" i="1" dirty="0">
                    <a:latin typeface="Cambria Math" panose="02040503050406030204" pitchFamily="18" charset="0"/>
                  </a:endParaRPr>
                </a:p>
                <a:p>
                  <a:pPr/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 lang="en-US" sz="12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Young</m:t>
                        </m:r>
                        <m:r>
                          <a:rPr lang="en-US" sz="12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m:rPr>
                            <m:sty m:val="p"/>
                          </m:rPr>
                          <a:rPr lang="en-US" sz="12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modulus</m:t>
                        </m:r>
                        <m:r>
                          <a:rPr lang="en-US" sz="12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  <m:sSub>
                          <m:sSubPr>
                            <m:ctrlPr>
                              <a:rPr lang="en-US" sz="1200" b="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1200" b="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E</m:t>
                            </m:r>
                          </m:e>
                          <m:sub>
                            <m:r>
                              <a:rPr lang="en-US" sz="1200" b="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  <m:r>
                          <a:rPr lang="en-US" sz="12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=2 </m:t>
                        </m:r>
                        <m:r>
                          <m:rPr>
                            <m:sty m:val="p"/>
                          </m:rPr>
                          <a:rPr lang="en-US" sz="12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GPa</m:t>
                        </m:r>
                      </m:oMath>
                    </m:oMathPara>
                  </a14:m>
                  <a:endParaRPr lang="en-US" sz="1200" i="1" dirty="0">
                    <a:solidFill>
                      <a:srgbClr val="C00000"/>
                    </a:solidFill>
                    <a:latin typeface="Cambria Math" panose="02040503050406030204" pitchFamily="18" charset="0"/>
                  </a:endParaRPr>
                </a:p>
                <a:p>
                  <a:pPr/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 lang="en-US" sz="12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Cubic</m:t>
                        </m:r>
                        <m:r>
                          <a:rPr lang="en-US" sz="12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m:rPr>
                            <m:sty m:val="p"/>
                          </m:rPr>
                          <a:rPr lang="en-US" sz="12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coefficient</m:t>
                        </m:r>
                        <m:r>
                          <a:rPr lang="en-US" sz="12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m:rPr>
                            <m:sty m:val="p"/>
                          </m:rPr>
                          <a:rPr lang="en-US" sz="12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b</m:t>
                        </m:r>
                        <m:r>
                          <a:rPr lang="en-US" sz="12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= 22 </m:t>
                        </m:r>
                        <m:r>
                          <m:rPr>
                            <m:sty m:val="p"/>
                          </m:rPr>
                          <a:rPr lang="en-US" sz="12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GPa</m:t>
                        </m:r>
                      </m:oMath>
                    </m:oMathPara>
                  </a14:m>
                  <a:endParaRPr lang="en-US" sz="1200" i="1" dirty="0">
                    <a:solidFill>
                      <a:srgbClr val="C00000"/>
                    </a:solidFill>
                    <a:latin typeface="Cambria Math" panose="02040503050406030204" pitchFamily="18" charset="0"/>
                  </a:endParaRPr>
                </a:p>
              </p:txBody>
            </p:sp>
          </mc:Choice>
          <mc:Fallback>
            <p:sp>
              <p:nvSpPr>
                <p:cNvPr id="24" name="TextBox 23">
                  <a:extLst>
                    <a:ext uri="{FF2B5EF4-FFF2-40B4-BE49-F238E27FC236}">
                      <a16:creationId xmlns:a16="http://schemas.microsoft.com/office/drawing/2014/main" id="{7ED3A795-8DD9-E274-2578-92024DAF1BF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743009" y="2361943"/>
                  <a:ext cx="2147777" cy="1384995"/>
                </a:xfrm>
                <a:prstGeom prst="rect">
                  <a:avLst/>
                </a:prstGeom>
                <a:blipFill>
                  <a:blip r:embed="rId3"/>
                  <a:stretch>
                    <a:fillRect b="-901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25" name="TextBox 24">
                  <a:extLst>
                    <a:ext uri="{FF2B5EF4-FFF2-40B4-BE49-F238E27FC236}">
                      <a16:creationId xmlns:a16="http://schemas.microsoft.com/office/drawing/2014/main" id="{19A6E087-DB65-DFA5-F4E8-F0E9CDE8942E}"/>
                    </a:ext>
                  </a:extLst>
                </p:cNvPr>
                <p:cNvSpPr txBox="1"/>
                <p:nvPr/>
              </p:nvSpPr>
              <p:spPr>
                <a:xfrm>
                  <a:off x="6477174" y="2361943"/>
                  <a:ext cx="2276498" cy="1384995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sz="1200" b="1" i="1" dirty="0"/>
                    <a:t>Dyneema</a:t>
                  </a:r>
                </a:p>
                <a:p>
                  <a:endParaRPr lang="en-US" sz="1200" dirty="0"/>
                </a:p>
                <a:p>
                  <a:pPr/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 lang="en-US" sz="1200" b="0" i="1" smtClean="0">
                            <a:latin typeface="Cambria Math" panose="02040503050406030204" pitchFamily="18" charset="0"/>
                          </a:rPr>
                          <m:t>Density</m:t>
                        </m:r>
                        <m:r>
                          <a:rPr lang="en-US" sz="1200" b="0" i="1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m:rPr>
                            <m:sty m:val="p"/>
                          </m:rPr>
                          <a:rPr lang="en-US" sz="1200" b="0" i="1" smtClean="0">
                            <a:latin typeface="Cambria Math" panose="02040503050406030204" pitchFamily="18" charset="0"/>
                          </a:rPr>
                          <m:t>ρ</m:t>
                        </m:r>
                        <m:r>
                          <a:rPr lang="en-US" sz="1200" b="0" i="1" smtClean="0">
                            <a:latin typeface="Cambria Math" panose="02040503050406030204" pitchFamily="18" charset="0"/>
                          </a:rPr>
                          <m:t>= 975 </m:t>
                        </m:r>
                        <m:r>
                          <m:rPr>
                            <m:sty m:val="p"/>
                          </m:rPr>
                          <a:rPr lang="en-US" sz="1200" b="0" i="1" smtClean="0">
                            <a:latin typeface="Cambria Math" panose="02040503050406030204" pitchFamily="18" charset="0"/>
                          </a:rPr>
                          <m:t>kg</m:t>
                        </m:r>
                        <m:r>
                          <a:rPr lang="en-US" sz="1200" b="0" i="1" smtClean="0">
                            <a:latin typeface="Cambria Math" panose="02040503050406030204" pitchFamily="18" charset="0"/>
                          </a:rPr>
                          <m:t>/</m:t>
                        </m:r>
                        <m:sSup>
                          <m:sSupPr>
                            <m:ctrlPr>
                              <a:rPr lang="en-US" sz="1200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m:rPr>
                                <m:sty m:val="p"/>
                              </m:rPr>
                              <a:rPr lang="en-US" sz="1200" b="0" i="1" smtClean="0">
                                <a:latin typeface="Cambria Math" panose="02040503050406030204" pitchFamily="18" charset="0"/>
                              </a:rPr>
                              <m:t>m</m:t>
                            </m:r>
                          </m:e>
                          <m:sup>
                            <m:r>
                              <a:rPr lang="en-US" sz="1200" b="0" i="1" smtClean="0">
                                <a:latin typeface="Cambria Math" panose="02040503050406030204" pitchFamily="18" charset="0"/>
                              </a:rPr>
                              <m:t>3</m:t>
                            </m:r>
                          </m:sup>
                        </m:sSup>
                      </m:oMath>
                    </m:oMathPara>
                  </a14:m>
                  <a:endParaRPr lang="en-US" sz="1200" b="0" i="1" dirty="0">
                    <a:latin typeface="Cambria Math" panose="02040503050406030204" pitchFamily="18" charset="0"/>
                  </a:endParaRPr>
                </a:p>
                <a:p>
                  <a:pPr/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 lang="en-US" sz="1200" b="0" i="1" smtClean="0">
                            <a:latin typeface="Cambria Math" panose="02040503050406030204" pitchFamily="18" charset="0"/>
                          </a:rPr>
                          <m:t>Failure</m:t>
                        </m:r>
                        <m:r>
                          <a:rPr lang="en-US" sz="1200" b="0" i="1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m:rPr>
                            <m:sty m:val="p"/>
                          </m:rPr>
                          <a:rPr lang="en-US" sz="1200" b="0" i="1" smtClean="0">
                            <a:latin typeface="Cambria Math" panose="02040503050406030204" pitchFamily="18" charset="0"/>
                          </a:rPr>
                          <m:t>strain</m:t>
                        </m:r>
                        <m:r>
                          <a:rPr lang="en-US" sz="1200" b="0" i="1" smtClean="0">
                            <a:latin typeface="Cambria Math" panose="02040503050406030204" pitchFamily="18" charset="0"/>
                          </a:rPr>
                          <m:t> </m:t>
                        </m:r>
                        <m:sSub>
                          <m:sSubPr>
                            <m:ctrlPr>
                              <a:rPr lang="en-US" sz="12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1200" b="0" i="1" smtClean="0">
                                <a:latin typeface="Cambria Math" panose="02040503050406030204" pitchFamily="18" charset="0"/>
                              </a:rPr>
                              <m:t>ϵ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sz="1200" b="0" i="1" smtClean="0">
                                <a:latin typeface="Cambria Math" panose="02040503050406030204" pitchFamily="18" charset="0"/>
                              </a:rPr>
                              <m:t>b</m:t>
                            </m:r>
                          </m:sub>
                        </m:sSub>
                        <m:r>
                          <a:rPr lang="en-US" sz="1200" b="0" i="1" smtClean="0">
                            <a:latin typeface="Cambria Math" panose="02040503050406030204" pitchFamily="18" charset="0"/>
                          </a:rPr>
                          <m:t>=0.032</m:t>
                        </m:r>
                      </m:oMath>
                    </m:oMathPara>
                  </a14:m>
                  <a:endParaRPr lang="en-US" sz="1200" dirty="0"/>
                </a:p>
                <a:p>
                  <a:pPr/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 lang="en-US" sz="1200" i="1">
                            <a:latin typeface="Cambria Math" panose="02040503050406030204" pitchFamily="18" charset="0"/>
                          </a:rPr>
                          <m:t>Failure</m:t>
                        </m:r>
                        <m:r>
                          <a:rPr lang="en-US" sz="1200" i="1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m:rPr>
                            <m:sty m:val="p"/>
                          </m:rPr>
                          <a:rPr lang="en-US" sz="1200" b="0" i="1" smtClean="0">
                            <a:latin typeface="Cambria Math" panose="02040503050406030204" pitchFamily="18" charset="0"/>
                          </a:rPr>
                          <m:t>stress</m:t>
                        </m:r>
                        <m:r>
                          <a:rPr lang="en-US" sz="1200" i="1">
                            <a:latin typeface="Cambria Math" panose="02040503050406030204" pitchFamily="18" charset="0"/>
                          </a:rPr>
                          <m:t> </m:t>
                        </m:r>
                        <m:sSub>
                          <m:sSubPr>
                            <m:ctrlPr>
                              <a:rPr lang="en-US" sz="12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1200" b="0" i="1" smtClean="0">
                                <a:latin typeface="Cambria Math" panose="02040503050406030204" pitchFamily="18" charset="0"/>
                              </a:rPr>
                              <m:t>σ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sz="1200" i="1">
                                <a:latin typeface="Cambria Math" panose="02040503050406030204" pitchFamily="18" charset="0"/>
                              </a:rPr>
                              <m:t>b</m:t>
                            </m:r>
                          </m:sub>
                        </m:sSub>
                        <m:r>
                          <a:rPr lang="en-US" sz="1200" i="1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en-US" sz="1200" b="0" i="1" smtClean="0">
                            <a:latin typeface="Cambria Math" panose="02040503050406030204" pitchFamily="18" charset="0"/>
                          </a:rPr>
                          <m:t>3.52 </m:t>
                        </m:r>
                        <m:r>
                          <m:rPr>
                            <m:sty m:val="p"/>
                          </m:rPr>
                          <a:rPr lang="en-US" sz="1200" b="0" i="1" smtClean="0">
                            <a:latin typeface="Cambria Math" panose="02040503050406030204" pitchFamily="18" charset="0"/>
                          </a:rPr>
                          <m:t>GPa</m:t>
                        </m:r>
                      </m:oMath>
                    </m:oMathPara>
                  </a14:m>
                  <a:endParaRPr lang="en-US" sz="1200" dirty="0"/>
                </a:p>
                <a:p>
                  <a:pPr/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 lang="en-US" sz="120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Young</m:t>
                        </m:r>
                        <m:r>
                          <a:rPr lang="en-US" sz="120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m:rPr>
                            <m:sty m:val="p"/>
                          </m:rPr>
                          <a:rPr lang="en-US" sz="120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modulus</m:t>
                        </m:r>
                        <m:r>
                          <a:rPr lang="en-US" sz="120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  <m:sSub>
                          <m:sSubPr>
                            <m:ctrlPr>
                              <a:rPr lang="en-US" sz="12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12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E</m:t>
                            </m:r>
                          </m:e>
                          <m:sub>
                            <m:r>
                              <a:rPr lang="en-US" sz="12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  <m:r>
                          <a:rPr lang="en-US" sz="12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en-US" sz="12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110</m:t>
                        </m:r>
                        <m:r>
                          <a:rPr lang="en-US" sz="12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m:rPr>
                            <m:sty m:val="p"/>
                          </m:rPr>
                          <a:rPr lang="en-US" sz="12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GPa</m:t>
                        </m:r>
                      </m:oMath>
                    </m:oMathPara>
                  </a14:m>
                  <a:endParaRPr lang="en-US" sz="1200" i="1" dirty="0">
                    <a:solidFill>
                      <a:srgbClr val="C00000"/>
                    </a:solidFill>
                    <a:latin typeface="Cambria Math" panose="02040503050406030204" pitchFamily="18" charset="0"/>
                  </a:endParaRPr>
                </a:p>
                <a:p>
                  <a:pPr/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 lang="en-US" sz="12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Cubic</m:t>
                        </m:r>
                        <m:r>
                          <a:rPr lang="en-US" sz="12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m:rPr>
                            <m:sty m:val="p"/>
                          </m:rPr>
                          <a:rPr lang="en-US" sz="12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coefficient</m:t>
                        </m:r>
                        <m:r>
                          <a:rPr lang="en-US" sz="12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m:rPr>
                            <m:sty m:val="p"/>
                          </m:rPr>
                          <a:rPr lang="en-US" sz="12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b</m:t>
                        </m:r>
                        <m:r>
                          <a:rPr lang="en-US" sz="12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= 0 </m:t>
                        </m:r>
                        <m:r>
                          <m:rPr>
                            <m:sty m:val="p"/>
                          </m:rPr>
                          <a:rPr lang="en-US" sz="12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GPa</m:t>
                        </m:r>
                      </m:oMath>
                    </m:oMathPara>
                  </a14:m>
                  <a:endParaRPr lang="en-US" sz="1200" i="1" dirty="0">
                    <a:solidFill>
                      <a:srgbClr val="C00000"/>
                    </a:solidFill>
                    <a:latin typeface="Cambria Math" panose="02040503050406030204" pitchFamily="18" charset="0"/>
                  </a:endParaRPr>
                </a:p>
              </p:txBody>
            </p:sp>
          </mc:Choice>
          <mc:Fallback>
            <p:sp>
              <p:nvSpPr>
                <p:cNvPr id="25" name="TextBox 24">
                  <a:extLst>
                    <a:ext uri="{FF2B5EF4-FFF2-40B4-BE49-F238E27FC236}">
                      <a16:creationId xmlns:a16="http://schemas.microsoft.com/office/drawing/2014/main" id="{19A6E087-DB65-DFA5-F4E8-F0E9CDE8942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477174" y="2361943"/>
                  <a:ext cx="2276498" cy="1384995"/>
                </a:xfrm>
                <a:prstGeom prst="rect">
                  <a:avLst/>
                </a:prstGeom>
                <a:blipFill>
                  <a:blip r:embed="rId4"/>
                  <a:stretch>
                    <a:fillRect b="-901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33" name="TextBox 32">
            <a:extLst>
              <a:ext uri="{FF2B5EF4-FFF2-40B4-BE49-F238E27FC236}">
                <a16:creationId xmlns:a16="http://schemas.microsoft.com/office/drawing/2014/main" id="{F9B22878-E1AE-5721-6757-D647CFB54F85}"/>
              </a:ext>
            </a:extLst>
          </p:cNvPr>
          <p:cNvSpPr txBox="1"/>
          <p:nvPr/>
        </p:nvSpPr>
        <p:spPr>
          <a:xfrm>
            <a:off x="426887" y="4595053"/>
            <a:ext cx="5669114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lang="en-US" dirty="0"/>
              <a:t>We model the thread with the simplest law that captures strain stiffening, a linear term plus a cubic correction: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4" name="TextBox 33">
                <a:extLst>
                  <a:ext uri="{FF2B5EF4-FFF2-40B4-BE49-F238E27FC236}">
                    <a16:creationId xmlns:a16="http://schemas.microsoft.com/office/drawing/2014/main" id="{6A634B09-9002-9651-A168-EBE32102BF80}"/>
                  </a:ext>
                </a:extLst>
              </p:cNvPr>
              <p:cNvSpPr txBox="1"/>
              <p:nvPr/>
            </p:nvSpPr>
            <p:spPr>
              <a:xfrm>
                <a:off x="1218566" y="5593523"/>
                <a:ext cx="3352969" cy="310791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smtClean="0">
                          <a:latin typeface="Cambria Math" panose="02040503050406030204" pitchFamily="18" charset="0"/>
                        </a:rPr>
                        <m:t>𝑇</m:t>
                      </m:r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𝜖</m:t>
                          </m:r>
                        </m:e>
                      </m:d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𝐸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 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𝜖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+</m:t>
                      </m:r>
                      <m:r>
                        <m:rPr>
                          <m:sty m:val="p"/>
                        </m:rPr>
                        <a:rPr lang="en-US" b="0" i="1" smtClean="0">
                          <a:latin typeface="Cambria Math" panose="02040503050406030204" pitchFamily="18" charset="0"/>
                        </a:rPr>
                        <m:t>bA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 </m:t>
                      </m:r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𝜖</m:t>
                          </m:r>
                        </m:e>
                        <m:sup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3</m:t>
                          </m:r>
                        </m:sup>
                      </m:sSup>
                      <m:r>
                        <a:rPr lang="en-US" i="1">
                          <a:latin typeface="Cambria Math" panose="02040503050406030204" pitchFamily="18" charset="0"/>
                        </a:rPr>
                        <m:t>,  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𝜖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&lt;</m:t>
                      </m:r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ϵ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b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34" name="TextBox 33">
                <a:extLst>
                  <a:ext uri="{FF2B5EF4-FFF2-40B4-BE49-F238E27FC236}">
                    <a16:creationId xmlns:a16="http://schemas.microsoft.com/office/drawing/2014/main" id="{6A634B09-9002-9651-A168-EBE32102BF8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18566" y="5593523"/>
                <a:ext cx="3352969" cy="310791"/>
              </a:xfrm>
              <a:prstGeom prst="rect">
                <a:avLst/>
              </a:prstGeom>
              <a:blipFill>
                <a:blip r:embed="rId5"/>
                <a:stretch>
                  <a:fillRect l="-1136" t="-15385" b="-3846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1" name="Group 10">
            <a:extLst>
              <a:ext uri="{FF2B5EF4-FFF2-40B4-BE49-F238E27FC236}">
                <a16:creationId xmlns:a16="http://schemas.microsoft.com/office/drawing/2014/main" id="{97D7DF78-246A-08D4-D15E-7A6CDC311B95}"/>
              </a:ext>
            </a:extLst>
          </p:cNvPr>
          <p:cNvGrpSpPr/>
          <p:nvPr/>
        </p:nvGrpSpPr>
        <p:grpSpPr>
          <a:xfrm>
            <a:off x="6917615" y="3668233"/>
            <a:ext cx="5006989" cy="2236081"/>
            <a:chOff x="6917615" y="3668233"/>
            <a:chExt cx="5006989" cy="2236081"/>
          </a:xfrm>
        </p:grpSpPr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EDC39380-4D02-93B1-5D36-B0E8D6A699CE}"/>
                </a:ext>
              </a:extLst>
            </p:cNvPr>
            <p:cNvSpPr/>
            <p:nvPr/>
          </p:nvSpPr>
          <p:spPr>
            <a:xfrm>
              <a:off x="6917615" y="4595053"/>
              <a:ext cx="5006989" cy="1309261"/>
            </a:xfrm>
            <a:prstGeom prst="rect">
              <a:avLst/>
            </a:prstGeom>
          </p:spPr>
          <p:style>
            <a:lnRef idx="2">
              <a:schemeClr val="accent5"/>
            </a:lnRef>
            <a:fillRef idx="1">
              <a:schemeClr val="lt1"/>
            </a:fillRef>
            <a:effectRef idx="0">
              <a:schemeClr val="accent5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F2072854-9704-15CD-F02A-9D6DA844A453}"/>
                </a:ext>
              </a:extLst>
            </p:cNvPr>
            <p:cNvSpPr txBox="1"/>
            <p:nvPr/>
          </p:nvSpPr>
          <p:spPr>
            <a:xfrm>
              <a:off x="7642080" y="4734763"/>
              <a:ext cx="4282524" cy="116955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just"/>
              <a:r>
                <a:rPr lang="en-US" sz="1400" dirty="0"/>
                <a:t>Dyneema fibers do not stiffen under tension. The stress-strain curve is nearly linear up to failure, at a strain of a few percent. For SK76, </a:t>
              </a:r>
              <a:r>
                <a:rPr lang="en-US" sz="1400" i="1" dirty="0"/>
                <a:t>Sanborn et al. 2015</a:t>
              </a:r>
              <a:r>
                <a:rPr lang="en-US" sz="1400" dirty="0"/>
                <a:t> note that the response becomes increasingly linear as the strain rate increases.</a:t>
              </a:r>
            </a:p>
          </p:txBody>
        </p:sp>
        <p:pic>
          <p:nvPicPr>
            <p:cNvPr id="7" name="Graphic 6" descr="Angel face outline with solid fill">
              <a:extLst>
                <a:ext uri="{FF2B5EF4-FFF2-40B4-BE49-F238E27FC236}">
                  <a16:creationId xmlns:a16="http://schemas.microsoft.com/office/drawing/2014/main" id="{ECF842EB-31F1-8957-DBDA-76D643B23D66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p:blipFill>
          <p:spPr>
            <a:xfrm>
              <a:off x="6917615" y="4931821"/>
              <a:ext cx="619125" cy="619125"/>
            </a:xfrm>
            <a:prstGeom prst="rect">
              <a:avLst/>
            </a:prstGeom>
          </p:spPr>
        </p:pic>
        <p:cxnSp>
          <p:nvCxnSpPr>
            <p:cNvPr id="10" name="Straight Arrow Connector 9">
              <a:extLst>
                <a:ext uri="{FF2B5EF4-FFF2-40B4-BE49-F238E27FC236}">
                  <a16:creationId xmlns:a16="http://schemas.microsoft.com/office/drawing/2014/main" id="{E1B329EB-8283-5D7F-D857-F6366286B5C7}"/>
                </a:ext>
              </a:extLst>
            </p:cNvPr>
            <p:cNvCxnSpPr/>
            <p:nvPr/>
          </p:nvCxnSpPr>
          <p:spPr>
            <a:xfrm>
              <a:off x="7227177" y="3668233"/>
              <a:ext cx="640916" cy="92682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5"/>
            </a:lnRef>
            <a:fillRef idx="0">
              <a:schemeClr val="accent5"/>
            </a:fillRef>
            <a:effectRef idx="1">
              <a:schemeClr val="accent5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51173085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B3B0FC-AFE1-C019-C1D6-5EFB513EDA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D1F860F7-FAEB-E3CE-7317-B9502ACF30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>
                <a:solidFill>
                  <a:schemeClr val="bg1"/>
                </a:solidFill>
              </a:rPr>
              <a:t>Single Thread - Simulation</a:t>
            </a:r>
            <a:endParaRPr lang="ro-RO" dirty="0">
              <a:solidFill>
                <a:schemeClr val="bg1"/>
              </a:solidFill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1272539-5250-D88D-966D-5B3836EBAD08}"/>
              </a:ext>
            </a:extLst>
          </p:cNvPr>
          <p:cNvPicPr>
            <a:picLocks noChangeAspect="1"/>
          </p:cNvPicPr>
          <p:nvPr/>
        </p:nvPicPr>
        <p:blipFill>
          <a:blip r:embed="rId2">
            <a:clrChange>
              <a:clrFrom>
                <a:srgbClr val="000000"/>
              </a:clrFrom>
              <a:clrTo>
                <a:srgbClr val="000000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432471" y="6323329"/>
            <a:ext cx="1492133" cy="496892"/>
          </a:xfrm>
          <a:prstGeom prst="rect">
            <a:avLst/>
          </a:prstGeom>
        </p:spPr>
      </p:pic>
      <p:sp>
        <p:nvSpPr>
          <p:cNvPr id="30" name="TextBox 29">
            <a:extLst>
              <a:ext uri="{FF2B5EF4-FFF2-40B4-BE49-F238E27FC236}">
                <a16:creationId xmlns:a16="http://schemas.microsoft.com/office/drawing/2014/main" id="{8483FF12-8EBF-2AE5-1AA1-C6CEEEF1D164}"/>
              </a:ext>
            </a:extLst>
          </p:cNvPr>
          <p:cNvSpPr txBox="1"/>
          <p:nvPr/>
        </p:nvSpPr>
        <p:spPr>
          <a:xfrm>
            <a:off x="860871" y="3350713"/>
            <a:ext cx="2075225" cy="18466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i="0" u="none" dirty="0">
                <a:solidFill>
                  <a:srgbClr val="0F172A"/>
                </a:solidFill>
                <a:latin typeface="Space Grotesk"/>
              </a:rPr>
              <a:t>Uniform Mesh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57C116B4-352B-F176-027D-1BD43EF46616}"/>
                  </a:ext>
                </a:extLst>
              </p:cNvPr>
              <p:cNvSpPr txBox="1"/>
              <p:nvPr/>
            </p:nvSpPr>
            <p:spPr>
              <a:xfrm>
                <a:off x="821269" y="3664486"/>
                <a:ext cx="1488997" cy="173124"/>
              </a:xfrm>
              <a:prstGeom prst="rect">
                <a:avLst/>
              </a:prstGeom>
              <a:noFill/>
            </p:spPr>
            <p:txBody>
              <a:bodyPr wrap="none" lIns="0" tIns="0" rIns="0" bIns="0" anchor="t">
                <a:spAutoFit/>
              </a:bodyPr>
              <a:lstStyle/>
              <a:p>
                <a:pPr algn="l"/>
                <a:r>
                  <a:rPr sz="1125" b="0" i="0" u="none" dirty="0">
                    <a:solidFill>
                      <a:srgbClr val="64748B"/>
                    </a:solidFill>
                    <a:latin typeface="Inter"/>
                  </a:rPr>
                  <a:t>Segment length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125" b="0" i="1" u="none" smtClean="0">
                            <a:solidFill>
                              <a:srgbClr val="64748B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125" b="0" i="1" u="none" smtClean="0">
                            <a:solidFill>
                              <a:srgbClr val="64748B"/>
                            </a:solidFill>
                            <a:latin typeface="Cambria Math" panose="02040503050406030204" pitchFamily="18" charset="0"/>
                          </a:rPr>
                          <m:t>ℓ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sz="1125" b="0" i="1" u="none" smtClean="0">
                            <a:solidFill>
                              <a:srgbClr val="64748B"/>
                            </a:solidFill>
                            <a:latin typeface="Cambria Math" panose="02040503050406030204" pitchFamily="18" charset="0"/>
                          </a:rPr>
                          <m:t>s</m:t>
                        </m:r>
                      </m:sub>
                    </m:sSub>
                    <m:r>
                      <a:rPr lang="en-US" sz="1125" b="0" i="1" u="none" smtClean="0">
                        <a:solidFill>
                          <a:srgbClr val="64748B"/>
                        </a:solidFill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type m:val="skw"/>
                        <m:ctrlPr>
                          <a:rPr lang="en-US" sz="1125" b="0" i="1" u="none" smtClean="0">
                            <a:solidFill>
                              <a:srgbClr val="64748B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m:rPr>
                            <m:sty m:val="p"/>
                          </m:rPr>
                          <a:rPr lang="en-US" sz="1125" b="0" i="1" u="none" smtClean="0">
                            <a:solidFill>
                              <a:srgbClr val="64748B"/>
                            </a:solidFill>
                            <a:latin typeface="Cambria Math" panose="02040503050406030204" pitchFamily="18" charset="0"/>
                          </a:rPr>
                          <m:t>L</m:t>
                        </m:r>
                      </m:num>
                      <m:den>
                        <m:r>
                          <m:rPr>
                            <m:sty m:val="p"/>
                          </m:rPr>
                          <a:rPr lang="en-US" sz="1125" b="0" i="1" u="none" smtClean="0">
                            <a:solidFill>
                              <a:srgbClr val="64748B"/>
                            </a:solidFill>
                            <a:latin typeface="Cambria Math" panose="02040503050406030204" pitchFamily="18" charset="0"/>
                          </a:rPr>
                          <m:t>n</m:t>
                        </m:r>
                      </m:den>
                    </m:f>
                  </m:oMath>
                </a14:m>
                <a:endParaRPr sz="1125" b="0" i="0" u="none" dirty="0">
                  <a:solidFill>
                    <a:srgbClr val="64748B"/>
                  </a:solidFill>
                  <a:latin typeface="Inter"/>
                </a:endParaRPr>
              </a:p>
            </p:txBody>
          </p:sp>
        </mc:Choice>
        <mc:Fallback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57C116B4-352B-F176-027D-1BD43EF4661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1269" y="3664486"/>
                <a:ext cx="1488997" cy="173124"/>
              </a:xfrm>
              <a:prstGeom prst="rect">
                <a:avLst/>
              </a:prstGeom>
              <a:blipFill>
                <a:blip r:embed="rId3"/>
                <a:stretch>
                  <a:fillRect l="-5932" t="-160000" r="-5932" b="-220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B24B7CAB-448C-28AC-4135-F2FBF65D4565}"/>
                  </a:ext>
                </a:extLst>
              </p:cNvPr>
              <p:cNvSpPr txBox="1"/>
              <p:nvPr/>
            </p:nvSpPr>
            <p:spPr>
              <a:xfrm>
                <a:off x="4681408" y="3343681"/>
                <a:ext cx="2108157" cy="184666"/>
              </a:xfrm>
              <a:prstGeom prst="rect">
                <a:avLst/>
              </a:prstGeom>
              <a:noFill/>
            </p:spPr>
            <p:txBody>
              <a:bodyPr wrap="square" lIns="0" tIns="0" rIns="0" bIns="0" anchor="t">
                <a:spAutoFit/>
              </a:bodyPr>
              <a:lstStyle/>
              <a:p>
                <a:pPr algn="l"/>
                <a:r>
                  <a:rPr sz="1200" b="1" i="0" u="none" dirty="0">
                    <a:solidFill>
                      <a:srgbClr val="0F172A"/>
                    </a:solidFill>
                    <a:latin typeface="Space Grotesk"/>
                  </a:rPr>
                  <a:t>Interior Nodes </a:t>
                </a:r>
                <a14:m>
                  <m:oMath xmlns:m="http://schemas.openxmlformats.org/officeDocument/2006/math">
                    <m:r>
                      <a:rPr lang="en-US" sz="1200" b="1" i="0" u="none" smtClean="0">
                        <a:solidFill>
                          <a:srgbClr val="0F172A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m:rPr>
                        <m:sty m:val="p"/>
                      </m:rPr>
                      <a:rPr lang="en-US" sz="1200" b="1" i="1" u="none" smtClean="0">
                        <a:solidFill>
                          <a:srgbClr val="0F172A"/>
                        </a:solidFill>
                        <a:latin typeface="Cambria Math" panose="02040503050406030204" pitchFamily="18" charset="0"/>
                      </a:rPr>
                      <m:t>i</m:t>
                    </m:r>
                    <m:r>
                      <a:rPr lang="en-US" sz="1200" b="1" i="1" u="none" smtClean="0">
                        <a:solidFill>
                          <a:srgbClr val="0F172A"/>
                        </a:solidFill>
                        <a:latin typeface="Cambria Math" panose="02040503050406030204" pitchFamily="18" charset="0"/>
                      </a:rPr>
                      <m:t>=1 …</m:t>
                    </m:r>
                    <m:r>
                      <m:rPr>
                        <m:sty m:val="p"/>
                      </m:rPr>
                      <a:rPr lang="en-US" sz="1200" b="1" i="1" u="none" smtClean="0">
                        <a:solidFill>
                          <a:srgbClr val="0F172A"/>
                        </a:solidFill>
                        <a:latin typeface="Cambria Math" panose="02040503050406030204" pitchFamily="18" charset="0"/>
                      </a:rPr>
                      <m:t>n</m:t>
                    </m:r>
                    <m:r>
                      <a:rPr lang="en-US" sz="1200" b="1" i="1" u="none" smtClean="0">
                        <a:solidFill>
                          <a:srgbClr val="0F172A"/>
                        </a:solidFill>
                        <a:latin typeface="Cambria Math" panose="02040503050406030204" pitchFamily="18" charset="0"/>
                      </a:rPr>
                      <m:t>-1) </m:t>
                    </m:r>
                  </m:oMath>
                </a14:m>
                <a:endParaRPr sz="1200" b="1" i="0" u="none" dirty="0">
                  <a:solidFill>
                    <a:srgbClr val="0F172A"/>
                  </a:solidFill>
                  <a:latin typeface="Space Grotesk"/>
                </a:endParaRPr>
              </a:p>
            </p:txBody>
          </p:sp>
        </mc:Choice>
        <mc:Fallback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B24B7CAB-448C-28AC-4135-F2FBF65D456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81408" y="3343681"/>
                <a:ext cx="2108157" cy="184666"/>
              </a:xfrm>
              <a:prstGeom prst="rect">
                <a:avLst/>
              </a:prstGeom>
              <a:blipFill>
                <a:blip r:embed="rId4"/>
                <a:stretch>
                  <a:fillRect l="-4192" t="-26667" b="-46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05" name="Group 104">
            <a:extLst>
              <a:ext uri="{FF2B5EF4-FFF2-40B4-BE49-F238E27FC236}">
                <a16:creationId xmlns:a16="http://schemas.microsoft.com/office/drawing/2014/main" id="{FDEA5051-60F9-612F-8657-7BC353728321}"/>
              </a:ext>
            </a:extLst>
          </p:cNvPr>
          <p:cNvGrpSpPr/>
          <p:nvPr/>
        </p:nvGrpSpPr>
        <p:grpSpPr>
          <a:xfrm>
            <a:off x="851402" y="1444631"/>
            <a:ext cx="10501312" cy="1440402"/>
            <a:chOff x="851402" y="1444631"/>
            <a:chExt cx="10501312" cy="1440402"/>
          </a:xfrm>
        </p:grpSpPr>
        <p:sp>
          <p:nvSpPr>
            <p:cNvPr id="9" name="Rounded Rectangle 8">
              <a:extLst>
                <a:ext uri="{FF2B5EF4-FFF2-40B4-BE49-F238E27FC236}">
                  <a16:creationId xmlns:a16="http://schemas.microsoft.com/office/drawing/2014/main" id="{896ED18D-065D-7862-2A6F-4096601E5276}"/>
                </a:ext>
              </a:extLst>
            </p:cNvPr>
            <p:cNvSpPr/>
            <p:nvPr/>
          </p:nvSpPr>
          <p:spPr>
            <a:xfrm>
              <a:off x="1108577" y="1692281"/>
              <a:ext cx="323850" cy="323850"/>
            </a:xfrm>
            <a:prstGeom prst="roundRect">
              <a:avLst>
                <a:gd name="adj" fmla="val 50000"/>
              </a:avLst>
            </a:prstGeom>
            <a:solidFill>
              <a:srgbClr val="2563EB"/>
            </a:solidFill>
            <a:ln w="28575">
              <a:solidFill>
                <a:srgbClr val="1D4ED8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0" name="Rounded Rectangle 9">
              <a:extLst>
                <a:ext uri="{FF2B5EF4-FFF2-40B4-BE49-F238E27FC236}">
                  <a16:creationId xmlns:a16="http://schemas.microsoft.com/office/drawing/2014/main" id="{D52F23EB-8D29-06FD-1C10-79C243202212}"/>
                </a:ext>
              </a:extLst>
            </p:cNvPr>
            <p:cNvSpPr/>
            <p:nvPr/>
          </p:nvSpPr>
          <p:spPr>
            <a:xfrm>
              <a:off x="1937395" y="1870504"/>
              <a:ext cx="1023491" cy="38100"/>
            </a:xfrm>
            <a:prstGeom prst="roundRect">
              <a:avLst>
                <a:gd name="adj" fmla="val 50000"/>
              </a:avLst>
            </a:prstGeom>
            <a:solidFill>
              <a:srgbClr val="CBD5E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1" name="Rounded Rectangle 10">
              <a:extLst>
                <a:ext uri="{FF2B5EF4-FFF2-40B4-BE49-F238E27FC236}">
                  <a16:creationId xmlns:a16="http://schemas.microsoft.com/office/drawing/2014/main" id="{7BF380DC-B608-1D08-F5BD-DBF20A6CA104}"/>
                </a:ext>
              </a:extLst>
            </p:cNvPr>
            <p:cNvSpPr/>
            <p:nvPr/>
          </p:nvSpPr>
          <p:spPr>
            <a:xfrm>
              <a:off x="3303643" y="1711331"/>
              <a:ext cx="285750" cy="285750"/>
            </a:xfrm>
            <a:prstGeom prst="roundRect">
              <a:avLst>
                <a:gd name="adj" fmla="val 50000"/>
              </a:avLst>
            </a:prstGeom>
            <a:solidFill>
              <a:srgbClr val="0F172A"/>
            </a:solidFill>
            <a:ln w="19050">
              <a:solidFill>
                <a:srgbClr val="334155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2" name="Rounded Rectangle 11">
              <a:extLst>
                <a:ext uri="{FF2B5EF4-FFF2-40B4-BE49-F238E27FC236}">
                  <a16:creationId xmlns:a16="http://schemas.microsoft.com/office/drawing/2014/main" id="{4840759F-C38C-36C5-6CEB-E798930FB2BA}"/>
                </a:ext>
              </a:extLst>
            </p:cNvPr>
            <p:cNvSpPr/>
            <p:nvPr/>
          </p:nvSpPr>
          <p:spPr>
            <a:xfrm>
              <a:off x="3980736" y="1860104"/>
              <a:ext cx="1023491" cy="38100"/>
            </a:xfrm>
            <a:prstGeom prst="roundRect">
              <a:avLst>
                <a:gd name="adj" fmla="val 50000"/>
              </a:avLst>
            </a:prstGeom>
            <a:solidFill>
              <a:srgbClr val="CBD5E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3" name="Rounded Rectangle 12">
              <a:extLst>
                <a:ext uri="{FF2B5EF4-FFF2-40B4-BE49-F238E27FC236}">
                  <a16:creationId xmlns:a16="http://schemas.microsoft.com/office/drawing/2014/main" id="{6A069A35-29A8-8A35-D4AD-5808288B4D0A}"/>
                </a:ext>
              </a:extLst>
            </p:cNvPr>
            <p:cNvSpPr/>
            <p:nvPr/>
          </p:nvSpPr>
          <p:spPr>
            <a:xfrm>
              <a:off x="5336784" y="1711331"/>
              <a:ext cx="285750" cy="285750"/>
            </a:xfrm>
            <a:prstGeom prst="roundRect">
              <a:avLst>
                <a:gd name="adj" fmla="val 50000"/>
              </a:avLst>
            </a:prstGeom>
            <a:solidFill>
              <a:srgbClr val="0F172A"/>
            </a:solidFill>
            <a:ln w="19050">
              <a:solidFill>
                <a:srgbClr val="334155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4" name="Rounded Rectangle 13">
              <a:extLst>
                <a:ext uri="{FF2B5EF4-FFF2-40B4-BE49-F238E27FC236}">
                  <a16:creationId xmlns:a16="http://schemas.microsoft.com/office/drawing/2014/main" id="{CB14C633-A306-0A3C-F36A-187B686E9DA5}"/>
                </a:ext>
              </a:extLst>
            </p:cNvPr>
            <p:cNvSpPr/>
            <p:nvPr/>
          </p:nvSpPr>
          <p:spPr>
            <a:xfrm>
              <a:off x="8143235" y="1711331"/>
              <a:ext cx="285750" cy="285750"/>
            </a:xfrm>
            <a:prstGeom prst="roundRect">
              <a:avLst>
                <a:gd name="adj" fmla="val 50000"/>
              </a:avLst>
            </a:prstGeom>
            <a:solidFill>
              <a:srgbClr val="0F172A"/>
            </a:solidFill>
            <a:ln w="19050">
              <a:solidFill>
                <a:srgbClr val="334155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5" name="Rounded Rectangle 14">
              <a:extLst>
                <a:ext uri="{FF2B5EF4-FFF2-40B4-BE49-F238E27FC236}">
                  <a16:creationId xmlns:a16="http://schemas.microsoft.com/office/drawing/2014/main" id="{287C7DBD-089F-3456-D0DB-39C809F2E62C}"/>
                </a:ext>
              </a:extLst>
            </p:cNvPr>
            <p:cNvSpPr/>
            <p:nvPr/>
          </p:nvSpPr>
          <p:spPr>
            <a:xfrm>
              <a:off x="8834182" y="1870504"/>
              <a:ext cx="1109216" cy="38100"/>
            </a:xfrm>
            <a:prstGeom prst="roundRect">
              <a:avLst>
                <a:gd name="adj" fmla="val 50000"/>
              </a:avLst>
            </a:prstGeom>
            <a:solidFill>
              <a:srgbClr val="CBD5E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6" name="Rounded Rectangle 15">
              <a:extLst>
                <a:ext uri="{FF2B5EF4-FFF2-40B4-BE49-F238E27FC236}">
                  <a16:creationId xmlns:a16="http://schemas.microsoft.com/office/drawing/2014/main" id="{B4E7C5A0-338B-A6B8-C267-DDDAD10FB6AB}"/>
                </a:ext>
              </a:extLst>
            </p:cNvPr>
            <p:cNvSpPr/>
            <p:nvPr/>
          </p:nvSpPr>
          <p:spPr>
            <a:xfrm>
              <a:off x="10385927" y="1692281"/>
              <a:ext cx="323850" cy="323850"/>
            </a:xfrm>
            <a:prstGeom prst="roundRect">
              <a:avLst>
                <a:gd name="adj" fmla="val 50000"/>
              </a:avLst>
            </a:prstGeom>
            <a:solidFill>
              <a:srgbClr val="475569"/>
            </a:solidFill>
            <a:ln w="28575">
              <a:solidFill>
                <a:srgbClr val="1E293B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7" name="Rounded Rectangle 16">
              <a:extLst>
                <a:ext uri="{FF2B5EF4-FFF2-40B4-BE49-F238E27FC236}">
                  <a16:creationId xmlns:a16="http://schemas.microsoft.com/office/drawing/2014/main" id="{910D311A-F111-4FD9-1D4C-C3F503F322C5}"/>
                </a:ext>
              </a:extLst>
            </p:cNvPr>
            <p:cNvSpPr/>
            <p:nvPr/>
          </p:nvSpPr>
          <p:spPr>
            <a:xfrm>
              <a:off x="6690237" y="1864799"/>
              <a:ext cx="57150" cy="57150"/>
            </a:xfrm>
            <a:prstGeom prst="roundRect">
              <a:avLst>
                <a:gd name="adj" fmla="val 50000"/>
              </a:avLst>
            </a:prstGeom>
            <a:solidFill>
              <a:srgbClr val="94A3B8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8" name="Rounded Rectangle 17">
              <a:extLst>
                <a:ext uri="{FF2B5EF4-FFF2-40B4-BE49-F238E27FC236}">
                  <a16:creationId xmlns:a16="http://schemas.microsoft.com/office/drawing/2014/main" id="{A6906D47-F683-A266-24A2-10E3B8B0B07F}"/>
                </a:ext>
              </a:extLst>
            </p:cNvPr>
            <p:cNvSpPr/>
            <p:nvPr/>
          </p:nvSpPr>
          <p:spPr>
            <a:xfrm>
              <a:off x="6823587" y="1864799"/>
              <a:ext cx="57150" cy="57150"/>
            </a:xfrm>
            <a:prstGeom prst="roundRect">
              <a:avLst>
                <a:gd name="adj" fmla="val 50000"/>
              </a:avLst>
            </a:prstGeom>
            <a:solidFill>
              <a:srgbClr val="94A3B8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9" name="Rounded Rectangle 18">
              <a:extLst>
                <a:ext uri="{FF2B5EF4-FFF2-40B4-BE49-F238E27FC236}">
                  <a16:creationId xmlns:a16="http://schemas.microsoft.com/office/drawing/2014/main" id="{3B005D25-105E-D99A-64F8-F7D60ED146E3}"/>
                </a:ext>
              </a:extLst>
            </p:cNvPr>
            <p:cNvSpPr/>
            <p:nvPr/>
          </p:nvSpPr>
          <p:spPr>
            <a:xfrm>
              <a:off x="6956937" y="1864799"/>
              <a:ext cx="57150" cy="57150"/>
            </a:xfrm>
            <a:prstGeom prst="roundRect">
              <a:avLst>
                <a:gd name="adj" fmla="val 50000"/>
              </a:avLst>
            </a:prstGeom>
            <a:solidFill>
              <a:srgbClr val="94A3B8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pic>
          <p:nvPicPr>
            <p:cNvPr id="22" name="Picture 21" descr="image.png">
              <a:extLst>
                <a:ext uri="{FF2B5EF4-FFF2-40B4-BE49-F238E27FC236}">
                  <a16:creationId xmlns:a16="http://schemas.microsoft.com/office/drawing/2014/main" id="{79D7A3FF-1508-5C7B-73E1-A924839B5687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1046664" y="1444631"/>
              <a:ext cx="142875" cy="190500"/>
            </a:xfrm>
            <a:prstGeom prst="rect">
              <a:avLst/>
            </a:prstGeom>
          </p:spPr>
        </p:pic>
        <p:pic>
          <p:nvPicPr>
            <p:cNvPr id="23" name="Picture 22" descr="image.png">
              <a:extLst>
                <a:ext uri="{FF2B5EF4-FFF2-40B4-BE49-F238E27FC236}">
                  <a16:creationId xmlns:a16="http://schemas.microsoft.com/office/drawing/2014/main" id="{538CA341-F395-196E-030B-28A775002BDE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1964830" y="1803536"/>
              <a:ext cx="84707" cy="127061"/>
            </a:xfrm>
            <a:prstGeom prst="rect">
              <a:avLst/>
            </a:prstGeom>
          </p:spPr>
        </p:pic>
        <p:pic>
          <p:nvPicPr>
            <p:cNvPr id="24" name="Picture 23" descr="image.png">
              <a:extLst>
                <a:ext uri="{FF2B5EF4-FFF2-40B4-BE49-F238E27FC236}">
                  <a16:creationId xmlns:a16="http://schemas.microsoft.com/office/drawing/2014/main" id="{5B71D5BC-5C99-ADD6-22D4-F6836A9A094A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2854971" y="1803536"/>
              <a:ext cx="84707" cy="127061"/>
            </a:xfrm>
            <a:prstGeom prst="rect">
              <a:avLst/>
            </a:prstGeom>
          </p:spPr>
        </p:pic>
        <p:pic>
          <p:nvPicPr>
            <p:cNvPr id="25" name="Picture 24" descr="image.png">
              <a:extLst>
                <a:ext uri="{FF2B5EF4-FFF2-40B4-BE49-F238E27FC236}">
                  <a16:creationId xmlns:a16="http://schemas.microsoft.com/office/drawing/2014/main" id="{A6278DFE-34BC-4CDD-5F2B-2490B4B1A394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>
              <a:off x="4018836" y="1836292"/>
              <a:ext cx="57150" cy="85725"/>
            </a:xfrm>
            <a:prstGeom prst="rect">
              <a:avLst/>
            </a:prstGeom>
          </p:spPr>
        </p:pic>
        <p:pic>
          <p:nvPicPr>
            <p:cNvPr id="26" name="Picture 25" descr="image.png">
              <a:extLst>
                <a:ext uri="{FF2B5EF4-FFF2-40B4-BE49-F238E27FC236}">
                  <a16:creationId xmlns:a16="http://schemas.microsoft.com/office/drawing/2014/main" id="{E087C509-578A-FEB9-5FC2-B4EB760325BD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4908977" y="1836292"/>
              <a:ext cx="57150" cy="85725"/>
            </a:xfrm>
            <a:prstGeom prst="rect">
              <a:avLst/>
            </a:prstGeom>
          </p:spPr>
        </p:pic>
        <p:pic>
          <p:nvPicPr>
            <p:cNvPr id="27" name="Picture 26" descr="image.png">
              <a:extLst>
                <a:ext uri="{FF2B5EF4-FFF2-40B4-BE49-F238E27FC236}">
                  <a16:creationId xmlns:a16="http://schemas.microsoft.com/office/drawing/2014/main" id="{B9F99320-8404-9CDA-452F-6805D206479F}"/>
                </a:ext>
              </a:extLst>
            </p:cNvPr>
            <p:cNvPicPr>
              <a:picLocks noChangeAspect="1"/>
            </p:cNvPicPr>
            <p:nvPr/>
          </p:nvPicPr>
          <p:blipFill>
            <a:blip r:embed="rId9"/>
            <a:stretch>
              <a:fillRect/>
            </a:stretch>
          </p:blipFill>
          <p:spPr>
            <a:xfrm>
              <a:off x="8872282" y="1846692"/>
              <a:ext cx="57150" cy="85725"/>
            </a:xfrm>
            <a:prstGeom prst="rect">
              <a:avLst/>
            </a:prstGeom>
          </p:spPr>
        </p:pic>
        <p:pic>
          <p:nvPicPr>
            <p:cNvPr id="28" name="Picture 27" descr="image.png">
              <a:extLst>
                <a:ext uri="{FF2B5EF4-FFF2-40B4-BE49-F238E27FC236}">
                  <a16:creationId xmlns:a16="http://schemas.microsoft.com/office/drawing/2014/main" id="{DC60C078-93E7-4AE9-BF4D-A7BD970F6F9A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9848149" y="1846692"/>
              <a:ext cx="57150" cy="85725"/>
            </a:xfrm>
            <a:prstGeom prst="rect">
              <a:avLst/>
            </a:prstGeom>
          </p:spPr>
        </p:pic>
        <p:pic>
          <p:nvPicPr>
            <p:cNvPr id="29" name="Picture 28" descr="image.png">
              <a:extLst>
                <a:ext uri="{FF2B5EF4-FFF2-40B4-BE49-F238E27FC236}">
                  <a16:creationId xmlns:a16="http://schemas.microsoft.com/office/drawing/2014/main" id="{6C588FAF-A75F-B06D-C582-82125AFE28BE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/>
            <a:stretch>
              <a:fillRect/>
            </a:stretch>
          </p:blipFill>
          <p:spPr>
            <a:xfrm>
              <a:off x="10462127" y="1492256"/>
              <a:ext cx="171450" cy="152400"/>
            </a:xfrm>
            <a:prstGeom prst="rect">
              <a:avLst/>
            </a:prstGeom>
          </p:spPr>
        </p:pic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68E8A580-3D28-3496-3F31-B5C516A34DDE}"/>
                </a:ext>
              </a:extLst>
            </p:cNvPr>
            <p:cNvSpPr txBox="1"/>
            <p:nvPr/>
          </p:nvSpPr>
          <p:spPr>
            <a:xfrm>
              <a:off x="965702" y="1692281"/>
              <a:ext cx="609600" cy="3238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/>
              <a:r>
                <a:rPr sz="1050" b="1" i="0" u="none">
                  <a:solidFill>
                    <a:srgbClr val="FFFFFF"/>
                  </a:solidFill>
                  <a:latin typeface="Inter"/>
                </a:rPr>
                <a:t>0</a:t>
              </a:r>
            </a:p>
          </p:txBody>
        </p:sp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916F2279-D716-A2F8-1C9A-D86B067C7932}"/>
                </a:ext>
              </a:extLst>
            </p:cNvPr>
            <p:cNvSpPr txBox="1"/>
            <p:nvPr/>
          </p:nvSpPr>
          <p:spPr>
            <a:xfrm>
              <a:off x="851402" y="2092331"/>
              <a:ext cx="1123950" cy="161925"/>
            </a:xfrm>
            <a:prstGeom prst="rect">
              <a:avLst/>
            </a:prstGeom>
            <a:noFill/>
          </p:spPr>
          <p:txBody>
            <a:bodyPr wrap="none" lIns="0" tIns="0" rIns="0" bIns="0" anchor="t">
              <a:spAutoFit/>
            </a:bodyPr>
            <a:lstStyle/>
            <a:p>
              <a:pPr algn="l"/>
              <a:r>
                <a:rPr sz="1050" b="1" i="0" u="none">
                  <a:solidFill>
                    <a:srgbClr val="0F172A"/>
                  </a:solidFill>
                  <a:latin typeface="Inter"/>
                </a:rPr>
                <a:t>Impact Node</a:t>
              </a:r>
            </a:p>
          </p:txBody>
        </p:sp>
        <p:sp>
          <p:nvSpPr>
            <p:cNvPr id="38" name="TextBox 37">
              <a:extLst>
                <a:ext uri="{FF2B5EF4-FFF2-40B4-BE49-F238E27FC236}">
                  <a16:creationId xmlns:a16="http://schemas.microsoft.com/office/drawing/2014/main" id="{C7694B92-E2C2-FB73-7C80-B0B3709092F3}"/>
                </a:ext>
              </a:extLst>
            </p:cNvPr>
            <p:cNvSpPr txBox="1"/>
            <p:nvPr/>
          </p:nvSpPr>
          <p:spPr>
            <a:xfrm>
              <a:off x="3160768" y="1711331"/>
              <a:ext cx="571500" cy="2857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/>
              <a:r>
                <a:rPr sz="975" b="1" i="0" u="none">
                  <a:solidFill>
                    <a:srgbClr val="FFFFFF"/>
                  </a:solidFill>
                  <a:latin typeface="Inter"/>
                </a:rPr>
                <a:t>1</a:t>
              </a:r>
            </a:p>
          </p:txBody>
        </p:sp>
        <p:sp>
          <p:nvSpPr>
            <p:cNvPr id="39" name="TextBox 38">
              <a:extLst>
                <a:ext uri="{FF2B5EF4-FFF2-40B4-BE49-F238E27FC236}">
                  <a16:creationId xmlns:a16="http://schemas.microsoft.com/office/drawing/2014/main" id="{765935F2-E79F-05CF-5A9C-72CF0BF9B88E}"/>
                </a:ext>
              </a:extLst>
            </p:cNvPr>
            <p:cNvSpPr txBox="1"/>
            <p:nvPr/>
          </p:nvSpPr>
          <p:spPr>
            <a:xfrm>
              <a:off x="3222680" y="2073281"/>
              <a:ext cx="733425" cy="161925"/>
            </a:xfrm>
            <a:prstGeom prst="rect">
              <a:avLst/>
            </a:prstGeom>
            <a:noFill/>
          </p:spPr>
          <p:txBody>
            <a:bodyPr wrap="none" lIns="0" tIns="0" rIns="0" bIns="0" anchor="t">
              <a:spAutoFit/>
            </a:bodyPr>
            <a:lstStyle/>
            <a:p>
              <a:pPr algn="l"/>
              <a:r>
                <a:rPr sz="1050" b="1" i="0" u="none">
                  <a:solidFill>
                    <a:srgbClr val="0F172A"/>
                  </a:solidFill>
                  <a:latin typeface="Inter"/>
                </a:rPr>
                <a:t>Node 1</a:t>
              </a:r>
            </a:p>
          </p:txBody>
        </p:sp>
        <p:sp>
          <p:nvSpPr>
            <p:cNvPr id="43" name="TextBox 42">
              <a:extLst>
                <a:ext uri="{FF2B5EF4-FFF2-40B4-BE49-F238E27FC236}">
                  <a16:creationId xmlns:a16="http://schemas.microsoft.com/office/drawing/2014/main" id="{944AB2ED-BE4A-61F9-BBF4-925DE8CC3E35}"/>
                </a:ext>
              </a:extLst>
            </p:cNvPr>
            <p:cNvSpPr txBox="1"/>
            <p:nvPr/>
          </p:nvSpPr>
          <p:spPr>
            <a:xfrm>
              <a:off x="5193909" y="1711331"/>
              <a:ext cx="571500" cy="2857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/>
              <a:r>
                <a:rPr sz="975" b="1" i="0" u="none">
                  <a:solidFill>
                    <a:srgbClr val="FFFFFF"/>
                  </a:solidFill>
                  <a:latin typeface="Inter"/>
                </a:rPr>
                <a:t>2</a:t>
              </a:r>
            </a:p>
          </p:txBody>
        </p:sp>
        <p:sp>
          <p:nvSpPr>
            <p:cNvPr id="44" name="TextBox 43">
              <a:extLst>
                <a:ext uri="{FF2B5EF4-FFF2-40B4-BE49-F238E27FC236}">
                  <a16:creationId xmlns:a16="http://schemas.microsoft.com/office/drawing/2014/main" id="{8ADDCEE3-6E27-844C-419C-A5410DD732BC}"/>
                </a:ext>
              </a:extLst>
            </p:cNvPr>
            <p:cNvSpPr txBox="1"/>
            <p:nvPr/>
          </p:nvSpPr>
          <p:spPr>
            <a:xfrm>
              <a:off x="5241534" y="2073281"/>
              <a:ext cx="762000" cy="161925"/>
            </a:xfrm>
            <a:prstGeom prst="rect">
              <a:avLst/>
            </a:prstGeom>
            <a:noFill/>
          </p:spPr>
          <p:txBody>
            <a:bodyPr wrap="none" lIns="0" tIns="0" rIns="0" bIns="0" anchor="t">
              <a:spAutoFit/>
            </a:bodyPr>
            <a:lstStyle/>
            <a:p>
              <a:pPr algn="l"/>
              <a:r>
                <a:rPr sz="1050" b="1" i="0" u="none">
                  <a:solidFill>
                    <a:srgbClr val="0F172A"/>
                  </a:solidFill>
                  <a:latin typeface="Inter"/>
                </a:rPr>
                <a:t>Node 2</a:t>
              </a:r>
            </a:p>
          </p:txBody>
        </p:sp>
        <p:sp>
          <p:nvSpPr>
            <p:cNvPr id="47" name="TextBox 46">
              <a:extLst>
                <a:ext uri="{FF2B5EF4-FFF2-40B4-BE49-F238E27FC236}">
                  <a16:creationId xmlns:a16="http://schemas.microsoft.com/office/drawing/2014/main" id="{A2405105-4326-EE6B-F808-7F43CC385424}"/>
                </a:ext>
              </a:extLst>
            </p:cNvPr>
            <p:cNvSpPr txBox="1"/>
            <p:nvPr/>
          </p:nvSpPr>
          <p:spPr>
            <a:xfrm>
              <a:off x="6494975" y="1683824"/>
              <a:ext cx="1000125" cy="142875"/>
            </a:xfrm>
            <a:prstGeom prst="rect">
              <a:avLst/>
            </a:prstGeom>
            <a:noFill/>
          </p:spPr>
          <p:txBody>
            <a:bodyPr wrap="none" lIns="0" tIns="0" rIns="0" bIns="0" anchor="t">
              <a:spAutoFit/>
            </a:bodyPr>
            <a:lstStyle/>
            <a:p>
              <a:pPr algn="l"/>
              <a:r>
                <a:rPr sz="900" b="0" i="0" u="none">
                  <a:solidFill>
                    <a:srgbClr val="0F172A"/>
                  </a:solidFill>
                  <a:latin typeface="Inter"/>
                </a:rPr>
                <a:t>interior chain</a:t>
              </a:r>
            </a:p>
          </p:txBody>
        </p:sp>
        <p:sp>
          <p:nvSpPr>
            <p:cNvPr id="48" name="TextBox 47">
              <a:extLst>
                <a:ext uri="{FF2B5EF4-FFF2-40B4-BE49-F238E27FC236}">
                  <a16:creationId xmlns:a16="http://schemas.microsoft.com/office/drawing/2014/main" id="{9528DA80-700D-A2C2-3D20-93CD547758D9}"/>
                </a:ext>
              </a:extLst>
            </p:cNvPr>
            <p:cNvSpPr txBox="1"/>
            <p:nvPr/>
          </p:nvSpPr>
          <p:spPr>
            <a:xfrm>
              <a:off x="8000360" y="1711331"/>
              <a:ext cx="571500" cy="2857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/>
              <a:r>
                <a:rPr sz="900" b="1" i="0" u="none">
                  <a:solidFill>
                    <a:srgbClr val="FFFFFF"/>
                  </a:solidFill>
                  <a:latin typeface="Inter"/>
                </a:rPr>
                <a:t>n-1</a:t>
              </a:r>
            </a:p>
          </p:txBody>
        </p:sp>
        <p:sp>
          <p:nvSpPr>
            <p:cNvPr id="49" name="TextBox 48">
              <a:extLst>
                <a:ext uri="{FF2B5EF4-FFF2-40B4-BE49-F238E27FC236}">
                  <a16:creationId xmlns:a16="http://schemas.microsoft.com/office/drawing/2014/main" id="{AB71BF4A-4412-F296-A3AF-CFCD7EB5808C}"/>
                </a:ext>
              </a:extLst>
            </p:cNvPr>
            <p:cNvSpPr txBox="1"/>
            <p:nvPr/>
          </p:nvSpPr>
          <p:spPr>
            <a:xfrm>
              <a:off x="7986073" y="2073281"/>
              <a:ext cx="885825" cy="161925"/>
            </a:xfrm>
            <a:prstGeom prst="rect">
              <a:avLst/>
            </a:prstGeom>
            <a:noFill/>
          </p:spPr>
          <p:txBody>
            <a:bodyPr wrap="none" lIns="0" tIns="0" rIns="0" bIns="0" anchor="t">
              <a:spAutoFit/>
            </a:bodyPr>
            <a:lstStyle/>
            <a:p>
              <a:pPr algn="l"/>
              <a:r>
                <a:rPr sz="1050" b="1" i="0" u="none">
                  <a:solidFill>
                    <a:srgbClr val="0F172A"/>
                  </a:solidFill>
                  <a:latin typeface="Inter"/>
                </a:rPr>
                <a:t>Node n-1</a:t>
              </a:r>
            </a:p>
          </p:txBody>
        </p:sp>
        <p:sp>
          <p:nvSpPr>
            <p:cNvPr id="53" name="TextBox 52">
              <a:extLst>
                <a:ext uri="{FF2B5EF4-FFF2-40B4-BE49-F238E27FC236}">
                  <a16:creationId xmlns:a16="http://schemas.microsoft.com/office/drawing/2014/main" id="{C3CC273F-6017-58F1-A392-9D364C9774CD}"/>
                </a:ext>
              </a:extLst>
            </p:cNvPr>
            <p:cNvSpPr txBox="1"/>
            <p:nvPr/>
          </p:nvSpPr>
          <p:spPr>
            <a:xfrm>
              <a:off x="10243052" y="1692281"/>
              <a:ext cx="609600" cy="3238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/>
              <a:r>
                <a:rPr sz="1050" b="1" i="0" u="none">
                  <a:solidFill>
                    <a:srgbClr val="FFFFFF"/>
                  </a:solidFill>
                  <a:latin typeface="Inter"/>
                </a:rPr>
                <a:t>n</a:t>
              </a:r>
            </a:p>
          </p:txBody>
        </p:sp>
        <p:sp>
          <p:nvSpPr>
            <p:cNvPr id="54" name="TextBox 53">
              <a:extLst>
                <a:ext uri="{FF2B5EF4-FFF2-40B4-BE49-F238E27FC236}">
                  <a16:creationId xmlns:a16="http://schemas.microsoft.com/office/drawing/2014/main" id="{14FE5FC4-6373-2424-ED18-86239C66C89E}"/>
                </a:ext>
              </a:extLst>
            </p:cNvPr>
            <p:cNvSpPr txBox="1"/>
            <p:nvPr/>
          </p:nvSpPr>
          <p:spPr>
            <a:xfrm>
              <a:off x="10028739" y="2092331"/>
              <a:ext cx="1323975" cy="161925"/>
            </a:xfrm>
            <a:prstGeom prst="rect">
              <a:avLst/>
            </a:prstGeom>
            <a:noFill/>
          </p:spPr>
          <p:txBody>
            <a:bodyPr wrap="none" lIns="0" tIns="0" rIns="0" bIns="0" anchor="t">
              <a:spAutoFit/>
            </a:bodyPr>
            <a:lstStyle/>
            <a:p>
              <a:pPr algn="l"/>
              <a:r>
                <a:rPr sz="1050" b="1" i="0" u="none">
                  <a:solidFill>
                    <a:srgbClr val="0F172A"/>
                  </a:solidFill>
                  <a:latin typeface="Inter"/>
                </a:rPr>
                <a:t>Anchored Node</a:t>
              </a:r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57" name="TextBox 56">
                  <a:extLst>
                    <a:ext uri="{FF2B5EF4-FFF2-40B4-BE49-F238E27FC236}">
                      <a16:creationId xmlns:a16="http://schemas.microsoft.com/office/drawing/2014/main" id="{A2912E76-6ED4-3739-4464-9585BAB992B6}"/>
                    </a:ext>
                  </a:extLst>
                </p:cNvPr>
                <p:cNvSpPr txBox="1"/>
                <p:nvPr/>
              </p:nvSpPr>
              <p:spPr>
                <a:xfrm>
                  <a:off x="1246689" y="1444631"/>
                  <a:ext cx="318100" cy="215252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anchor="t">
                  <a:spAutoFit/>
                </a:bodyPr>
                <a:lstStyle/>
                <a:p>
                  <a:pPr algn="l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1125" b="1" i="1" u="none" smtClean="0">
                                <a:solidFill>
                                  <a:srgbClr val="2563EB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1125" b="1" i="1" u="none" smtClean="0">
                                <a:solidFill>
                                  <a:srgbClr val="2563EB"/>
                                </a:solidFill>
                                <a:latin typeface="Cambria Math" panose="02040503050406030204" pitchFamily="18" charset="0"/>
                              </a:rPr>
                              <m:t>v</m:t>
                            </m:r>
                          </m:e>
                          <m:sub>
                            <m:r>
                              <a:rPr lang="en-US" sz="1125" b="1" i="1" u="none" smtClean="0">
                                <a:solidFill>
                                  <a:srgbClr val="2563EB"/>
                                </a:solidFill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  <m:acc>
                          <m:accPr>
                            <m:chr m:val="⃗"/>
                            <m:ctrlPr>
                              <a:rPr lang="en-US" sz="1125" b="1" i="1" u="none" smtClean="0">
                                <a:solidFill>
                                  <a:srgbClr val="2563EB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sSub>
                              <m:sSubPr>
                                <m:ctrlPr>
                                  <a:rPr lang="en-US" sz="1125" b="1" i="1" u="none" smtClean="0">
                                    <a:solidFill>
                                      <a:srgbClr val="2563EB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1125" b="1" i="1" u="none" smtClean="0">
                                    <a:solidFill>
                                      <a:srgbClr val="2563EB"/>
                                    </a:solidFill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sz="1125" b="1" i="1" u="none" smtClean="0">
                                    <a:solidFill>
                                      <a:srgbClr val="2563EB"/>
                                    </a:solidFill>
                                    <a:latin typeface="Cambria Math" panose="02040503050406030204" pitchFamily="18" charset="0"/>
                                  </a:rPr>
                                  <m:t>y</m:t>
                                </m:r>
                              </m:sub>
                            </m:sSub>
                          </m:e>
                        </m:acc>
                      </m:oMath>
                    </m:oMathPara>
                  </a14:m>
                  <a:endParaRPr sz="1125" b="1" i="0" u="none" dirty="0">
                    <a:solidFill>
                      <a:srgbClr val="2563EB"/>
                    </a:solidFill>
                    <a:latin typeface="Space Grotesk"/>
                  </a:endParaRPr>
                </a:p>
              </p:txBody>
            </p:sp>
          </mc:Choice>
          <mc:Fallback>
            <p:sp>
              <p:nvSpPr>
                <p:cNvPr id="57" name="TextBox 56">
                  <a:extLst>
                    <a:ext uri="{FF2B5EF4-FFF2-40B4-BE49-F238E27FC236}">
                      <a16:creationId xmlns:a16="http://schemas.microsoft.com/office/drawing/2014/main" id="{A2912E76-6ED4-3739-4464-9585BAB992B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246689" y="1444631"/>
                  <a:ext cx="318100" cy="215252"/>
                </a:xfrm>
                <a:prstGeom prst="rect">
                  <a:avLst/>
                </a:prstGeom>
                <a:blipFill>
                  <a:blip r:embed="rId11"/>
                  <a:stretch>
                    <a:fillRect l="-7692" r="-3846" b="-11111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58" name="TextBox 57">
                  <a:extLst>
                    <a:ext uri="{FF2B5EF4-FFF2-40B4-BE49-F238E27FC236}">
                      <a16:creationId xmlns:a16="http://schemas.microsoft.com/office/drawing/2014/main" id="{877FBCFC-4300-42BD-37B8-9C51CCC5E2FD}"/>
                    </a:ext>
                  </a:extLst>
                </p:cNvPr>
                <p:cNvSpPr txBox="1"/>
                <p:nvPr/>
              </p:nvSpPr>
              <p:spPr>
                <a:xfrm>
                  <a:off x="851402" y="2330456"/>
                  <a:ext cx="782394" cy="186590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anchor="t">
                  <a:spAutoFit/>
                </a:bodyPr>
                <a:lstStyle/>
                <a:p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acc>
                          <m:accPr>
                            <m:chr m:val="⃗"/>
                            <m:ctrlPr>
                              <a:rPr lang="en-US" sz="975" b="0" i="1" u="none" smtClean="0">
                                <a:solidFill>
                                  <a:srgbClr val="64748B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sSub>
                              <m:sSubPr>
                                <m:ctrlPr>
                                  <a:rPr lang="en-US" sz="975" i="1">
                                    <a:solidFill>
                                      <a:srgbClr val="64748B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n-US" sz="975" i="1">
                                    <a:solidFill>
                                      <a:srgbClr val="64748B"/>
                                    </a:solidFill>
                                    <a:latin typeface="Cambria Math" panose="02040503050406030204" pitchFamily="18" charset="0"/>
                                  </a:rPr>
                                  <m:t>r</m:t>
                                </m:r>
                              </m:e>
                              <m:sub>
                                <m:r>
                                  <a:rPr lang="en-US" sz="975" i="1">
                                    <a:solidFill>
                                      <a:srgbClr val="64748B"/>
                                    </a:solidFill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sub>
                            </m:sSub>
                          </m:e>
                        </m:acc>
                        <m:r>
                          <a:rPr lang="en-US" sz="975" b="0" i="1" u="none" smtClean="0">
                            <a:solidFill>
                              <a:srgbClr val="64748B"/>
                            </a:solidFill>
                            <a:latin typeface="Cambria Math" panose="02040503050406030204" pitchFamily="18" charset="0"/>
                          </a:rPr>
                          <m:t> (</m:t>
                        </m:r>
                        <m:r>
                          <m:rPr>
                            <m:sty m:val="p"/>
                          </m:rPr>
                          <a:rPr lang="en-US" sz="975" b="0" i="1" u="none" smtClean="0">
                            <a:solidFill>
                              <a:srgbClr val="64748B"/>
                            </a:solidFill>
                            <a:latin typeface="Cambria Math" panose="02040503050406030204" pitchFamily="18" charset="0"/>
                          </a:rPr>
                          <m:t>t</m:t>
                        </m:r>
                        <m:r>
                          <a:rPr lang="en-US" sz="975" b="0" i="1" u="none" smtClean="0">
                            <a:solidFill>
                              <a:srgbClr val="64748B"/>
                            </a:solidFill>
                            <a:latin typeface="Cambria Math" panose="02040503050406030204" pitchFamily="18" charset="0"/>
                          </a:rPr>
                          <m:t>)=</m:t>
                        </m:r>
                        <m:sSub>
                          <m:sSubPr>
                            <m:ctrlPr>
                              <a:rPr lang="en-US" sz="975" b="0" i="1" u="none" smtClean="0">
                                <a:solidFill>
                                  <a:srgbClr val="64748B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975" b="0" i="1" u="none" smtClean="0">
                                <a:solidFill>
                                  <a:srgbClr val="64748B"/>
                                </a:solidFill>
                                <a:latin typeface="Cambria Math" panose="02040503050406030204" pitchFamily="18" charset="0"/>
                              </a:rPr>
                              <m:t>v</m:t>
                            </m:r>
                          </m:e>
                          <m:sub>
                            <m:r>
                              <a:rPr lang="en-US" sz="975" b="0" i="1" u="none" smtClean="0">
                                <a:solidFill>
                                  <a:srgbClr val="64748B"/>
                                </a:solidFill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  <m:r>
                          <m:rPr>
                            <m:sty m:val="p"/>
                          </m:rPr>
                          <a:rPr lang="en-US" sz="975" b="0" i="1" u="none" smtClean="0">
                            <a:solidFill>
                              <a:srgbClr val="64748B"/>
                            </a:solidFill>
                            <a:latin typeface="Cambria Math" panose="02040503050406030204" pitchFamily="18" charset="0"/>
                          </a:rPr>
                          <m:t>y</m:t>
                        </m:r>
                        <m:acc>
                          <m:accPr>
                            <m:chr m:val="⃗"/>
                            <m:ctrlPr>
                              <a:rPr lang="en-US" sz="975" b="0" i="1" u="none" smtClean="0">
                                <a:solidFill>
                                  <a:srgbClr val="64748B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sSub>
                              <m:sSubPr>
                                <m:ctrlPr>
                                  <a:rPr lang="en-US" sz="975" b="0" i="1" u="none" smtClean="0">
                                    <a:solidFill>
                                      <a:srgbClr val="64748B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975" b="0" i="1" u="none" smtClean="0">
                                    <a:solidFill>
                                      <a:srgbClr val="64748B"/>
                                    </a:solidFill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sz="975" b="0" i="1" u="none" smtClean="0">
                                    <a:solidFill>
                                      <a:srgbClr val="64748B"/>
                                    </a:solidFill>
                                    <a:latin typeface="Cambria Math" panose="02040503050406030204" pitchFamily="18" charset="0"/>
                                  </a:rPr>
                                  <m:t>y</m:t>
                                </m:r>
                              </m:sub>
                            </m:sSub>
                          </m:e>
                        </m:acc>
                      </m:oMath>
                    </m:oMathPara>
                  </a14:m>
                  <a:endParaRPr sz="975" b="0" i="0" u="none" dirty="0">
                    <a:solidFill>
                      <a:srgbClr val="64748B"/>
                    </a:solidFill>
                    <a:latin typeface="Inter"/>
                  </a:endParaRPr>
                </a:p>
              </p:txBody>
            </p:sp>
          </mc:Choice>
          <mc:Fallback>
            <p:sp>
              <p:nvSpPr>
                <p:cNvPr id="58" name="TextBox 57">
                  <a:extLst>
                    <a:ext uri="{FF2B5EF4-FFF2-40B4-BE49-F238E27FC236}">
                      <a16:creationId xmlns:a16="http://schemas.microsoft.com/office/drawing/2014/main" id="{877FBCFC-4300-42BD-37B8-9C51CCC5E2F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51402" y="2330456"/>
                  <a:ext cx="782394" cy="186590"/>
                </a:xfrm>
                <a:prstGeom prst="rect">
                  <a:avLst/>
                </a:prstGeom>
                <a:blipFill>
                  <a:blip r:embed="rId12"/>
                  <a:stretch>
                    <a:fillRect l="-3226" r="-1613" b="-250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59" name="TextBox 58">
                  <a:extLst>
                    <a:ext uri="{FF2B5EF4-FFF2-40B4-BE49-F238E27FC236}">
                      <a16:creationId xmlns:a16="http://schemas.microsoft.com/office/drawing/2014/main" id="{1B1442EA-5B3B-0E23-BB83-442490873969}"/>
                    </a:ext>
                  </a:extLst>
                </p:cNvPr>
                <p:cNvSpPr txBox="1"/>
                <p:nvPr/>
              </p:nvSpPr>
              <p:spPr>
                <a:xfrm>
                  <a:off x="899187" y="2625731"/>
                  <a:ext cx="546625" cy="259302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anchor="t">
                  <a:spAutoFit/>
                </a:bodyPr>
                <a:lstStyle/>
                <a:p>
                  <a:pPr algn="l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900" b="1" i="1" u="none" smtClean="0">
                                <a:solidFill>
                                  <a:srgbClr val="2563EB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900" b="1" i="1" u="none" smtClean="0">
                                <a:solidFill>
                                  <a:srgbClr val="2563EB"/>
                                </a:solidFill>
                                <a:latin typeface="Cambria Math" panose="02040503050406030204" pitchFamily="18" charset="0"/>
                              </a:rPr>
                              <m:t>m</m:t>
                            </m:r>
                          </m:e>
                          <m:sub>
                            <m:r>
                              <a:rPr lang="en-US" sz="900" b="1" i="1" u="none" smtClean="0">
                                <a:solidFill>
                                  <a:srgbClr val="2563EB"/>
                                </a:solidFill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  <m:r>
                          <a:rPr lang="en-US" sz="900" b="1" i="1" u="none" smtClean="0">
                            <a:solidFill>
                              <a:srgbClr val="2563EB"/>
                            </a:solidFill>
                            <a:latin typeface="Cambria Math" panose="02040503050406030204" pitchFamily="18" charset="0"/>
                          </a:rPr>
                          <m:t>=</m:t>
                        </m:r>
                        <m:f>
                          <m:fPr>
                            <m:ctrlPr>
                              <a:rPr lang="en-US" sz="900" b="1" i="1" u="none" smtClean="0">
                                <a:solidFill>
                                  <a:srgbClr val="2563EB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sz="900" b="1" i="1" u="none" smtClean="0">
                                <a:solidFill>
                                  <a:srgbClr val="2563EB"/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num>
                          <m:den>
                            <m:r>
                              <a:rPr lang="en-US" sz="900" b="1" i="1" u="none" smtClean="0">
                                <a:solidFill>
                                  <a:srgbClr val="2563EB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den>
                        </m:f>
                        <m:sSub>
                          <m:sSubPr>
                            <m:ctrlPr>
                              <a:rPr lang="en-US" sz="900" b="1" i="1" u="none" smtClean="0">
                                <a:solidFill>
                                  <a:srgbClr val="2563EB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900" b="1" i="1" u="none" smtClean="0">
                                <a:solidFill>
                                  <a:srgbClr val="2563EB"/>
                                </a:solidFill>
                                <a:latin typeface="Cambria Math" panose="02040503050406030204" pitchFamily="18" charset="0"/>
                              </a:rPr>
                              <m:t>m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sz="900" b="1" i="1" u="none" smtClean="0">
                                <a:solidFill>
                                  <a:srgbClr val="2563EB"/>
                                </a:solidFill>
                                <a:latin typeface="Cambria Math" panose="02040503050406030204" pitchFamily="18" charset="0"/>
                              </a:rPr>
                              <m:t>i</m:t>
                            </m:r>
                          </m:sub>
                        </m:sSub>
                      </m:oMath>
                    </m:oMathPara>
                  </a14:m>
                  <a:endParaRPr sz="900" b="1" i="0" u="none" dirty="0">
                    <a:solidFill>
                      <a:srgbClr val="2563EB"/>
                    </a:solidFill>
                    <a:latin typeface="Inter"/>
                  </a:endParaRPr>
                </a:p>
              </p:txBody>
            </p:sp>
          </mc:Choice>
          <mc:Fallback>
            <p:sp>
              <p:nvSpPr>
                <p:cNvPr id="59" name="TextBox 58">
                  <a:extLst>
                    <a:ext uri="{FF2B5EF4-FFF2-40B4-BE49-F238E27FC236}">
                      <a16:creationId xmlns:a16="http://schemas.microsoft.com/office/drawing/2014/main" id="{1B1442EA-5B3B-0E23-BB83-44249087396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99187" y="2625731"/>
                  <a:ext cx="546625" cy="259302"/>
                </a:xfrm>
                <a:prstGeom prst="rect">
                  <a:avLst/>
                </a:prstGeom>
                <a:blipFill>
                  <a:blip r:embed="rId13"/>
                  <a:stretch>
                    <a:fillRect l="-2326" r="-2326" b="-9091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60" name="TextBox 59">
                  <a:extLst>
                    <a:ext uri="{FF2B5EF4-FFF2-40B4-BE49-F238E27FC236}">
                      <a16:creationId xmlns:a16="http://schemas.microsoft.com/office/drawing/2014/main" id="{01478241-8498-C69C-DE6C-AB0548E8675A}"/>
                    </a:ext>
                  </a:extLst>
                </p:cNvPr>
                <p:cNvSpPr txBox="1"/>
                <p:nvPr/>
              </p:nvSpPr>
              <p:spPr>
                <a:xfrm>
                  <a:off x="10189247" y="2517046"/>
                  <a:ext cx="541815" cy="259302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anchor="t">
                  <a:spAutoFit/>
                </a:bodyPr>
                <a:lstStyle/>
                <a:p>
                  <a:pPr algn="l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900" b="1" i="1" u="none" smtClean="0">
                                <a:solidFill>
                                  <a:srgbClr val="2563EB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900" b="1" i="1" u="none" smtClean="0">
                                <a:solidFill>
                                  <a:srgbClr val="2563EB"/>
                                </a:solidFill>
                                <a:latin typeface="Cambria Math" panose="02040503050406030204" pitchFamily="18" charset="0"/>
                              </a:rPr>
                              <m:t>m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sz="900" b="1" i="1" u="none" smtClean="0">
                                <a:solidFill>
                                  <a:srgbClr val="2563EB"/>
                                </a:solidFill>
                                <a:latin typeface="Cambria Math" panose="02040503050406030204" pitchFamily="18" charset="0"/>
                              </a:rPr>
                              <m:t>n</m:t>
                            </m:r>
                          </m:sub>
                        </m:sSub>
                        <m:r>
                          <a:rPr lang="en-US" sz="900" b="1" i="1" u="none" smtClean="0">
                            <a:solidFill>
                              <a:srgbClr val="2563EB"/>
                            </a:solidFill>
                            <a:latin typeface="Cambria Math" panose="02040503050406030204" pitchFamily="18" charset="0"/>
                          </a:rPr>
                          <m:t>=</m:t>
                        </m:r>
                        <m:f>
                          <m:fPr>
                            <m:ctrlPr>
                              <a:rPr lang="en-US" sz="900" b="1" i="1" u="none" smtClean="0">
                                <a:solidFill>
                                  <a:srgbClr val="2563EB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sz="900" b="1" i="1" u="none" smtClean="0">
                                <a:solidFill>
                                  <a:srgbClr val="2563EB"/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num>
                          <m:den>
                            <m:r>
                              <a:rPr lang="en-US" sz="900" b="1" i="1" u="none" smtClean="0">
                                <a:solidFill>
                                  <a:srgbClr val="2563EB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den>
                        </m:f>
                        <m:sSub>
                          <m:sSubPr>
                            <m:ctrlPr>
                              <a:rPr lang="en-US" sz="900" b="1" i="1" u="none" smtClean="0">
                                <a:solidFill>
                                  <a:srgbClr val="2563EB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900" b="1" i="1" u="none" smtClean="0">
                                <a:solidFill>
                                  <a:srgbClr val="2563EB"/>
                                </a:solidFill>
                                <a:latin typeface="Cambria Math" panose="02040503050406030204" pitchFamily="18" charset="0"/>
                              </a:rPr>
                              <m:t>m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sz="900" b="1" i="1" u="none" smtClean="0">
                                <a:solidFill>
                                  <a:srgbClr val="2563EB"/>
                                </a:solidFill>
                                <a:latin typeface="Cambria Math" panose="02040503050406030204" pitchFamily="18" charset="0"/>
                              </a:rPr>
                              <m:t>i</m:t>
                            </m:r>
                          </m:sub>
                        </m:sSub>
                      </m:oMath>
                    </m:oMathPara>
                  </a14:m>
                  <a:endParaRPr sz="900" b="1" i="0" u="none" dirty="0">
                    <a:solidFill>
                      <a:srgbClr val="2563EB"/>
                    </a:solidFill>
                    <a:latin typeface="Inter"/>
                  </a:endParaRPr>
                </a:p>
              </p:txBody>
            </p:sp>
          </mc:Choice>
          <mc:Fallback>
            <p:sp>
              <p:nvSpPr>
                <p:cNvPr id="60" name="TextBox 59">
                  <a:extLst>
                    <a:ext uri="{FF2B5EF4-FFF2-40B4-BE49-F238E27FC236}">
                      <a16:creationId xmlns:a16="http://schemas.microsoft.com/office/drawing/2014/main" id="{01478241-8498-C69C-DE6C-AB0548E8675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189247" y="2517046"/>
                  <a:ext cx="541815" cy="259302"/>
                </a:xfrm>
                <a:prstGeom prst="rect">
                  <a:avLst/>
                </a:prstGeom>
                <a:blipFill>
                  <a:blip r:embed="rId14"/>
                  <a:stretch>
                    <a:fillRect l="-2326" t="-4762" r="-2326" b="-1428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61" name="TextBox 60">
                  <a:extLst>
                    <a:ext uri="{FF2B5EF4-FFF2-40B4-BE49-F238E27FC236}">
                      <a16:creationId xmlns:a16="http://schemas.microsoft.com/office/drawing/2014/main" id="{3FCF8BAD-FC77-5890-77BD-BD6B0041273E}"/>
                    </a:ext>
                  </a:extLst>
                </p:cNvPr>
                <p:cNvSpPr txBox="1"/>
                <p:nvPr/>
              </p:nvSpPr>
              <p:spPr>
                <a:xfrm>
                  <a:off x="3212108" y="2330456"/>
                  <a:ext cx="403316" cy="150041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anchor="t">
                  <a:spAutoFit/>
                </a:bodyPr>
                <a:lstStyle/>
                <a:p>
                  <a:pPr algn="l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en-US" sz="975" b="0" i="1" u="none" smtClean="0">
                                <a:solidFill>
                                  <a:srgbClr val="64748B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sz="975" b="0" i="1" u="none" smtClean="0">
                                    <a:solidFill>
                                      <a:srgbClr val="64748B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n-US" sz="975" b="0" i="1" u="none" smtClean="0">
                                    <a:solidFill>
                                      <a:srgbClr val="64748B"/>
                                    </a:solidFill>
                                    <a:latin typeface="Cambria Math" panose="02040503050406030204" pitchFamily="18" charset="0"/>
                                  </a:rPr>
                                  <m:t>r</m:t>
                                </m:r>
                              </m:e>
                              <m:sub>
                                <m:r>
                                  <a:rPr lang="en-US" sz="975" b="0" i="1" u="none" smtClean="0">
                                    <a:solidFill>
                                      <a:srgbClr val="64748B"/>
                                    </a:solidFill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  <m:r>
                              <a:rPr lang="en-US" sz="975" b="0" i="1" u="none" smtClean="0">
                                <a:solidFill>
                                  <a:srgbClr val="64748B"/>
                                </a:solidFill>
                                <a:latin typeface="Cambria Math" panose="02040503050406030204" pitchFamily="18" charset="0"/>
                              </a:rPr>
                              <m:t>,</m:t>
                            </m:r>
                            <m:sSub>
                              <m:sSubPr>
                                <m:ctrlPr>
                                  <a:rPr lang="en-US" sz="975" b="0" i="1" u="none" smtClean="0">
                                    <a:solidFill>
                                      <a:srgbClr val="64748B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n-US" sz="975" b="0" i="1" u="none" smtClean="0">
                                    <a:solidFill>
                                      <a:srgbClr val="64748B"/>
                                    </a:solidFill>
                                    <a:latin typeface="Cambria Math" panose="02040503050406030204" pitchFamily="18" charset="0"/>
                                  </a:rPr>
                                  <m:t>v</m:t>
                                </m:r>
                              </m:e>
                              <m:sub>
                                <m:r>
                                  <a:rPr lang="en-US" sz="975" b="0" i="1" u="none" smtClean="0">
                                    <a:solidFill>
                                      <a:srgbClr val="64748B"/>
                                    </a:solidFill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</m:e>
                        </m:d>
                      </m:oMath>
                    </m:oMathPara>
                  </a14:m>
                  <a:endParaRPr sz="975" b="0" i="0" u="none" dirty="0">
                    <a:solidFill>
                      <a:srgbClr val="64748B"/>
                    </a:solidFill>
                    <a:latin typeface="Inter"/>
                  </a:endParaRPr>
                </a:p>
              </p:txBody>
            </p:sp>
          </mc:Choice>
          <mc:Fallback>
            <p:sp>
              <p:nvSpPr>
                <p:cNvPr id="61" name="TextBox 60">
                  <a:extLst>
                    <a:ext uri="{FF2B5EF4-FFF2-40B4-BE49-F238E27FC236}">
                      <a16:creationId xmlns:a16="http://schemas.microsoft.com/office/drawing/2014/main" id="{3FCF8BAD-FC77-5890-77BD-BD6B0041273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212108" y="2330456"/>
                  <a:ext cx="403316" cy="150041"/>
                </a:xfrm>
                <a:prstGeom prst="rect">
                  <a:avLst/>
                </a:prstGeom>
                <a:blipFill>
                  <a:blip r:embed="rId15"/>
                  <a:stretch>
                    <a:fillRect b="-769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62" name="TextBox 61">
                  <a:extLst>
                    <a:ext uri="{FF2B5EF4-FFF2-40B4-BE49-F238E27FC236}">
                      <a16:creationId xmlns:a16="http://schemas.microsoft.com/office/drawing/2014/main" id="{169E7936-6BB5-D11B-13F5-8C0786F5A8C9}"/>
                    </a:ext>
                  </a:extLst>
                </p:cNvPr>
                <p:cNvSpPr txBox="1"/>
                <p:nvPr/>
              </p:nvSpPr>
              <p:spPr>
                <a:xfrm>
                  <a:off x="3206167" y="2575747"/>
                  <a:ext cx="460575" cy="1384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anchor="t">
                  <a:spAutoFit/>
                </a:bodyPr>
                <a:lstStyle/>
                <a:p>
                  <a:pPr algn="l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900" b="1" i="1" u="none" smtClean="0">
                                <a:solidFill>
                                  <a:srgbClr val="0F172A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900" b="1" i="1" u="none" smtClean="0">
                                <a:solidFill>
                                  <a:srgbClr val="0F172A"/>
                                </a:solidFill>
                                <a:latin typeface="Cambria Math" panose="02040503050406030204" pitchFamily="18" charset="0"/>
                              </a:rPr>
                              <m:t>m</m:t>
                            </m:r>
                          </m:e>
                          <m:sub>
                            <m:r>
                              <a:rPr lang="en-US" sz="900" b="1" i="1" u="none" smtClean="0">
                                <a:solidFill>
                                  <a:srgbClr val="0F172A"/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US" sz="900" b="1" i="1" u="none" smtClean="0">
                            <a:solidFill>
                              <a:srgbClr val="0F172A"/>
                            </a:solidFill>
                            <a:latin typeface="Cambria Math" panose="02040503050406030204" pitchFamily="18" charset="0"/>
                          </a:rPr>
                          <m:t>=</m:t>
                        </m:r>
                        <m:sSub>
                          <m:sSubPr>
                            <m:ctrlPr>
                              <a:rPr lang="en-US" sz="900" b="1" i="1" u="none" smtClean="0">
                                <a:solidFill>
                                  <a:srgbClr val="0F172A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900" b="1" i="1" u="none" smtClean="0">
                                <a:solidFill>
                                  <a:srgbClr val="0F172A"/>
                                </a:solidFill>
                                <a:latin typeface="Cambria Math" panose="02040503050406030204" pitchFamily="18" charset="0"/>
                              </a:rPr>
                              <m:t>m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sz="900" b="1" i="1" u="none" smtClean="0">
                                <a:solidFill>
                                  <a:srgbClr val="0F172A"/>
                                </a:solidFill>
                                <a:latin typeface="Cambria Math" panose="02040503050406030204" pitchFamily="18" charset="0"/>
                              </a:rPr>
                              <m:t>i</m:t>
                            </m:r>
                          </m:sub>
                        </m:sSub>
                      </m:oMath>
                    </m:oMathPara>
                  </a14:m>
                  <a:endParaRPr sz="900" b="1" i="0" u="none" dirty="0">
                    <a:solidFill>
                      <a:srgbClr val="0F172A"/>
                    </a:solidFill>
                    <a:latin typeface="Inter"/>
                  </a:endParaRPr>
                </a:p>
              </p:txBody>
            </p:sp>
          </mc:Choice>
          <mc:Fallback>
            <p:sp>
              <p:nvSpPr>
                <p:cNvPr id="62" name="TextBox 61">
                  <a:extLst>
                    <a:ext uri="{FF2B5EF4-FFF2-40B4-BE49-F238E27FC236}">
                      <a16:creationId xmlns:a16="http://schemas.microsoft.com/office/drawing/2014/main" id="{169E7936-6BB5-D11B-13F5-8C0786F5A8C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206167" y="2575747"/>
                  <a:ext cx="460575" cy="138499"/>
                </a:xfrm>
                <a:prstGeom prst="rect">
                  <a:avLst/>
                </a:prstGeom>
                <a:blipFill>
                  <a:blip r:embed="rId16"/>
                  <a:stretch>
                    <a:fillRect l="-2703" b="-1818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63" name="TextBox 62">
                  <a:extLst>
                    <a:ext uri="{FF2B5EF4-FFF2-40B4-BE49-F238E27FC236}">
                      <a16:creationId xmlns:a16="http://schemas.microsoft.com/office/drawing/2014/main" id="{57BF0954-9A51-D249-DB17-2235FAEC286A}"/>
                    </a:ext>
                  </a:extLst>
                </p:cNvPr>
                <p:cNvSpPr txBox="1"/>
                <p:nvPr/>
              </p:nvSpPr>
              <p:spPr>
                <a:xfrm>
                  <a:off x="5253785" y="2285089"/>
                  <a:ext cx="409086" cy="150041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anchor="t">
                  <a:spAutoFit/>
                </a:bodyPr>
                <a:lstStyle/>
                <a:p>
                  <a:pPr algn="l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en-US" sz="975" b="0" i="1" u="none" smtClean="0">
                                <a:solidFill>
                                  <a:srgbClr val="64748B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sz="975" b="0" i="1" u="none" smtClean="0">
                                    <a:solidFill>
                                      <a:srgbClr val="64748B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n-US" sz="975" b="0" i="1" u="none" smtClean="0">
                                    <a:solidFill>
                                      <a:srgbClr val="64748B"/>
                                    </a:solidFill>
                                    <a:latin typeface="Cambria Math" panose="02040503050406030204" pitchFamily="18" charset="0"/>
                                  </a:rPr>
                                  <m:t>r</m:t>
                                </m:r>
                              </m:e>
                              <m:sub>
                                <m:r>
                                  <a:rPr lang="en-US" sz="975" b="0" i="1" u="none" smtClean="0">
                                    <a:solidFill>
                                      <a:srgbClr val="64748B"/>
                                    </a:solidFill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</m:sSub>
                            <m:r>
                              <a:rPr lang="en-US" sz="975" b="0" i="1" u="none" smtClean="0">
                                <a:solidFill>
                                  <a:srgbClr val="64748B"/>
                                </a:solidFill>
                                <a:latin typeface="Cambria Math" panose="02040503050406030204" pitchFamily="18" charset="0"/>
                              </a:rPr>
                              <m:t>,</m:t>
                            </m:r>
                            <m:sSub>
                              <m:sSubPr>
                                <m:ctrlPr>
                                  <a:rPr lang="en-US" sz="975" b="0" i="1" u="none" smtClean="0">
                                    <a:solidFill>
                                      <a:srgbClr val="64748B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n-US" sz="975" b="0" i="1" u="none" smtClean="0">
                                    <a:solidFill>
                                      <a:srgbClr val="64748B"/>
                                    </a:solidFill>
                                    <a:latin typeface="Cambria Math" panose="02040503050406030204" pitchFamily="18" charset="0"/>
                                  </a:rPr>
                                  <m:t>v</m:t>
                                </m:r>
                              </m:e>
                              <m:sub>
                                <m:r>
                                  <a:rPr lang="en-US" sz="975" b="0" i="1" u="none" smtClean="0">
                                    <a:solidFill>
                                      <a:srgbClr val="64748B"/>
                                    </a:solidFill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</m:sSub>
                          </m:e>
                        </m:d>
                      </m:oMath>
                    </m:oMathPara>
                  </a14:m>
                  <a:endParaRPr sz="975" b="0" i="0" u="none" dirty="0">
                    <a:solidFill>
                      <a:srgbClr val="64748B"/>
                    </a:solidFill>
                    <a:latin typeface="Inter"/>
                  </a:endParaRPr>
                </a:p>
              </p:txBody>
            </p:sp>
          </mc:Choice>
          <mc:Fallback>
            <p:sp>
              <p:nvSpPr>
                <p:cNvPr id="63" name="TextBox 62">
                  <a:extLst>
                    <a:ext uri="{FF2B5EF4-FFF2-40B4-BE49-F238E27FC236}">
                      <a16:creationId xmlns:a16="http://schemas.microsoft.com/office/drawing/2014/main" id="{57BF0954-9A51-D249-DB17-2235FAEC286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253785" y="2285089"/>
                  <a:ext cx="409086" cy="150041"/>
                </a:xfrm>
                <a:prstGeom prst="rect">
                  <a:avLst/>
                </a:prstGeom>
                <a:blipFill>
                  <a:blip r:embed="rId17"/>
                  <a:stretch>
                    <a:fillRect b="-833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64" name="TextBox 63">
                  <a:extLst>
                    <a:ext uri="{FF2B5EF4-FFF2-40B4-BE49-F238E27FC236}">
                      <a16:creationId xmlns:a16="http://schemas.microsoft.com/office/drawing/2014/main" id="{B245E70E-288A-1935-55E5-F7C781871D81}"/>
                    </a:ext>
                  </a:extLst>
                </p:cNvPr>
                <p:cNvSpPr txBox="1"/>
                <p:nvPr/>
              </p:nvSpPr>
              <p:spPr>
                <a:xfrm>
                  <a:off x="5247844" y="2530380"/>
                  <a:ext cx="453650" cy="1384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anchor="t">
                  <a:spAutoFit/>
                </a:bodyPr>
                <a:lstStyle/>
                <a:p>
                  <a:pPr algn="l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900" b="1" i="1" u="none" smtClean="0">
                                <a:solidFill>
                                  <a:srgbClr val="0F172A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900" b="1" i="1" u="none" smtClean="0">
                                <a:solidFill>
                                  <a:srgbClr val="0F172A"/>
                                </a:solidFill>
                                <a:latin typeface="Cambria Math" panose="02040503050406030204" pitchFamily="18" charset="0"/>
                              </a:rPr>
                              <m:t>m</m:t>
                            </m:r>
                          </m:e>
                          <m:sub>
                            <m:r>
                              <a:rPr lang="en-US" sz="900" b="1" i="1" u="none" smtClean="0">
                                <a:solidFill>
                                  <a:srgbClr val="0F172A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 lang="en-US" sz="900" b="1" i="1" u="none" smtClean="0">
                            <a:solidFill>
                              <a:srgbClr val="0F172A"/>
                            </a:solidFill>
                            <a:latin typeface="Cambria Math" panose="02040503050406030204" pitchFamily="18" charset="0"/>
                          </a:rPr>
                          <m:t>=</m:t>
                        </m:r>
                        <m:sSub>
                          <m:sSubPr>
                            <m:ctrlPr>
                              <a:rPr lang="en-US" sz="900" b="1" i="1" u="none" smtClean="0">
                                <a:solidFill>
                                  <a:srgbClr val="0F172A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900" b="1" i="1" u="none" smtClean="0">
                                <a:solidFill>
                                  <a:srgbClr val="0F172A"/>
                                </a:solidFill>
                                <a:latin typeface="Cambria Math" panose="02040503050406030204" pitchFamily="18" charset="0"/>
                              </a:rPr>
                              <m:t>m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sz="900" b="1" i="1" u="none" smtClean="0">
                                <a:solidFill>
                                  <a:srgbClr val="0F172A"/>
                                </a:solidFill>
                                <a:latin typeface="Cambria Math" panose="02040503050406030204" pitchFamily="18" charset="0"/>
                              </a:rPr>
                              <m:t>i</m:t>
                            </m:r>
                          </m:sub>
                        </m:sSub>
                      </m:oMath>
                    </m:oMathPara>
                  </a14:m>
                  <a:endParaRPr sz="900" b="1" i="0" u="none" dirty="0">
                    <a:solidFill>
                      <a:srgbClr val="0F172A"/>
                    </a:solidFill>
                    <a:latin typeface="Inter"/>
                  </a:endParaRPr>
                </a:p>
              </p:txBody>
            </p:sp>
          </mc:Choice>
          <mc:Fallback>
            <p:sp>
              <p:nvSpPr>
                <p:cNvPr id="64" name="TextBox 63">
                  <a:extLst>
                    <a:ext uri="{FF2B5EF4-FFF2-40B4-BE49-F238E27FC236}">
                      <a16:creationId xmlns:a16="http://schemas.microsoft.com/office/drawing/2014/main" id="{B245E70E-288A-1935-55E5-F7C781871D8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247844" y="2530380"/>
                  <a:ext cx="453650" cy="138499"/>
                </a:xfrm>
                <a:prstGeom prst="rect">
                  <a:avLst/>
                </a:prstGeom>
                <a:blipFill>
                  <a:blip r:embed="rId18"/>
                  <a:stretch>
                    <a:fillRect l="-2778" r="-2778" b="-833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65" name="TextBox 64">
                  <a:extLst>
                    <a:ext uri="{FF2B5EF4-FFF2-40B4-BE49-F238E27FC236}">
                      <a16:creationId xmlns:a16="http://schemas.microsoft.com/office/drawing/2014/main" id="{29AC94D4-A0A4-FEDF-9106-DDCB22902CB1}"/>
                    </a:ext>
                  </a:extLst>
                </p:cNvPr>
                <p:cNvSpPr txBox="1"/>
                <p:nvPr/>
              </p:nvSpPr>
              <p:spPr>
                <a:xfrm>
                  <a:off x="7986073" y="2330455"/>
                  <a:ext cx="585417" cy="150041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anchor="t">
                  <a:spAutoFit/>
                </a:bodyPr>
                <a:lstStyle/>
                <a:p>
                  <a:pPr algn="l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en-US" sz="975" b="0" i="1" u="none" smtClean="0">
                                <a:solidFill>
                                  <a:srgbClr val="64748B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sz="975" b="0" i="1" u="none" smtClean="0">
                                    <a:solidFill>
                                      <a:srgbClr val="64748B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n-US" sz="975" b="0" i="1" u="none" smtClean="0">
                                    <a:solidFill>
                                      <a:srgbClr val="64748B"/>
                                    </a:solidFill>
                                    <a:latin typeface="Cambria Math" panose="02040503050406030204" pitchFamily="18" charset="0"/>
                                  </a:rPr>
                                  <m:t>r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sz="975" b="0" i="1" u="none" smtClean="0">
                                    <a:solidFill>
                                      <a:srgbClr val="64748B"/>
                                    </a:solidFill>
                                    <a:latin typeface="Cambria Math" panose="02040503050406030204" pitchFamily="18" charset="0"/>
                                  </a:rPr>
                                  <m:t>n</m:t>
                                </m:r>
                                <m:r>
                                  <a:rPr lang="en-US" sz="975" b="0" i="1" u="none" smtClean="0">
                                    <a:solidFill>
                                      <a:srgbClr val="64748B"/>
                                    </a:solidFill>
                                    <a:latin typeface="Cambria Math" panose="02040503050406030204" pitchFamily="18" charset="0"/>
                                  </a:rPr>
                                  <m:t>-1</m:t>
                                </m:r>
                              </m:sub>
                            </m:sSub>
                            <m:r>
                              <a:rPr lang="en-US" sz="975" b="0" i="1" u="none" smtClean="0">
                                <a:solidFill>
                                  <a:srgbClr val="64748B"/>
                                </a:solidFill>
                                <a:latin typeface="Cambria Math" panose="02040503050406030204" pitchFamily="18" charset="0"/>
                              </a:rPr>
                              <m:t>,</m:t>
                            </m:r>
                            <m:sSub>
                              <m:sSubPr>
                                <m:ctrlPr>
                                  <a:rPr lang="en-US" sz="975" b="0" i="1" u="none" smtClean="0">
                                    <a:solidFill>
                                      <a:srgbClr val="64748B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n-US" sz="975" b="0" i="1" u="none" smtClean="0">
                                    <a:solidFill>
                                      <a:srgbClr val="64748B"/>
                                    </a:solidFill>
                                    <a:latin typeface="Cambria Math" panose="02040503050406030204" pitchFamily="18" charset="0"/>
                                  </a:rPr>
                                  <m:t>v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sz="975" b="0" i="1" u="none" smtClean="0">
                                    <a:solidFill>
                                      <a:srgbClr val="64748B"/>
                                    </a:solidFill>
                                    <a:latin typeface="Cambria Math" panose="02040503050406030204" pitchFamily="18" charset="0"/>
                                  </a:rPr>
                                  <m:t>n</m:t>
                                </m:r>
                                <m:r>
                                  <a:rPr lang="en-US" sz="975" b="0" i="1" u="none" smtClean="0">
                                    <a:solidFill>
                                      <a:srgbClr val="64748B"/>
                                    </a:solidFill>
                                    <a:latin typeface="Cambria Math" panose="02040503050406030204" pitchFamily="18" charset="0"/>
                                  </a:rPr>
                                  <m:t>-1</m:t>
                                </m:r>
                              </m:sub>
                            </m:sSub>
                          </m:e>
                        </m:d>
                      </m:oMath>
                    </m:oMathPara>
                  </a14:m>
                  <a:endParaRPr sz="975" b="0" i="0" u="none" dirty="0">
                    <a:solidFill>
                      <a:srgbClr val="64748B"/>
                    </a:solidFill>
                    <a:latin typeface="Inter"/>
                  </a:endParaRPr>
                </a:p>
              </p:txBody>
            </p:sp>
          </mc:Choice>
          <mc:Fallback>
            <p:sp>
              <p:nvSpPr>
                <p:cNvPr id="65" name="TextBox 64">
                  <a:extLst>
                    <a:ext uri="{FF2B5EF4-FFF2-40B4-BE49-F238E27FC236}">
                      <a16:creationId xmlns:a16="http://schemas.microsoft.com/office/drawing/2014/main" id="{29AC94D4-A0A4-FEDF-9106-DDCB22902CB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986073" y="2330455"/>
                  <a:ext cx="585417" cy="150041"/>
                </a:xfrm>
                <a:prstGeom prst="rect">
                  <a:avLst/>
                </a:prstGeom>
                <a:blipFill>
                  <a:blip r:embed="rId19"/>
                  <a:stretch>
                    <a:fillRect b="-769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66" name="TextBox 65">
                  <a:extLst>
                    <a:ext uri="{FF2B5EF4-FFF2-40B4-BE49-F238E27FC236}">
                      <a16:creationId xmlns:a16="http://schemas.microsoft.com/office/drawing/2014/main" id="{8A82C772-5800-5BB0-3DDE-25787348151B}"/>
                    </a:ext>
                  </a:extLst>
                </p:cNvPr>
                <p:cNvSpPr txBox="1"/>
                <p:nvPr/>
              </p:nvSpPr>
              <p:spPr>
                <a:xfrm>
                  <a:off x="8019210" y="2530380"/>
                  <a:ext cx="533800" cy="1384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anchor="t">
                  <a:spAutoFit/>
                </a:bodyPr>
                <a:lstStyle/>
                <a:p>
                  <a:pPr algn="l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900" b="1" i="1" u="none" smtClean="0">
                                <a:solidFill>
                                  <a:srgbClr val="0F172A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900" b="1" i="1" u="none" smtClean="0">
                                <a:solidFill>
                                  <a:srgbClr val="0F172A"/>
                                </a:solidFill>
                                <a:latin typeface="Cambria Math" panose="02040503050406030204" pitchFamily="18" charset="0"/>
                              </a:rPr>
                              <m:t>m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sz="900" b="1" i="1" u="none" smtClean="0">
                                <a:solidFill>
                                  <a:srgbClr val="0F172A"/>
                                </a:solidFill>
                                <a:latin typeface="Cambria Math" panose="02040503050406030204" pitchFamily="18" charset="0"/>
                              </a:rPr>
                              <m:t>n</m:t>
                            </m:r>
                            <m:r>
                              <a:rPr lang="en-US" sz="900" b="1" i="1" u="none" smtClean="0">
                                <a:solidFill>
                                  <a:srgbClr val="0F172A"/>
                                </a:solidFill>
                                <a:latin typeface="Cambria Math" panose="02040503050406030204" pitchFamily="18" charset="0"/>
                              </a:rPr>
                              <m:t>-1</m:t>
                            </m:r>
                          </m:sub>
                        </m:sSub>
                        <m:r>
                          <a:rPr lang="en-US" sz="900" b="1" i="1" u="none" smtClean="0">
                            <a:solidFill>
                              <a:srgbClr val="0F172A"/>
                            </a:solidFill>
                            <a:latin typeface="Cambria Math" panose="02040503050406030204" pitchFamily="18" charset="0"/>
                          </a:rPr>
                          <m:t>=</m:t>
                        </m:r>
                        <m:sSub>
                          <m:sSubPr>
                            <m:ctrlPr>
                              <a:rPr lang="en-US" sz="900" b="1" i="1" u="none" smtClean="0">
                                <a:solidFill>
                                  <a:srgbClr val="0F172A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900" b="1" i="1" u="none" smtClean="0">
                                <a:solidFill>
                                  <a:srgbClr val="0F172A"/>
                                </a:solidFill>
                                <a:latin typeface="Cambria Math" panose="02040503050406030204" pitchFamily="18" charset="0"/>
                              </a:rPr>
                              <m:t>m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sz="900" b="1" i="1" u="none" smtClean="0">
                                <a:solidFill>
                                  <a:srgbClr val="0F172A"/>
                                </a:solidFill>
                                <a:latin typeface="Cambria Math" panose="02040503050406030204" pitchFamily="18" charset="0"/>
                              </a:rPr>
                              <m:t>i</m:t>
                            </m:r>
                          </m:sub>
                        </m:sSub>
                      </m:oMath>
                    </m:oMathPara>
                  </a14:m>
                  <a:endParaRPr sz="900" b="1" i="0" u="none" dirty="0">
                    <a:solidFill>
                      <a:srgbClr val="0F172A"/>
                    </a:solidFill>
                    <a:latin typeface="Inter"/>
                  </a:endParaRPr>
                </a:p>
              </p:txBody>
            </p:sp>
          </mc:Choice>
          <mc:Fallback>
            <p:sp>
              <p:nvSpPr>
                <p:cNvPr id="66" name="TextBox 65">
                  <a:extLst>
                    <a:ext uri="{FF2B5EF4-FFF2-40B4-BE49-F238E27FC236}">
                      <a16:creationId xmlns:a16="http://schemas.microsoft.com/office/drawing/2014/main" id="{8A82C772-5800-5BB0-3DDE-25787348151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019210" y="2530380"/>
                  <a:ext cx="533800" cy="138499"/>
                </a:xfrm>
                <a:prstGeom prst="rect">
                  <a:avLst/>
                </a:prstGeom>
                <a:blipFill>
                  <a:blip r:embed="rId20"/>
                  <a:stretch>
                    <a:fillRect l="-2326" b="-833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67" name="TextBox 66">
                  <a:extLst>
                    <a:ext uri="{FF2B5EF4-FFF2-40B4-BE49-F238E27FC236}">
                      <a16:creationId xmlns:a16="http://schemas.microsoft.com/office/drawing/2014/main" id="{846C8FA1-8F70-C5E5-77FA-6FEC3280D47A}"/>
                    </a:ext>
                  </a:extLst>
                </p:cNvPr>
                <p:cNvSpPr txBox="1"/>
                <p:nvPr/>
              </p:nvSpPr>
              <p:spPr>
                <a:xfrm>
                  <a:off x="10151472" y="2310630"/>
                  <a:ext cx="815480" cy="150041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anchor="t">
                  <a:spAutoFit/>
                </a:bodyPr>
                <a:lstStyle/>
                <a:p>
                  <a:pPr algn="l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975" b="0" i="1" u="none" smtClean="0">
                                <a:solidFill>
                                  <a:srgbClr val="64748B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975" b="0" i="1" u="none" smtClean="0">
                                <a:solidFill>
                                  <a:srgbClr val="64748B"/>
                                </a:solidFill>
                                <a:latin typeface="Cambria Math" panose="02040503050406030204" pitchFamily="18" charset="0"/>
                              </a:rPr>
                              <m:t>v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sz="975" b="0" i="1" u="none" smtClean="0">
                                <a:solidFill>
                                  <a:srgbClr val="64748B"/>
                                </a:solidFill>
                                <a:latin typeface="Cambria Math" panose="02040503050406030204" pitchFamily="18" charset="0"/>
                              </a:rPr>
                              <m:t>n</m:t>
                            </m:r>
                          </m:sub>
                        </m:sSub>
                        <m:r>
                          <a:rPr lang="en-US" sz="975" b="0" i="1" u="none" smtClean="0">
                            <a:solidFill>
                              <a:srgbClr val="64748B"/>
                            </a:solidFill>
                            <a:latin typeface="Cambria Math" panose="02040503050406030204" pitchFamily="18" charset="0"/>
                          </a:rPr>
                          <m:t>=0,</m:t>
                        </m:r>
                        <m:sSub>
                          <m:sSubPr>
                            <m:ctrlPr>
                              <a:rPr lang="en-US" sz="975" b="0" i="1" u="none" smtClean="0">
                                <a:solidFill>
                                  <a:srgbClr val="64748B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975" b="0" i="1" u="none" smtClean="0">
                                <a:solidFill>
                                  <a:srgbClr val="64748B"/>
                                </a:solidFill>
                                <a:latin typeface="Cambria Math" panose="02040503050406030204" pitchFamily="18" charset="0"/>
                              </a:rPr>
                              <m:t>a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sz="975" b="0" i="1" u="none" smtClean="0">
                                <a:solidFill>
                                  <a:srgbClr val="64748B"/>
                                </a:solidFill>
                                <a:latin typeface="Cambria Math" panose="02040503050406030204" pitchFamily="18" charset="0"/>
                              </a:rPr>
                              <m:t>n</m:t>
                            </m:r>
                          </m:sub>
                        </m:sSub>
                        <m:r>
                          <a:rPr lang="en-US" sz="975" b="0" i="1" u="none" smtClean="0">
                            <a:solidFill>
                              <a:srgbClr val="64748B"/>
                            </a:solidFill>
                            <a:latin typeface="Cambria Math" panose="02040503050406030204" pitchFamily="18" charset="0"/>
                          </a:rPr>
                          <m:t>=0</m:t>
                        </m:r>
                      </m:oMath>
                    </m:oMathPara>
                  </a14:m>
                  <a:endParaRPr sz="975" b="0" i="0" u="none" dirty="0">
                    <a:solidFill>
                      <a:srgbClr val="64748B"/>
                    </a:solidFill>
                    <a:latin typeface="Inter"/>
                  </a:endParaRPr>
                </a:p>
              </p:txBody>
            </p:sp>
          </mc:Choice>
          <mc:Fallback>
            <p:sp>
              <p:nvSpPr>
                <p:cNvPr id="67" name="TextBox 66">
                  <a:extLst>
                    <a:ext uri="{FF2B5EF4-FFF2-40B4-BE49-F238E27FC236}">
                      <a16:creationId xmlns:a16="http://schemas.microsoft.com/office/drawing/2014/main" id="{846C8FA1-8F70-C5E5-77FA-6FEC3280D47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151472" y="2310630"/>
                  <a:ext cx="815480" cy="150041"/>
                </a:xfrm>
                <a:prstGeom prst="rect">
                  <a:avLst/>
                </a:prstGeom>
                <a:blipFill>
                  <a:blip r:embed="rId21"/>
                  <a:stretch>
                    <a:fillRect r="-1538" b="-1538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68" name="TextBox 67">
                  <a:extLst>
                    <a:ext uri="{FF2B5EF4-FFF2-40B4-BE49-F238E27FC236}">
                      <a16:creationId xmlns:a16="http://schemas.microsoft.com/office/drawing/2014/main" id="{B2A5F971-4198-7E7B-8172-4DFFBC4C6B5C}"/>
                    </a:ext>
                  </a:extLst>
                </p:cNvPr>
                <p:cNvSpPr txBox="1"/>
                <p:nvPr/>
              </p:nvSpPr>
              <p:spPr>
                <a:xfrm>
                  <a:off x="2278338" y="1666284"/>
                  <a:ext cx="362691" cy="138499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anchor="t">
                  <a:spAutoFit/>
                </a:bodyPr>
                <a:lstStyle/>
                <a:p>
                  <a:pPr algn="l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900" b="1" i="1" u="none" smtClean="0">
                                <a:solidFill>
                                  <a:srgbClr val="64748B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900" b="1" i="1" u="none" smtClean="0">
                                <a:solidFill>
                                  <a:srgbClr val="64748B"/>
                                </a:solidFill>
                                <a:latin typeface="Cambria Math" panose="02040503050406030204" pitchFamily="18" charset="0"/>
                              </a:rPr>
                              <m:t>ℓ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sz="900" b="1" i="1" u="none" smtClean="0">
                                <a:solidFill>
                                  <a:srgbClr val="64748B"/>
                                </a:solidFill>
                                <a:latin typeface="Cambria Math" panose="02040503050406030204" pitchFamily="18" charset="0"/>
                              </a:rPr>
                              <m:t>s</m:t>
                            </m:r>
                          </m:sub>
                        </m:sSub>
                        <m:r>
                          <a:rPr lang="en-US" sz="900" b="1" i="1" u="none" smtClean="0">
                            <a:solidFill>
                              <a:srgbClr val="64748B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sz="900" b="1" i="1" u="none" smtClean="0">
                                <a:solidFill>
                                  <a:srgbClr val="64748B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900" b="1" i="1" u="none" smtClean="0">
                                <a:solidFill>
                                  <a:srgbClr val="64748B"/>
                                </a:solidFill>
                                <a:latin typeface="Cambria Math" panose="02040503050406030204" pitchFamily="18" charset="0"/>
                              </a:rPr>
                              <m:t>T</m:t>
                            </m:r>
                          </m:e>
                          <m:sub>
                            <m:r>
                              <a:rPr lang="en-US" sz="900" b="1" i="1" u="none" smtClean="0">
                                <a:solidFill>
                                  <a:srgbClr val="64748B"/>
                                </a:solidFill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oMath>
                    </m:oMathPara>
                  </a14:m>
                  <a:endParaRPr sz="900" b="1" i="0" u="none" dirty="0">
                    <a:solidFill>
                      <a:srgbClr val="64748B"/>
                    </a:solidFill>
                    <a:latin typeface="Inter"/>
                  </a:endParaRPr>
                </a:p>
              </p:txBody>
            </p:sp>
          </mc:Choice>
          <mc:Fallback>
            <p:sp>
              <p:nvSpPr>
                <p:cNvPr id="68" name="TextBox 67">
                  <a:extLst>
                    <a:ext uri="{FF2B5EF4-FFF2-40B4-BE49-F238E27FC236}">
                      <a16:creationId xmlns:a16="http://schemas.microsoft.com/office/drawing/2014/main" id="{B2A5F971-4198-7E7B-8172-4DFFBC4C6B5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278338" y="1666284"/>
                  <a:ext cx="362691" cy="138499"/>
                </a:xfrm>
                <a:prstGeom prst="rect">
                  <a:avLst/>
                </a:prstGeom>
                <a:blipFill>
                  <a:blip r:embed="rId22"/>
                  <a:stretch>
                    <a:fillRect b="-833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69" name="TextBox 68">
                  <a:extLst>
                    <a:ext uri="{FF2B5EF4-FFF2-40B4-BE49-F238E27FC236}">
                      <a16:creationId xmlns:a16="http://schemas.microsoft.com/office/drawing/2014/main" id="{3E9599FB-196C-6122-0044-982E18699890}"/>
                    </a:ext>
                  </a:extLst>
                </p:cNvPr>
                <p:cNvSpPr txBox="1"/>
                <p:nvPr/>
              </p:nvSpPr>
              <p:spPr>
                <a:xfrm>
                  <a:off x="9269357" y="1622264"/>
                  <a:ext cx="362691" cy="138499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anchor="t">
                  <a:spAutoFit/>
                </a:bodyPr>
                <a:lstStyle/>
                <a:p>
                  <a:pPr algn="l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900" b="1" i="1" u="none" smtClean="0">
                                <a:solidFill>
                                  <a:srgbClr val="64748B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900" b="1" i="1" u="none" smtClean="0">
                                <a:solidFill>
                                  <a:srgbClr val="64748B"/>
                                </a:solidFill>
                                <a:latin typeface="Cambria Math" panose="02040503050406030204" pitchFamily="18" charset="0"/>
                              </a:rPr>
                              <m:t>ℓ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sz="900" b="1" i="1" u="none" smtClean="0">
                                <a:solidFill>
                                  <a:srgbClr val="64748B"/>
                                </a:solidFill>
                                <a:latin typeface="Cambria Math" panose="02040503050406030204" pitchFamily="18" charset="0"/>
                              </a:rPr>
                              <m:t>s</m:t>
                            </m:r>
                          </m:sub>
                        </m:sSub>
                        <m:r>
                          <a:rPr lang="en-US" sz="900" b="1" i="1" u="none" smtClean="0">
                            <a:solidFill>
                              <a:srgbClr val="64748B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sz="900" b="1" i="1" u="none" smtClean="0">
                                <a:solidFill>
                                  <a:srgbClr val="64748B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900" b="1" i="1" u="none" smtClean="0">
                                <a:solidFill>
                                  <a:srgbClr val="64748B"/>
                                </a:solidFill>
                                <a:latin typeface="Cambria Math" panose="02040503050406030204" pitchFamily="18" charset="0"/>
                              </a:rPr>
                              <m:t>T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sz="900" b="1" i="1" u="none" smtClean="0">
                                <a:solidFill>
                                  <a:srgbClr val="64748B"/>
                                </a:solidFill>
                                <a:latin typeface="Cambria Math" panose="02040503050406030204" pitchFamily="18" charset="0"/>
                              </a:rPr>
                              <m:t>n</m:t>
                            </m:r>
                            <m:r>
                              <a:rPr lang="en-US" sz="900" b="1" i="1" u="none" smtClean="0">
                                <a:solidFill>
                                  <a:srgbClr val="64748B"/>
                                </a:solidFill>
                                <a:latin typeface="Cambria Math" panose="02040503050406030204" pitchFamily="18" charset="0"/>
                              </a:rPr>
                              <m:t>-1</m:t>
                            </m:r>
                          </m:sub>
                        </m:sSub>
                      </m:oMath>
                    </m:oMathPara>
                  </a14:m>
                  <a:endParaRPr sz="900" b="1" i="0" u="none" dirty="0">
                    <a:solidFill>
                      <a:srgbClr val="64748B"/>
                    </a:solidFill>
                    <a:latin typeface="Inter"/>
                  </a:endParaRPr>
                </a:p>
              </p:txBody>
            </p:sp>
          </mc:Choice>
          <mc:Fallback>
            <p:sp>
              <p:nvSpPr>
                <p:cNvPr id="69" name="TextBox 68">
                  <a:extLst>
                    <a:ext uri="{FF2B5EF4-FFF2-40B4-BE49-F238E27FC236}">
                      <a16:creationId xmlns:a16="http://schemas.microsoft.com/office/drawing/2014/main" id="{3E9599FB-196C-6122-0044-982E1869989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269357" y="1622264"/>
                  <a:ext cx="362691" cy="138499"/>
                </a:xfrm>
                <a:prstGeom prst="rect">
                  <a:avLst/>
                </a:prstGeom>
                <a:blipFill>
                  <a:blip r:embed="rId23"/>
                  <a:stretch>
                    <a:fillRect l="-10345" r="-3448" b="-833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70" name="TextBox 69">
                  <a:extLst>
                    <a:ext uri="{FF2B5EF4-FFF2-40B4-BE49-F238E27FC236}">
                      <a16:creationId xmlns:a16="http://schemas.microsoft.com/office/drawing/2014/main" id="{010A65F1-D366-74D3-0B2C-DA943277C76D}"/>
                    </a:ext>
                  </a:extLst>
                </p:cNvPr>
                <p:cNvSpPr txBox="1"/>
                <p:nvPr/>
              </p:nvSpPr>
              <p:spPr>
                <a:xfrm>
                  <a:off x="4338553" y="1547225"/>
                  <a:ext cx="362691" cy="138499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anchor="t">
                  <a:spAutoFit/>
                </a:bodyPr>
                <a:lstStyle/>
                <a:p>
                  <a:pPr algn="l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900" b="1" i="1" u="none" smtClean="0">
                                <a:solidFill>
                                  <a:srgbClr val="64748B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900" b="1" i="1" u="none" smtClean="0">
                                <a:solidFill>
                                  <a:srgbClr val="64748B"/>
                                </a:solidFill>
                                <a:latin typeface="Cambria Math" panose="02040503050406030204" pitchFamily="18" charset="0"/>
                              </a:rPr>
                              <m:t>ℓ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sz="900" b="1" i="1" u="none" smtClean="0">
                                <a:solidFill>
                                  <a:srgbClr val="64748B"/>
                                </a:solidFill>
                                <a:latin typeface="Cambria Math" panose="02040503050406030204" pitchFamily="18" charset="0"/>
                              </a:rPr>
                              <m:t>s</m:t>
                            </m:r>
                          </m:sub>
                        </m:sSub>
                        <m:r>
                          <a:rPr lang="en-US" sz="900" b="1" i="1" u="none" smtClean="0">
                            <a:solidFill>
                              <a:srgbClr val="64748B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sz="900" b="1" i="1" u="none" smtClean="0">
                                <a:solidFill>
                                  <a:srgbClr val="64748B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900" b="1" i="1" u="none" smtClean="0">
                                <a:solidFill>
                                  <a:srgbClr val="64748B"/>
                                </a:solidFill>
                                <a:latin typeface="Cambria Math" panose="02040503050406030204" pitchFamily="18" charset="0"/>
                              </a:rPr>
                              <m:t>T</m:t>
                            </m:r>
                          </m:e>
                          <m:sub>
                            <m:r>
                              <a:rPr lang="en-US" sz="900" b="1" i="1" u="none" smtClean="0">
                                <a:solidFill>
                                  <a:srgbClr val="64748B"/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sz="900" b="1" i="0" u="none" dirty="0">
                    <a:solidFill>
                      <a:srgbClr val="64748B"/>
                    </a:solidFill>
                    <a:latin typeface="Inter"/>
                  </a:endParaRPr>
                </a:p>
              </p:txBody>
            </p:sp>
          </mc:Choice>
          <mc:Fallback>
            <p:sp>
              <p:nvSpPr>
                <p:cNvPr id="70" name="TextBox 69">
                  <a:extLst>
                    <a:ext uri="{FF2B5EF4-FFF2-40B4-BE49-F238E27FC236}">
                      <a16:creationId xmlns:a16="http://schemas.microsoft.com/office/drawing/2014/main" id="{010A65F1-D366-74D3-0B2C-DA943277C76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338553" y="1547225"/>
                  <a:ext cx="362691" cy="138499"/>
                </a:xfrm>
                <a:prstGeom prst="rect">
                  <a:avLst/>
                </a:prstGeom>
                <a:blipFill>
                  <a:blip r:embed="rId24"/>
                  <a:stretch>
                    <a:fillRect b="-833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72" name="TextBox 71">
            <a:extLst>
              <a:ext uri="{FF2B5EF4-FFF2-40B4-BE49-F238E27FC236}">
                <a16:creationId xmlns:a16="http://schemas.microsoft.com/office/drawing/2014/main" id="{9D6F9FC2-8D85-2954-CEAB-AD602F44D419}"/>
              </a:ext>
            </a:extLst>
          </p:cNvPr>
          <p:cNvSpPr txBox="1"/>
          <p:nvPr/>
        </p:nvSpPr>
        <p:spPr>
          <a:xfrm>
            <a:off x="9307654" y="3350014"/>
            <a:ext cx="1870883" cy="18466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i="0" u="none">
                <a:solidFill>
                  <a:srgbClr val="0F172A"/>
                </a:solidFill>
                <a:latin typeface="Space Grotesk"/>
              </a:rPr>
              <a:t>Boundary Nodes (0 &amp; n)</a:t>
            </a: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8EB552E2-4FF1-FF10-EFBF-4226E7F01C4F}"/>
              </a:ext>
            </a:extLst>
          </p:cNvPr>
          <p:cNvSpPr txBox="1"/>
          <p:nvPr/>
        </p:nvSpPr>
        <p:spPr>
          <a:xfrm>
            <a:off x="812436" y="4973235"/>
            <a:ext cx="3612244" cy="16192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050" b="0" i="0" u="none">
                <a:solidFill>
                  <a:srgbClr val="64748B"/>
                </a:solidFill>
                <a:latin typeface="Inter"/>
              </a:rPr>
              <a:t>Explicit coordinate kinematic update.</a:t>
            </a:r>
          </a:p>
        </p:txBody>
      </p:sp>
      <p:grpSp>
        <p:nvGrpSpPr>
          <p:cNvPr id="95" name="Group 94">
            <a:extLst>
              <a:ext uri="{FF2B5EF4-FFF2-40B4-BE49-F238E27FC236}">
                <a16:creationId xmlns:a16="http://schemas.microsoft.com/office/drawing/2014/main" id="{E039D9E4-88ED-B3A5-A51F-7B7DEBEF6701}"/>
              </a:ext>
            </a:extLst>
          </p:cNvPr>
          <p:cNvGrpSpPr/>
          <p:nvPr/>
        </p:nvGrpSpPr>
        <p:grpSpPr>
          <a:xfrm>
            <a:off x="567614" y="4220760"/>
            <a:ext cx="3289845" cy="2333922"/>
            <a:chOff x="612411" y="4458885"/>
            <a:chExt cx="3289845" cy="2333922"/>
          </a:xfrm>
        </p:grpSpPr>
        <p:sp>
          <p:nvSpPr>
            <p:cNvPr id="73" name="Rounded Rectangle 72">
              <a:extLst>
                <a:ext uri="{FF2B5EF4-FFF2-40B4-BE49-F238E27FC236}">
                  <a16:creationId xmlns:a16="http://schemas.microsoft.com/office/drawing/2014/main" id="{7476A650-841F-83E1-7DA0-9B0D8F95F9BB}"/>
                </a:ext>
              </a:extLst>
            </p:cNvPr>
            <p:cNvSpPr/>
            <p:nvPr/>
          </p:nvSpPr>
          <p:spPr>
            <a:xfrm>
              <a:off x="612411" y="4458885"/>
              <a:ext cx="3289845" cy="2333922"/>
            </a:xfrm>
            <a:prstGeom prst="roundRect">
              <a:avLst>
                <a:gd name="adj" fmla="val 4897"/>
              </a:avLst>
            </a:prstGeom>
            <a:solidFill>
              <a:srgbClr val="F8FAFC"/>
            </a:solidFill>
            <a:ln w="9525">
              <a:solidFill>
                <a:srgbClr val="E2E8F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83" name="TextBox 82">
              <a:extLst>
                <a:ext uri="{FF2B5EF4-FFF2-40B4-BE49-F238E27FC236}">
                  <a16:creationId xmlns:a16="http://schemas.microsoft.com/office/drawing/2014/main" id="{069A1F68-4497-AF51-BF79-FD6619A9764A}"/>
                </a:ext>
              </a:extLst>
            </p:cNvPr>
            <p:cNvSpPr txBox="1"/>
            <p:nvPr/>
          </p:nvSpPr>
          <p:spPr>
            <a:xfrm>
              <a:off x="812436" y="6411807"/>
              <a:ext cx="2485149" cy="137545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algn="l"/>
              <a:r>
                <a:rPr sz="900" b="0" i="0" u="none" dirty="0">
                  <a:solidFill>
                    <a:srgbClr val="0F172A"/>
                  </a:solidFill>
                  <a:latin typeface="Inter"/>
                </a:rPr>
                <a:t>Impact node kinematically driven; anchor fixed.</a:t>
              </a:r>
            </a:p>
          </p:txBody>
        </p:sp>
        <p:sp>
          <p:nvSpPr>
            <p:cNvPr id="86" name="TextBox 85">
              <a:extLst>
                <a:ext uri="{FF2B5EF4-FFF2-40B4-BE49-F238E27FC236}">
                  <a16:creationId xmlns:a16="http://schemas.microsoft.com/office/drawing/2014/main" id="{D68C5850-35E7-E572-03BC-16F1CA084CA9}"/>
                </a:ext>
              </a:extLst>
            </p:cNvPr>
            <p:cNvSpPr txBox="1"/>
            <p:nvPr/>
          </p:nvSpPr>
          <p:spPr>
            <a:xfrm>
              <a:off x="812436" y="4697010"/>
              <a:ext cx="2568380" cy="207749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algn="l"/>
              <a:r>
                <a:rPr sz="1350" b="1" i="0" u="none" dirty="0">
                  <a:solidFill>
                    <a:schemeClr val="accent1">
                      <a:lumMod val="75000"/>
                    </a:schemeClr>
                  </a:solidFill>
                  <a:latin typeface="Space Grotesk"/>
                </a:rPr>
                <a:t>1. Position Advance</a:t>
              </a:r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91" name="TextBox 90">
                  <a:extLst>
                    <a:ext uri="{FF2B5EF4-FFF2-40B4-BE49-F238E27FC236}">
                      <a16:creationId xmlns:a16="http://schemas.microsoft.com/office/drawing/2014/main" id="{0920432C-39E7-E5D8-E73C-F5D49B9DF84A}"/>
                    </a:ext>
                  </a:extLst>
                </p:cNvPr>
                <p:cNvSpPr txBox="1"/>
                <p:nvPr/>
              </p:nvSpPr>
              <p:spPr>
                <a:xfrm>
                  <a:off x="1320316" y="5280174"/>
                  <a:ext cx="2060500" cy="345672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p>
                          <m:sSupPr>
                            <m:ctrlPr>
                              <a:rPr lang="en-US" sz="1200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acc>
                              <m:accPr>
                                <m:chr m:val="⃗"/>
                                <m:ctrlPr>
                                  <a:rPr lang="en-US" sz="12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sSub>
                                  <m:sSubPr>
                                    <m:ctrlPr>
                                      <a:rPr lang="en-US" sz="12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en-US" sz="1200" b="0" i="1" smtClean="0">
                                        <a:latin typeface="Cambria Math" panose="02040503050406030204" pitchFamily="18" charset="0"/>
                                      </a:rPr>
                                      <m:t>r</m:t>
                                    </m:r>
                                  </m:e>
                                  <m:sub>
                                    <m:r>
                                      <m:rPr>
                                        <m:sty m:val="p"/>
                                      </m:rPr>
                                      <a:rPr lang="en-US" sz="1200" b="0" i="1" smtClean="0">
                                        <a:latin typeface="Cambria Math" panose="02040503050406030204" pitchFamily="18" charset="0"/>
                                      </a:rPr>
                                      <m:t>i</m:t>
                                    </m:r>
                                  </m:sub>
                                </m:sSub>
                              </m:e>
                            </m:acc>
                          </m:e>
                          <m:sup>
                            <m:r>
                              <m:rPr>
                                <m:sty m:val="p"/>
                              </m:rPr>
                              <a:rPr lang="en-US" sz="1200" b="0" i="1" smtClean="0">
                                <a:latin typeface="Cambria Math" panose="02040503050406030204" pitchFamily="18" charset="0"/>
                              </a:rPr>
                              <m:t>n</m:t>
                            </m:r>
                            <m:r>
                              <a:rPr lang="en-US" sz="1200" b="0" i="1" smtClean="0">
                                <a:latin typeface="Cambria Math" panose="02040503050406030204" pitchFamily="18" charset="0"/>
                              </a:rPr>
                              <m:t>+1</m:t>
                            </m:r>
                          </m:sup>
                        </m:sSup>
                        <m:r>
                          <a:rPr lang="en-US" sz="1200" b="0" i="1" smtClean="0">
                            <a:latin typeface="Cambria Math" panose="02040503050406030204" pitchFamily="18" charset="0"/>
                          </a:rPr>
                          <m:t>=</m:t>
                        </m:r>
                        <m:sSup>
                          <m:sSupPr>
                            <m:ctrlPr>
                              <a:rPr lang="en-US" sz="12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acc>
                              <m:accPr>
                                <m:chr m:val="⃗"/>
                                <m:ctrlPr>
                                  <a:rPr lang="en-US" sz="1200" i="1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sSub>
                                  <m:sSubPr>
                                    <m:ctrlPr>
                                      <a:rPr lang="en-US" sz="12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en-US" sz="1200" i="1">
                                        <a:latin typeface="Cambria Math" panose="02040503050406030204" pitchFamily="18" charset="0"/>
                                      </a:rPr>
                                      <m:t>r</m:t>
                                    </m:r>
                                  </m:e>
                                  <m:sub>
                                    <m:r>
                                      <m:rPr>
                                        <m:sty m:val="p"/>
                                      </m:rPr>
                                      <a:rPr lang="en-US" sz="1200" i="1">
                                        <a:latin typeface="Cambria Math" panose="02040503050406030204" pitchFamily="18" charset="0"/>
                                      </a:rPr>
                                      <m:t>i</m:t>
                                    </m:r>
                                  </m:sub>
                                </m:sSub>
                              </m:e>
                            </m:acc>
                          </m:e>
                          <m:sup>
                            <m:r>
                              <m:rPr>
                                <m:sty m:val="p"/>
                              </m:rPr>
                              <a:rPr lang="en-US" sz="1200" i="1">
                                <a:latin typeface="Cambria Math" panose="02040503050406030204" pitchFamily="18" charset="0"/>
                              </a:rPr>
                              <m:t>n</m:t>
                            </m:r>
                          </m:sup>
                        </m:sSup>
                        <m:r>
                          <a:rPr lang="en-US" sz="1200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sSup>
                          <m:sSupPr>
                            <m:ctrlPr>
                              <a:rPr lang="en-US" sz="12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acc>
                              <m:accPr>
                                <m:chr m:val="⃗"/>
                                <m:ctrlPr>
                                  <a:rPr lang="en-US" sz="1200" i="1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sSub>
                                  <m:sSubPr>
                                    <m:ctrlPr>
                                      <a:rPr lang="en-US" sz="12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en-US" sz="1200" b="0" i="1" smtClean="0">
                                        <a:latin typeface="Cambria Math" panose="02040503050406030204" pitchFamily="18" charset="0"/>
                                      </a:rPr>
                                      <m:t>v</m:t>
                                    </m:r>
                                  </m:e>
                                  <m:sub>
                                    <m:r>
                                      <m:rPr>
                                        <m:sty m:val="p"/>
                                      </m:rPr>
                                      <a:rPr lang="en-US" sz="1200" i="1">
                                        <a:latin typeface="Cambria Math" panose="02040503050406030204" pitchFamily="18" charset="0"/>
                                      </a:rPr>
                                      <m:t>i</m:t>
                                    </m:r>
                                  </m:sub>
                                </m:sSub>
                              </m:e>
                            </m:acc>
                          </m:e>
                          <m:sup>
                            <m:r>
                              <m:rPr>
                                <m:sty m:val="p"/>
                              </m:rPr>
                              <a:rPr lang="en-US" sz="1200" i="1">
                                <a:latin typeface="Cambria Math" panose="02040503050406030204" pitchFamily="18" charset="0"/>
                              </a:rPr>
                              <m:t>n</m:t>
                            </m:r>
                          </m:sup>
                        </m:sSup>
                        <m:r>
                          <m:rPr>
                            <m:sty m:val="p"/>
                          </m:rPr>
                          <a:rPr lang="en-US" sz="1200" b="0" i="1" smtClean="0">
                            <a:latin typeface="Cambria Math" panose="02040503050406030204" pitchFamily="18" charset="0"/>
                          </a:rPr>
                          <m:t>Δt</m:t>
                        </m:r>
                        <m:r>
                          <a:rPr lang="en-US" sz="1200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f>
                          <m:fPr>
                            <m:ctrlPr>
                              <a:rPr lang="en-US" sz="1200" b="0" i="1" smtClean="0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sz="1200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num>
                          <m:den>
                            <m:r>
                              <a:rPr lang="en-US" sz="1200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den>
                        </m:f>
                        <m:sSup>
                          <m:sSupPr>
                            <m:ctrlPr>
                              <a:rPr lang="en-US" sz="12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acc>
                              <m:accPr>
                                <m:chr m:val="⃗"/>
                                <m:ctrlPr>
                                  <a:rPr lang="en-US" sz="1200" i="1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sSub>
                                  <m:sSubPr>
                                    <m:ctrlPr>
                                      <a:rPr lang="en-US" sz="12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en-US" sz="1200" b="0" i="1" smtClean="0">
                                        <a:latin typeface="Cambria Math" panose="02040503050406030204" pitchFamily="18" charset="0"/>
                                      </a:rPr>
                                      <m:t>a</m:t>
                                    </m:r>
                                  </m:e>
                                  <m:sub>
                                    <m:r>
                                      <m:rPr>
                                        <m:sty m:val="p"/>
                                      </m:rPr>
                                      <a:rPr lang="en-US" sz="1200" i="1">
                                        <a:latin typeface="Cambria Math" panose="02040503050406030204" pitchFamily="18" charset="0"/>
                                      </a:rPr>
                                      <m:t>i</m:t>
                                    </m:r>
                                  </m:sub>
                                </m:sSub>
                              </m:e>
                            </m:acc>
                          </m:e>
                          <m:sup>
                            <m:r>
                              <m:rPr>
                                <m:sty m:val="p"/>
                              </m:rPr>
                              <a:rPr lang="en-US" sz="1200" i="1">
                                <a:latin typeface="Cambria Math" panose="02040503050406030204" pitchFamily="18" charset="0"/>
                              </a:rPr>
                              <m:t>n</m:t>
                            </m:r>
                          </m:sup>
                        </m:sSup>
                        <m:r>
                          <m:rPr>
                            <m:sty m:val="p"/>
                          </m:rPr>
                          <a:rPr lang="en-US" sz="1200" b="0" i="1" smtClean="0">
                            <a:latin typeface="Cambria Math" panose="02040503050406030204" pitchFamily="18" charset="0"/>
                          </a:rPr>
                          <m:t>Δ</m:t>
                        </m:r>
                        <m:sSup>
                          <m:sSupPr>
                            <m:ctrlPr>
                              <a:rPr lang="en-US" sz="1200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m:rPr>
                                <m:sty m:val="p"/>
                              </m:rPr>
                              <a:rPr lang="en-US" sz="1200" b="0" i="1" smtClean="0">
                                <a:latin typeface="Cambria Math" panose="02040503050406030204" pitchFamily="18" charset="0"/>
                              </a:rPr>
                              <m:t>t</m:t>
                            </m:r>
                          </m:e>
                          <m:sup>
                            <m:r>
                              <a:rPr lang="en-US" sz="1200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oMath>
                    </m:oMathPara>
                  </a14:m>
                  <a:endParaRPr lang="en-US" sz="1200" dirty="0"/>
                </a:p>
              </p:txBody>
            </p:sp>
          </mc:Choice>
          <mc:Fallback>
            <p:sp>
              <p:nvSpPr>
                <p:cNvPr id="91" name="TextBox 90">
                  <a:extLst>
                    <a:ext uri="{FF2B5EF4-FFF2-40B4-BE49-F238E27FC236}">
                      <a16:creationId xmlns:a16="http://schemas.microsoft.com/office/drawing/2014/main" id="{0920432C-39E7-E5D8-E73C-F5D49B9DF84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320316" y="5280174"/>
                  <a:ext cx="2060500" cy="345672"/>
                </a:xfrm>
                <a:prstGeom prst="rect">
                  <a:avLst/>
                </a:prstGeom>
                <a:blipFill>
                  <a:blip r:embed="rId25"/>
                  <a:stretch>
                    <a:fillRect b="-1379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92" name="TextBox 91">
                  <a:extLst>
                    <a:ext uri="{FF2B5EF4-FFF2-40B4-BE49-F238E27FC236}">
                      <a16:creationId xmlns:a16="http://schemas.microsoft.com/office/drawing/2014/main" id="{3840DAA4-3D4F-7467-95F6-A2B9D5568B85}"/>
                    </a:ext>
                  </a:extLst>
                </p:cNvPr>
                <p:cNvSpPr txBox="1"/>
                <p:nvPr/>
              </p:nvSpPr>
              <p:spPr>
                <a:xfrm>
                  <a:off x="1389219" y="5756845"/>
                  <a:ext cx="1620252" cy="235642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p>
                          <m:sSupPr>
                            <m:ctrlPr>
                              <a:rPr lang="en-US" sz="12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acc>
                              <m:accPr>
                                <m:chr m:val="⃗"/>
                                <m:ctrlPr>
                                  <a:rPr lang="en-US" sz="1200" i="1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sSub>
                                  <m:sSubPr>
                                    <m:ctrlPr>
                                      <a:rPr lang="en-US" sz="12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en-US" sz="1200" i="1">
                                        <a:latin typeface="Cambria Math" panose="02040503050406030204" pitchFamily="18" charset="0"/>
                                      </a:rPr>
                                      <m:t>r</m:t>
                                    </m:r>
                                  </m:e>
                                  <m:sub>
                                    <m:r>
                                      <a:rPr lang="en-US" sz="1200" b="0" i="1" smtClean="0">
                                        <a:latin typeface="Cambria Math" panose="02040503050406030204" pitchFamily="18" charset="0"/>
                                      </a:rPr>
                                      <m:t>0</m:t>
                                    </m:r>
                                  </m:sub>
                                </m:sSub>
                              </m:e>
                            </m:acc>
                          </m:e>
                          <m:sup>
                            <m:r>
                              <m:rPr>
                                <m:sty m:val="p"/>
                              </m:rPr>
                              <a:rPr lang="en-US" sz="1200" i="1">
                                <a:latin typeface="Cambria Math" panose="02040503050406030204" pitchFamily="18" charset="0"/>
                              </a:rPr>
                              <m:t>n</m:t>
                            </m:r>
                            <m:r>
                              <a:rPr lang="en-US" sz="1200" i="1">
                                <a:latin typeface="Cambria Math" panose="02040503050406030204" pitchFamily="18" charset="0"/>
                              </a:rPr>
                              <m:t>+1</m:t>
                            </m:r>
                          </m:sup>
                        </m:sSup>
                        <m:r>
                          <a:rPr lang="en-US" sz="1200" b="0" i="1" smtClean="0">
                            <a:latin typeface="Cambria Math" panose="02040503050406030204" pitchFamily="18" charset="0"/>
                          </a:rPr>
                          <m:t>=</m:t>
                        </m:r>
                        <m:sSup>
                          <m:sSupPr>
                            <m:ctrlPr>
                              <a:rPr lang="en-US" sz="12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acc>
                              <m:accPr>
                                <m:chr m:val="⃗"/>
                                <m:ctrlPr>
                                  <a:rPr lang="en-US" sz="1200" i="1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sSub>
                                  <m:sSubPr>
                                    <m:ctrlPr>
                                      <a:rPr lang="en-US" sz="12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en-US" sz="1200" i="1">
                                        <a:latin typeface="Cambria Math" panose="02040503050406030204" pitchFamily="18" charset="0"/>
                                      </a:rPr>
                                      <m:t>r</m:t>
                                    </m:r>
                                  </m:e>
                                  <m:sub>
                                    <m:r>
                                      <a:rPr lang="en-US" sz="1200" b="0" i="1" smtClean="0">
                                        <a:latin typeface="Cambria Math" panose="02040503050406030204" pitchFamily="18" charset="0"/>
                                      </a:rPr>
                                      <m:t>0</m:t>
                                    </m:r>
                                  </m:sub>
                                </m:sSub>
                              </m:e>
                            </m:acc>
                          </m:e>
                          <m:sup>
                            <m:r>
                              <a:rPr lang="en-US" sz="1200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sup>
                        </m:sSup>
                        <m:r>
                          <a:rPr lang="en-US" sz="1200" i="1">
                            <a:latin typeface="Cambria Math" panose="02040503050406030204" pitchFamily="18" charset="0"/>
                          </a:rPr>
                          <m:t>+</m:t>
                        </m:r>
                        <m:sSub>
                          <m:sSubPr>
                            <m:ctrlPr>
                              <a:rPr lang="en-US" sz="120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1200" b="0" i="1" smtClean="0">
                                <a:latin typeface="Cambria Math" panose="02040503050406030204" pitchFamily="18" charset="0"/>
                              </a:rPr>
                              <m:t>v</m:t>
                            </m:r>
                          </m:e>
                          <m:sub>
                            <m:r>
                              <a:rPr lang="en-US" sz="1200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  <m:sSup>
                          <m:sSupPr>
                            <m:ctrlPr>
                              <a:rPr lang="en-US" sz="120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m:rPr>
                                <m:sty m:val="p"/>
                              </m:rPr>
                              <a:rPr lang="en-US" sz="1200" b="0" i="1" smtClean="0">
                                <a:latin typeface="Cambria Math" panose="02040503050406030204" pitchFamily="18" charset="0"/>
                              </a:rPr>
                              <m:t>t</m:t>
                            </m:r>
                          </m:e>
                          <m:sup>
                            <m:r>
                              <m:rPr>
                                <m:sty m:val="p"/>
                              </m:rPr>
                              <a:rPr lang="en-US" sz="1200" b="0" i="1" smtClean="0">
                                <a:latin typeface="Cambria Math" panose="02040503050406030204" pitchFamily="18" charset="0"/>
                              </a:rPr>
                              <m:t>n</m:t>
                            </m:r>
                            <m:r>
                              <a:rPr lang="en-US" sz="1200" b="0" i="1" smtClean="0">
                                <a:latin typeface="Cambria Math" panose="02040503050406030204" pitchFamily="18" charset="0"/>
                              </a:rPr>
                              <m:t>+1</m:t>
                            </m:r>
                          </m:sup>
                        </m:sSup>
                        <m:acc>
                          <m:accPr>
                            <m:chr m:val="⃗"/>
                            <m:ctrlPr>
                              <a:rPr lang="en-US" sz="120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sSub>
                              <m:sSubPr>
                                <m:ctrlPr>
                                  <a:rPr lang="en-US" sz="120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1200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sz="1200" b="0" i="1" smtClean="0">
                                    <a:latin typeface="Cambria Math" panose="02040503050406030204" pitchFamily="18" charset="0"/>
                                  </a:rPr>
                                  <m:t>y</m:t>
                                </m:r>
                              </m:sub>
                            </m:sSub>
                          </m:e>
                        </m:acc>
                      </m:oMath>
                    </m:oMathPara>
                  </a14:m>
                  <a:endParaRPr lang="en-US" sz="1200" dirty="0"/>
                </a:p>
              </p:txBody>
            </p:sp>
          </mc:Choice>
          <mc:Fallback>
            <p:sp>
              <p:nvSpPr>
                <p:cNvPr id="92" name="TextBox 91">
                  <a:extLst>
                    <a:ext uri="{FF2B5EF4-FFF2-40B4-BE49-F238E27FC236}">
                      <a16:creationId xmlns:a16="http://schemas.microsoft.com/office/drawing/2014/main" id="{3840DAA4-3D4F-7467-95F6-A2B9D5568B8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389219" y="5756845"/>
                  <a:ext cx="1620252" cy="235642"/>
                </a:xfrm>
                <a:prstGeom prst="rect">
                  <a:avLst/>
                </a:prstGeom>
                <a:blipFill>
                  <a:blip r:embed="rId26"/>
                  <a:stretch>
                    <a:fillRect t="-5000" b="-100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mc:AlternateContent xmlns:mc="http://schemas.openxmlformats.org/markup-compatibility/2006">
        <mc:Choice xmlns:a14="http://schemas.microsoft.com/office/drawing/2010/main" Requires="a14">
          <p:sp>
            <p:nvSpPr>
              <p:cNvPr id="93" name="TextBox 92">
                <a:extLst>
                  <a:ext uri="{FF2B5EF4-FFF2-40B4-BE49-F238E27FC236}">
                    <a16:creationId xmlns:a16="http://schemas.microsoft.com/office/drawing/2014/main" id="{A9F8171A-BD23-076E-6470-454847400327}"/>
                  </a:ext>
                </a:extLst>
              </p:cNvPr>
              <p:cNvSpPr txBox="1"/>
              <p:nvPr/>
            </p:nvSpPr>
            <p:spPr>
              <a:xfrm>
                <a:off x="4934993" y="3622097"/>
                <a:ext cx="1232260" cy="18466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200" i="1" smtClean="0">
                              <a:solidFill>
                                <a:schemeClr val="accent1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1200" b="0" i="1" smtClean="0">
                              <a:solidFill>
                                <a:schemeClr val="accent1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m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1200" b="0" i="1" smtClean="0">
                              <a:solidFill>
                                <a:schemeClr val="accent1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i</m:t>
                          </m:r>
                        </m:sub>
                      </m:sSub>
                      <m:r>
                        <a:rPr lang="en-US" sz="1200" b="0" i="1" smtClean="0">
                          <a:solidFill>
                            <a:schemeClr val="accent1">
                              <a:lumMod val="75000"/>
                            </a:schemeClr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sz="1200" b="0" i="1" smtClean="0">
                              <a:solidFill>
                                <a:schemeClr val="accent1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1200" b="0" i="1" smtClean="0">
                              <a:solidFill>
                                <a:schemeClr val="accent1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μ</m:t>
                          </m:r>
                        </m:e>
                        <m:sub>
                          <m:r>
                            <a:rPr lang="en-US" sz="1200" b="0" i="1" smtClean="0">
                              <a:solidFill>
                                <a:schemeClr val="accent1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sSub>
                        <m:sSubPr>
                          <m:ctrlPr>
                            <a:rPr lang="en-US" sz="1200" b="0" i="1" smtClean="0">
                              <a:solidFill>
                                <a:schemeClr val="accent1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200" b="0" i="1" smtClean="0">
                              <a:solidFill>
                                <a:schemeClr val="accent1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ℓ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1200" b="0" i="1" smtClean="0">
                              <a:solidFill>
                                <a:schemeClr val="accent1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s</m:t>
                          </m:r>
                        </m:sub>
                      </m:sSub>
                      <m:r>
                        <a:rPr lang="en-US" sz="1200" b="0" i="1" smtClean="0">
                          <a:solidFill>
                            <a:schemeClr val="accent1">
                              <a:lumMod val="75000"/>
                            </a:schemeClr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m:rPr>
                          <m:sty m:val="p"/>
                        </m:rPr>
                        <a:rPr lang="en-US" sz="1200" b="0" i="1" smtClean="0">
                          <a:solidFill>
                            <a:schemeClr val="accent1">
                              <a:lumMod val="75000"/>
                            </a:schemeClr>
                          </a:solidFill>
                          <a:latin typeface="Cambria Math" panose="02040503050406030204" pitchFamily="18" charset="0"/>
                        </a:rPr>
                        <m:t>ρA</m:t>
                      </m:r>
                      <m:sSub>
                        <m:sSubPr>
                          <m:ctrlPr>
                            <a:rPr lang="en-US" sz="1200" b="0" i="1" smtClean="0">
                              <a:solidFill>
                                <a:schemeClr val="accent1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200" b="0" i="1" smtClean="0">
                              <a:solidFill>
                                <a:schemeClr val="accent1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ℓ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1200" b="0" i="1" smtClean="0">
                              <a:solidFill>
                                <a:schemeClr val="accent1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s</m:t>
                          </m:r>
                        </m:sub>
                      </m:sSub>
                    </m:oMath>
                  </m:oMathPara>
                </a14:m>
                <a:endParaRPr lang="en-US" sz="1200" dirty="0">
                  <a:solidFill>
                    <a:schemeClr val="accent1">
                      <a:lumMod val="75000"/>
                    </a:schemeClr>
                  </a:solidFill>
                </a:endParaRPr>
              </a:p>
            </p:txBody>
          </p:sp>
        </mc:Choice>
        <mc:Fallback>
          <p:sp>
            <p:nvSpPr>
              <p:cNvPr id="93" name="TextBox 92">
                <a:extLst>
                  <a:ext uri="{FF2B5EF4-FFF2-40B4-BE49-F238E27FC236}">
                    <a16:creationId xmlns:a16="http://schemas.microsoft.com/office/drawing/2014/main" id="{A9F8171A-BD23-076E-6470-45484740032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934993" y="3622097"/>
                <a:ext cx="1232260" cy="184666"/>
              </a:xfrm>
              <a:prstGeom prst="rect">
                <a:avLst/>
              </a:prstGeom>
              <a:blipFill>
                <a:blip r:embed="rId27"/>
                <a:stretch>
                  <a:fillRect l="-1020" b="-40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94" name="TextBox 93">
                <a:extLst>
                  <a:ext uri="{FF2B5EF4-FFF2-40B4-BE49-F238E27FC236}">
                    <a16:creationId xmlns:a16="http://schemas.microsoft.com/office/drawing/2014/main" id="{08AD87B5-2AD5-E3D7-CA90-256D499F96E3}"/>
                  </a:ext>
                </a:extLst>
              </p:cNvPr>
              <p:cNvSpPr txBox="1"/>
              <p:nvPr/>
            </p:nvSpPr>
            <p:spPr>
              <a:xfrm>
                <a:off x="9363248" y="3486889"/>
                <a:ext cx="1257908" cy="34567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200" i="1" smtClean="0">
                              <a:solidFill>
                                <a:schemeClr val="accent1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1200" b="0" i="1" smtClean="0">
                              <a:solidFill>
                                <a:schemeClr val="accent1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m</m:t>
                          </m:r>
                        </m:e>
                        <m:sub>
                          <m:r>
                            <a:rPr lang="en-US" sz="1200" b="0" i="1" smtClean="0">
                              <a:solidFill>
                                <a:schemeClr val="accent1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en-US" sz="1200" b="0" i="1" smtClean="0">
                          <a:solidFill>
                            <a:schemeClr val="accent1">
                              <a:lumMod val="75000"/>
                            </a:schemeClr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sz="1200" i="1">
                              <a:solidFill>
                                <a:schemeClr val="accent1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1200" i="1">
                              <a:solidFill>
                                <a:schemeClr val="accent1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m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1200" b="0" i="1" smtClean="0">
                              <a:solidFill>
                                <a:schemeClr val="accent1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n</m:t>
                          </m:r>
                        </m:sub>
                      </m:sSub>
                      <m:r>
                        <a:rPr lang="en-US" sz="1200" b="0" i="1" smtClean="0">
                          <a:solidFill>
                            <a:schemeClr val="accent1">
                              <a:lumMod val="75000"/>
                            </a:schemeClr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sz="1200" b="0" i="1" smtClean="0">
                              <a:solidFill>
                                <a:schemeClr val="accent1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1200" b="0" i="1" smtClean="0">
                              <a:solidFill>
                                <a:schemeClr val="accent1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sz="1200" b="0" i="1" smtClean="0">
                              <a:solidFill>
                                <a:schemeClr val="accent1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sSub>
                        <m:sSubPr>
                          <m:ctrlPr>
                            <a:rPr lang="en-US" sz="1200" b="0" i="1" smtClean="0">
                              <a:solidFill>
                                <a:schemeClr val="accent1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1200" b="0" i="1" smtClean="0">
                              <a:solidFill>
                                <a:schemeClr val="accent1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μ</m:t>
                          </m:r>
                        </m:e>
                        <m:sub>
                          <m:r>
                            <a:rPr lang="en-US" sz="1200" b="0" i="1" smtClean="0">
                              <a:solidFill>
                                <a:schemeClr val="accent1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sSub>
                        <m:sSubPr>
                          <m:ctrlPr>
                            <a:rPr lang="en-US" sz="1200" b="0" i="1" smtClean="0">
                              <a:solidFill>
                                <a:schemeClr val="accent1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200" b="0" i="1" smtClean="0">
                              <a:solidFill>
                                <a:schemeClr val="accent1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ℓ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1200" b="0" i="1" smtClean="0">
                              <a:solidFill>
                                <a:schemeClr val="accent1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s</m:t>
                          </m:r>
                        </m:sub>
                      </m:sSub>
                    </m:oMath>
                  </m:oMathPara>
                </a14:m>
                <a:endParaRPr lang="en-US" sz="1200" dirty="0">
                  <a:solidFill>
                    <a:schemeClr val="accent1">
                      <a:lumMod val="75000"/>
                    </a:schemeClr>
                  </a:solidFill>
                </a:endParaRPr>
              </a:p>
            </p:txBody>
          </p:sp>
        </mc:Choice>
        <mc:Fallback>
          <p:sp>
            <p:nvSpPr>
              <p:cNvPr id="94" name="TextBox 93">
                <a:extLst>
                  <a:ext uri="{FF2B5EF4-FFF2-40B4-BE49-F238E27FC236}">
                    <a16:creationId xmlns:a16="http://schemas.microsoft.com/office/drawing/2014/main" id="{08AD87B5-2AD5-E3D7-CA90-256D499F96E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363248" y="3486889"/>
                <a:ext cx="1257908" cy="345672"/>
              </a:xfrm>
              <a:prstGeom prst="rect">
                <a:avLst/>
              </a:prstGeom>
              <a:blipFill>
                <a:blip r:embed="rId28"/>
                <a:stretch>
                  <a:fillRect l="-1000" b="-1428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00" name="Group 99">
            <a:extLst>
              <a:ext uri="{FF2B5EF4-FFF2-40B4-BE49-F238E27FC236}">
                <a16:creationId xmlns:a16="http://schemas.microsoft.com/office/drawing/2014/main" id="{18056A96-FE21-E0C5-E5B9-29EF9921C7E3}"/>
              </a:ext>
            </a:extLst>
          </p:cNvPr>
          <p:cNvGrpSpPr/>
          <p:nvPr/>
        </p:nvGrpSpPr>
        <p:grpSpPr>
          <a:xfrm>
            <a:off x="4089871" y="4220760"/>
            <a:ext cx="4012257" cy="2333922"/>
            <a:chOff x="4092756" y="4458885"/>
            <a:chExt cx="4012257" cy="2333922"/>
          </a:xfrm>
        </p:grpSpPr>
        <p:sp>
          <p:nvSpPr>
            <p:cNvPr id="74" name="Rounded Rectangle 73">
              <a:extLst>
                <a:ext uri="{FF2B5EF4-FFF2-40B4-BE49-F238E27FC236}">
                  <a16:creationId xmlns:a16="http://schemas.microsoft.com/office/drawing/2014/main" id="{C23A3700-26B9-E2C9-AE5B-39D53B5A59D6}"/>
                </a:ext>
              </a:extLst>
            </p:cNvPr>
            <p:cNvSpPr/>
            <p:nvPr/>
          </p:nvSpPr>
          <p:spPr>
            <a:xfrm>
              <a:off x="4092756" y="4458885"/>
              <a:ext cx="4012257" cy="2333922"/>
            </a:xfrm>
            <a:prstGeom prst="roundRect">
              <a:avLst>
                <a:gd name="adj" fmla="val 4897"/>
              </a:avLst>
            </a:prstGeom>
            <a:solidFill>
              <a:srgbClr val="F8FAFC"/>
            </a:solidFill>
            <a:ln w="9525">
              <a:solidFill>
                <a:srgbClr val="E2E8F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88" name="TextBox 87">
              <a:extLst>
                <a:ext uri="{FF2B5EF4-FFF2-40B4-BE49-F238E27FC236}">
                  <a16:creationId xmlns:a16="http://schemas.microsoft.com/office/drawing/2014/main" id="{DC621E0C-FEB1-DB57-9F3E-66863B930913}"/>
                </a:ext>
              </a:extLst>
            </p:cNvPr>
            <p:cNvSpPr txBox="1"/>
            <p:nvPr/>
          </p:nvSpPr>
          <p:spPr>
            <a:xfrm>
              <a:off x="4292781" y="4697010"/>
              <a:ext cx="2612546" cy="207749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algn="l"/>
              <a:r>
                <a:rPr sz="1350" b="1" i="0" u="none" dirty="0">
                  <a:solidFill>
                    <a:schemeClr val="accent1">
                      <a:lumMod val="75000"/>
                    </a:schemeClr>
                  </a:solidFill>
                  <a:latin typeface="Space Grotesk"/>
                </a:rPr>
                <a:t>2. Evaluate Nodal Forces</a:t>
              </a:r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84" name="TextBox 83">
                  <a:extLst>
                    <a:ext uri="{FF2B5EF4-FFF2-40B4-BE49-F238E27FC236}">
                      <a16:creationId xmlns:a16="http://schemas.microsoft.com/office/drawing/2014/main" id="{AAB5B531-5478-1C8D-A6FE-34508BD91AAD}"/>
                    </a:ext>
                  </a:extLst>
                </p:cNvPr>
                <p:cNvSpPr txBox="1"/>
                <p:nvPr/>
              </p:nvSpPr>
              <p:spPr>
                <a:xfrm>
                  <a:off x="4292782" y="6411807"/>
                  <a:ext cx="2555396" cy="138499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anchor="t">
                  <a:spAutoFit/>
                </a:bodyPr>
                <a:lstStyle/>
                <a:p>
                  <a:pPr algn="l"/>
                  <a:r>
                    <a:rPr sz="900" b="0" i="0" u="none" dirty="0">
                      <a:solidFill>
                        <a:srgbClr val="0F172A"/>
                      </a:solidFill>
                      <a:latin typeface="Inter"/>
                    </a:rPr>
                    <a:t>Zero tension under compression (</a:t>
                  </a:r>
                  <a14:m>
                    <m:oMath xmlns:m="http://schemas.openxmlformats.org/officeDocument/2006/math">
                      <m:sSub>
                        <m:sSubPr>
                          <m:ctrlPr>
                            <a:rPr lang="en-US" sz="900" b="0" i="1" u="none" smtClean="0">
                              <a:solidFill>
                                <a:srgbClr val="0F172A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900" b="0" i="1" u="none" smtClean="0">
                              <a:solidFill>
                                <a:srgbClr val="0F172A"/>
                              </a:solidFill>
                              <a:latin typeface="Cambria Math" panose="02040503050406030204" pitchFamily="18" charset="0"/>
                            </a:rPr>
                            <m:t>T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900" b="0" i="1" u="none" smtClean="0">
                              <a:solidFill>
                                <a:srgbClr val="0F172A"/>
                              </a:solidFill>
                              <a:latin typeface="Cambria Math" panose="02040503050406030204" pitchFamily="18" charset="0"/>
                            </a:rPr>
                            <m:t>i</m:t>
                          </m:r>
                        </m:sub>
                      </m:sSub>
                      <m:r>
                        <a:rPr lang="en-US" sz="900" b="0" i="1" u="none" smtClean="0">
                          <a:solidFill>
                            <a:srgbClr val="0F172A"/>
                          </a:solidFill>
                          <a:latin typeface="Cambria Math" panose="02040503050406030204" pitchFamily="18" charset="0"/>
                        </a:rPr>
                        <m:t>=0 </m:t>
                      </m:r>
                      <m:r>
                        <m:rPr>
                          <m:sty m:val="p"/>
                        </m:rPr>
                        <a:rPr lang="en-US" sz="900" b="0" i="1" u="none" smtClean="0">
                          <a:solidFill>
                            <a:srgbClr val="0F172A"/>
                          </a:solidFill>
                          <a:latin typeface="Cambria Math" panose="02040503050406030204" pitchFamily="18" charset="0"/>
                        </a:rPr>
                        <m:t>if</m:t>
                      </m:r>
                      <m:r>
                        <a:rPr lang="en-US" sz="900" b="0" i="1" u="none" smtClean="0">
                          <a:solidFill>
                            <a:srgbClr val="0F172A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sSub>
                        <m:sSubPr>
                          <m:ctrlPr>
                            <a:rPr lang="en-US" sz="900" b="0" i="1" u="none" smtClean="0">
                              <a:solidFill>
                                <a:srgbClr val="0F172A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900" b="0" i="1" u="none" smtClean="0">
                              <a:solidFill>
                                <a:srgbClr val="0F172A"/>
                              </a:solidFill>
                              <a:latin typeface="Cambria Math" panose="02040503050406030204" pitchFamily="18" charset="0"/>
                            </a:rPr>
                            <m:t>ϵ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900" b="0" i="1" u="none" smtClean="0">
                              <a:solidFill>
                                <a:srgbClr val="0F172A"/>
                              </a:solidFill>
                              <a:latin typeface="Cambria Math" panose="02040503050406030204" pitchFamily="18" charset="0"/>
                            </a:rPr>
                            <m:t>i</m:t>
                          </m:r>
                        </m:sub>
                      </m:sSub>
                      <m:r>
                        <a:rPr lang="en-US" sz="900" b="0" i="1" u="none" smtClean="0">
                          <a:solidFill>
                            <a:srgbClr val="0F172A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≤0</m:t>
                      </m:r>
                    </m:oMath>
                  </a14:m>
                  <a:r>
                    <a:rPr lang="en-US" sz="900" b="0" i="0" u="none" dirty="0">
                      <a:solidFill>
                        <a:srgbClr val="0F172A"/>
                      </a:solidFill>
                      <a:latin typeface="Inter"/>
                    </a:rPr>
                    <a:t>).</a:t>
                  </a:r>
                  <a:endParaRPr sz="900" b="0" i="0" u="none" dirty="0">
                    <a:solidFill>
                      <a:srgbClr val="0F172A"/>
                    </a:solidFill>
                    <a:latin typeface="Inter"/>
                  </a:endParaRPr>
                </a:p>
              </p:txBody>
            </p:sp>
          </mc:Choice>
          <mc:Fallback>
            <p:sp>
              <p:nvSpPr>
                <p:cNvPr id="84" name="TextBox 83">
                  <a:extLst>
                    <a:ext uri="{FF2B5EF4-FFF2-40B4-BE49-F238E27FC236}">
                      <a16:creationId xmlns:a16="http://schemas.microsoft.com/office/drawing/2014/main" id="{AAB5B531-5478-1C8D-A6FE-34508BD91AA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292782" y="6411807"/>
                  <a:ext cx="2555396" cy="138499"/>
                </a:xfrm>
                <a:prstGeom prst="rect">
                  <a:avLst/>
                </a:prstGeom>
                <a:blipFill>
                  <a:blip r:embed="rId29"/>
                  <a:stretch>
                    <a:fillRect l="-2463" t="-27273" b="-5454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89" name="TextBox 88">
              <a:extLst>
                <a:ext uri="{FF2B5EF4-FFF2-40B4-BE49-F238E27FC236}">
                  <a16:creationId xmlns:a16="http://schemas.microsoft.com/office/drawing/2014/main" id="{DE7CF3FB-79D2-5AD8-6B64-091AA75B38F2}"/>
                </a:ext>
              </a:extLst>
            </p:cNvPr>
            <p:cNvSpPr txBox="1"/>
            <p:nvPr/>
          </p:nvSpPr>
          <p:spPr>
            <a:xfrm>
              <a:off x="4292782" y="4973235"/>
              <a:ext cx="3033052" cy="161925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algn="l"/>
              <a:r>
                <a:rPr sz="1050" b="0" i="0" u="none">
                  <a:solidFill>
                    <a:srgbClr val="64748B"/>
                  </a:solidFill>
                  <a:latin typeface="Inter"/>
                </a:rPr>
                <a:t>Nonlinear tension along segment unit vector.</a:t>
              </a:r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96" name="TextBox 95">
                  <a:extLst>
                    <a:ext uri="{FF2B5EF4-FFF2-40B4-BE49-F238E27FC236}">
                      <a16:creationId xmlns:a16="http://schemas.microsoft.com/office/drawing/2014/main" id="{B33BF6B1-ABA5-A506-2AFC-68461685A604}"/>
                    </a:ext>
                  </a:extLst>
                </p:cNvPr>
                <p:cNvSpPr txBox="1"/>
                <p:nvPr/>
              </p:nvSpPr>
              <p:spPr>
                <a:xfrm>
                  <a:off x="5235128" y="5235226"/>
                  <a:ext cx="1479699" cy="432683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120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1200" b="0" i="1" smtClean="0">
                                <a:latin typeface="Cambria Math" panose="02040503050406030204" pitchFamily="18" charset="0"/>
                              </a:rPr>
                              <m:t>ϵ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sz="1200" b="0" i="1" smtClean="0">
                                <a:latin typeface="Cambria Math" panose="02040503050406030204" pitchFamily="18" charset="0"/>
                              </a:rPr>
                              <m:t>i</m:t>
                            </m:r>
                          </m:sub>
                        </m:sSub>
                        <m:r>
                          <a:rPr lang="en-US" sz="1200" b="0" i="1" smtClean="0">
                            <a:latin typeface="Cambria Math" panose="02040503050406030204" pitchFamily="18" charset="0"/>
                          </a:rPr>
                          <m:t>=</m:t>
                        </m:r>
                        <m:f>
                          <m:fPr>
                            <m:ctrlPr>
                              <a:rPr lang="en-US" sz="1200" b="0" i="1" smtClean="0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d>
                              <m:dPr>
                                <m:begChr m:val="|"/>
                                <m:endChr m:val="|"/>
                                <m:ctrlPr>
                                  <a:rPr lang="en-US" sz="12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sSup>
                                  <m:sSupPr>
                                    <m:ctrlPr>
                                      <a:rPr lang="en-US" sz="12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acc>
                                      <m:accPr>
                                        <m:chr m:val="⃗"/>
                                        <m:ctrlPr>
                                          <a:rPr lang="en-US" sz="1200" b="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accPr>
                                      <m:e>
                                        <m:sSub>
                                          <m:sSubPr>
                                            <m:ctrlPr>
                                              <a:rPr lang="en-US" sz="1200" b="0" i="1" smtClean="0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sSubPr>
                                          <m:e>
                                            <m:r>
                                              <m:rPr>
                                                <m:sty m:val="p"/>
                                              </m:rPr>
                                              <a:rPr lang="en-US" sz="1200" b="0" i="1" smtClean="0">
                                                <a:latin typeface="Cambria Math" panose="02040503050406030204" pitchFamily="18" charset="0"/>
                                              </a:rPr>
                                              <m:t>r</m:t>
                                            </m:r>
                                          </m:e>
                                          <m:sub>
                                            <m:r>
                                              <m:rPr>
                                                <m:sty m:val="p"/>
                                              </m:rPr>
                                              <a:rPr lang="en-US" sz="1200" b="0" i="1" smtClean="0">
                                                <a:latin typeface="Cambria Math" panose="02040503050406030204" pitchFamily="18" charset="0"/>
                                              </a:rPr>
                                              <m:t>i</m:t>
                                            </m:r>
                                            <m:r>
                                              <a:rPr lang="en-US" sz="1200" b="0" i="1" smtClean="0">
                                                <a:latin typeface="Cambria Math" panose="02040503050406030204" pitchFamily="18" charset="0"/>
                                              </a:rPr>
                                              <m:t>+1</m:t>
                                            </m:r>
                                          </m:sub>
                                        </m:sSub>
                                      </m:e>
                                    </m:acc>
                                  </m:e>
                                  <m:sup>
                                    <m:r>
                                      <m:rPr>
                                        <m:sty m:val="p"/>
                                      </m:rPr>
                                      <a:rPr lang="en-US" sz="1200" b="0" i="1" smtClean="0">
                                        <a:latin typeface="Cambria Math" panose="02040503050406030204" pitchFamily="18" charset="0"/>
                                      </a:rPr>
                                      <m:t>n</m:t>
                                    </m:r>
                                    <m:r>
                                      <a:rPr lang="en-US" sz="1200" b="0" i="1" smtClean="0">
                                        <a:latin typeface="Cambria Math" panose="02040503050406030204" pitchFamily="18" charset="0"/>
                                      </a:rPr>
                                      <m:t>+1</m:t>
                                    </m:r>
                                  </m:sup>
                                </m:sSup>
                                <m:r>
                                  <a:rPr lang="en-US" sz="1200" b="0" i="1" smtClean="0">
                                    <a:latin typeface="Cambria Math" panose="02040503050406030204" pitchFamily="18" charset="0"/>
                                  </a:rPr>
                                  <m:t>-</m:t>
                                </m:r>
                                <m:sSup>
                                  <m:sSupPr>
                                    <m:ctrlPr>
                                      <a:rPr lang="en-US" sz="12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acc>
                                      <m:accPr>
                                        <m:chr m:val="⃗"/>
                                        <m:ctrlPr>
                                          <a:rPr lang="en-US" sz="12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accPr>
                                      <m:e>
                                        <m:sSub>
                                          <m:sSubPr>
                                            <m:ctrlPr>
                                              <a:rPr lang="en-US" sz="1200" i="1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sSubPr>
                                          <m:e>
                                            <m:r>
                                              <m:rPr>
                                                <m:sty m:val="p"/>
                                              </m:rPr>
                                              <a:rPr lang="en-US" sz="1200" i="1">
                                                <a:latin typeface="Cambria Math" panose="02040503050406030204" pitchFamily="18" charset="0"/>
                                              </a:rPr>
                                              <m:t>r</m:t>
                                            </m:r>
                                          </m:e>
                                          <m:sub>
                                            <m:r>
                                              <m:rPr>
                                                <m:sty m:val="p"/>
                                              </m:rPr>
                                              <a:rPr lang="en-US" sz="1200" i="1">
                                                <a:latin typeface="Cambria Math" panose="02040503050406030204" pitchFamily="18" charset="0"/>
                                              </a:rPr>
                                              <m:t>i</m:t>
                                            </m:r>
                                          </m:sub>
                                        </m:sSub>
                                      </m:e>
                                    </m:acc>
                                  </m:e>
                                  <m:sup>
                                    <m:r>
                                      <m:rPr>
                                        <m:sty m:val="p"/>
                                      </m:rPr>
                                      <a:rPr lang="en-US" sz="1200" i="1">
                                        <a:latin typeface="Cambria Math" panose="02040503050406030204" pitchFamily="18" charset="0"/>
                                      </a:rPr>
                                      <m:t>n</m:t>
                                    </m:r>
                                    <m:r>
                                      <a:rPr lang="en-US" sz="1200" i="1">
                                        <a:latin typeface="Cambria Math" panose="02040503050406030204" pitchFamily="18" charset="0"/>
                                      </a:rPr>
                                      <m:t>+1</m:t>
                                    </m:r>
                                  </m:sup>
                                </m:sSup>
                              </m:e>
                            </m:d>
                          </m:num>
                          <m:den>
                            <m:sSub>
                              <m:sSubPr>
                                <m:ctrlPr>
                                  <a:rPr lang="en-US" sz="12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1200" b="0" i="1" smtClean="0">
                                    <a:latin typeface="Cambria Math" panose="02040503050406030204" pitchFamily="18" charset="0"/>
                                  </a:rPr>
                                  <m:t>ℓ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sz="1200" b="0" i="1" smtClean="0">
                                    <a:latin typeface="Cambria Math" panose="02040503050406030204" pitchFamily="18" charset="0"/>
                                  </a:rPr>
                                  <m:t>s</m:t>
                                </m:r>
                              </m:sub>
                            </m:sSub>
                          </m:den>
                        </m:f>
                        <m:r>
                          <a:rPr lang="en-US" sz="1200" b="0" i="1" smtClean="0">
                            <a:latin typeface="Cambria Math" panose="02040503050406030204" pitchFamily="18" charset="0"/>
                          </a:rPr>
                          <m:t>-1</m:t>
                        </m:r>
                      </m:oMath>
                    </m:oMathPara>
                  </a14:m>
                  <a:endParaRPr lang="en-US" sz="1200" dirty="0"/>
                </a:p>
              </p:txBody>
            </p:sp>
          </mc:Choice>
          <mc:Fallback>
            <p:sp>
              <p:nvSpPr>
                <p:cNvPr id="96" name="TextBox 95">
                  <a:extLst>
                    <a:ext uri="{FF2B5EF4-FFF2-40B4-BE49-F238E27FC236}">
                      <a16:creationId xmlns:a16="http://schemas.microsoft.com/office/drawing/2014/main" id="{B33BF6B1-ABA5-A506-2AFC-68461685A60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235128" y="5235226"/>
                  <a:ext cx="1479699" cy="432683"/>
                </a:xfrm>
                <a:prstGeom prst="rect">
                  <a:avLst/>
                </a:prstGeom>
                <a:blipFill>
                  <a:blip r:embed="rId30"/>
                  <a:stretch>
                    <a:fillRect l="-847" t="-2857" r="-1695" b="-5714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97" name="TextBox 96">
                  <a:extLst>
                    <a:ext uri="{FF2B5EF4-FFF2-40B4-BE49-F238E27FC236}">
                      <a16:creationId xmlns:a16="http://schemas.microsoft.com/office/drawing/2014/main" id="{AD25BE05-6C9E-8A94-BB50-70B94CFFF562}"/>
                    </a:ext>
                  </a:extLst>
                </p:cNvPr>
                <p:cNvSpPr txBox="1"/>
                <p:nvPr/>
              </p:nvSpPr>
              <p:spPr>
                <a:xfrm>
                  <a:off x="4373989" y="5806737"/>
                  <a:ext cx="1455077" cy="483017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12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̂"/>
                                <m:ctrlPr>
                                  <a:rPr lang="en-US" sz="1200" i="1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m:rPr>
                                    <m:sty m:val="p"/>
                                  </m:rPr>
                                  <a:rPr lang="en-US" sz="1200" i="1">
                                    <a:latin typeface="Cambria Math" panose="02040503050406030204" pitchFamily="18" charset="0"/>
                                  </a:rPr>
                                  <m:t>e</m:t>
                                </m:r>
                              </m:e>
                            </m:acc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sz="1200" b="0" i="1" smtClean="0">
                                <a:latin typeface="Cambria Math" panose="02040503050406030204" pitchFamily="18" charset="0"/>
                              </a:rPr>
                              <m:t>i</m:t>
                            </m:r>
                          </m:sub>
                        </m:sSub>
                        <m:r>
                          <a:rPr lang="en-US" sz="1200" b="0" i="1" smtClean="0">
                            <a:latin typeface="Cambria Math" panose="02040503050406030204" pitchFamily="18" charset="0"/>
                          </a:rPr>
                          <m:t>=</m:t>
                        </m:r>
                        <m:f>
                          <m:fPr>
                            <m:ctrlPr>
                              <a:rPr lang="en-US" sz="1200" b="0" i="1" smtClean="0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sSup>
                              <m:sSupPr>
                                <m:ctrlPr>
                                  <a:rPr lang="en-US" sz="1200" i="1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acc>
                                  <m:accPr>
                                    <m:chr m:val="⃗"/>
                                    <m:ctrlPr>
                                      <a:rPr lang="en-US" sz="1200" i="1"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sSub>
                                      <m:sSubPr>
                                        <m:ctrlPr>
                                          <a:rPr lang="en-US" sz="12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m:rPr>
                                            <m:sty m:val="p"/>
                                          </m:rPr>
                                          <a:rPr lang="en-US" sz="1200" i="1">
                                            <a:latin typeface="Cambria Math" panose="02040503050406030204" pitchFamily="18" charset="0"/>
                                          </a:rPr>
                                          <m:t>r</m:t>
                                        </m:r>
                                      </m:e>
                                      <m:sub>
                                        <m:r>
                                          <m:rPr>
                                            <m:sty m:val="p"/>
                                          </m:rPr>
                                          <a:rPr lang="en-US" sz="1200" i="1">
                                            <a:latin typeface="Cambria Math" panose="02040503050406030204" pitchFamily="18" charset="0"/>
                                          </a:rPr>
                                          <m:t>i</m:t>
                                        </m:r>
                                        <m:r>
                                          <a:rPr lang="en-US" sz="1200" i="1">
                                            <a:latin typeface="Cambria Math" panose="02040503050406030204" pitchFamily="18" charset="0"/>
                                          </a:rPr>
                                          <m:t>+1</m:t>
                                        </m:r>
                                      </m:sub>
                                    </m:sSub>
                                  </m:e>
                                </m:acc>
                              </m:e>
                              <m:sup>
                                <m:r>
                                  <m:rPr>
                                    <m:sty m:val="p"/>
                                  </m:rPr>
                                  <a:rPr lang="en-US" sz="1200" i="1">
                                    <a:latin typeface="Cambria Math" panose="02040503050406030204" pitchFamily="18" charset="0"/>
                                  </a:rPr>
                                  <m:t>n</m:t>
                                </m:r>
                                <m:r>
                                  <a:rPr lang="en-US" sz="1200" i="1">
                                    <a:latin typeface="Cambria Math" panose="02040503050406030204" pitchFamily="18" charset="0"/>
                                  </a:rPr>
                                  <m:t>+1</m:t>
                                </m:r>
                              </m:sup>
                            </m:sSup>
                            <m:r>
                              <a:rPr lang="en-US" sz="1200" i="1">
                                <a:latin typeface="Cambria Math" panose="02040503050406030204" pitchFamily="18" charset="0"/>
                              </a:rPr>
                              <m:t>−</m:t>
                            </m:r>
                            <m:sSup>
                              <m:sSupPr>
                                <m:ctrlPr>
                                  <a:rPr lang="en-US" sz="1200" i="1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acc>
                                  <m:accPr>
                                    <m:chr m:val="⃗"/>
                                    <m:ctrlPr>
                                      <a:rPr lang="en-US" sz="1200" i="1"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sSub>
                                      <m:sSubPr>
                                        <m:ctrlPr>
                                          <a:rPr lang="en-US" sz="12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m:rPr>
                                            <m:sty m:val="p"/>
                                          </m:rPr>
                                          <a:rPr lang="en-US" sz="1200" i="1">
                                            <a:latin typeface="Cambria Math" panose="02040503050406030204" pitchFamily="18" charset="0"/>
                                          </a:rPr>
                                          <m:t>r</m:t>
                                        </m:r>
                                      </m:e>
                                      <m:sub>
                                        <m:r>
                                          <m:rPr>
                                            <m:sty m:val="p"/>
                                          </m:rPr>
                                          <a:rPr lang="en-US" sz="1200" i="1">
                                            <a:latin typeface="Cambria Math" panose="02040503050406030204" pitchFamily="18" charset="0"/>
                                          </a:rPr>
                                          <m:t>i</m:t>
                                        </m:r>
                                      </m:sub>
                                    </m:sSub>
                                  </m:e>
                                </m:acc>
                              </m:e>
                              <m:sup>
                                <m:r>
                                  <m:rPr>
                                    <m:sty m:val="p"/>
                                  </m:rPr>
                                  <a:rPr lang="en-US" sz="1200" i="1">
                                    <a:latin typeface="Cambria Math" panose="02040503050406030204" pitchFamily="18" charset="0"/>
                                  </a:rPr>
                                  <m:t>n</m:t>
                                </m:r>
                                <m:r>
                                  <a:rPr lang="en-US" sz="1200" i="1">
                                    <a:latin typeface="Cambria Math" panose="02040503050406030204" pitchFamily="18" charset="0"/>
                                  </a:rPr>
                                  <m:t>+1</m:t>
                                </m:r>
                              </m:sup>
                            </m:sSup>
                          </m:num>
                          <m:den>
                            <m:d>
                              <m:dPr>
                                <m:begChr m:val="|"/>
                                <m:endChr m:val="|"/>
                                <m:ctrlPr>
                                  <a:rPr lang="en-US" sz="1200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sSup>
                                  <m:sSupPr>
                                    <m:ctrlPr>
                                      <a:rPr lang="en-US" sz="12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acc>
                                      <m:accPr>
                                        <m:chr m:val="⃗"/>
                                        <m:ctrlPr>
                                          <a:rPr lang="en-US" sz="12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accPr>
                                      <m:e>
                                        <m:sSub>
                                          <m:sSubPr>
                                            <m:ctrlPr>
                                              <a:rPr lang="en-US" sz="1200" i="1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sSubPr>
                                          <m:e>
                                            <m:r>
                                              <m:rPr>
                                                <m:sty m:val="p"/>
                                              </m:rPr>
                                              <a:rPr lang="en-US" sz="1200" i="1">
                                                <a:latin typeface="Cambria Math" panose="02040503050406030204" pitchFamily="18" charset="0"/>
                                              </a:rPr>
                                              <m:t>r</m:t>
                                            </m:r>
                                          </m:e>
                                          <m:sub>
                                            <m:r>
                                              <m:rPr>
                                                <m:sty m:val="p"/>
                                              </m:rPr>
                                              <a:rPr lang="en-US" sz="1200" i="1">
                                                <a:latin typeface="Cambria Math" panose="02040503050406030204" pitchFamily="18" charset="0"/>
                                              </a:rPr>
                                              <m:t>i</m:t>
                                            </m:r>
                                            <m:r>
                                              <a:rPr lang="en-US" sz="1200" i="1">
                                                <a:latin typeface="Cambria Math" panose="02040503050406030204" pitchFamily="18" charset="0"/>
                                              </a:rPr>
                                              <m:t>+1</m:t>
                                            </m:r>
                                          </m:sub>
                                        </m:sSub>
                                      </m:e>
                                    </m:acc>
                                  </m:e>
                                  <m:sup>
                                    <m:r>
                                      <m:rPr>
                                        <m:sty m:val="p"/>
                                      </m:rPr>
                                      <a:rPr lang="en-US" sz="1200" i="1">
                                        <a:latin typeface="Cambria Math" panose="02040503050406030204" pitchFamily="18" charset="0"/>
                                      </a:rPr>
                                      <m:t>n</m:t>
                                    </m:r>
                                    <m:r>
                                      <a:rPr lang="en-US" sz="1200" i="1">
                                        <a:latin typeface="Cambria Math" panose="02040503050406030204" pitchFamily="18" charset="0"/>
                                      </a:rPr>
                                      <m:t>+1</m:t>
                                    </m:r>
                                  </m:sup>
                                </m:sSup>
                                <m:r>
                                  <a:rPr lang="en-US" sz="1200" i="1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sSup>
                                  <m:sSupPr>
                                    <m:ctrlPr>
                                      <a:rPr lang="en-US" sz="12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acc>
                                      <m:accPr>
                                        <m:chr m:val="⃗"/>
                                        <m:ctrlPr>
                                          <a:rPr lang="en-US" sz="12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accPr>
                                      <m:e>
                                        <m:sSub>
                                          <m:sSubPr>
                                            <m:ctrlPr>
                                              <a:rPr lang="en-US" sz="1200" i="1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sSubPr>
                                          <m:e>
                                            <m:r>
                                              <m:rPr>
                                                <m:sty m:val="p"/>
                                              </m:rPr>
                                              <a:rPr lang="en-US" sz="1200" i="1">
                                                <a:latin typeface="Cambria Math" panose="02040503050406030204" pitchFamily="18" charset="0"/>
                                              </a:rPr>
                                              <m:t>r</m:t>
                                            </m:r>
                                          </m:e>
                                          <m:sub>
                                            <m:r>
                                              <m:rPr>
                                                <m:sty m:val="p"/>
                                              </m:rPr>
                                              <a:rPr lang="en-US" sz="1200" i="1">
                                                <a:latin typeface="Cambria Math" panose="02040503050406030204" pitchFamily="18" charset="0"/>
                                              </a:rPr>
                                              <m:t>i</m:t>
                                            </m:r>
                                          </m:sub>
                                        </m:sSub>
                                      </m:e>
                                    </m:acc>
                                  </m:e>
                                  <m:sup>
                                    <m:r>
                                      <m:rPr>
                                        <m:sty m:val="p"/>
                                      </m:rPr>
                                      <a:rPr lang="en-US" sz="1200" i="1">
                                        <a:latin typeface="Cambria Math" panose="02040503050406030204" pitchFamily="18" charset="0"/>
                                      </a:rPr>
                                      <m:t>n</m:t>
                                    </m:r>
                                    <m:r>
                                      <a:rPr lang="en-US" sz="1200" i="1">
                                        <a:latin typeface="Cambria Math" panose="02040503050406030204" pitchFamily="18" charset="0"/>
                                      </a:rPr>
                                      <m:t>+1</m:t>
                                    </m:r>
                                  </m:sup>
                                </m:sSup>
                              </m:e>
                            </m:d>
                          </m:den>
                        </m:f>
                      </m:oMath>
                    </m:oMathPara>
                  </a14:m>
                  <a:endParaRPr lang="en-US" sz="1200" dirty="0"/>
                </a:p>
              </p:txBody>
            </p:sp>
          </mc:Choice>
          <mc:Fallback>
            <p:sp>
              <p:nvSpPr>
                <p:cNvPr id="97" name="TextBox 96">
                  <a:extLst>
                    <a:ext uri="{FF2B5EF4-FFF2-40B4-BE49-F238E27FC236}">
                      <a16:creationId xmlns:a16="http://schemas.microsoft.com/office/drawing/2014/main" id="{AD25BE05-6C9E-8A94-BB50-70B94CFFF56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373989" y="5806737"/>
                  <a:ext cx="1455077" cy="483017"/>
                </a:xfrm>
                <a:prstGeom prst="rect">
                  <a:avLst/>
                </a:prstGeom>
                <a:blipFill>
                  <a:blip r:embed="rId31"/>
                  <a:stretch>
                    <a:fillRect l="-1739" t="-2564" b="-512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98" name="TextBox 97">
                  <a:extLst>
                    <a:ext uri="{FF2B5EF4-FFF2-40B4-BE49-F238E27FC236}">
                      <a16:creationId xmlns:a16="http://schemas.microsoft.com/office/drawing/2014/main" id="{2AA23273-0EFA-4B7F-818D-A076ED1CD47F}"/>
                    </a:ext>
                  </a:extLst>
                </p:cNvPr>
                <p:cNvSpPr txBox="1"/>
                <p:nvPr/>
              </p:nvSpPr>
              <p:spPr>
                <a:xfrm>
                  <a:off x="5829066" y="5836221"/>
                  <a:ext cx="2013756" cy="377091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1200" b="0" i="1" smtClean="0">
                            <a:latin typeface="Cambria Math" panose="02040503050406030204" pitchFamily="18" charset="0"/>
                          </a:rPr>
                          <m:t>,  </m:t>
                        </m:r>
                        <m:sSup>
                          <m:sSupPr>
                            <m:ctrlPr>
                              <a:rPr lang="en-US" sz="1200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acc>
                              <m:accPr>
                                <m:chr m:val="⃗"/>
                                <m:ctrlPr>
                                  <a:rPr lang="en-US" sz="12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sSub>
                                  <m:sSubPr>
                                    <m:ctrlPr>
                                      <a:rPr lang="en-US" sz="12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en-US" sz="1200" b="0" i="1" smtClean="0">
                                        <a:latin typeface="Cambria Math" panose="02040503050406030204" pitchFamily="18" charset="0"/>
                                      </a:rPr>
                                      <m:t>a</m:t>
                                    </m:r>
                                  </m:e>
                                  <m:sub>
                                    <m:r>
                                      <m:rPr>
                                        <m:sty m:val="p"/>
                                      </m:rPr>
                                      <a:rPr lang="en-US" sz="1200" b="0" i="1" smtClean="0">
                                        <a:latin typeface="Cambria Math" panose="02040503050406030204" pitchFamily="18" charset="0"/>
                                      </a:rPr>
                                      <m:t>i</m:t>
                                    </m:r>
                                  </m:sub>
                                </m:sSub>
                              </m:e>
                            </m:acc>
                          </m:e>
                          <m:sup>
                            <m:r>
                              <m:rPr>
                                <m:sty m:val="p"/>
                              </m:rPr>
                              <a:rPr lang="en-US" sz="1200" b="0" i="1" smtClean="0">
                                <a:latin typeface="Cambria Math" panose="02040503050406030204" pitchFamily="18" charset="0"/>
                              </a:rPr>
                              <m:t>n</m:t>
                            </m:r>
                            <m:r>
                              <a:rPr lang="en-US" sz="1200" b="0" i="1" smtClean="0">
                                <a:latin typeface="Cambria Math" panose="02040503050406030204" pitchFamily="18" charset="0"/>
                              </a:rPr>
                              <m:t>+1</m:t>
                            </m:r>
                          </m:sup>
                        </m:sSup>
                        <m:r>
                          <a:rPr lang="en-US" sz="1200" b="0" i="1" smtClean="0">
                            <a:latin typeface="Cambria Math" panose="02040503050406030204" pitchFamily="18" charset="0"/>
                          </a:rPr>
                          <m:t>=</m:t>
                        </m:r>
                        <m:f>
                          <m:fPr>
                            <m:ctrlPr>
                              <a:rPr lang="en-US" sz="1200" b="0" i="1" smtClean="0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sz="1200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num>
                          <m:den>
                            <m:sSub>
                              <m:sSubPr>
                                <m:ctrlPr>
                                  <a:rPr lang="en-US" sz="12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n-US" sz="1200" b="0" i="1" smtClean="0">
                                    <a:latin typeface="Cambria Math" panose="02040503050406030204" pitchFamily="18" charset="0"/>
                                  </a:rPr>
                                  <m:t>m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sz="1200" b="0" i="1" smtClean="0">
                                    <a:latin typeface="Cambria Math" panose="02040503050406030204" pitchFamily="18" charset="0"/>
                                  </a:rPr>
                                  <m:t>i</m:t>
                                </m:r>
                              </m:sub>
                            </m:sSub>
                          </m:den>
                        </m:f>
                        <m:r>
                          <a:rPr lang="en-US" sz="1200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sSub>
                          <m:sSubPr>
                            <m:ctrlPr>
                              <a:rPr lang="en-US" sz="12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1200" b="0" i="1" smtClean="0">
                                <a:latin typeface="Cambria Math" panose="02040503050406030204" pitchFamily="18" charset="0"/>
                              </a:rPr>
                              <m:t>T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sz="1200" b="0" i="1" smtClean="0">
                                <a:latin typeface="Cambria Math" panose="02040503050406030204" pitchFamily="18" charset="0"/>
                              </a:rPr>
                              <m:t>i</m:t>
                            </m:r>
                            <m:r>
                              <a:rPr lang="en-US" sz="1200" b="0" i="1" smtClean="0">
                                <a:latin typeface="Cambria Math" panose="02040503050406030204" pitchFamily="18" charset="0"/>
                              </a:rPr>
                              <m:t> </m:t>
                            </m:r>
                          </m:sub>
                        </m:sSub>
                        <m:sSub>
                          <m:sSubPr>
                            <m:ctrlPr>
                              <a:rPr lang="en-US" sz="12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̂"/>
                                <m:ctrlPr>
                                  <a:rPr lang="en-US" sz="12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m:rPr>
                                    <m:sty m:val="p"/>
                                  </m:rPr>
                                  <a:rPr lang="en-US" sz="1200" b="0" i="1" smtClean="0">
                                    <a:latin typeface="Cambria Math" panose="02040503050406030204" pitchFamily="18" charset="0"/>
                                  </a:rPr>
                                  <m:t>e</m:t>
                                </m:r>
                              </m:e>
                            </m:acc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sz="1200" b="0" i="1" smtClean="0">
                                <a:latin typeface="Cambria Math" panose="02040503050406030204" pitchFamily="18" charset="0"/>
                              </a:rPr>
                              <m:t>i</m:t>
                            </m:r>
                          </m:sub>
                        </m:sSub>
                        <m:r>
                          <a:rPr lang="en-US" sz="1200" b="0" i="1" smtClean="0">
                            <a:latin typeface="Cambria Math" panose="02040503050406030204" pitchFamily="18" charset="0"/>
                          </a:rPr>
                          <m:t>-</m:t>
                        </m:r>
                        <m:sSub>
                          <m:sSubPr>
                            <m:ctrlPr>
                              <a:rPr lang="en-US" sz="12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1200" b="0" i="1" smtClean="0">
                                <a:latin typeface="Cambria Math" panose="02040503050406030204" pitchFamily="18" charset="0"/>
                              </a:rPr>
                              <m:t>T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sz="1200" b="0" i="1" smtClean="0">
                                <a:latin typeface="Cambria Math" panose="02040503050406030204" pitchFamily="18" charset="0"/>
                              </a:rPr>
                              <m:t>i</m:t>
                            </m:r>
                            <m:r>
                              <a:rPr lang="en-US" sz="1200" b="0" i="1" smtClean="0">
                                <a:latin typeface="Cambria Math" panose="02040503050406030204" pitchFamily="18" charset="0"/>
                              </a:rPr>
                              <m:t>-1</m:t>
                            </m:r>
                          </m:sub>
                        </m:sSub>
                        <m:sSub>
                          <m:sSubPr>
                            <m:ctrlPr>
                              <a:rPr lang="en-US" sz="12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̂"/>
                                <m:ctrlPr>
                                  <a:rPr lang="en-US" sz="12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m:rPr>
                                    <m:sty m:val="p"/>
                                  </m:rPr>
                                  <a:rPr lang="en-US" sz="1200" b="0" i="1" smtClean="0">
                                    <a:latin typeface="Cambria Math" panose="02040503050406030204" pitchFamily="18" charset="0"/>
                                  </a:rPr>
                                  <m:t>e</m:t>
                                </m:r>
                              </m:e>
                            </m:acc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sz="1200" b="0" i="1" smtClean="0">
                                <a:latin typeface="Cambria Math" panose="02040503050406030204" pitchFamily="18" charset="0"/>
                              </a:rPr>
                              <m:t>i</m:t>
                            </m:r>
                            <m:r>
                              <a:rPr lang="en-US" sz="1200" b="0" i="1" smtClean="0">
                                <a:latin typeface="Cambria Math" panose="02040503050406030204" pitchFamily="18" charset="0"/>
                              </a:rPr>
                              <m:t>-1</m:t>
                            </m:r>
                          </m:sub>
                        </m:sSub>
                        <m:r>
                          <a:rPr lang="en-US" sz="1200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en-US" sz="1200" dirty="0"/>
                </a:p>
              </p:txBody>
            </p:sp>
          </mc:Choice>
          <mc:Fallback>
            <p:sp>
              <p:nvSpPr>
                <p:cNvPr id="98" name="TextBox 97">
                  <a:extLst>
                    <a:ext uri="{FF2B5EF4-FFF2-40B4-BE49-F238E27FC236}">
                      <a16:creationId xmlns:a16="http://schemas.microsoft.com/office/drawing/2014/main" id="{2AA23273-0EFA-4B7F-818D-A076ED1CD47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829066" y="5836221"/>
                  <a:ext cx="2013756" cy="377091"/>
                </a:xfrm>
                <a:prstGeom prst="rect">
                  <a:avLst/>
                </a:prstGeom>
                <a:blipFill>
                  <a:blip r:embed="rId32"/>
                  <a:stretch>
                    <a:fillRect r="-1875" b="-1290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104" name="Group 103">
            <a:extLst>
              <a:ext uri="{FF2B5EF4-FFF2-40B4-BE49-F238E27FC236}">
                <a16:creationId xmlns:a16="http://schemas.microsoft.com/office/drawing/2014/main" id="{A46FF4AF-5C5C-61EA-7CA0-7CFC7403180D}"/>
              </a:ext>
            </a:extLst>
          </p:cNvPr>
          <p:cNvGrpSpPr/>
          <p:nvPr/>
        </p:nvGrpSpPr>
        <p:grpSpPr>
          <a:xfrm>
            <a:off x="8300370" y="4195662"/>
            <a:ext cx="3289845" cy="2333922"/>
            <a:chOff x="8300370" y="4195662"/>
            <a:chExt cx="3289845" cy="2333922"/>
          </a:xfrm>
        </p:grpSpPr>
        <p:sp>
          <p:nvSpPr>
            <p:cNvPr id="75" name="Rounded Rectangle 74">
              <a:extLst>
                <a:ext uri="{FF2B5EF4-FFF2-40B4-BE49-F238E27FC236}">
                  <a16:creationId xmlns:a16="http://schemas.microsoft.com/office/drawing/2014/main" id="{20BF9DC9-97FE-F148-F6CA-B8FD6B14E31A}"/>
                </a:ext>
              </a:extLst>
            </p:cNvPr>
            <p:cNvSpPr/>
            <p:nvPr/>
          </p:nvSpPr>
          <p:spPr>
            <a:xfrm>
              <a:off x="8300370" y="4195662"/>
              <a:ext cx="3289845" cy="2333922"/>
            </a:xfrm>
            <a:prstGeom prst="roundRect">
              <a:avLst>
                <a:gd name="adj" fmla="val 4897"/>
              </a:avLst>
            </a:prstGeom>
            <a:solidFill>
              <a:srgbClr val="F8FAFC"/>
            </a:solidFill>
            <a:ln w="9525">
              <a:solidFill>
                <a:srgbClr val="E2E8F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85" name="TextBox 84">
              <a:extLst>
                <a:ext uri="{FF2B5EF4-FFF2-40B4-BE49-F238E27FC236}">
                  <a16:creationId xmlns:a16="http://schemas.microsoft.com/office/drawing/2014/main" id="{D6A5BFD0-5D7A-0253-5A3A-EA4D9BA023FB}"/>
                </a:ext>
              </a:extLst>
            </p:cNvPr>
            <p:cNvSpPr txBox="1"/>
            <p:nvPr/>
          </p:nvSpPr>
          <p:spPr>
            <a:xfrm>
              <a:off x="8469104" y="6108757"/>
              <a:ext cx="2985045" cy="285750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algn="l"/>
              <a:r>
                <a:rPr sz="900" b="0" i="0" u="none" dirty="0">
                  <a:solidFill>
                    <a:srgbClr val="0F172A"/>
                  </a:solidFill>
                  <a:latin typeface="Inter"/>
                </a:rPr>
                <a:t>Boundary conditions reapplied after acceleration step.</a:t>
              </a:r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01" name="TextBox 100">
                  <a:extLst>
                    <a:ext uri="{FF2B5EF4-FFF2-40B4-BE49-F238E27FC236}">
                      <a16:creationId xmlns:a16="http://schemas.microsoft.com/office/drawing/2014/main" id="{517D84C0-7FDA-47EE-A60B-9E612023073F}"/>
                    </a:ext>
                  </a:extLst>
                </p:cNvPr>
                <p:cNvSpPr txBox="1"/>
                <p:nvPr/>
              </p:nvSpPr>
              <p:spPr>
                <a:xfrm>
                  <a:off x="9065437" y="5000050"/>
                  <a:ext cx="2079737" cy="345672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p>
                          <m:sSupPr>
                            <m:ctrlPr>
                              <a:rPr lang="en-US" sz="12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acc>
                              <m:accPr>
                                <m:chr m:val="⃗"/>
                                <m:ctrlPr>
                                  <a:rPr lang="en-US" sz="1200" i="1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sSub>
                                  <m:sSubPr>
                                    <m:ctrlPr>
                                      <a:rPr lang="en-US" sz="12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en-US" sz="1200" b="0" i="1" smtClean="0">
                                        <a:latin typeface="Cambria Math" panose="02040503050406030204" pitchFamily="18" charset="0"/>
                                      </a:rPr>
                                      <m:t>v</m:t>
                                    </m:r>
                                  </m:e>
                                  <m:sub>
                                    <m:r>
                                      <m:rPr>
                                        <m:sty m:val="p"/>
                                      </m:rPr>
                                      <a:rPr lang="en-US" sz="1200" i="1">
                                        <a:latin typeface="Cambria Math" panose="02040503050406030204" pitchFamily="18" charset="0"/>
                                      </a:rPr>
                                      <m:t>i</m:t>
                                    </m:r>
                                  </m:sub>
                                </m:sSub>
                              </m:e>
                            </m:acc>
                          </m:e>
                          <m:sup>
                            <m:r>
                              <m:rPr>
                                <m:sty m:val="p"/>
                              </m:rPr>
                              <a:rPr lang="en-US" sz="1200" i="1">
                                <a:latin typeface="Cambria Math" panose="02040503050406030204" pitchFamily="18" charset="0"/>
                              </a:rPr>
                              <m:t>n</m:t>
                            </m:r>
                            <m:r>
                              <a:rPr lang="en-US" sz="1200" i="1">
                                <a:latin typeface="Cambria Math" panose="02040503050406030204" pitchFamily="18" charset="0"/>
                              </a:rPr>
                              <m:t>+1</m:t>
                            </m:r>
                          </m:sup>
                        </m:sSup>
                        <m:r>
                          <a:rPr lang="en-US" sz="1200" b="0" i="1" smtClean="0">
                            <a:latin typeface="Cambria Math" panose="02040503050406030204" pitchFamily="18" charset="0"/>
                          </a:rPr>
                          <m:t>=</m:t>
                        </m:r>
                        <m:sSup>
                          <m:sSupPr>
                            <m:ctrlPr>
                              <a:rPr lang="en-US" sz="12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acc>
                              <m:accPr>
                                <m:chr m:val="⃗"/>
                                <m:ctrlPr>
                                  <a:rPr lang="en-US" sz="1200" i="1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sSub>
                                  <m:sSubPr>
                                    <m:ctrlPr>
                                      <a:rPr lang="en-US" sz="12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en-US" sz="1200" b="0" i="1" smtClean="0">
                                        <a:latin typeface="Cambria Math" panose="02040503050406030204" pitchFamily="18" charset="0"/>
                                      </a:rPr>
                                      <m:t>v</m:t>
                                    </m:r>
                                  </m:e>
                                  <m:sub>
                                    <m:r>
                                      <m:rPr>
                                        <m:sty m:val="p"/>
                                      </m:rPr>
                                      <a:rPr lang="en-US" sz="1200" i="1">
                                        <a:latin typeface="Cambria Math" panose="02040503050406030204" pitchFamily="18" charset="0"/>
                                      </a:rPr>
                                      <m:t>i</m:t>
                                    </m:r>
                                  </m:sub>
                                </m:sSub>
                              </m:e>
                            </m:acc>
                          </m:e>
                          <m:sup>
                            <m:r>
                              <m:rPr>
                                <m:sty m:val="p"/>
                              </m:rPr>
                              <a:rPr lang="en-US" sz="1200" i="1">
                                <a:latin typeface="Cambria Math" panose="02040503050406030204" pitchFamily="18" charset="0"/>
                              </a:rPr>
                              <m:t>n</m:t>
                            </m:r>
                          </m:sup>
                        </m:sSup>
                        <m:r>
                          <a:rPr lang="en-US" sz="1200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f>
                          <m:fPr>
                            <m:ctrlPr>
                              <a:rPr lang="en-US" sz="1200" b="0" i="1" smtClean="0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sz="1200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num>
                          <m:den>
                            <m:r>
                              <a:rPr lang="en-US" sz="1200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den>
                        </m:f>
                        <m:r>
                          <a:rPr lang="en-US" sz="1200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sSup>
                          <m:sSupPr>
                            <m:ctrlPr>
                              <a:rPr lang="en-US" sz="12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acc>
                              <m:accPr>
                                <m:chr m:val="⃗"/>
                                <m:ctrlPr>
                                  <a:rPr lang="en-US" sz="1200" i="1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sSub>
                                  <m:sSubPr>
                                    <m:ctrlPr>
                                      <a:rPr lang="en-US" sz="12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en-US" sz="1200" i="1">
                                        <a:latin typeface="Cambria Math" panose="02040503050406030204" pitchFamily="18" charset="0"/>
                                      </a:rPr>
                                      <m:t>a</m:t>
                                    </m:r>
                                  </m:e>
                                  <m:sub>
                                    <m:r>
                                      <m:rPr>
                                        <m:sty m:val="p"/>
                                      </m:rPr>
                                      <a:rPr lang="en-US" sz="1200" i="1">
                                        <a:latin typeface="Cambria Math" panose="02040503050406030204" pitchFamily="18" charset="0"/>
                                      </a:rPr>
                                      <m:t>i</m:t>
                                    </m:r>
                                  </m:sub>
                                </m:sSub>
                              </m:e>
                            </m:acc>
                          </m:e>
                          <m:sup>
                            <m:r>
                              <m:rPr>
                                <m:sty m:val="p"/>
                              </m:rPr>
                              <a:rPr lang="en-US" sz="1200" i="1">
                                <a:latin typeface="Cambria Math" panose="02040503050406030204" pitchFamily="18" charset="0"/>
                              </a:rPr>
                              <m:t>n</m:t>
                            </m:r>
                          </m:sup>
                        </m:sSup>
                        <m:r>
                          <a:rPr lang="en-US" sz="1200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sSup>
                          <m:sSupPr>
                            <m:ctrlPr>
                              <a:rPr lang="en-US" sz="12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acc>
                              <m:accPr>
                                <m:chr m:val="⃗"/>
                                <m:ctrlPr>
                                  <a:rPr lang="en-US" sz="1200" i="1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sSub>
                                  <m:sSubPr>
                                    <m:ctrlPr>
                                      <a:rPr lang="en-US" sz="12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en-US" sz="1200" i="1">
                                        <a:latin typeface="Cambria Math" panose="02040503050406030204" pitchFamily="18" charset="0"/>
                                      </a:rPr>
                                      <m:t>a</m:t>
                                    </m:r>
                                  </m:e>
                                  <m:sub>
                                    <m:r>
                                      <m:rPr>
                                        <m:sty m:val="p"/>
                                      </m:rPr>
                                      <a:rPr lang="en-US" sz="1200" i="1">
                                        <a:latin typeface="Cambria Math" panose="02040503050406030204" pitchFamily="18" charset="0"/>
                                      </a:rPr>
                                      <m:t>i</m:t>
                                    </m:r>
                                  </m:sub>
                                </m:sSub>
                              </m:e>
                            </m:acc>
                          </m:e>
                          <m:sup>
                            <m:r>
                              <m:rPr>
                                <m:sty m:val="p"/>
                              </m:rPr>
                              <a:rPr lang="en-US" sz="1200" i="1">
                                <a:latin typeface="Cambria Math" panose="02040503050406030204" pitchFamily="18" charset="0"/>
                              </a:rPr>
                              <m:t>n</m:t>
                            </m:r>
                            <m:r>
                              <a:rPr lang="en-US" sz="1200" i="1">
                                <a:latin typeface="Cambria Math" panose="02040503050406030204" pitchFamily="18" charset="0"/>
                              </a:rPr>
                              <m:t>+1</m:t>
                            </m:r>
                          </m:sup>
                        </m:sSup>
                        <m:r>
                          <a:rPr lang="en-US" sz="1200" b="0" i="1" smtClean="0">
                            <a:latin typeface="Cambria Math" panose="02040503050406030204" pitchFamily="18" charset="0"/>
                          </a:rPr>
                          <m:t>)</m:t>
                        </m:r>
                        <m:r>
                          <m:rPr>
                            <m:sty m:val="p"/>
                          </m:rPr>
                          <a:rPr lang="en-US" sz="1200" b="0" i="1" smtClean="0">
                            <a:latin typeface="Cambria Math" panose="02040503050406030204" pitchFamily="18" charset="0"/>
                          </a:rPr>
                          <m:t>Δt</m:t>
                        </m:r>
                      </m:oMath>
                    </m:oMathPara>
                  </a14:m>
                  <a:endParaRPr lang="en-US" sz="1200" dirty="0"/>
                </a:p>
              </p:txBody>
            </p:sp>
          </mc:Choice>
          <mc:Fallback>
            <p:sp>
              <p:nvSpPr>
                <p:cNvPr id="101" name="TextBox 100">
                  <a:extLst>
                    <a:ext uri="{FF2B5EF4-FFF2-40B4-BE49-F238E27FC236}">
                      <a16:creationId xmlns:a16="http://schemas.microsoft.com/office/drawing/2014/main" id="{517D84C0-7FDA-47EE-A60B-9E612023073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065437" y="5000050"/>
                  <a:ext cx="2079737" cy="345672"/>
                </a:xfrm>
                <a:prstGeom prst="rect">
                  <a:avLst/>
                </a:prstGeom>
                <a:blipFill>
                  <a:blip r:embed="rId33"/>
                  <a:stretch>
                    <a:fillRect r="-1212" b="-1428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02" name="TextBox 101">
                  <a:extLst>
                    <a:ext uri="{FF2B5EF4-FFF2-40B4-BE49-F238E27FC236}">
                      <a16:creationId xmlns:a16="http://schemas.microsoft.com/office/drawing/2014/main" id="{2A027A11-0566-7152-05BC-D2CE7E076472}"/>
                    </a:ext>
                  </a:extLst>
                </p:cNvPr>
                <p:cNvSpPr txBox="1"/>
                <p:nvPr/>
              </p:nvSpPr>
              <p:spPr>
                <a:xfrm>
                  <a:off x="9065437" y="5510399"/>
                  <a:ext cx="1676293" cy="235257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p>
                          <m:sSupPr>
                            <m:ctrlPr>
                              <a:rPr lang="en-US" sz="12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acc>
                              <m:accPr>
                                <m:chr m:val="⃗"/>
                                <m:ctrlPr>
                                  <a:rPr lang="en-US" sz="1200" i="1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sSub>
                                  <m:sSubPr>
                                    <m:ctrlPr>
                                      <a:rPr lang="en-US" sz="12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en-US" sz="1200" b="0" i="1" smtClean="0">
                                        <a:latin typeface="Cambria Math" panose="02040503050406030204" pitchFamily="18" charset="0"/>
                                      </a:rPr>
                                      <m:t>v</m:t>
                                    </m:r>
                                  </m:e>
                                  <m:sub>
                                    <m:r>
                                      <a:rPr lang="en-US" sz="1200" b="0" i="1" smtClean="0">
                                        <a:latin typeface="Cambria Math" panose="02040503050406030204" pitchFamily="18" charset="0"/>
                                      </a:rPr>
                                      <m:t>0</m:t>
                                    </m:r>
                                  </m:sub>
                                </m:sSub>
                              </m:e>
                            </m:acc>
                          </m:e>
                          <m:sup>
                            <m:r>
                              <m:rPr>
                                <m:sty m:val="p"/>
                              </m:rPr>
                              <a:rPr lang="en-US" sz="1200" i="1">
                                <a:latin typeface="Cambria Math" panose="02040503050406030204" pitchFamily="18" charset="0"/>
                              </a:rPr>
                              <m:t>n</m:t>
                            </m:r>
                            <m:r>
                              <a:rPr lang="en-US" sz="1200" i="1">
                                <a:latin typeface="Cambria Math" panose="02040503050406030204" pitchFamily="18" charset="0"/>
                              </a:rPr>
                              <m:t>+1</m:t>
                            </m:r>
                          </m:sup>
                        </m:sSup>
                        <m:r>
                          <a:rPr lang="en-US" sz="1200" b="0" i="1" smtClean="0">
                            <a:latin typeface="Cambria Math" panose="02040503050406030204" pitchFamily="18" charset="0"/>
                          </a:rPr>
                          <m:t>=</m:t>
                        </m:r>
                        <m:sSub>
                          <m:sSubPr>
                            <m:ctrlPr>
                              <a:rPr lang="en-US" sz="12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1200" b="0" i="1" smtClean="0">
                                <a:latin typeface="Cambria Math" panose="02040503050406030204" pitchFamily="18" charset="0"/>
                              </a:rPr>
                              <m:t>v</m:t>
                            </m:r>
                          </m:e>
                          <m:sub>
                            <m:r>
                              <a:rPr lang="en-US" sz="1200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  <m:sSub>
                          <m:sSubPr>
                            <m:ctrlPr>
                              <a:rPr lang="en-US" sz="12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⃗"/>
                                <m:ctrlPr>
                                  <a:rPr lang="en-US" sz="12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en-US" sz="1200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</m:acc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sz="1200" b="0" i="1" smtClean="0">
                                <a:latin typeface="Cambria Math" panose="02040503050406030204" pitchFamily="18" charset="0"/>
                              </a:rPr>
                              <m:t>y</m:t>
                            </m:r>
                          </m:sub>
                        </m:sSub>
                        <m:r>
                          <a:rPr lang="en-US" sz="1200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sSup>
                          <m:sSupPr>
                            <m:ctrlPr>
                              <a:rPr lang="en-US" sz="12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acc>
                              <m:accPr>
                                <m:chr m:val="⃗"/>
                                <m:ctrlPr>
                                  <a:rPr lang="en-US" sz="1200" i="1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sSub>
                                  <m:sSubPr>
                                    <m:ctrlPr>
                                      <a:rPr lang="en-US" sz="12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en-US" sz="1200" i="1">
                                        <a:latin typeface="Cambria Math" panose="02040503050406030204" pitchFamily="18" charset="0"/>
                                      </a:rPr>
                                      <m:t>v</m:t>
                                    </m:r>
                                  </m:e>
                                  <m:sub>
                                    <m:r>
                                      <m:rPr>
                                        <m:sty m:val="p"/>
                                      </m:rPr>
                                      <a:rPr lang="en-US" sz="1200" b="0" i="1" smtClean="0">
                                        <a:latin typeface="Cambria Math" panose="02040503050406030204" pitchFamily="18" charset="0"/>
                                      </a:rPr>
                                      <m:t>n</m:t>
                                    </m:r>
                                  </m:sub>
                                </m:sSub>
                              </m:e>
                            </m:acc>
                          </m:e>
                          <m:sup>
                            <m:r>
                              <m:rPr>
                                <m:sty m:val="p"/>
                              </m:rPr>
                              <a:rPr lang="en-US" sz="1200" i="1">
                                <a:latin typeface="Cambria Math" panose="02040503050406030204" pitchFamily="18" charset="0"/>
                              </a:rPr>
                              <m:t>n</m:t>
                            </m:r>
                            <m:r>
                              <a:rPr lang="en-US" sz="1200" i="1">
                                <a:latin typeface="Cambria Math" panose="02040503050406030204" pitchFamily="18" charset="0"/>
                              </a:rPr>
                              <m:t>+1</m:t>
                            </m:r>
                          </m:sup>
                        </m:sSup>
                        <m:r>
                          <a:rPr lang="en-US" sz="1200" b="0" i="1" smtClean="0">
                            <a:latin typeface="Cambria Math" panose="02040503050406030204" pitchFamily="18" charset="0"/>
                          </a:rPr>
                          <m:t>=0</m:t>
                        </m:r>
                      </m:oMath>
                    </m:oMathPara>
                  </a14:m>
                  <a:endParaRPr lang="en-US" sz="1200" dirty="0"/>
                </a:p>
              </p:txBody>
            </p:sp>
          </mc:Choice>
          <mc:Fallback>
            <p:sp>
              <p:nvSpPr>
                <p:cNvPr id="102" name="TextBox 101">
                  <a:extLst>
                    <a:ext uri="{FF2B5EF4-FFF2-40B4-BE49-F238E27FC236}">
                      <a16:creationId xmlns:a16="http://schemas.microsoft.com/office/drawing/2014/main" id="{2A027A11-0566-7152-05BC-D2CE7E07647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065437" y="5510399"/>
                  <a:ext cx="1676293" cy="235257"/>
                </a:xfrm>
                <a:prstGeom prst="rect">
                  <a:avLst/>
                </a:prstGeom>
                <a:blipFill>
                  <a:blip r:embed="rId34"/>
                  <a:stretch>
                    <a:fillRect r="-752" b="-100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03" name="TextBox 102">
              <a:extLst>
                <a:ext uri="{FF2B5EF4-FFF2-40B4-BE49-F238E27FC236}">
                  <a16:creationId xmlns:a16="http://schemas.microsoft.com/office/drawing/2014/main" id="{65AA6625-CD10-E96A-BC79-CD492BA27F54}"/>
                </a:ext>
              </a:extLst>
            </p:cNvPr>
            <p:cNvSpPr txBox="1"/>
            <p:nvPr/>
          </p:nvSpPr>
          <p:spPr>
            <a:xfrm>
              <a:off x="8593336" y="4460762"/>
              <a:ext cx="2468166" cy="207749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algn="l"/>
              <a:r>
                <a:rPr sz="1350" b="1" i="0" u="none" dirty="0">
                  <a:solidFill>
                    <a:schemeClr val="accent1">
                      <a:lumMod val="75000"/>
                    </a:schemeClr>
                  </a:solidFill>
                  <a:latin typeface="Space Grotesk"/>
                </a:rPr>
                <a:t>3. Velocity Advance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90983556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F0F4530-27ED-D4C9-6523-44F14B05B1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B1239CA1-6E97-8A5F-D937-4203E2DCDA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>
                <a:solidFill>
                  <a:schemeClr val="bg1"/>
                </a:solidFill>
              </a:rPr>
              <a:t>Single Thread - Simulation</a:t>
            </a:r>
            <a:endParaRPr lang="ro-RO" dirty="0">
              <a:solidFill>
                <a:schemeClr val="bg1"/>
              </a:solidFill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4A3C842-CDF4-CFE4-C5B7-BECCFC8FFCA1}"/>
              </a:ext>
            </a:extLst>
          </p:cNvPr>
          <p:cNvPicPr>
            <a:picLocks noChangeAspect="1"/>
          </p:cNvPicPr>
          <p:nvPr/>
        </p:nvPicPr>
        <p:blipFill>
          <a:blip r:embed="rId2">
            <a:clrChange>
              <a:clrFrom>
                <a:srgbClr val="000000"/>
              </a:clrFrom>
              <a:clrTo>
                <a:srgbClr val="000000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432471" y="6323329"/>
            <a:ext cx="1492133" cy="496892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C4D77E4B-FB08-6F39-824C-6E4A9602B20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48683" y="4173071"/>
            <a:ext cx="9694634" cy="1983179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E0D24C0D-E233-B78D-A92A-04BD6A25CD6C}"/>
              </a:ext>
            </a:extLst>
          </p:cNvPr>
          <p:cNvSpPr txBox="1"/>
          <p:nvPr/>
        </p:nvSpPr>
        <p:spPr>
          <a:xfrm>
            <a:off x="820894" y="1407341"/>
            <a:ext cx="2568380" cy="24622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n-US" sz="1600" b="1" i="0" u="none" dirty="0">
                <a:solidFill>
                  <a:schemeClr val="accent1">
                    <a:lumMod val="75000"/>
                  </a:schemeClr>
                </a:solidFill>
                <a:latin typeface="Space Grotesk"/>
              </a:rPr>
              <a:t>Numerical Stability</a:t>
            </a:r>
            <a:endParaRPr sz="1600" b="1" i="0" u="none" dirty="0">
              <a:solidFill>
                <a:schemeClr val="accent1">
                  <a:lumMod val="75000"/>
                </a:schemeClr>
              </a:solidFill>
              <a:latin typeface="Space Grotesk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75E24A8B-DE01-CF2C-5E4F-617CA5B473FD}"/>
              </a:ext>
            </a:extLst>
          </p:cNvPr>
          <p:cNvSpPr txBox="1"/>
          <p:nvPr/>
        </p:nvSpPr>
        <p:spPr>
          <a:xfrm>
            <a:off x="703936" y="1763709"/>
            <a:ext cx="4165776" cy="738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dirty="0"/>
              <a:t>An explicit scheme is stable only if, in a single step, the wave does not travel further than one segment (the CFL condition):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6716BCE4-E43E-9262-5567-5E462D94DE10}"/>
                  </a:ext>
                </a:extLst>
              </p:cNvPr>
              <p:cNvSpPr txBox="1"/>
              <p:nvPr/>
            </p:nvSpPr>
            <p:spPr>
              <a:xfrm>
                <a:off x="498238" y="2573701"/>
                <a:ext cx="3213691" cy="600998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sz="1600" i="0" smtClean="0">
                          <a:latin typeface="Cambria Math" panose="02040503050406030204" pitchFamily="18" charset="0"/>
                        </a:rPr>
                        <m:t>Δ</m:t>
                      </m:r>
                      <m:r>
                        <a:rPr lang="en-US" sz="1600" i="1"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en-US" sz="1600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1600" i="1">
                          <a:latin typeface="Cambria Math" panose="02040503050406030204" pitchFamily="18" charset="0"/>
                        </a:rPr>
                        <m:t>𝐶</m:t>
                      </m:r>
                      <m:r>
                        <a:rPr lang="en-US" sz="1600" i="1">
                          <a:latin typeface="Cambria Math" panose="02040503050406030204" pitchFamily="18" charset="0"/>
                        </a:rPr>
                        <m:t> </m:t>
                      </m:r>
                      <m:f>
                        <m:fPr>
                          <m:ctrlPr>
                            <a:rPr lang="en-US" sz="16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en-US" sz="16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600" i="1">
                                  <a:latin typeface="Cambria Math" panose="02040503050406030204" pitchFamily="18" charset="0"/>
                                </a:rPr>
                                <m:t>ℓ</m:t>
                              </m:r>
                            </m:e>
                            <m:sub>
                              <m:r>
                                <a:rPr lang="en-US" sz="1600" i="1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sub>
                          </m:sSub>
                        </m:num>
                        <m:den>
                          <m:sSub>
                            <m:sSubPr>
                              <m:ctrlPr>
                                <a:rPr lang="en-US" sz="16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600" i="1">
                                  <a:latin typeface="Cambria Math" panose="02040503050406030204" pitchFamily="18" charset="0"/>
                                </a:rPr>
                                <m:t>𝑐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US" sz="1600" i="1">
                                  <a:latin typeface="Cambria Math" panose="02040503050406030204" pitchFamily="18" charset="0"/>
                                </a:rPr>
                                <m:t>tan</m:t>
                              </m:r>
                            </m:sub>
                          </m:sSub>
                        </m:den>
                      </m:f>
                      <m:r>
                        <a:rPr lang="en-US" sz="1600" i="1">
                          <a:latin typeface="Cambria Math" panose="02040503050406030204" pitchFamily="18" charset="0"/>
                        </a:rPr>
                        <m:t>,  </m:t>
                      </m:r>
                      <m:r>
                        <a:rPr lang="en-US" sz="1600" i="1">
                          <a:latin typeface="Cambria Math" panose="02040503050406030204" pitchFamily="18" charset="0"/>
                        </a:rPr>
                        <m:t>𝐶</m:t>
                      </m:r>
                      <m:r>
                        <a:rPr lang="en-US" sz="1600" i="1">
                          <a:latin typeface="Cambria Math" panose="02040503050406030204" pitchFamily="18" charset="0"/>
                        </a:rPr>
                        <m:t>≤0.5.</m:t>
                      </m:r>
                    </m:oMath>
                  </m:oMathPara>
                </a14:m>
                <a:endParaRPr lang="en-US" sz="1600" dirty="0"/>
              </a:p>
            </p:txBody>
          </p:sp>
        </mc:Choice>
        <mc:Fallback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6716BCE4-E43E-9262-5567-5E462D94DE1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98238" y="2573701"/>
                <a:ext cx="3213691" cy="600998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6" name="TextBox 15">
            <a:extLst>
              <a:ext uri="{FF2B5EF4-FFF2-40B4-BE49-F238E27FC236}">
                <a16:creationId xmlns:a16="http://schemas.microsoft.com/office/drawing/2014/main" id="{C5D65265-CDFE-AF85-058A-E03313442C54}"/>
              </a:ext>
            </a:extLst>
          </p:cNvPr>
          <p:cNvSpPr txBox="1"/>
          <p:nvPr/>
        </p:nvSpPr>
        <p:spPr>
          <a:xfrm>
            <a:off x="5954423" y="1738242"/>
            <a:ext cx="6097772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dirty="0">
                <a:effectLst/>
                <a:latin typeface="Google Sans Text"/>
              </a:rPr>
              <a:t>For a small perturbation, the stiffness of a segment is the local </a:t>
            </a:r>
            <a:r>
              <a:rPr lang="en-US" sz="1400" dirty="0">
                <a:latin typeface="Google Sans Text"/>
              </a:rPr>
              <a:t>slope. Therefore</a:t>
            </a:r>
            <a:r>
              <a:rPr lang="en-US" sz="1400" dirty="0">
                <a:effectLst/>
                <a:latin typeface="Google Sans Text"/>
              </a:rPr>
              <a:t>, the relevant speed is the tangent speed:</a:t>
            </a:r>
            <a:endParaRPr lang="en-US" sz="1400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29FDEDA8-CB33-0FF4-5571-48533310A440}"/>
                  </a:ext>
                </a:extLst>
              </p:cNvPr>
              <p:cNvSpPr txBox="1"/>
              <p:nvPr/>
            </p:nvSpPr>
            <p:spPr>
              <a:xfrm>
                <a:off x="6365105" y="2377972"/>
                <a:ext cx="3766584" cy="82125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6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𝑐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1600" i="1">
                              <a:latin typeface="Cambria Math" panose="02040503050406030204" pitchFamily="18" charset="0"/>
                            </a:rPr>
                            <m:t>tan</m:t>
                          </m:r>
                        </m:sub>
                      </m:sSub>
                      <m:r>
                        <a:rPr lang="en-US" sz="1600" i="1">
                          <a:latin typeface="Cambria Math" panose="02040503050406030204" pitchFamily="18" charset="0"/>
                        </a:rPr>
                        <m:t>=</m:t>
                      </m:r>
                      <m:rad>
                        <m:radPr>
                          <m:degHide m:val="on"/>
                          <m:ctrlPr>
                            <a:rPr lang="en-US" sz="1600" i="1">
                              <a:latin typeface="Cambria Math" panose="02040503050406030204" pitchFamily="18" charset="0"/>
                            </a:rPr>
                          </m:ctrlPr>
                        </m:radPr>
                        <m:deg/>
                        <m:e>
                          <m:f>
                            <m:fPr>
                              <m:ctrlPr>
                                <a:rPr lang="en-US" sz="16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sSup>
                                <m:sSupPr>
                                  <m:ctrlPr>
                                    <a:rPr lang="en-US" sz="1600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sz="1600" i="1">
                                      <a:latin typeface="Cambria Math" panose="02040503050406030204" pitchFamily="18" charset="0"/>
                                    </a:rPr>
                                    <m:t>𝑇</m:t>
                                  </m:r>
                                </m:e>
                                <m:sup>
                                  <m:r>
                                    <a:rPr lang="en-US" sz="1600" i="1">
                                      <a:latin typeface="Cambria Math" panose="02040503050406030204" pitchFamily="18" charset="0"/>
                                    </a:rPr>
                                    <m:t>′</m:t>
                                  </m:r>
                                </m:sup>
                              </m:sSup>
                              <m:d>
                                <m:dPr>
                                  <m:ctrlPr>
                                    <a:rPr lang="en-US" sz="16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sz="1600" i="1">
                                      <a:latin typeface="Cambria Math" panose="02040503050406030204" pitchFamily="18" charset="0"/>
                                    </a:rPr>
                                    <m:t>𝜖</m:t>
                                  </m:r>
                                </m:e>
                              </m:d>
                            </m:num>
                            <m:den>
                              <m:sSub>
                                <m:sSubPr>
                                  <m:ctrlPr>
                                    <a:rPr lang="en-US" sz="16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600" i="1">
                                      <a:latin typeface="Cambria Math" panose="02040503050406030204" pitchFamily="18" charset="0"/>
                                    </a:rPr>
                                    <m:t>𝜇</m:t>
                                  </m:r>
                                </m:e>
                                <m:sub>
                                  <m:r>
                                    <a:rPr lang="en-US" sz="1600" i="1"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</m:sSub>
                            </m:den>
                          </m:f>
                        </m:e>
                      </m:rad>
                      <m:r>
                        <a:rPr lang="en-US" sz="1600" i="1">
                          <a:latin typeface="Cambria Math" panose="02040503050406030204" pitchFamily="18" charset="0"/>
                        </a:rPr>
                        <m:t>=</m:t>
                      </m:r>
                      <m:rad>
                        <m:radPr>
                          <m:degHide m:val="on"/>
                          <m:ctrlPr>
                            <a:rPr lang="en-US" sz="1600" i="1">
                              <a:latin typeface="Cambria Math" panose="02040503050406030204" pitchFamily="18" charset="0"/>
                            </a:rPr>
                          </m:ctrlPr>
                        </m:radPr>
                        <m:deg/>
                        <m:e>
                          <m:f>
                            <m:fPr>
                              <m:ctrlPr>
                                <a:rPr lang="en-US" sz="16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sSub>
                                <m:sSubPr>
                                  <m:ctrlPr>
                                    <a:rPr lang="en-US" sz="16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600" i="1">
                                      <a:latin typeface="Cambria Math" panose="02040503050406030204" pitchFamily="18" charset="0"/>
                                    </a:rPr>
                                    <m:t>𝐸</m:t>
                                  </m:r>
                                </m:e>
                                <m:sub>
                                  <m:r>
                                    <a:rPr lang="en-US" sz="1600" i="1"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</m:sSub>
                              <m:r>
                                <a:rPr lang="en-US" sz="1600" i="1">
                                  <a:latin typeface="Cambria Math" panose="02040503050406030204" pitchFamily="18" charset="0"/>
                                </a:rPr>
                                <m:t>+3</m:t>
                              </m:r>
                              <m:r>
                                <a:rPr lang="en-US" sz="1600" i="1">
                                  <a:latin typeface="Cambria Math" panose="02040503050406030204" pitchFamily="18" charset="0"/>
                                </a:rPr>
                                <m:t>𝑏</m:t>
                              </m:r>
                              <m:sSup>
                                <m:sSupPr>
                                  <m:ctrlPr>
                                    <a:rPr lang="en-US" sz="1600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sz="1600" i="1">
                                      <a:latin typeface="Cambria Math" panose="02040503050406030204" pitchFamily="18" charset="0"/>
                                    </a:rPr>
                                    <m:t>𝜖</m:t>
                                  </m:r>
                                </m:e>
                                <m:sup>
                                  <m:r>
                                    <a:rPr lang="en-US" sz="1600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</m:num>
                            <m:den>
                              <m:r>
                                <a:rPr lang="en-US" sz="1600" i="1">
                                  <a:latin typeface="Cambria Math" panose="02040503050406030204" pitchFamily="18" charset="0"/>
                                </a:rPr>
                                <m:t>𝜌</m:t>
                              </m:r>
                            </m:den>
                          </m:f>
                        </m:e>
                      </m:rad>
                    </m:oMath>
                  </m:oMathPara>
                </a14:m>
                <a:endParaRPr lang="en-US" sz="1600" dirty="0"/>
              </a:p>
            </p:txBody>
          </p:sp>
        </mc:Choice>
        <mc:Fallback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29FDEDA8-CB33-0FF4-5571-48533310A44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65105" y="2377972"/>
                <a:ext cx="3766584" cy="821250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1" name="TextBox 20">
            <a:extLst>
              <a:ext uri="{FF2B5EF4-FFF2-40B4-BE49-F238E27FC236}">
                <a16:creationId xmlns:a16="http://schemas.microsoft.com/office/drawing/2014/main" id="{65B0E677-3F18-1041-3AF3-97C37FC4837C}"/>
              </a:ext>
            </a:extLst>
          </p:cNvPr>
          <p:cNvSpPr txBox="1"/>
          <p:nvPr/>
        </p:nvSpPr>
        <p:spPr>
          <a:xfrm>
            <a:off x="3132175" y="3588296"/>
            <a:ext cx="6097772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buNone/>
            </a:pPr>
            <a:r>
              <a:rPr lang="en-US" sz="1600" b="1" dirty="0">
                <a:solidFill>
                  <a:schemeClr val="accent1">
                    <a:lumMod val="75000"/>
                  </a:schemeClr>
                </a:solidFill>
                <a:latin typeface="Space Grotesk"/>
              </a:rPr>
              <a:t>Single-thread transverse impact - analytical values versus numerical values from the above algorithm with 800 segments.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BB2CA5A6-BCBA-6505-ADF1-643103C2C2D1}"/>
                  </a:ext>
                </a:extLst>
              </p:cNvPr>
              <p:cNvSpPr txBox="1"/>
              <p:nvPr/>
            </p:nvSpPr>
            <p:spPr>
              <a:xfrm>
                <a:off x="1121735" y="3208677"/>
                <a:ext cx="682366" cy="21544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b="1" i="1" smtClean="0">
                          <a:solidFill>
                            <a:schemeClr val="accent1">
                              <a:lumMod val="75000"/>
                            </a:schemeClr>
                          </a:solidFill>
                          <a:latin typeface="Cambria Math" panose="02040503050406030204" pitchFamily="18" charset="0"/>
                        </a:rPr>
                        <m:t>𝟎</m:t>
                      </m:r>
                      <m:r>
                        <a:rPr lang="en-US" sz="1400" b="1" i="1" smtClean="0">
                          <a:solidFill>
                            <a:schemeClr val="accent1">
                              <a:lumMod val="75000"/>
                            </a:schemeClr>
                          </a:solidFill>
                          <a:latin typeface="Cambria Math" panose="02040503050406030204" pitchFamily="18" charset="0"/>
                        </a:rPr>
                        <m:t>.</m:t>
                      </m:r>
                      <m:r>
                        <a:rPr lang="en-US" sz="1400" b="1" i="1" smtClean="0">
                          <a:solidFill>
                            <a:schemeClr val="accent1">
                              <a:lumMod val="75000"/>
                            </a:schemeClr>
                          </a:solidFill>
                          <a:latin typeface="Cambria Math" panose="02040503050406030204" pitchFamily="18" charset="0"/>
                        </a:rPr>
                        <m:t>𝟐𝟓</m:t>
                      </m:r>
                      <m:r>
                        <a:rPr lang="en-US" sz="1400" b="1" i="1" smtClean="0">
                          <a:solidFill>
                            <a:schemeClr val="accent1">
                              <a:lumMod val="75000"/>
                            </a:schemeClr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sz="1400" b="1" i="1" smtClean="0">
                          <a:solidFill>
                            <a:schemeClr val="accent1">
                              <a:lumMod val="75000"/>
                            </a:schemeClr>
                          </a:solidFill>
                          <a:latin typeface="Cambria Math" panose="02040503050406030204" pitchFamily="18" charset="0"/>
                        </a:rPr>
                        <m:t>𝝁</m:t>
                      </m:r>
                      <m:r>
                        <a:rPr lang="en-US" sz="1400" b="1" i="1" smtClean="0">
                          <a:solidFill>
                            <a:schemeClr val="accent1">
                              <a:lumMod val="75000"/>
                            </a:schemeClr>
                          </a:solidFill>
                          <a:latin typeface="Cambria Math" panose="02040503050406030204" pitchFamily="18" charset="0"/>
                        </a:rPr>
                        <m:t>𝒔</m:t>
                      </m:r>
                    </m:oMath>
                  </m:oMathPara>
                </a14:m>
                <a:endParaRPr lang="en-US" sz="1400" b="1" dirty="0">
                  <a:solidFill>
                    <a:schemeClr val="accent1">
                      <a:lumMod val="75000"/>
                    </a:schemeClr>
                  </a:solidFill>
                </a:endParaRPr>
              </a:p>
            </p:txBody>
          </p:sp>
        </mc:Choice>
        <mc:Fallback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BB2CA5A6-BCBA-6505-ADF1-643103C2C2D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21735" y="3208677"/>
                <a:ext cx="682366" cy="215444"/>
              </a:xfrm>
              <a:prstGeom prst="rect">
                <a:avLst/>
              </a:prstGeom>
              <a:blipFill>
                <a:blip r:embed="rId6"/>
                <a:stretch>
                  <a:fillRect l="-5455" r="-3636" b="-3888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51135086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C8C19C-432A-E9E4-022D-A196CA7208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2" name="Group 41">
            <a:extLst>
              <a:ext uri="{FF2B5EF4-FFF2-40B4-BE49-F238E27FC236}">
                <a16:creationId xmlns:a16="http://schemas.microsoft.com/office/drawing/2014/main" id="{97B70DFE-93B4-8178-4B82-AEC54A5CEFE3}"/>
              </a:ext>
            </a:extLst>
          </p:cNvPr>
          <p:cNvGrpSpPr/>
          <p:nvPr/>
        </p:nvGrpSpPr>
        <p:grpSpPr>
          <a:xfrm>
            <a:off x="4814047" y="4750777"/>
            <a:ext cx="2739571" cy="1726211"/>
            <a:chOff x="4814047" y="4750777"/>
            <a:chExt cx="2739571" cy="1726211"/>
          </a:xfrm>
        </p:grpSpPr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5" name="TextBox 14">
                  <a:extLst>
                    <a:ext uri="{FF2B5EF4-FFF2-40B4-BE49-F238E27FC236}">
                      <a16:creationId xmlns:a16="http://schemas.microsoft.com/office/drawing/2014/main" id="{4B58324C-EF3A-7B69-3C62-3A497F2E97BA}"/>
                    </a:ext>
                  </a:extLst>
                </p:cNvPr>
                <p:cNvSpPr txBox="1"/>
                <p:nvPr/>
              </p:nvSpPr>
              <p:spPr>
                <a:xfrm>
                  <a:off x="5851605" y="5566289"/>
                  <a:ext cx="1702013" cy="910699"/>
                </a:xfrm>
                <a:prstGeom prst="rect">
                  <a:avLst/>
                </a:prstGeom>
                <a:noFill/>
                <a:ln>
                  <a:solidFill>
                    <a:schemeClr val="accent1">
                      <a:lumMod val="75000"/>
                    </a:schemeClr>
                  </a:solidFill>
                </a:ln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solidFill>
                                  <a:schemeClr val="accent1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solidFill>
                                  <a:schemeClr val="accent1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𝑐</m:t>
                            </m:r>
                          </m:e>
                          <m:sub>
                            <m:r>
                              <m:rPr>
                                <m:nor/>
                              </m:rPr>
                              <a:rPr lang="en-US" i="0">
                                <a:solidFill>
                                  <a:schemeClr val="accent1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tan</m:t>
                            </m:r>
                          </m:sub>
                        </m:sSub>
                        <m:r>
                          <a:rPr lang="en-US" i="1">
                            <a:solidFill>
                              <a:schemeClr val="accent1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=</m:t>
                        </m:r>
                        <m:rad>
                          <m:radPr>
                            <m:degHide m:val="on"/>
                            <m:ctrlPr>
                              <a:rPr lang="en-US" i="1">
                                <a:solidFill>
                                  <a:schemeClr val="accent1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radPr>
                          <m:deg/>
                          <m:e>
                            <m:f>
                              <m:fPr>
                                <m:ctrlPr>
                                  <a:rPr lang="en-US" i="1">
                                    <a:solidFill>
                                      <a:schemeClr val="accent1">
                                        <a:lumMod val="7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sSup>
                                  <m:sSupPr>
                                    <m:ctrlPr>
                                      <a:rPr lang="en-US" i="1">
                                        <a:solidFill>
                                          <a:schemeClr val="accent1">
                                            <a:lumMod val="75000"/>
                                          </a:schemeClr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n-US" i="1">
                                        <a:solidFill>
                                          <a:schemeClr val="accent1">
                                            <a:lumMod val="75000"/>
                                          </a:schemeClr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𝑇</m:t>
                                    </m:r>
                                  </m:e>
                                  <m:sup>
                                    <m:r>
                                      <a:rPr lang="en-US" i="1">
                                        <a:solidFill>
                                          <a:schemeClr val="accent1">
                                            <a:lumMod val="75000"/>
                                          </a:schemeClr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′</m:t>
                                    </m:r>
                                  </m:sup>
                                </m:sSup>
                                <m:d>
                                  <m:dPr>
                                    <m:ctrlPr>
                                      <a:rPr lang="en-US" i="1">
                                        <a:solidFill>
                                          <a:schemeClr val="accent1">
                                            <a:lumMod val="75000"/>
                                          </a:schemeClr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i="1">
                                        <a:solidFill>
                                          <a:schemeClr val="accent1">
                                            <a:lumMod val="75000"/>
                                          </a:schemeClr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𝜖</m:t>
                                    </m:r>
                                  </m:e>
                                </m:d>
                              </m:num>
                              <m:den>
                                <m:r>
                                  <a:rPr lang="en-US" i="1">
                                    <a:solidFill>
                                      <a:schemeClr val="accent1">
                                        <a:lumMod val="7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𝜌</m:t>
                                </m:r>
                              </m:den>
                            </m:f>
                          </m:e>
                        </m:rad>
                      </m:oMath>
                    </m:oMathPara>
                  </a14:m>
                  <a:endParaRPr lang="en-US" dirty="0">
                    <a:solidFill>
                      <a:schemeClr val="accent1">
                        <a:lumMod val="75000"/>
                      </a:schemeClr>
                    </a:solidFill>
                  </a:endParaRPr>
                </a:p>
              </p:txBody>
            </p:sp>
          </mc:Choice>
          <mc:Fallback>
            <p:sp>
              <p:nvSpPr>
                <p:cNvPr id="15" name="TextBox 14">
                  <a:extLst>
                    <a:ext uri="{FF2B5EF4-FFF2-40B4-BE49-F238E27FC236}">
                      <a16:creationId xmlns:a16="http://schemas.microsoft.com/office/drawing/2014/main" id="{4B58324C-EF3A-7B69-3C62-3A497F2E97B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851605" y="5566289"/>
                  <a:ext cx="1702013" cy="910699"/>
                </a:xfrm>
                <a:prstGeom prst="rect">
                  <a:avLst/>
                </a:prstGeom>
                <a:blipFill>
                  <a:blip r:embed="rId2"/>
                  <a:stretch>
                    <a:fillRect/>
                  </a:stretch>
                </a:blipFill>
                <a:ln>
                  <a:solidFill>
                    <a:schemeClr val="accent1">
                      <a:lumMod val="75000"/>
                    </a:schemeClr>
                  </a:solidFill>
                </a:ln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39" name="Rectangle 38">
              <a:extLst>
                <a:ext uri="{FF2B5EF4-FFF2-40B4-BE49-F238E27FC236}">
                  <a16:creationId xmlns:a16="http://schemas.microsoft.com/office/drawing/2014/main" id="{9F69B570-5CED-247D-BFD7-FAF04098C31D}"/>
                </a:ext>
              </a:extLst>
            </p:cNvPr>
            <p:cNvSpPr/>
            <p:nvPr/>
          </p:nvSpPr>
          <p:spPr>
            <a:xfrm>
              <a:off x="4814047" y="4750777"/>
              <a:ext cx="842682" cy="720325"/>
            </a:xfrm>
            <a:prstGeom prst="rect">
              <a:avLst/>
            </a:prstGeom>
            <a:ln>
              <a:solidFill>
                <a:schemeClr val="accent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41" name="Elbow Connector 40">
              <a:extLst>
                <a:ext uri="{FF2B5EF4-FFF2-40B4-BE49-F238E27FC236}">
                  <a16:creationId xmlns:a16="http://schemas.microsoft.com/office/drawing/2014/main" id="{D2C76E70-4318-0A54-5E5D-C07261937AFF}"/>
                </a:ext>
              </a:extLst>
            </p:cNvPr>
            <p:cNvCxnSpPr>
              <a:stCxn id="39" idx="2"/>
              <a:endCxn id="15" idx="1"/>
            </p:cNvCxnSpPr>
            <p:nvPr/>
          </p:nvCxnSpPr>
          <p:spPr>
            <a:xfrm rot="16200000" flipH="1">
              <a:off x="5268228" y="5438261"/>
              <a:ext cx="550537" cy="616217"/>
            </a:xfrm>
            <a:prstGeom prst="bentConnector2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8" name="Group 37">
            <a:extLst>
              <a:ext uri="{FF2B5EF4-FFF2-40B4-BE49-F238E27FC236}">
                <a16:creationId xmlns:a16="http://schemas.microsoft.com/office/drawing/2014/main" id="{EAC1C2A8-1D6E-D1D1-E6E4-C25E60670C5B}"/>
              </a:ext>
            </a:extLst>
          </p:cNvPr>
          <p:cNvGrpSpPr/>
          <p:nvPr/>
        </p:nvGrpSpPr>
        <p:grpSpPr>
          <a:xfrm>
            <a:off x="4957482" y="2294965"/>
            <a:ext cx="2692400" cy="430715"/>
            <a:chOff x="4957482" y="2294965"/>
            <a:chExt cx="2692400" cy="430715"/>
          </a:xfrm>
        </p:grpSpPr>
        <p:sp>
          <p:nvSpPr>
            <p:cNvPr id="24" name="Rectangle 23">
              <a:extLst>
                <a:ext uri="{FF2B5EF4-FFF2-40B4-BE49-F238E27FC236}">
                  <a16:creationId xmlns:a16="http://schemas.microsoft.com/office/drawing/2014/main" id="{2253147E-1431-1E51-3500-50E148620AE0}"/>
                </a:ext>
              </a:extLst>
            </p:cNvPr>
            <p:cNvSpPr/>
            <p:nvPr/>
          </p:nvSpPr>
          <p:spPr>
            <a:xfrm>
              <a:off x="4957482" y="2294965"/>
              <a:ext cx="1649506" cy="430715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</p:spPr>
          <p:style>
            <a:lnRef idx="2">
              <a:schemeClr val="accent5"/>
            </a:lnRef>
            <a:fillRef idx="1">
              <a:schemeClr val="lt1"/>
            </a:fillRef>
            <a:effectRef idx="0">
              <a:schemeClr val="accent5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26" name="Straight Arrow Connector 25">
              <a:extLst>
                <a:ext uri="{FF2B5EF4-FFF2-40B4-BE49-F238E27FC236}">
                  <a16:creationId xmlns:a16="http://schemas.microsoft.com/office/drawing/2014/main" id="{C3C6D9DE-4705-A9FF-B150-BADD465EF982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702612" y="2525839"/>
              <a:ext cx="947270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5"/>
            </a:lnRef>
            <a:fillRef idx="0">
              <a:schemeClr val="accent5"/>
            </a:fillRef>
            <a:effectRef idx="1">
              <a:schemeClr val="accent5"/>
            </a:effectRef>
            <a:fontRef idx="minor">
              <a:schemeClr val="tx1"/>
            </a:fontRef>
          </p:style>
        </p:cxnSp>
      </p:grpSp>
      <p:sp>
        <p:nvSpPr>
          <p:cNvPr id="4" name="Title 3">
            <a:extLst>
              <a:ext uri="{FF2B5EF4-FFF2-40B4-BE49-F238E27FC236}">
                <a16:creationId xmlns:a16="http://schemas.microsoft.com/office/drawing/2014/main" id="{3C41064B-C0F1-0FA1-D69C-3DF41699EF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>
                <a:solidFill>
                  <a:schemeClr val="bg1"/>
                </a:solidFill>
              </a:rPr>
              <a:t>Simulation tangent speed</a:t>
            </a:r>
            <a:endParaRPr lang="ro-RO" dirty="0">
              <a:solidFill>
                <a:schemeClr val="bg1"/>
              </a:solidFill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D60DC59-1D1C-5112-2465-0A8A423F431E}"/>
              </a:ext>
            </a:extLst>
          </p:cNvPr>
          <p:cNvPicPr>
            <a:picLocks noChangeAspect="1"/>
          </p:cNvPicPr>
          <p:nvPr/>
        </p:nvPicPr>
        <p:blipFill>
          <a:blip r:embed="rId3">
            <a:clrChange>
              <a:clrFrom>
                <a:srgbClr val="000000"/>
              </a:clrFrom>
              <a:clrTo>
                <a:srgbClr val="000000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432471" y="6323329"/>
            <a:ext cx="1492133" cy="496892"/>
          </a:xfrm>
          <a:prstGeom prst="rect">
            <a:avLst/>
          </a:prstGeom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1E42C217-FE7E-3D4E-E515-FD44E1113EC4}"/>
                  </a:ext>
                </a:extLst>
              </p:cNvPr>
              <p:cNvSpPr txBox="1"/>
              <p:nvPr/>
            </p:nvSpPr>
            <p:spPr>
              <a:xfrm>
                <a:off x="403412" y="4786877"/>
                <a:ext cx="3048000" cy="648126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𝑇</m:t>
                          </m:r>
                        </m:num>
                        <m:den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𝑥</m:t>
                          </m:r>
                        </m:den>
                      </m:f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𝑑𝑇</m:t>
                          </m:r>
                        </m:num>
                        <m:den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𝑑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𝜖</m:t>
                          </m:r>
                        </m:den>
                      </m:f>
                      <m:r>
                        <a:rPr lang="en-US" i="1">
                          <a:latin typeface="Cambria Math" panose="02040503050406030204" pitchFamily="18" charset="0"/>
                        </a:rPr>
                        <m:t>⋅</m:t>
                      </m:r>
                      <m:f>
                        <m:f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𝜕𝜖</m:t>
                          </m:r>
                        </m:num>
                        <m:den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𝑥</m:t>
                          </m:r>
                        </m:den>
                      </m:f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  <m:sup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′</m:t>
                          </m:r>
                        </m:sup>
                      </m:sSup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𝜖</m:t>
                          </m:r>
                        </m:e>
                      </m:d>
                      <m:r>
                        <a:rPr lang="en-US" i="1">
                          <a:latin typeface="Cambria Math" panose="02040503050406030204" pitchFamily="18" charset="0"/>
                        </a:rPr>
                        <m:t>⋅</m:t>
                      </m:r>
                      <m:f>
                        <m:f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p>
                            <m:sSup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𝜕</m:t>
                              </m:r>
                            </m:e>
                            <m:sup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𝑢</m:t>
                          </m:r>
                        </m:num>
                        <m:den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𝜕</m:t>
                          </m:r>
                          <m:sSup>
                            <m:sSup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p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den>
                      </m:f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1E42C217-FE7E-3D4E-E515-FD44E1113EC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3412" y="4786877"/>
                <a:ext cx="3048000" cy="648126"/>
              </a:xfrm>
              <a:prstGeom prst="rect">
                <a:avLst/>
              </a:prstGeom>
              <a:blipFill>
                <a:blip r:embed="rId4"/>
                <a:stretch>
                  <a:fillRect b="-377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7" name="Picture 16">
            <a:extLst>
              <a:ext uri="{FF2B5EF4-FFF2-40B4-BE49-F238E27FC236}">
                <a16:creationId xmlns:a16="http://schemas.microsoft.com/office/drawing/2014/main" id="{63EF84DB-8E86-0850-25BE-15D44B54807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03412" y="1569118"/>
            <a:ext cx="3251200" cy="1816100"/>
          </a:xfrm>
          <a:prstGeom prst="rect">
            <a:avLst/>
          </a:prstGeom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EF322322-5A91-1A13-C03E-5FDD7D4FA2F4}"/>
                  </a:ext>
                </a:extLst>
              </p:cNvPr>
              <p:cNvSpPr txBox="1"/>
              <p:nvPr/>
            </p:nvSpPr>
            <p:spPr>
              <a:xfrm>
                <a:off x="3659094" y="2140089"/>
                <a:ext cx="3048000" cy="648126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smtClean="0">
                          <a:latin typeface="Cambria Math" panose="02040503050406030204" pitchFamily="18" charset="0"/>
                        </a:rPr>
                        <m:t>𝜌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m:rPr>
                          <m:sty m:val="p"/>
                        </m:rPr>
                        <a:rPr lang="en-US" b="0" i="1" smtClean="0">
                          <a:latin typeface="Cambria Math" panose="02040503050406030204" pitchFamily="18" charset="0"/>
                        </a:rPr>
                        <m:t>dx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 </m:t>
                      </m:r>
                      <m:f>
                        <m:f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p>
                            <m:sSup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𝜕</m:t>
                              </m:r>
                            </m:e>
                            <m:sup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𝑢</m:t>
                          </m:r>
                        </m:num>
                        <m:den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𝜕</m:t>
                          </m:r>
                          <m:sSup>
                            <m:sSup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  <m:sup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den>
                      </m:f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m:rPr>
                          <m:sty m:val="p"/>
                        </m:rPr>
                        <a:rPr lang="en-US" b="0" i="1" smtClean="0">
                          <a:latin typeface="Cambria Math" panose="02040503050406030204" pitchFamily="18" charset="0"/>
                        </a:rPr>
                        <m:t>T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m:rPr>
                          <m:sty m:val="p"/>
                        </m:rPr>
                        <a:rPr lang="en-US" b="0" i="1" smtClean="0">
                          <a:latin typeface="Cambria Math" panose="02040503050406030204" pitchFamily="18" charset="0"/>
                        </a:rPr>
                        <m:t>x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m:rPr>
                          <m:sty m:val="p"/>
                        </m:rPr>
                        <a:rPr lang="en-US" b="0" i="1" smtClean="0">
                          <a:latin typeface="Cambria Math" panose="02040503050406030204" pitchFamily="18" charset="0"/>
                        </a:rPr>
                        <m:t>dx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) - </m:t>
                      </m:r>
                      <m:r>
                        <m:rPr>
                          <m:sty m:val="p"/>
                        </m:rPr>
                        <a:rPr lang="en-US" b="0" i="1" smtClean="0">
                          <a:latin typeface="Cambria Math" panose="02040503050406030204" pitchFamily="18" charset="0"/>
                        </a:rPr>
                        <m:t>T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m:rPr>
                          <m:sty m:val="p"/>
                        </m:rPr>
                        <a:rPr lang="en-US" b="0" i="1" smtClean="0">
                          <a:latin typeface="Cambria Math" panose="02040503050406030204" pitchFamily="18" charset="0"/>
                        </a:rPr>
                        <m:t>x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EF322322-5A91-1A13-C03E-5FDD7D4FA2F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59094" y="2140089"/>
                <a:ext cx="3048000" cy="648126"/>
              </a:xfrm>
              <a:prstGeom prst="rect">
                <a:avLst/>
              </a:prstGeom>
              <a:blipFill>
                <a:blip r:embed="rId6"/>
                <a:stretch>
                  <a:fillRect b="-384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0" name="TextBox 19">
            <a:extLst>
              <a:ext uri="{FF2B5EF4-FFF2-40B4-BE49-F238E27FC236}">
                <a16:creationId xmlns:a16="http://schemas.microsoft.com/office/drawing/2014/main" id="{70A50F10-4BC0-0019-5C2D-9967DDB70821}"/>
              </a:ext>
            </a:extLst>
          </p:cNvPr>
          <p:cNvSpPr txBox="1"/>
          <p:nvPr/>
        </p:nvSpPr>
        <p:spPr>
          <a:xfrm>
            <a:off x="3726329" y="1745970"/>
            <a:ext cx="170201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Lex secunda: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C15696F0-D497-9D23-6714-B182E08FAF83}"/>
                  </a:ext>
                </a:extLst>
              </p:cNvPr>
              <p:cNvSpPr txBox="1"/>
              <p:nvPr/>
            </p:nvSpPr>
            <p:spPr>
              <a:xfrm>
                <a:off x="7482541" y="2188347"/>
                <a:ext cx="3048000" cy="619016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b="0" i="1" smtClean="0">
                          <a:latin typeface="Cambria Math" panose="02040503050406030204" pitchFamily="18" charset="0"/>
                        </a:rPr>
                        <m:t>T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m:rPr>
                          <m:sty m:val="p"/>
                        </m:rPr>
                        <a:rPr lang="en-US" b="0" i="1" smtClean="0">
                          <a:latin typeface="Cambria Math" panose="02040503050406030204" pitchFamily="18" charset="0"/>
                        </a:rPr>
                        <m:t>x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m:rPr>
                          <m:sty m:val="p"/>
                        </m:rPr>
                        <a:rPr lang="en-US" b="0" i="1" smtClean="0">
                          <a:latin typeface="Cambria Math" panose="02040503050406030204" pitchFamily="18" charset="0"/>
                        </a:rPr>
                        <m:t>dx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) ≈ </m:t>
                      </m:r>
                      <m:r>
                        <m:rPr>
                          <m:sty m:val="p"/>
                        </m:rPr>
                        <a:rPr lang="en-US" b="0" i="1" smtClean="0">
                          <a:latin typeface="Cambria Math" panose="02040503050406030204" pitchFamily="18" charset="0"/>
                        </a:rPr>
                        <m:t>T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m:rPr>
                          <m:sty m:val="p"/>
                        </m:rPr>
                        <a:rPr lang="en-US" b="0" i="1" smtClean="0">
                          <a:latin typeface="Cambria Math" panose="02040503050406030204" pitchFamily="18" charset="0"/>
                        </a:rPr>
                        <m:t>x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)+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∂</m:t>
                          </m:r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T</m:t>
                          </m:r>
                        </m:num>
                        <m:den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∂</m:t>
                          </m:r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x</m:t>
                          </m:r>
                        </m:den>
                      </m:f>
                      <m:r>
                        <m:rPr>
                          <m:sty m:val="p"/>
                        </m:rPr>
                        <a:rPr lang="en-US" b="0" i="1" smtClean="0">
                          <a:latin typeface="Cambria Math" panose="02040503050406030204" pitchFamily="18" charset="0"/>
                        </a:rPr>
                        <m:t>dx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C15696F0-D497-9D23-6714-B182E08FAF8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482541" y="2188347"/>
                <a:ext cx="3048000" cy="619016"/>
              </a:xfrm>
              <a:prstGeom prst="rect">
                <a:avLst/>
              </a:prstGeom>
              <a:blipFill>
                <a:blip r:embed="rId7"/>
                <a:stretch>
                  <a:fillRect b="-4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35" name="Group 34">
            <a:extLst>
              <a:ext uri="{FF2B5EF4-FFF2-40B4-BE49-F238E27FC236}">
                <a16:creationId xmlns:a16="http://schemas.microsoft.com/office/drawing/2014/main" id="{931B49B4-947F-062A-81B3-117BB6581EAC}"/>
              </a:ext>
            </a:extLst>
          </p:cNvPr>
          <p:cNvGrpSpPr/>
          <p:nvPr/>
        </p:nvGrpSpPr>
        <p:grpSpPr>
          <a:xfrm>
            <a:off x="3726329" y="2883402"/>
            <a:ext cx="2976283" cy="1264192"/>
            <a:chOff x="3726329" y="2883402"/>
            <a:chExt cx="2976283" cy="1264192"/>
          </a:xfrm>
        </p:grpSpPr>
        <mc:AlternateContent xmlns:mc="http://schemas.openxmlformats.org/markup-compatibility/2006">
          <mc:Choice xmlns:a14="http://schemas.microsoft.com/office/drawing/2010/main" Requires="a14">
            <p:sp>
              <p:nvSpPr>
                <p:cNvPr id="3" name="TextBox 2">
                  <a:extLst>
                    <a:ext uri="{FF2B5EF4-FFF2-40B4-BE49-F238E27FC236}">
                      <a16:creationId xmlns:a16="http://schemas.microsoft.com/office/drawing/2014/main" id="{FA498453-BAE6-5ED2-6639-B140DA8113A9}"/>
                    </a:ext>
                  </a:extLst>
                </p:cNvPr>
                <p:cNvSpPr txBox="1"/>
                <p:nvPr/>
              </p:nvSpPr>
              <p:spPr>
                <a:xfrm>
                  <a:off x="3845858" y="3499468"/>
                  <a:ext cx="2537012" cy="648126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𝜌</m:t>
                        </m:r>
                        <m:f>
                          <m:f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sSup>
                              <m:sSup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𝜕</m:t>
                                </m:r>
                              </m:e>
                              <m:sup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p>
                            </m:sSup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𝑢</m:t>
                            </m:r>
                          </m:num>
                          <m:den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𝜕</m:t>
                            </m:r>
                            <m:sSup>
                              <m:sSup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𝑡</m:t>
                                </m:r>
                              </m:e>
                              <m:sup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p>
                            </m:sSup>
                          </m:den>
                        </m:f>
                        <m:r>
                          <a:rPr lang="en-US" i="1">
                            <a:latin typeface="Cambria Math" panose="02040503050406030204" pitchFamily="18" charset="0"/>
                          </a:rPr>
                          <m:t>=</m:t>
                        </m:r>
                        <m:f>
                          <m:f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𝜕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𝑇</m:t>
                            </m:r>
                          </m:num>
                          <m:den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𝜕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den>
                        </m:f>
                      </m:oMath>
                    </m:oMathPara>
                  </a14:m>
                  <a:endParaRPr lang="en-US" dirty="0"/>
                </a:p>
              </p:txBody>
            </p:sp>
          </mc:Choice>
          <mc:Fallback>
            <p:sp>
              <p:nvSpPr>
                <p:cNvPr id="3" name="TextBox 2">
                  <a:extLst>
                    <a:ext uri="{FF2B5EF4-FFF2-40B4-BE49-F238E27FC236}">
                      <a16:creationId xmlns:a16="http://schemas.microsoft.com/office/drawing/2014/main" id="{FA498453-BAE6-5ED2-6639-B140DA8113A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845858" y="3499468"/>
                  <a:ext cx="2537012" cy="648126"/>
                </a:xfrm>
                <a:prstGeom prst="rect">
                  <a:avLst/>
                </a:prstGeom>
                <a:blipFill>
                  <a:blip r:embed="rId8"/>
                  <a:stretch>
                    <a:fillRect b="-384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7" name="Left Brace 26">
              <a:extLst>
                <a:ext uri="{FF2B5EF4-FFF2-40B4-BE49-F238E27FC236}">
                  <a16:creationId xmlns:a16="http://schemas.microsoft.com/office/drawing/2014/main" id="{C5AC0731-AD42-77FF-9B6F-D7A67FA57339}"/>
                </a:ext>
              </a:extLst>
            </p:cNvPr>
            <p:cNvSpPr/>
            <p:nvPr/>
          </p:nvSpPr>
          <p:spPr>
            <a:xfrm rot="16200000">
              <a:off x="4976906" y="1632825"/>
              <a:ext cx="475129" cy="2976283"/>
            </a:xfrm>
            <a:prstGeom prst="leftBrac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34" name="Group 33">
            <a:extLst>
              <a:ext uri="{FF2B5EF4-FFF2-40B4-BE49-F238E27FC236}">
                <a16:creationId xmlns:a16="http://schemas.microsoft.com/office/drawing/2014/main" id="{6A499811-D57D-1E86-8915-A37609476DE2}"/>
              </a:ext>
            </a:extLst>
          </p:cNvPr>
          <p:cNvGrpSpPr/>
          <p:nvPr/>
        </p:nvGrpSpPr>
        <p:grpSpPr>
          <a:xfrm>
            <a:off x="3451412" y="4147594"/>
            <a:ext cx="3061446" cy="1323508"/>
            <a:chOff x="3451412" y="4147594"/>
            <a:chExt cx="3061446" cy="1323508"/>
          </a:xfrm>
        </p:grpSpPr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1" name="TextBox 10">
                  <a:extLst>
                    <a:ext uri="{FF2B5EF4-FFF2-40B4-BE49-F238E27FC236}">
                      <a16:creationId xmlns:a16="http://schemas.microsoft.com/office/drawing/2014/main" id="{F322622B-6ED5-E2FA-3833-307EB645323F}"/>
                    </a:ext>
                  </a:extLst>
                </p:cNvPr>
                <p:cNvSpPr txBox="1"/>
                <p:nvPr/>
              </p:nvSpPr>
              <p:spPr>
                <a:xfrm>
                  <a:off x="3715870" y="4750777"/>
                  <a:ext cx="2796988" cy="720325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f>
                          <m:f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sSup>
                              <m:sSup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𝜕</m:t>
                                </m:r>
                              </m:e>
                              <m:sup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p>
                            </m:sSup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𝑢</m:t>
                            </m:r>
                          </m:num>
                          <m:den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𝜕</m:t>
                            </m:r>
                            <m:sSup>
                              <m:sSup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𝑡</m:t>
                                </m:r>
                              </m:e>
                              <m:sup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p>
                            </m:sSup>
                          </m:den>
                        </m:f>
                        <m:r>
                          <a:rPr lang="en-US" i="1">
                            <a:latin typeface="Cambria Math" panose="02040503050406030204" pitchFamily="18" charset="0"/>
                          </a:rPr>
                          <m:t>=</m:t>
                        </m:r>
                        <m:d>
                          <m:d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f>
                              <m:f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sSup>
                                  <m:sSup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𝑇</m:t>
                                    </m:r>
                                  </m:e>
                                  <m:sup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′</m:t>
                                    </m:r>
                                  </m:sup>
                                </m:sSup>
                                <m:d>
                                  <m:d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𝜖</m:t>
                                    </m:r>
                                  </m:e>
                                </m:d>
                              </m:num>
                              <m:den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𝜌</m:t>
                                </m:r>
                              </m:den>
                            </m:f>
                          </m:e>
                        </m:d>
                        <m:f>
                          <m:f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sSup>
                              <m:sSup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𝜕</m:t>
                                </m:r>
                              </m:e>
                              <m:sup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p>
                            </m:sSup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𝑢</m:t>
                            </m:r>
                          </m:num>
                          <m:den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𝜕</m:t>
                            </m:r>
                            <m:sSup>
                              <m:sSup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p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p>
                            </m:sSup>
                          </m:den>
                        </m:f>
                      </m:oMath>
                    </m:oMathPara>
                  </a14:m>
                  <a:endParaRPr lang="en-US" dirty="0"/>
                </a:p>
              </p:txBody>
            </p:sp>
          </mc:Choice>
          <mc:Fallback>
            <p:sp>
              <p:nvSpPr>
                <p:cNvPr id="11" name="TextBox 10">
                  <a:extLst>
                    <a:ext uri="{FF2B5EF4-FFF2-40B4-BE49-F238E27FC236}">
                      <a16:creationId xmlns:a16="http://schemas.microsoft.com/office/drawing/2014/main" id="{F322622B-6ED5-E2FA-3833-307EB645323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715870" y="4750777"/>
                  <a:ext cx="2796988" cy="720325"/>
                </a:xfrm>
                <a:prstGeom prst="rect">
                  <a:avLst/>
                </a:prstGeom>
                <a:blipFill>
                  <a:blip r:embed="rId9"/>
                  <a:stretch>
                    <a:fillRect b="-1724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29" name="Straight Arrow Connector 28">
              <a:extLst>
                <a:ext uri="{FF2B5EF4-FFF2-40B4-BE49-F238E27FC236}">
                  <a16:creationId xmlns:a16="http://schemas.microsoft.com/office/drawing/2014/main" id="{8C8C1FA6-55F0-B311-9D72-B95667824616}"/>
                </a:ext>
              </a:extLst>
            </p:cNvPr>
            <p:cNvCxnSpPr>
              <a:stCxn id="3" idx="2"/>
            </p:cNvCxnSpPr>
            <p:nvPr/>
          </p:nvCxnSpPr>
          <p:spPr>
            <a:xfrm>
              <a:off x="5114364" y="4147594"/>
              <a:ext cx="0" cy="507996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3"/>
            </a:lnRef>
            <a:fillRef idx="0">
              <a:schemeClr val="accent3"/>
            </a:fillRef>
            <a:effectRef idx="1">
              <a:schemeClr val="accent3"/>
            </a:effectRef>
            <a:fontRef idx="minor">
              <a:schemeClr val="tx1"/>
            </a:fontRef>
          </p:style>
        </p:cxnSp>
        <p:cxnSp>
          <p:nvCxnSpPr>
            <p:cNvPr id="30" name="Straight Arrow Connector 29">
              <a:extLst>
                <a:ext uri="{FF2B5EF4-FFF2-40B4-BE49-F238E27FC236}">
                  <a16:creationId xmlns:a16="http://schemas.microsoft.com/office/drawing/2014/main" id="{C682256C-BC25-C64C-5988-967E0E32BAF2}"/>
                </a:ext>
              </a:extLst>
            </p:cNvPr>
            <p:cNvCxnSpPr>
              <a:cxnSpLocks/>
              <a:stCxn id="7" idx="3"/>
            </p:cNvCxnSpPr>
            <p:nvPr/>
          </p:nvCxnSpPr>
          <p:spPr>
            <a:xfrm>
              <a:off x="3451412" y="5110940"/>
              <a:ext cx="564776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3"/>
            </a:lnRef>
            <a:fillRef idx="0">
              <a:schemeClr val="accent3"/>
            </a:fillRef>
            <a:effectRef idx="1">
              <a:schemeClr val="accent3"/>
            </a:effectRef>
            <a:fontRef idx="minor">
              <a:schemeClr val="tx1"/>
            </a:fontRef>
          </p:style>
        </p:cxnSp>
      </p:grpSp>
      <p:pic>
        <p:nvPicPr>
          <p:cNvPr id="43" name="Picture 42">
            <a:extLst>
              <a:ext uri="{FF2B5EF4-FFF2-40B4-BE49-F238E27FC236}">
                <a16:creationId xmlns:a16="http://schemas.microsoft.com/office/drawing/2014/main" id="{C5A0A73B-A0FB-C566-E884-912A7AC46035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649882" y="3193113"/>
            <a:ext cx="3899646" cy="21783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3411450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3" presetClass="entr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11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5" presetClass="entr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heckerboard(across)">
                                      <p:cBhvr>
                                        <p:cTn id="28" dur="5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23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54D6E3-6E97-A0BD-3AF3-77716701C5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13D7F040-3B12-698B-3105-4FA177601A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>
                <a:solidFill>
                  <a:schemeClr val="bg1"/>
                </a:solidFill>
              </a:rPr>
              <a:t>Single Thread – Silk Simulation</a:t>
            </a:r>
            <a:endParaRPr lang="ro-RO" dirty="0">
              <a:solidFill>
                <a:schemeClr val="bg1"/>
              </a:solidFill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697A7D39-3B7B-AE62-02C4-8E0FA21F0594}"/>
              </a:ext>
            </a:extLst>
          </p:cNvPr>
          <p:cNvPicPr>
            <a:picLocks noChangeAspect="1"/>
          </p:cNvPicPr>
          <p:nvPr/>
        </p:nvPicPr>
        <p:blipFill>
          <a:blip r:embed="rId2">
            <a:clrChange>
              <a:clrFrom>
                <a:srgbClr val="000000"/>
              </a:clrFrom>
              <a:clrTo>
                <a:srgbClr val="000000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432471" y="6323329"/>
            <a:ext cx="1492133" cy="496892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9C0C14D3-E13A-E8D8-FF5A-3E8EB6A9FF9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0894" y="1294662"/>
            <a:ext cx="5275106" cy="3119463"/>
          </a:xfrm>
          <a:prstGeom prst="rect">
            <a:avLst/>
          </a:prstGeom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F927942B-C0A5-B60A-D0A8-7D40B7AE7E6A}"/>
                  </a:ext>
                </a:extLst>
              </p:cNvPr>
              <p:cNvSpPr txBox="1"/>
              <p:nvPr/>
            </p:nvSpPr>
            <p:spPr>
              <a:xfrm>
                <a:off x="1422548" y="4856433"/>
                <a:ext cx="4197174" cy="1107996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sz="1600" dirty="0"/>
                  <a:t>Strain along the coordinate X measured from the impact point; dashed lines: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6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sz="1600" b="0" i="1" smtClean="0">
                            <a:latin typeface="Cambria Math" panose="02040503050406030204" pitchFamily="18" charset="0"/>
                          </a:rPr>
                          <m:t>c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sz="1600" b="0" i="1" smtClean="0">
                            <a:latin typeface="Cambria Math" panose="02040503050406030204" pitchFamily="18" charset="0"/>
                          </a:rPr>
                          <m:t>L</m:t>
                        </m:r>
                      </m:sub>
                    </m:sSub>
                    <m:r>
                      <m:rPr>
                        <m:sty m:val="p"/>
                      </m:rPr>
                      <a:rPr lang="en-US" sz="1600" b="0" i="1" smtClean="0">
                        <a:latin typeface="Cambria Math" panose="02040503050406030204" pitchFamily="18" charset="0"/>
                      </a:rPr>
                      <m:t>t</m:t>
                    </m:r>
                  </m:oMath>
                </a14:m>
                <a:r>
                  <a:rPr lang="en-US" sz="1600" dirty="0"/>
                  <a:t>, dotted lines: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sz="1600" i="1">
                            <a:latin typeface="Cambria Math" panose="02040503050406030204" pitchFamily="18" charset="0"/>
                          </a:rPr>
                          <m:t>c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sz="1600" b="0" i="1" smtClean="0">
                            <a:latin typeface="Cambria Math" panose="02040503050406030204" pitchFamily="18" charset="0"/>
                          </a:rPr>
                          <m:t>T</m:t>
                        </m:r>
                      </m:sub>
                    </m:sSub>
                    <m:r>
                      <m:rPr>
                        <m:sty m:val="p"/>
                      </m:rPr>
                      <a:rPr lang="en-US" sz="1600" i="1">
                        <a:latin typeface="Cambria Math" panose="02040503050406030204" pitchFamily="18" charset="0"/>
                      </a:rPr>
                      <m:t>t</m:t>
                    </m:r>
                  </m:oMath>
                </a14:m>
                <a:endParaRPr lang="en-US" sz="1600" dirty="0"/>
              </a:p>
              <a:p>
                <a:pPr>
                  <a:buNone/>
                </a:pPr>
                <a:endParaRPr lang="en-US" dirty="0">
                  <a:effectLst/>
                  <a:latin typeface="Helvetica" pitchFamily="2" charset="0"/>
                </a:endParaRPr>
              </a:p>
            </p:txBody>
          </p:sp>
        </mc:Choice>
        <mc:Fallback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F927942B-C0A5-B60A-D0A8-7D40B7AE7E6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22548" y="4856433"/>
                <a:ext cx="4197174" cy="1107996"/>
              </a:xfrm>
              <a:prstGeom prst="rect">
                <a:avLst/>
              </a:prstGeom>
              <a:blipFill>
                <a:blip r:embed="rId4"/>
                <a:stretch>
                  <a:fillRect l="-602" t="-113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3" name="Picture 2">
            <a:extLst>
              <a:ext uri="{FF2B5EF4-FFF2-40B4-BE49-F238E27FC236}">
                <a16:creationId xmlns:a16="http://schemas.microsoft.com/office/drawing/2014/main" id="{B5E14A44-5CD2-A9DD-125C-96766CD86FE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11067" y="1294661"/>
            <a:ext cx="5189010" cy="3119463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C8DE86D6-B207-9478-0F72-33977D51DD0C}"/>
              </a:ext>
            </a:extLst>
          </p:cNvPr>
          <p:cNvSpPr txBox="1"/>
          <p:nvPr/>
        </p:nvSpPr>
        <p:spPr>
          <a:xfrm>
            <a:off x="6832014" y="4856433"/>
            <a:ext cx="4968063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1600" dirty="0">
                <a:effectLst/>
                <a:latin typeface="Helvetica" pitchFamily="2" charset="0"/>
              </a:rPr>
              <a:t>Thread shape: the straight inclined segment between the impact point and the kink.</a:t>
            </a:r>
          </a:p>
        </p:txBody>
      </p:sp>
    </p:spTree>
    <p:extLst>
      <p:ext uri="{BB962C8B-B14F-4D97-AF65-F5344CB8AC3E}">
        <p14:creationId xmlns:p14="http://schemas.microsoft.com/office/powerpoint/2010/main" val="402210609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C12877F-9EA0-ACD3-221D-82A1ABFEB0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79F12EF2-2670-72AC-B144-8C8DED83F2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>
                <a:solidFill>
                  <a:schemeClr val="bg1"/>
                </a:solidFill>
              </a:rPr>
              <a:t>Single Thread – Dyneema Simulation</a:t>
            </a:r>
            <a:endParaRPr lang="ro-RO" sz="3600" dirty="0">
              <a:solidFill>
                <a:schemeClr val="bg1"/>
              </a:solidFill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75C544C-DEBF-5B13-7317-962FF785C5C6}"/>
              </a:ext>
            </a:extLst>
          </p:cNvPr>
          <p:cNvPicPr>
            <a:picLocks noChangeAspect="1"/>
          </p:cNvPicPr>
          <p:nvPr/>
        </p:nvPicPr>
        <p:blipFill>
          <a:blip r:embed="rId2">
            <a:clrChange>
              <a:clrFrom>
                <a:srgbClr val="000000"/>
              </a:clrFrom>
              <a:clrTo>
                <a:srgbClr val="000000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432471" y="6323329"/>
            <a:ext cx="1492133" cy="496892"/>
          </a:xfrm>
          <a:prstGeom prst="rect">
            <a:avLst/>
          </a:prstGeom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1C10588E-53B6-DF9F-67E7-DB3C8545D89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8875" y="1398589"/>
            <a:ext cx="5048278" cy="3060457"/>
          </a:xfrm>
          <a:prstGeom prst="rect">
            <a:avLst/>
          </a:prstGeom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B359441F-633D-5E8A-17E2-C33DEF3CC8F7}"/>
                  </a:ext>
                </a:extLst>
              </p:cNvPr>
              <p:cNvSpPr txBox="1"/>
              <p:nvPr/>
            </p:nvSpPr>
            <p:spPr>
              <a:xfrm>
                <a:off x="1294958" y="4829731"/>
                <a:ext cx="4197174" cy="1107996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sz="1600" dirty="0"/>
                  <a:t>Strain along the coordinate X measured from the impact point; dashed lines: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6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sz="1600" b="0" i="1" smtClean="0">
                            <a:latin typeface="Cambria Math" panose="02040503050406030204" pitchFamily="18" charset="0"/>
                          </a:rPr>
                          <m:t>c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sz="1600" b="0" i="1" smtClean="0">
                            <a:latin typeface="Cambria Math" panose="02040503050406030204" pitchFamily="18" charset="0"/>
                          </a:rPr>
                          <m:t>L</m:t>
                        </m:r>
                      </m:sub>
                    </m:sSub>
                    <m:r>
                      <m:rPr>
                        <m:sty m:val="p"/>
                      </m:rPr>
                      <a:rPr lang="en-US" sz="1600" b="0" i="1" smtClean="0">
                        <a:latin typeface="Cambria Math" panose="02040503050406030204" pitchFamily="18" charset="0"/>
                      </a:rPr>
                      <m:t>t</m:t>
                    </m:r>
                  </m:oMath>
                </a14:m>
                <a:r>
                  <a:rPr lang="en-US" sz="1600" dirty="0"/>
                  <a:t>, dotted lines: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sz="1600" i="1">
                            <a:latin typeface="Cambria Math" panose="02040503050406030204" pitchFamily="18" charset="0"/>
                          </a:rPr>
                          <m:t>c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sz="1600" b="0" i="1" smtClean="0">
                            <a:latin typeface="Cambria Math" panose="02040503050406030204" pitchFamily="18" charset="0"/>
                          </a:rPr>
                          <m:t>T</m:t>
                        </m:r>
                      </m:sub>
                    </m:sSub>
                    <m:r>
                      <m:rPr>
                        <m:sty m:val="p"/>
                      </m:rPr>
                      <a:rPr lang="en-US" sz="1600" i="1">
                        <a:latin typeface="Cambria Math" panose="02040503050406030204" pitchFamily="18" charset="0"/>
                      </a:rPr>
                      <m:t>t</m:t>
                    </m:r>
                  </m:oMath>
                </a14:m>
                <a:endParaRPr lang="en-US" sz="1600" dirty="0"/>
              </a:p>
              <a:p>
                <a:pPr>
                  <a:buNone/>
                </a:pPr>
                <a:endParaRPr lang="en-US" dirty="0">
                  <a:effectLst/>
                  <a:latin typeface="Helvetica" pitchFamily="2" charset="0"/>
                </a:endParaRPr>
              </a:p>
            </p:txBody>
          </p:sp>
        </mc:Choice>
        <mc:Fallback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B359441F-633D-5E8A-17E2-C33DEF3CC8F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94958" y="4829731"/>
                <a:ext cx="4197174" cy="1107996"/>
              </a:xfrm>
              <a:prstGeom prst="rect">
                <a:avLst/>
              </a:prstGeom>
              <a:blipFill>
                <a:blip r:embed="rId4"/>
                <a:stretch>
                  <a:fillRect l="-602" t="-227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3" name="Picture 2">
            <a:extLst>
              <a:ext uri="{FF2B5EF4-FFF2-40B4-BE49-F238E27FC236}">
                <a16:creationId xmlns:a16="http://schemas.microsoft.com/office/drawing/2014/main" id="{FFACE2C0-152C-49E1-A342-E58D5EA39B8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81532" y="1398589"/>
            <a:ext cx="4932387" cy="3060457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B217B546-87FE-BEBE-F721-A335D679EF20}"/>
              </a:ext>
            </a:extLst>
          </p:cNvPr>
          <p:cNvSpPr txBox="1"/>
          <p:nvPr/>
        </p:nvSpPr>
        <p:spPr>
          <a:xfrm>
            <a:off x="6396079" y="4834655"/>
            <a:ext cx="4968063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1600" dirty="0">
                <a:effectLst/>
                <a:latin typeface="Helvetica" pitchFamily="2" charset="0"/>
              </a:rPr>
              <a:t>Thread shape: the straight inclined segment between the impact point and the kink.</a:t>
            </a:r>
          </a:p>
        </p:txBody>
      </p:sp>
    </p:spTree>
    <p:extLst>
      <p:ext uri="{BB962C8B-B14F-4D97-AF65-F5344CB8AC3E}">
        <p14:creationId xmlns:p14="http://schemas.microsoft.com/office/powerpoint/2010/main" val="54953794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8F0A84-F847-D1B3-1A93-EE29F353CC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A0210A4C-4085-4997-4B23-B3764FA541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>
                <a:solidFill>
                  <a:schemeClr val="bg1"/>
                </a:solidFill>
              </a:rPr>
              <a:t>Wave “ping-pong” effect</a:t>
            </a:r>
            <a:endParaRPr lang="ro-RO" dirty="0">
              <a:solidFill>
                <a:schemeClr val="bg1"/>
              </a:solidFill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7C228ECC-8027-D82E-D9E4-67B2671F5B1A}"/>
                  </a:ext>
                </a:extLst>
              </p:cNvPr>
              <p:cNvSpPr txBox="1"/>
              <p:nvPr/>
            </p:nvSpPr>
            <p:spPr>
              <a:xfrm>
                <a:off x="889809" y="1366678"/>
                <a:ext cx="9757169" cy="83099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600" b="1" dirty="0">
                    <a:solidFill>
                      <a:schemeClr val="accent1">
                        <a:lumMod val="75000"/>
                      </a:schemeClr>
                    </a:solidFill>
                    <a:latin typeface="Space Grotesk"/>
                  </a:rPr>
                  <a:t>Finite Boundaries &amp; Multiple Reflections: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sz="1600" dirty="0"/>
                  <a:t>Initial impact wave reaches frame anchors within microseconds </a:t>
                </a:r>
                <a14:m>
                  <m:oMath xmlns:m="http://schemas.openxmlformats.org/officeDocument/2006/math"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m:rPr>
                        <m:sty m:val="p"/>
                      </m:rPr>
                      <a:rPr lang="en-US" sz="1600" b="0" i="1" smtClean="0">
                        <a:latin typeface="Cambria Math" panose="02040503050406030204" pitchFamily="18" charset="0"/>
                      </a:rPr>
                      <m:t>μs</m:t>
                    </m:r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sz="1600" dirty="0"/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sz="1600" dirty="0"/>
                  <a:t>Reflected tension waves bounce between projectile and anchors dozens of times during arrest</a:t>
                </a:r>
              </a:p>
            </p:txBody>
          </p:sp>
        </mc:Choice>
        <mc:Fallback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7C228ECC-8027-D82E-D9E4-67B2671F5B1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89809" y="1366678"/>
                <a:ext cx="9757169" cy="830997"/>
              </a:xfrm>
              <a:prstGeom prst="rect">
                <a:avLst/>
              </a:prstGeom>
              <a:blipFill>
                <a:blip r:embed="rId2"/>
                <a:stretch>
                  <a:fillRect l="-390" t="-1493" b="-895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Picture 4">
            <a:extLst>
              <a:ext uri="{FF2B5EF4-FFF2-40B4-BE49-F238E27FC236}">
                <a16:creationId xmlns:a16="http://schemas.microsoft.com/office/drawing/2014/main" id="{7B4AFCED-E099-5777-910B-F63564CF9435}"/>
              </a:ext>
            </a:extLst>
          </p:cNvPr>
          <p:cNvPicPr>
            <a:picLocks noChangeAspect="1"/>
          </p:cNvPicPr>
          <p:nvPr/>
        </p:nvPicPr>
        <p:blipFill>
          <a:blip r:embed="rId3">
            <a:clrChange>
              <a:clrFrom>
                <a:srgbClr val="000000"/>
              </a:clrFrom>
              <a:clrTo>
                <a:srgbClr val="000000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432471" y="6323329"/>
            <a:ext cx="1492133" cy="496892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CABDFB9E-A44C-2BA8-7238-C96171CF6CD5}"/>
              </a:ext>
            </a:extLst>
          </p:cNvPr>
          <p:cNvSpPr txBox="1"/>
          <p:nvPr/>
        </p:nvSpPr>
        <p:spPr>
          <a:xfrm>
            <a:off x="820894" y="4774317"/>
            <a:ext cx="8019607" cy="86177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 b="1" dirty="0">
                <a:solidFill>
                  <a:schemeClr val="accent1">
                    <a:lumMod val="75000"/>
                  </a:schemeClr>
                </a:solidFill>
                <a:latin typeface="Space Grotesk"/>
              </a:rPr>
              <a:t>Physical Takeaway: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The projectile does not experience isolated traveling wave fronts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The net behaves collectively as a </a:t>
            </a:r>
            <a:r>
              <a:rPr lang="en-US" sz="1600" b="1" dirty="0">
                <a:solidFill>
                  <a:schemeClr val="accent1">
                    <a:lumMod val="75000"/>
                  </a:schemeClr>
                </a:solidFill>
              </a:rPr>
              <a:t>quasi-static nonlinear spring assembly</a:t>
            </a:r>
            <a:endParaRPr lang="en-US" sz="1600" dirty="0">
              <a:solidFill>
                <a:schemeClr val="accent1">
                  <a:lumMod val="75000"/>
                </a:schemeClr>
              </a:solidFill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C7A57AE-085E-17E8-CCD7-450ED309B0F6}"/>
              </a:ext>
            </a:extLst>
          </p:cNvPr>
          <p:cNvSpPr txBox="1"/>
          <p:nvPr/>
        </p:nvSpPr>
        <p:spPr>
          <a:xfrm>
            <a:off x="855351" y="3670771"/>
            <a:ext cx="7579295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 b="1" dirty="0">
                <a:solidFill>
                  <a:schemeClr val="accent1">
                    <a:lumMod val="75000"/>
                  </a:schemeClr>
                </a:solidFill>
                <a:latin typeface="Space Grotesk"/>
              </a:rPr>
              <a:t>Tension Homogenization: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Every time the wave bounces back and forth, the tension increases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Spatial stress gradients smooth out within milliseconds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6389AA3C-CD35-8688-F53C-957A11AC4F78}"/>
                  </a:ext>
                </a:extLst>
              </p:cNvPr>
              <p:cNvSpPr txBox="1"/>
              <p:nvPr/>
            </p:nvSpPr>
            <p:spPr>
              <a:xfrm>
                <a:off x="889809" y="2567226"/>
                <a:ext cx="8838982" cy="86177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sz="1600" b="1" dirty="0">
                    <a:solidFill>
                      <a:schemeClr val="accent1">
                        <a:lumMod val="75000"/>
                      </a:schemeClr>
                    </a:solidFill>
                    <a:latin typeface="Space Grotesk"/>
                  </a:rPr>
                  <a:t>Velocity Scale Disparity: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sz="1600" dirty="0"/>
                  <a:t>Transverse wave speed: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1600" b="0" i="1" smtClean="0">
                        <a:latin typeface="Cambria Math" panose="02040503050406030204" pitchFamily="18" charset="0"/>
                      </a:rPr>
                      <m:t>c</m:t>
                    </m:r>
                    <m:r>
                      <m:rPr>
                        <m:sty m:val="p"/>
                      </m:rPr>
                      <a:rPr lang="en-US" sz="1600" b="0" i="1" baseline="-25000" smtClean="0">
                        <a:latin typeface="Cambria Math" panose="02040503050406030204" pitchFamily="18" charset="0"/>
                      </a:rPr>
                      <m:t>T</m:t>
                    </m:r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 ≈800-1800 </m:t>
                    </m:r>
                    <m:r>
                      <m:rPr>
                        <m:sty m:val="p"/>
                      </m:rPr>
                      <a:rPr lang="en-US" sz="1600" b="0" i="1" smtClean="0">
                        <a:latin typeface="Cambria Math" panose="02040503050406030204" pitchFamily="18" charset="0"/>
                      </a:rPr>
                      <m:t>m</m:t>
                    </m:r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/</m:t>
                    </m:r>
                    <m:r>
                      <m:rPr>
                        <m:sty m:val="p"/>
                      </m:rPr>
                      <a:rPr lang="en-US" sz="1600" b="0" i="1" smtClean="0">
                        <a:latin typeface="Cambria Math" panose="02040503050406030204" pitchFamily="18" charset="0"/>
                      </a:rPr>
                      <m:t>s</m:t>
                    </m:r>
                  </m:oMath>
                </a14:m>
                <a:endParaRPr lang="en-US" sz="1600" dirty="0"/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sz="1600" dirty="0"/>
                  <a:t>Drone impact velocity: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1600" b="0" i="1" smtClean="0">
                        <a:latin typeface="Cambria Math" panose="02040503050406030204" pitchFamily="18" charset="0"/>
                      </a:rPr>
                      <m:t>v</m:t>
                    </m:r>
                    <m:r>
                      <a:rPr lang="en-US" sz="1600" b="0" i="1" baseline="-25000" smtClean="0">
                        <a:latin typeface="Cambria Math" panose="02040503050406030204" pitchFamily="18" charset="0"/>
                      </a:rPr>
                      <m:t>0</m:t>
                    </m:r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=10-20 </m:t>
                    </m:r>
                    <m:r>
                      <m:rPr>
                        <m:sty m:val="p"/>
                      </m:rPr>
                      <a:rPr lang="en-US" sz="1600" b="0" i="1" smtClean="0">
                        <a:latin typeface="Cambria Math" panose="02040503050406030204" pitchFamily="18" charset="0"/>
                      </a:rPr>
                      <m:t>m</m:t>
                    </m:r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/</m:t>
                    </m:r>
                    <m:r>
                      <m:rPr>
                        <m:sty m:val="p"/>
                      </m:rPr>
                      <a:rPr lang="en-US" sz="1600" b="0" i="1" smtClean="0">
                        <a:latin typeface="Cambria Math" panose="02040503050406030204" pitchFamily="18" charset="0"/>
                      </a:rPr>
                      <m:t>s</m:t>
                    </m:r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,  </m:t>
                    </m:r>
                    <m:r>
                      <m:rPr>
                        <m:sty m:val="p"/>
                      </m:rPr>
                      <a:rPr lang="en-US" sz="1600" b="0" i="1" smtClean="0">
                        <a:latin typeface="Cambria Math" panose="02040503050406030204" pitchFamily="18" charset="0"/>
                      </a:rPr>
                      <m:t>cT</m:t>
                    </m:r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 ≫</m:t>
                    </m:r>
                    <m:r>
                      <m:rPr>
                        <m:sty m:val="p"/>
                      </m:rPr>
                      <a:rPr lang="en-US" sz="1600" b="0" i="1" smtClean="0">
                        <a:latin typeface="Cambria Math" panose="02040503050406030204" pitchFamily="18" charset="0"/>
                      </a:rPr>
                      <m:t>v</m:t>
                    </m:r>
                    <m:r>
                      <a:rPr lang="en-US" sz="1600" b="0" i="1" baseline="-25000" smtClean="0">
                        <a:latin typeface="Cambria Math" panose="02040503050406030204" pitchFamily="18" charset="0"/>
                      </a:rPr>
                      <m:t>0</m:t>
                    </m:r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, </m:t>
                    </m:r>
                    <m:r>
                      <m:rPr>
                        <m:sty m:val="p"/>
                      </m:rPr>
                      <a:rPr lang="en-US" sz="1600" b="0" i="1" smtClean="0">
                        <a:latin typeface="Cambria Math" panose="02040503050406030204" pitchFamily="18" charset="0"/>
                      </a:rPr>
                      <m:t>ratio</m:t>
                    </m:r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 40-180</m:t>
                    </m:r>
                  </m:oMath>
                </a14:m>
                <a:endParaRPr lang="en-US" sz="1600" dirty="0"/>
              </a:p>
            </p:txBody>
          </p:sp>
        </mc:Choice>
        <mc:Fallback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6389AA3C-CD35-8688-F53C-957A11AC4F7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89809" y="2567226"/>
                <a:ext cx="8838982" cy="861774"/>
              </a:xfrm>
              <a:prstGeom prst="rect">
                <a:avLst/>
              </a:prstGeom>
              <a:blipFill>
                <a:blip r:embed="rId4"/>
                <a:stretch>
                  <a:fillRect l="-430" t="-2899" b="-434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35484002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2E4AAA-72DA-9834-63D3-07902F7498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82838C27-4195-22CC-B3F3-AEAD9B2A1E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>
                <a:solidFill>
                  <a:schemeClr val="bg1"/>
                </a:solidFill>
              </a:rPr>
              <a:t>From Wave PDE to Pure Geometry</a:t>
            </a:r>
            <a:endParaRPr lang="ro-RO" dirty="0">
              <a:solidFill>
                <a:schemeClr val="bg1"/>
              </a:solidFill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6F51A31C-9E6C-45D4-CE59-C7396F00AB07}"/>
              </a:ext>
            </a:extLst>
          </p:cNvPr>
          <p:cNvPicPr>
            <a:picLocks noChangeAspect="1"/>
          </p:cNvPicPr>
          <p:nvPr/>
        </p:nvPicPr>
        <p:blipFill>
          <a:blip r:embed="rId2">
            <a:clrChange>
              <a:clrFrom>
                <a:srgbClr val="000000"/>
              </a:clrFrom>
              <a:clrTo>
                <a:srgbClr val="000000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432471" y="6323329"/>
            <a:ext cx="1492133" cy="496892"/>
          </a:xfrm>
          <a:prstGeom prst="rect">
            <a:avLst/>
          </a:prstGeom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1109475D-CFA7-CA95-A43A-932310DCECD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03474" y="1327318"/>
            <a:ext cx="7772400" cy="2417094"/>
          </a:xfrm>
          <a:prstGeom prst="rect">
            <a:avLst/>
          </a:prstGeom>
        </p:spPr>
      </p:pic>
      <p:grpSp>
        <p:nvGrpSpPr>
          <p:cNvPr id="16" name="Group 15">
            <a:extLst>
              <a:ext uri="{FF2B5EF4-FFF2-40B4-BE49-F238E27FC236}">
                <a16:creationId xmlns:a16="http://schemas.microsoft.com/office/drawing/2014/main" id="{3477AF97-621D-9A18-D47C-16AB2E54F708}"/>
              </a:ext>
            </a:extLst>
          </p:cNvPr>
          <p:cNvGrpSpPr/>
          <p:nvPr/>
        </p:nvGrpSpPr>
        <p:grpSpPr>
          <a:xfrm>
            <a:off x="267396" y="3965043"/>
            <a:ext cx="5736362" cy="2501662"/>
            <a:chOff x="267396" y="3965043"/>
            <a:chExt cx="5736362" cy="2501662"/>
          </a:xfrm>
        </p:grpSpPr>
        <p:sp>
          <p:nvSpPr>
            <p:cNvPr id="12" name="Rounded Rectangle 11">
              <a:extLst>
                <a:ext uri="{FF2B5EF4-FFF2-40B4-BE49-F238E27FC236}">
                  <a16:creationId xmlns:a16="http://schemas.microsoft.com/office/drawing/2014/main" id="{86308120-114A-465C-C069-9C8095E012E9}"/>
                </a:ext>
              </a:extLst>
            </p:cNvPr>
            <p:cNvSpPr/>
            <p:nvPr/>
          </p:nvSpPr>
          <p:spPr>
            <a:xfrm>
              <a:off x="267396" y="3965043"/>
              <a:ext cx="5736362" cy="2501662"/>
            </a:xfrm>
            <a:prstGeom prst="roundRect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8" name="TextBox 7">
                  <a:extLst>
                    <a:ext uri="{FF2B5EF4-FFF2-40B4-BE49-F238E27FC236}">
                      <a16:creationId xmlns:a16="http://schemas.microsoft.com/office/drawing/2014/main" id="{59DCD74A-AF95-070C-5F31-DBB8993CFF9E}"/>
                    </a:ext>
                  </a:extLst>
                </p:cNvPr>
                <p:cNvSpPr txBox="1"/>
                <p:nvPr/>
              </p:nvSpPr>
              <p:spPr>
                <a:xfrm>
                  <a:off x="342901" y="4043826"/>
                  <a:ext cx="5384131" cy="232961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>
                    <a:buNone/>
                  </a:pPr>
                  <a:r>
                    <a:rPr lang="en-US" b="1" dirty="0">
                      <a:effectLst/>
                      <a:latin typeface="Google Sans Text"/>
                    </a:rPr>
                    <a:t>Kinematic Strain Relation</a:t>
                  </a:r>
                  <a:endParaRPr lang="en-US" dirty="0">
                    <a:effectLst/>
                    <a:latin typeface="Google Sans Text"/>
                  </a:endParaRPr>
                </a:p>
                <a:p>
                  <a:r>
                    <a:rPr lang="en-US" sz="1600" dirty="0">
                      <a:effectLst/>
                      <a:latin typeface="Google Sans Text"/>
                    </a:rPr>
                    <a:t>Out-of-plane hub displacement </a:t>
                  </a:r>
                  <a:r>
                    <a:rPr lang="en-US" sz="1600" i="1" dirty="0">
                      <a:latin typeface="Google Sans Text"/>
                    </a:rPr>
                    <a:t>w</a:t>
                  </a:r>
                  <a:r>
                    <a:rPr lang="en-US" sz="1600" dirty="0">
                      <a:effectLst/>
                      <a:latin typeface="Google Sans Text"/>
                    </a:rPr>
                    <a:t> defines deformed </a:t>
                  </a:r>
                  <a:r>
                    <a:rPr lang="en-US" sz="1600" dirty="0">
                      <a:latin typeface="Google Sans Text"/>
                    </a:rPr>
                    <a:t>length </a:t>
                  </a:r>
                  <a14:m>
                    <m:oMath xmlns:m="http://schemas.openxmlformats.org/officeDocument/2006/math">
                      <m:r>
                        <a:rPr lang="en-US" i="1" smtClean="0">
                          <a:latin typeface="Cambria Math" panose="02040503050406030204" pitchFamily="18" charset="0"/>
                        </a:rPr>
                        <m:t>𝐿</m:t>
                      </m:r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</m:d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rad>
                        <m:radPr>
                          <m:degHide m:val="on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radPr>
                        <m:deg/>
                        <m:e>
                          <m:sSup>
                            <m:sSup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𝑅</m:t>
                              </m:r>
                            </m:e>
                            <m:sup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+</m:t>
                          </m:r>
                          <m:sSup>
                            <m:sSup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</m:e>
                            <m:sup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e>
                      </m:rad>
                    </m:oMath>
                  </a14:m>
                  <a:endParaRPr lang="en-US" dirty="0">
                    <a:effectLst/>
                    <a:latin typeface="Google Sans Text"/>
                  </a:endParaRPr>
                </a:p>
                <a:p>
                  <a:r>
                    <a:rPr lang="en-US" sz="1600" dirty="0">
                      <a:effectLst/>
                      <a:latin typeface="Google Sans Text"/>
                    </a:rPr>
                    <a:t>Exact closed-form strain with </a:t>
                  </a:r>
                  <a:r>
                    <a:rPr lang="en-US" sz="1600" dirty="0" err="1">
                      <a:effectLst/>
                      <a:latin typeface="Google Sans Text"/>
                    </a:rPr>
                    <a:t>prestrain</a:t>
                  </a:r>
                  <a:r>
                    <a:rPr lang="en-US" sz="1600" dirty="0">
                      <a:effectLst/>
                      <a:latin typeface="Google Sans Text"/>
                    </a:rPr>
                    <a:t> </a:t>
                  </a:r>
                  <a14:m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b="0" i="1" smtClean="0">
                          <a:effectLst/>
                          <a:latin typeface="Cambria Math" panose="02040503050406030204" pitchFamily="18" charset="0"/>
                        </a:rPr>
                        <m:t>ϵ</m:t>
                      </m:r>
                      <m:r>
                        <m:rPr>
                          <m:sty m:val="p"/>
                        </m:rPr>
                        <a:rPr lang="en-US" b="0" i="1" baseline="-25000" smtClean="0">
                          <a:effectLst/>
                          <a:latin typeface="Cambria Math" panose="02040503050406030204" pitchFamily="18" charset="0"/>
                        </a:rPr>
                        <m:t>p</m:t>
                      </m:r>
                    </m:oMath>
                  </a14:m>
                  <a:r>
                    <a:rPr lang="en-US" dirty="0">
                      <a:effectLst/>
                      <a:latin typeface="Google Sans Text"/>
                    </a:rPr>
                    <a:t>:</a:t>
                  </a:r>
                </a:p>
                <a:p>
                  <a:endParaRPr lang="en-US" dirty="0">
                    <a:effectLst/>
                    <a:latin typeface="Google Sans Text"/>
                  </a:endParaRPr>
                </a:p>
                <a:p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b="0" i="1" smtClean="0">
                            <a:effectLst/>
                            <a:latin typeface="Cambria Math" panose="02040503050406030204" pitchFamily="18" charset="0"/>
                          </a:rPr>
                          <m:t>1+</m:t>
                        </m:r>
                        <m:r>
                          <a:rPr lang="en-US" i="1" smtClean="0">
                            <a:effectLst/>
                            <a:latin typeface="Cambria Math" panose="02040503050406030204" pitchFamily="18" charset="0"/>
                          </a:rPr>
                          <m:t>𝜖</m:t>
                        </m:r>
                        <m:d>
                          <m:dPr>
                            <m:ctrlPr>
                              <a:rPr lang="en-US" i="1" smtClean="0">
                                <a:effectLst/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i="1" smtClean="0">
                                <a:effectLst/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</m:d>
                        <m:r>
                          <a:rPr lang="en-US" i="1" smtClean="0">
                            <a:effectLst/>
                            <a:latin typeface="Cambria Math" panose="02040503050406030204" pitchFamily="18" charset="0"/>
                          </a:rPr>
                          <m:t>=</m:t>
                        </m:r>
                        <m:d>
                          <m:dPr>
                            <m:ctrlPr>
                              <a:rPr lang="en-US" i="1" smtClean="0">
                                <a:effectLst/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i="1" smtClean="0">
                                <a:effectLst/>
                                <a:latin typeface="Cambria Math" panose="02040503050406030204" pitchFamily="18" charset="0"/>
                              </a:rPr>
                              <m:t>1+</m:t>
                            </m:r>
                            <m:sSub>
                              <m:sSubPr>
                                <m:ctrlPr>
                                  <a:rPr lang="en-US" i="1" smtClean="0">
                                    <a:effectLst/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 smtClean="0">
                                    <a:effectLst/>
                                    <a:latin typeface="Cambria Math" panose="02040503050406030204" pitchFamily="18" charset="0"/>
                                  </a:rPr>
                                  <m:t>𝜖</m:t>
                                </m:r>
                              </m:e>
                              <m:sub>
                                <m:r>
                                  <a:rPr lang="en-US" i="1" smtClean="0">
                                    <a:effectLst/>
                                    <a:latin typeface="Cambria Math" panose="02040503050406030204" pitchFamily="18" charset="0"/>
                                  </a:rPr>
                                  <m:t>𝑝</m:t>
                                </m:r>
                              </m:sub>
                            </m:sSub>
                          </m:e>
                        </m:d>
                        <m:rad>
                          <m:radPr>
                            <m:degHide m:val="on"/>
                            <m:ctrlPr>
                              <a:rPr lang="en-US" i="1" smtClean="0">
                                <a:effectLst/>
                                <a:latin typeface="Cambria Math" panose="02040503050406030204" pitchFamily="18" charset="0"/>
                              </a:rPr>
                            </m:ctrlPr>
                          </m:radPr>
                          <m:deg/>
                          <m:e>
                            <m:r>
                              <a:rPr lang="en-US" i="1" smtClean="0">
                                <a:effectLst/>
                                <a:latin typeface="Cambria Math" panose="02040503050406030204" pitchFamily="18" charset="0"/>
                              </a:rPr>
                              <m:t>1+</m:t>
                            </m:r>
                            <m:sSup>
                              <m:sSupPr>
                                <m:ctrlPr>
                                  <a:rPr lang="en-US" i="1" smtClean="0">
                                    <a:effectLst/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d>
                                  <m:dPr>
                                    <m:ctrlPr>
                                      <a:rPr lang="en-US" i="1" smtClean="0">
                                        <a:effectLst/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f>
                                      <m:fPr>
                                        <m:ctrlPr>
                                          <a:rPr lang="en-US" i="1" smtClean="0">
                                            <a:effectLst/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fPr>
                                      <m:num>
                                        <m:r>
                                          <a:rPr lang="en-US" i="1" smtClean="0">
                                            <a:effectLst/>
                                            <a:latin typeface="Cambria Math" panose="02040503050406030204" pitchFamily="18" charset="0"/>
                                          </a:rPr>
                                          <m:t>𝑤</m:t>
                                        </m:r>
                                      </m:num>
                                      <m:den>
                                        <m:r>
                                          <a:rPr lang="en-US" i="1" smtClean="0">
                                            <a:effectLst/>
                                            <a:latin typeface="Cambria Math" panose="02040503050406030204" pitchFamily="18" charset="0"/>
                                          </a:rPr>
                                          <m:t>𝑅</m:t>
                                        </m:r>
                                      </m:den>
                                    </m:f>
                                  </m:e>
                                </m:d>
                              </m:e>
                              <m:sup>
                                <m:r>
                                  <a:rPr lang="en-US" i="1" smtClean="0">
                                    <a:effectLst/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p>
                            </m:sSup>
                          </m:e>
                        </m:rad>
                      </m:oMath>
                    </m:oMathPara>
                  </a14:m>
                  <a:endParaRPr lang="en-US" dirty="0">
                    <a:effectLst/>
                    <a:latin typeface="Google Sans Text"/>
                  </a:endParaRPr>
                </a:p>
              </p:txBody>
            </p:sp>
          </mc:Choice>
          <mc:Fallback>
            <p:sp>
              <p:nvSpPr>
                <p:cNvPr id="8" name="TextBox 7">
                  <a:extLst>
                    <a:ext uri="{FF2B5EF4-FFF2-40B4-BE49-F238E27FC236}">
                      <a16:creationId xmlns:a16="http://schemas.microsoft.com/office/drawing/2014/main" id="{59DCD74A-AF95-070C-5F31-DBB8993CFF9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42901" y="4043826"/>
                  <a:ext cx="5384131" cy="2329612"/>
                </a:xfrm>
                <a:prstGeom prst="rect">
                  <a:avLst/>
                </a:prstGeom>
                <a:blipFill>
                  <a:blip r:embed="rId4"/>
                  <a:stretch>
                    <a:fillRect l="-471" t="-1081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17" name="Group 16">
            <a:extLst>
              <a:ext uri="{FF2B5EF4-FFF2-40B4-BE49-F238E27FC236}">
                <a16:creationId xmlns:a16="http://schemas.microsoft.com/office/drawing/2014/main" id="{0FE05E98-7240-0374-C8A3-8389D4877C92}"/>
              </a:ext>
            </a:extLst>
          </p:cNvPr>
          <p:cNvGrpSpPr/>
          <p:nvPr/>
        </p:nvGrpSpPr>
        <p:grpSpPr>
          <a:xfrm>
            <a:off x="6456810" y="3965043"/>
            <a:ext cx="5392289" cy="2074810"/>
            <a:chOff x="6456810" y="3965043"/>
            <a:chExt cx="5392289" cy="2074810"/>
          </a:xfrm>
        </p:grpSpPr>
        <p:sp>
          <p:nvSpPr>
            <p:cNvPr id="14" name="Rounded Rectangle 13">
              <a:extLst>
                <a:ext uri="{FF2B5EF4-FFF2-40B4-BE49-F238E27FC236}">
                  <a16:creationId xmlns:a16="http://schemas.microsoft.com/office/drawing/2014/main" id="{B75A52A6-ED64-5E8A-0CCD-FE8087BE69DD}"/>
                </a:ext>
              </a:extLst>
            </p:cNvPr>
            <p:cNvSpPr/>
            <p:nvPr/>
          </p:nvSpPr>
          <p:spPr>
            <a:xfrm>
              <a:off x="6456810" y="3965043"/>
              <a:ext cx="5392289" cy="2074810"/>
            </a:xfrm>
            <a:prstGeom prst="roundRect">
              <a:avLst/>
            </a:prstGeom>
            <a:solidFill>
              <a:schemeClr val="accent4">
                <a:lumMod val="40000"/>
                <a:lumOff val="60000"/>
              </a:schemeClr>
            </a:solidFill>
            <a:ln>
              <a:solidFill>
                <a:schemeClr val="accent2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0" name="TextBox 9">
                  <a:extLst>
                    <a:ext uri="{FF2B5EF4-FFF2-40B4-BE49-F238E27FC236}">
                      <a16:creationId xmlns:a16="http://schemas.microsoft.com/office/drawing/2014/main" id="{BAE7A9F3-D80E-2A94-E02B-66B6BE75EA57}"/>
                    </a:ext>
                  </a:extLst>
                </p:cNvPr>
                <p:cNvSpPr txBox="1"/>
                <p:nvPr/>
              </p:nvSpPr>
              <p:spPr>
                <a:xfrm>
                  <a:off x="6593304" y="4043826"/>
                  <a:ext cx="5077327" cy="1798826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>
                    <a:buNone/>
                  </a:pPr>
                  <a:r>
                    <a:rPr lang="en-US" b="1" dirty="0">
                      <a:effectLst/>
                      <a:latin typeface="Google Sans Text"/>
                    </a:rPr>
                    <a:t>Global Energy Balance</a:t>
                  </a:r>
                  <a:endParaRPr lang="en-US" dirty="0">
                    <a:effectLst/>
                    <a:latin typeface="Google Sans Text"/>
                  </a:endParaRPr>
                </a:p>
                <a:p>
                  <a:endParaRPr lang="en-US" dirty="0">
                    <a:effectLst/>
                    <a:latin typeface="Google Sans Text"/>
                  </a:endParaRPr>
                </a:p>
                <a:p>
                  <a:r>
                    <a:rPr lang="en-US" sz="1600" dirty="0">
                      <a:effectLst/>
                      <a:latin typeface="Google Sans Text"/>
                    </a:rPr>
                    <a:t>Total strain energy absorbed up to deflection </a:t>
                  </a:r>
                  <a:r>
                    <a:rPr lang="en-US" sz="1600" i="1" dirty="0">
                      <a:latin typeface="Google Sans Text"/>
                    </a:rPr>
                    <a:t>w</a:t>
                  </a:r>
                  <a:r>
                    <a:rPr lang="en-US" sz="1600" dirty="0">
                      <a:effectLst/>
                      <a:latin typeface="Google Sans Text"/>
                    </a:rPr>
                    <a:t>:</a:t>
                  </a:r>
                </a:p>
                <a:p>
                  <a:pPr>
                    <a:buFont typeface="Arial" panose="020B0604020202020204" pitchFamily="34" charset="0"/>
                    <a:buChar char="•"/>
                  </a:pPr>
                  <a:endParaRPr lang="en-US" dirty="0">
                    <a:latin typeface="Google Sans Text"/>
                  </a:endParaRPr>
                </a:p>
                <a:p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i="1" smtClean="0">
                            <a:effectLst/>
                            <a:latin typeface="Cambria Math" panose="02040503050406030204" pitchFamily="18" charset="0"/>
                          </a:rPr>
                          <m:t>𝑈</m:t>
                        </m:r>
                        <m:d>
                          <m:dPr>
                            <m:ctrlPr>
                              <a:rPr lang="en-US" i="1" smtClean="0">
                                <a:effectLst/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i="1" smtClean="0">
                                <a:effectLst/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</m:d>
                        <m:r>
                          <a:rPr lang="en-US" i="1" smtClean="0">
                            <a:effectLst/>
                            <a:latin typeface="Cambria Math" panose="02040503050406030204" pitchFamily="18" charset="0"/>
                          </a:rPr>
                          <m:t>=</m:t>
                        </m:r>
                        <m:nary>
                          <m:naryPr>
                            <m:ctrlPr>
                              <a:rPr lang="en-US" i="1" smtClean="0">
                                <a:effectLst/>
                                <a:latin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a:rPr lang="en-US" i="1" smtClean="0">
                                <a:effectLst/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  <m:sup>
                            <m:r>
                              <a:rPr lang="en-US" i="1" smtClean="0">
                                <a:effectLst/>
                                <a:latin typeface="Cambria Math" panose="02040503050406030204" pitchFamily="18" charset="0"/>
                              </a:rPr>
                              <m:t>𝑤</m:t>
                            </m:r>
                          </m:sup>
                          <m:e>
                            <m:r>
                              <a:rPr lang="en-US" i="1" smtClean="0">
                                <a:effectLst/>
                                <a:latin typeface="Cambria Math" panose="02040503050406030204" pitchFamily="18" charset="0"/>
                              </a:rPr>
                              <m:t>𝐹</m:t>
                            </m:r>
                            <m:d>
                              <m:dPr>
                                <m:ctrlPr>
                                  <a:rPr lang="en-US" i="1" smtClean="0">
                                    <a:effectLst/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sSup>
                                  <m:sSupPr>
                                    <m:ctrlPr>
                                      <a:rPr lang="en-US" i="1" smtClean="0">
                                        <a:effectLst/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n-US" i="1" smtClean="0">
                                        <a:effectLst/>
                                        <a:latin typeface="Cambria Math" panose="02040503050406030204" pitchFamily="18" charset="0"/>
                                      </a:rPr>
                                      <m:t>𝑤</m:t>
                                    </m:r>
                                  </m:e>
                                  <m:sup>
                                    <m:r>
                                      <a:rPr lang="en-US" i="1" smtClean="0">
                                        <a:effectLst/>
                                        <a:latin typeface="Cambria Math" panose="02040503050406030204" pitchFamily="18" charset="0"/>
                                      </a:rPr>
                                      <m:t>′</m:t>
                                    </m:r>
                                  </m:sup>
                                </m:sSup>
                              </m:e>
                            </m:d>
                          </m:e>
                        </m:nary>
                        <m:r>
                          <a:rPr lang="en-US" i="1" smtClean="0">
                            <a:effectLst/>
                            <a:latin typeface="Cambria Math" panose="02040503050406030204" pitchFamily="18" charset="0"/>
                          </a:rPr>
                          <m:t> </m:t>
                        </m:r>
                        <m:r>
                          <a:rPr lang="en-US" i="1" smtClean="0">
                            <a:effectLst/>
                            <a:latin typeface="Cambria Math" panose="02040503050406030204" pitchFamily="18" charset="0"/>
                          </a:rPr>
                          <m:t>𝑑</m:t>
                        </m:r>
                        <m:sSup>
                          <m:sSupPr>
                            <m:ctrlPr>
                              <a:rPr lang="en-US" i="1" smtClean="0">
                                <a:effectLst/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i="1" smtClean="0">
                                <a:effectLst/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p>
                            <m:r>
                              <a:rPr lang="en-US" i="1" smtClean="0">
                                <a:effectLst/>
                                <a:latin typeface="Cambria Math" panose="02040503050406030204" pitchFamily="18" charset="0"/>
                              </a:rPr>
                              <m:t>′</m:t>
                            </m:r>
                          </m:sup>
                        </m:sSup>
                        <m:r>
                          <a:rPr lang="en-US" i="1" smtClean="0">
                            <a:effectLst/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en-US" i="1" smtClean="0">
                            <a:effectLst/>
                            <a:latin typeface="Cambria Math" panose="02040503050406030204" pitchFamily="18" charset="0"/>
                          </a:rPr>
                          <m:t>𝑁</m:t>
                        </m:r>
                        <m:r>
                          <a:rPr lang="en-US" i="1" smtClean="0">
                            <a:effectLst/>
                            <a:latin typeface="Cambria Math" panose="02040503050406030204" pitchFamily="18" charset="0"/>
                          </a:rPr>
                          <m:t>ℓ</m:t>
                        </m:r>
                        <m:r>
                          <a:rPr lang="en-US" i="1" smtClean="0">
                            <a:effectLst/>
                            <a:latin typeface="Cambria Math" panose="02040503050406030204" pitchFamily="18" charset="0"/>
                          </a:rPr>
                          <m:t>𝐴</m:t>
                        </m:r>
                        <m:d>
                          <m:dPr>
                            <m:begChr m:val="["/>
                            <m:endChr m:val="]"/>
                            <m:ctrlPr>
                              <a:rPr lang="en-US" i="1" smtClean="0">
                                <a:effectLst/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m:rPr>
                                <m:sty m:val="p"/>
                              </m:rPr>
                              <a:rPr lang="en-US" i="0" smtClean="0">
                                <a:effectLst/>
                                <a:latin typeface="Cambria Math" panose="02040503050406030204" pitchFamily="18" charset="0"/>
                              </a:rPr>
                              <m:t>Φ</m:t>
                            </m:r>
                            <m:d>
                              <m:dPr>
                                <m:ctrlPr>
                                  <a:rPr lang="en-US" i="1" smtClean="0">
                                    <a:effectLst/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i="1" smtClean="0">
                                    <a:effectLst/>
                                    <a:latin typeface="Cambria Math" panose="02040503050406030204" pitchFamily="18" charset="0"/>
                                  </a:rPr>
                                  <m:t>𝜖</m:t>
                                </m:r>
                                <m:d>
                                  <m:dPr>
                                    <m:ctrlPr>
                                      <a:rPr lang="en-US" i="1" smtClean="0">
                                        <a:effectLst/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i="1" smtClean="0">
                                        <a:effectLst/>
                                        <a:latin typeface="Cambria Math" panose="02040503050406030204" pitchFamily="18" charset="0"/>
                                      </a:rPr>
                                      <m:t>𝑤</m:t>
                                    </m:r>
                                  </m:e>
                                </m:d>
                              </m:e>
                            </m:d>
                            <m:r>
                              <a:rPr lang="en-US" i="1" smtClean="0">
                                <a:effectLst/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m:rPr>
                                <m:sty m:val="p"/>
                              </m:rPr>
                              <a:rPr lang="en-US" i="0" smtClean="0">
                                <a:effectLst/>
                                <a:latin typeface="Cambria Math" panose="02040503050406030204" pitchFamily="18" charset="0"/>
                              </a:rPr>
                              <m:t>Φ</m:t>
                            </m:r>
                            <m:d>
                              <m:dPr>
                                <m:ctrlPr>
                                  <a:rPr lang="en-US" i="1" smtClean="0">
                                    <a:effectLst/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sSub>
                                  <m:sSubPr>
                                    <m:ctrlPr>
                                      <a:rPr lang="en-US" i="1" smtClean="0">
                                        <a:effectLst/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i="1" smtClean="0">
                                        <a:effectLst/>
                                        <a:latin typeface="Cambria Math" panose="02040503050406030204" pitchFamily="18" charset="0"/>
                                      </a:rPr>
                                      <m:t>𝜖</m:t>
                                    </m:r>
                                  </m:e>
                                  <m:sub>
                                    <m:r>
                                      <a:rPr lang="en-US" i="1" smtClean="0">
                                        <a:effectLst/>
                                        <a:latin typeface="Cambria Math" panose="02040503050406030204" pitchFamily="18" charset="0"/>
                                      </a:rPr>
                                      <m:t>𝑝</m:t>
                                    </m:r>
                                  </m:sub>
                                </m:sSub>
                              </m:e>
                            </m:d>
                          </m:e>
                        </m:d>
                      </m:oMath>
                    </m:oMathPara>
                  </a14:m>
                  <a:endParaRPr lang="en-US" dirty="0">
                    <a:effectLst/>
                    <a:latin typeface="Google Sans Text"/>
                  </a:endParaRPr>
                </a:p>
              </p:txBody>
            </p:sp>
          </mc:Choice>
          <mc:Fallback>
            <p:sp>
              <p:nvSpPr>
                <p:cNvPr id="10" name="TextBox 9">
                  <a:extLst>
                    <a:ext uri="{FF2B5EF4-FFF2-40B4-BE49-F238E27FC236}">
                      <a16:creationId xmlns:a16="http://schemas.microsoft.com/office/drawing/2014/main" id="{BAE7A9F3-D80E-2A94-E02B-66B6BE75EA5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593304" y="4043826"/>
                  <a:ext cx="5077327" cy="1798826"/>
                </a:xfrm>
                <a:prstGeom prst="rect">
                  <a:avLst/>
                </a:prstGeom>
                <a:blipFill>
                  <a:blip r:embed="rId5"/>
                  <a:stretch>
                    <a:fillRect l="-1000" t="-2817" b="-90141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15" name="Rectangle 14">
            <a:extLst>
              <a:ext uri="{FF2B5EF4-FFF2-40B4-BE49-F238E27FC236}">
                <a16:creationId xmlns:a16="http://schemas.microsoft.com/office/drawing/2014/main" id="{F1DD313F-DDE0-9A6D-D8FA-3992346A7B14}"/>
              </a:ext>
            </a:extLst>
          </p:cNvPr>
          <p:cNvSpPr/>
          <p:nvPr/>
        </p:nvSpPr>
        <p:spPr>
          <a:xfrm>
            <a:off x="5018567" y="1424763"/>
            <a:ext cx="2466754" cy="2319649"/>
          </a:xfrm>
          <a:prstGeom prst="rect">
            <a:avLst/>
          </a:prstGeom>
          <a:solidFill>
            <a:schemeClr val="bg1">
              <a:lumMod val="75000"/>
              <a:alpha val="12702"/>
            </a:schemeClr>
          </a:solidFill>
          <a:ln>
            <a:solidFill>
              <a:schemeClr val="dk1">
                <a:shade val="95000"/>
                <a:satMod val="105000"/>
              </a:schemeClr>
            </a:solidFill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5307120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7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3B08C52-D3BE-1E45-553D-72D70874D6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0891E865-5ECC-EBCA-6EE7-6BC9DAA184F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20894" y="391295"/>
            <a:ext cx="7791478" cy="636609"/>
          </a:xfrm>
        </p:spPr>
        <p:txBody>
          <a:bodyPr>
            <a:normAutofit/>
          </a:bodyPr>
          <a:lstStyle/>
          <a:p>
            <a:r>
              <a:rPr lang="en-US" sz="3200" dirty="0">
                <a:solidFill>
                  <a:schemeClr val="bg1"/>
                </a:solidFill>
              </a:rPr>
              <a:t>Minimum Net Mass &amp; Material Utilization</a:t>
            </a:r>
            <a:endParaRPr lang="ro-RO" sz="3200" dirty="0">
              <a:solidFill>
                <a:schemeClr val="bg1"/>
              </a:solidFill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07E57AF7-5F52-3B26-91DD-10CB4E43DFF6}"/>
                  </a:ext>
                </a:extLst>
              </p:cNvPr>
              <p:cNvSpPr txBox="1"/>
              <p:nvPr/>
            </p:nvSpPr>
            <p:spPr>
              <a:xfrm>
                <a:off x="4716633" y="2169688"/>
                <a:ext cx="1752275" cy="576568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 smtClean="0">
                              <a:latin typeface="Cambria Math" panose="02040503050406030204" pitchFamily="18" charset="0"/>
                            </a:rPr>
                            <m:t>𝐦</m:t>
                          </m:r>
                        </m:e>
                        <m:sub>
                          <m:r>
                            <a:rPr lang="en-US" i="1" smtClean="0">
                              <a:latin typeface="Cambria Math" panose="02040503050406030204" pitchFamily="18" charset="0"/>
                            </a:rPr>
                            <m:t>𝐦𝐢𝐧</m:t>
                          </m:r>
                        </m:sub>
                      </m:sSub>
                      <m:r>
                        <a:rPr lang="en-US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en-US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 smtClean="0">
                                  <a:latin typeface="Cambria Math" panose="02040503050406030204" pitchFamily="18" charset="0"/>
                                </a:rPr>
                                <m:t>𝐄</m:t>
                              </m:r>
                            </m:e>
                            <m:sub>
                              <m:r>
                                <m:rPr>
                                  <m:nor/>
                                </m:rPr>
                                <a:rPr lang="en-US" i="0" smtClean="0">
                                  <a:latin typeface="Cambria Math" panose="02040503050406030204" pitchFamily="18" charset="0"/>
                                </a:rPr>
                                <m:t>𝐤𝐢𝐧</m:t>
                              </m:r>
                            </m:sub>
                          </m:sSub>
                        </m:num>
                        <m:den>
                          <m:r>
                            <a:rPr lang="en-US" i="1" smtClean="0">
                              <a:latin typeface="Cambria Math" panose="02040503050406030204" pitchFamily="18" charset="0"/>
                            </a:rPr>
                            <m:t>𝜂</m:t>
                          </m:r>
                          <m:r>
                            <a:rPr lang="en-US" i="1" smtClean="0">
                              <a:latin typeface="Cambria Math" panose="02040503050406030204" pitchFamily="18" charset="0"/>
                            </a:rPr>
                            <m:t>⋅</m:t>
                          </m:r>
                          <m:sSub>
                            <m:sSubPr>
                              <m:ctrlPr>
                                <a:rPr lang="en-US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 smtClean="0">
                                  <a:latin typeface="Cambria Math" panose="02040503050406030204" pitchFamily="18" charset="0"/>
                                </a:rPr>
                                <m:t>𝐞</m:t>
                              </m:r>
                            </m:e>
                            <m:sub>
                              <m:r>
                                <m:rPr>
                                  <m:nor/>
                                </m:rPr>
                                <a:rPr lang="en-US" i="0" smtClean="0">
                                  <a:latin typeface="Cambria Math" panose="02040503050406030204" pitchFamily="18" charset="0"/>
                                </a:rPr>
                                <m:t>𝐦𝐚𝐭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07E57AF7-5F52-3B26-91DD-10CB4E43DFF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16633" y="2169688"/>
                <a:ext cx="1752275" cy="576568"/>
              </a:xfrm>
              <a:prstGeom prst="rect">
                <a:avLst/>
              </a:prstGeom>
              <a:blipFill>
                <a:blip r:embed="rId2"/>
                <a:stretch>
                  <a:fillRect l="-1439" r="-1439" b="-1276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2AF5C149-8642-D144-565D-9C57ECA5A9B3}"/>
                  </a:ext>
                </a:extLst>
              </p:cNvPr>
              <p:cNvSpPr txBox="1"/>
              <p:nvPr/>
            </p:nvSpPr>
            <p:spPr>
              <a:xfrm>
                <a:off x="1137684" y="1414130"/>
                <a:ext cx="8835656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dirty="0"/>
                  <a:t>Equating drone kinetic energy to strain energy at failure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m:rPr>
                        <m:sty m:val="p"/>
                      </m:rPr>
                      <a:rPr lang="en-US" b="0" i="1" smtClean="0">
                        <a:latin typeface="Cambria Math" panose="02040503050406030204" pitchFamily="18" charset="0"/>
                      </a:rPr>
                      <m:t>Eki</m:t>
                    </m:r>
                    <m:r>
                      <m:rPr>
                        <m:sty m:val="p"/>
                      </m:rPr>
                      <a:rPr lang="en-US" b="0" i="1" baseline="-25000" smtClean="0">
                        <a:latin typeface="Cambria Math" panose="02040503050406030204" pitchFamily="18" charset="0"/>
                      </a:rPr>
                      <m:t>n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sty m:val="p"/>
                      </m:rPr>
                      <a:rPr lang="en-US" b="0" i="1" smtClean="0">
                        <a:latin typeface="Cambria Math" panose="02040503050406030204" pitchFamily="18" charset="0"/>
                      </a:rPr>
                      <m:t>U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m:rPr>
                        <m:sty m:val="p"/>
                      </m:rPr>
                      <a:rPr lang="en-US" b="0" i="1" smtClean="0">
                        <a:latin typeface="Cambria Math" panose="02040503050406030204" pitchFamily="18" charset="0"/>
                      </a:rPr>
                      <m:t>wb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)):</m:t>
                    </m:r>
                  </m:oMath>
                </a14:m>
                <a:endParaRPr lang="en-US" dirty="0"/>
              </a:p>
            </p:txBody>
          </p:sp>
        </mc:Choice>
        <mc:Fallback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2AF5C149-8642-D144-565D-9C57ECA5A9B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37684" y="1414130"/>
                <a:ext cx="8835656" cy="369332"/>
              </a:xfrm>
              <a:prstGeom prst="rect">
                <a:avLst/>
              </a:prstGeom>
              <a:blipFill>
                <a:blip r:embed="rId3"/>
                <a:stretch>
                  <a:fillRect l="-574" t="-6667" b="-26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6" name="Group 15">
            <a:extLst>
              <a:ext uri="{FF2B5EF4-FFF2-40B4-BE49-F238E27FC236}">
                <a16:creationId xmlns:a16="http://schemas.microsoft.com/office/drawing/2014/main" id="{03FDD041-A594-A82C-CF9F-B40A8A207DC3}"/>
              </a:ext>
            </a:extLst>
          </p:cNvPr>
          <p:cNvGrpSpPr/>
          <p:nvPr/>
        </p:nvGrpSpPr>
        <p:grpSpPr>
          <a:xfrm>
            <a:off x="584790" y="3317359"/>
            <a:ext cx="5656521" cy="1956391"/>
            <a:chOff x="903767" y="3030279"/>
            <a:chExt cx="5656521" cy="1956391"/>
          </a:xfrm>
        </p:grpSpPr>
        <p:sp>
          <p:nvSpPr>
            <p:cNvPr id="12" name="Rounded Rectangle 11">
              <a:extLst>
                <a:ext uri="{FF2B5EF4-FFF2-40B4-BE49-F238E27FC236}">
                  <a16:creationId xmlns:a16="http://schemas.microsoft.com/office/drawing/2014/main" id="{CDE67222-0DAE-A3B8-B3F1-78B53A6EC48B}"/>
                </a:ext>
              </a:extLst>
            </p:cNvPr>
            <p:cNvSpPr/>
            <p:nvPr/>
          </p:nvSpPr>
          <p:spPr>
            <a:xfrm>
              <a:off x="903767" y="3030279"/>
              <a:ext cx="5656521" cy="1956391"/>
            </a:xfrm>
            <a:prstGeom prst="roundRect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1" name="TextBox 10">
                  <a:extLst>
                    <a:ext uri="{FF2B5EF4-FFF2-40B4-BE49-F238E27FC236}">
                      <a16:creationId xmlns:a16="http://schemas.microsoft.com/office/drawing/2014/main" id="{1D6942AB-53A4-9C9F-5307-ED218EFF8CC6}"/>
                    </a:ext>
                  </a:extLst>
                </p:cNvPr>
                <p:cNvSpPr txBox="1"/>
                <p:nvPr/>
              </p:nvSpPr>
              <p:spPr>
                <a:xfrm>
                  <a:off x="1008528" y="3234865"/>
                  <a:ext cx="5460380" cy="1547218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14:m>
                    <m:oMath xmlns:m="http://schemas.openxmlformats.org/officeDocument/2006/math">
                      <m:r>
                        <a:rPr lang="en-US" i="1" smtClean="0">
                          <a:latin typeface="Cambria Math" panose="02040503050406030204" pitchFamily="18" charset="0"/>
                        </a:rPr>
                        <m:t>𝜂</m:t>
                      </m:r>
                      <m:r>
                        <a:rPr lang="en-US" i="1" smtClean="0">
                          <a:latin typeface="Cambria Math" panose="02040503050406030204" pitchFamily="18" charset="0"/>
                        </a:rPr>
                        <m:t>∈(0, 1] </m:t>
                      </m:r>
                    </m:oMath>
                  </a14:m>
                  <a:r>
                    <a:rPr lang="en-US" dirty="0"/>
                    <a:t>- </a:t>
                  </a:r>
                  <a:r>
                    <a:rPr lang="en-US" sz="1600" dirty="0"/>
                    <a:t>Material utilization factor (structural efficiency)</a:t>
                  </a:r>
                </a:p>
                <a:p>
                  <a:endParaRPr lang="en-US" dirty="0"/>
                </a:p>
                <a:p>
                  <a:r>
                    <a:rPr lang="en-US" sz="1600" dirty="0"/>
                    <a:t>For centered impact:</a:t>
                  </a:r>
                </a:p>
                <a:p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 smtClean="0">
                                <a:latin typeface="Cambria Math" panose="02040503050406030204" pitchFamily="18" charset="0"/>
                              </a:rPr>
                              <m:t>𝜂</m:t>
                            </m:r>
                          </m:e>
                          <m:sub>
                            <m:r>
                              <a:rPr lang="en-US" i="1" smtClean="0">
                                <a:latin typeface="Cambria Math" panose="02040503050406030204" pitchFamily="18" charset="0"/>
                              </a:rPr>
                              <m:t>𝐴</m:t>
                            </m:r>
                          </m:sub>
                        </m:sSub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=1−</m:t>
                        </m:r>
                        <m:f>
                          <m:f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m:rPr>
                                <m:sty m:val="p"/>
                              </m:rPr>
                              <a:rPr lang="en-US" i="0" smtClean="0">
                                <a:latin typeface="Cambria Math" panose="02040503050406030204" pitchFamily="18" charset="0"/>
                              </a:rPr>
                              <m:t>Φ</m:t>
                            </m:r>
                            <m:d>
                              <m:dPr>
                                <m:ctrlPr>
                                  <a:rPr lang="en-US" i="1" smtClean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sSub>
                                  <m:sSubPr>
                                    <m:ctrlPr>
                                      <a:rPr lang="en-US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i="1" smtClean="0">
                                        <a:latin typeface="Cambria Math" panose="02040503050406030204" pitchFamily="18" charset="0"/>
                                      </a:rPr>
                                      <m:t>𝜖</m:t>
                                    </m:r>
                                  </m:e>
                                  <m:sub>
                                    <m:r>
                                      <a:rPr lang="en-US" i="1" smtClean="0">
                                        <a:latin typeface="Cambria Math" panose="02040503050406030204" pitchFamily="18" charset="0"/>
                                      </a:rPr>
                                      <m:t>𝑝</m:t>
                                    </m:r>
                                  </m:sub>
                                </m:sSub>
                              </m:e>
                            </m:d>
                          </m:num>
                          <m:den>
                            <m:r>
                              <m:rPr>
                                <m:sty m:val="p"/>
                              </m:rPr>
                              <a:rPr lang="en-US" i="0" smtClean="0">
                                <a:latin typeface="Cambria Math" panose="02040503050406030204" pitchFamily="18" charset="0"/>
                              </a:rPr>
                              <m:t>Φ</m:t>
                            </m:r>
                            <m:d>
                              <m:dPr>
                                <m:ctrlPr>
                                  <a:rPr lang="en-US" i="1" smtClean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sSub>
                                  <m:sSubPr>
                                    <m:ctrlPr>
                                      <a:rPr lang="en-US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i="1" smtClean="0">
                                        <a:latin typeface="Cambria Math" panose="02040503050406030204" pitchFamily="18" charset="0"/>
                                      </a:rPr>
                                      <m:t>𝜖</m:t>
                                    </m:r>
                                  </m:e>
                                  <m:sub>
                                    <m:r>
                                      <a:rPr lang="en-US" i="1" smtClean="0">
                                        <a:latin typeface="Cambria Math" panose="02040503050406030204" pitchFamily="18" charset="0"/>
                                      </a:rPr>
                                      <m:t>𝑏</m:t>
                                    </m:r>
                                  </m:sub>
                                </m:sSub>
                              </m:e>
                            </m:d>
                          </m:den>
                        </m:f>
                      </m:oMath>
                    </m:oMathPara>
                  </a14:m>
                  <a:endParaRPr lang="en-US" dirty="0"/>
                </a:p>
              </p:txBody>
            </p:sp>
          </mc:Choice>
          <mc:Fallback>
            <p:sp>
              <p:nvSpPr>
                <p:cNvPr id="11" name="TextBox 10">
                  <a:extLst>
                    <a:ext uri="{FF2B5EF4-FFF2-40B4-BE49-F238E27FC236}">
                      <a16:creationId xmlns:a16="http://schemas.microsoft.com/office/drawing/2014/main" id="{1D6942AB-53A4-9C9F-5307-ED218EFF8CC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08528" y="3234865"/>
                  <a:ext cx="5460380" cy="1547218"/>
                </a:xfrm>
                <a:prstGeom prst="rect">
                  <a:avLst/>
                </a:prstGeom>
                <a:blipFill>
                  <a:blip r:embed="rId4"/>
                  <a:stretch>
                    <a:fillRect l="-696" t="-162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21" name="Group 20">
            <a:extLst>
              <a:ext uri="{FF2B5EF4-FFF2-40B4-BE49-F238E27FC236}">
                <a16:creationId xmlns:a16="http://schemas.microsoft.com/office/drawing/2014/main" id="{788F2F39-512D-7DE7-DA68-DB4AFE9A7441}"/>
              </a:ext>
            </a:extLst>
          </p:cNvPr>
          <p:cNvGrpSpPr/>
          <p:nvPr/>
        </p:nvGrpSpPr>
        <p:grpSpPr>
          <a:xfrm>
            <a:off x="6996223" y="3184997"/>
            <a:ext cx="4176617" cy="1616150"/>
            <a:chOff x="7006855" y="3030279"/>
            <a:chExt cx="4176617" cy="1616150"/>
          </a:xfrm>
        </p:grpSpPr>
        <p:sp>
          <p:nvSpPr>
            <p:cNvPr id="15" name="Rounded Rectangle 14">
              <a:extLst>
                <a:ext uri="{FF2B5EF4-FFF2-40B4-BE49-F238E27FC236}">
                  <a16:creationId xmlns:a16="http://schemas.microsoft.com/office/drawing/2014/main" id="{F55B723D-C8C5-B3BC-60D5-70C931B16998}"/>
                </a:ext>
              </a:extLst>
            </p:cNvPr>
            <p:cNvSpPr/>
            <p:nvPr/>
          </p:nvSpPr>
          <p:spPr>
            <a:xfrm>
              <a:off x="7006855" y="3030279"/>
              <a:ext cx="4176617" cy="1616150"/>
            </a:xfrm>
            <a:prstGeom prst="roundRect">
              <a:avLst/>
            </a:prstGeom>
            <a:solidFill>
              <a:schemeClr val="accent4">
                <a:lumMod val="40000"/>
                <a:lumOff val="60000"/>
              </a:schemeClr>
            </a:solidFill>
            <a:ln>
              <a:solidFill>
                <a:schemeClr val="accent2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4" name="TextBox 13">
                  <a:extLst>
                    <a:ext uri="{FF2B5EF4-FFF2-40B4-BE49-F238E27FC236}">
                      <a16:creationId xmlns:a16="http://schemas.microsoft.com/office/drawing/2014/main" id="{C7399286-E81E-58A8-E86A-1FC77BE2394C}"/>
                    </a:ext>
                  </a:extLst>
                </p:cNvPr>
                <p:cNvSpPr txBox="1"/>
                <p:nvPr/>
              </p:nvSpPr>
              <p:spPr>
                <a:xfrm>
                  <a:off x="7176977" y="3234865"/>
                  <a:ext cx="3678866" cy="1169166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 smtClean="0">
                                <a:latin typeface="Cambria Math" panose="02040503050406030204" pitchFamily="18" charset="0"/>
                              </a:rPr>
                              <m:t>𝐞</m:t>
                            </m:r>
                          </m:e>
                          <m:sub>
                            <m:r>
                              <m:rPr>
                                <m:nor/>
                              </m:rPr>
                              <a:rPr lang="en-US" i="0" smtClean="0">
                                <a:latin typeface="Cambria Math" panose="02040503050406030204" pitchFamily="18" charset="0"/>
                              </a:rPr>
                              <m:t>𝐦𝐚𝐭</m:t>
                            </m:r>
                          </m:sub>
                        </m:sSub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=</m:t>
                        </m:r>
                        <m:f>
                          <m:f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i="0" smtClean="0">
                                <a:latin typeface="Cambria Math" panose="02040503050406030204" pitchFamily="18" charset="0"/>
                              </a:rPr>
                              <m:t>𝚽</m:t>
                            </m:r>
                            <m:d>
                              <m:dPr>
                                <m:ctrlPr>
                                  <a:rPr lang="en-US" i="1" smtClean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sSub>
                                  <m:sSubPr>
                                    <m:ctrlPr>
                                      <a:rPr lang="en-US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i="1" smtClean="0">
                                        <a:latin typeface="Cambria Math" panose="02040503050406030204" pitchFamily="18" charset="0"/>
                                      </a:rPr>
                                      <m:t>𝜖</m:t>
                                    </m:r>
                                  </m:e>
                                  <m:sub>
                                    <m:r>
                                      <a:rPr lang="en-US" i="1" smtClean="0">
                                        <a:latin typeface="Cambria Math" panose="02040503050406030204" pitchFamily="18" charset="0"/>
                                      </a:rPr>
                                      <m:t>𝐛</m:t>
                                    </m:r>
                                  </m:sub>
                                </m:sSub>
                              </m:e>
                            </m:d>
                          </m:num>
                          <m:den>
                            <m:r>
                              <a:rPr lang="en-US" i="1" smtClean="0">
                                <a:latin typeface="Cambria Math" panose="02040503050406030204" pitchFamily="18" charset="0"/>
                              </a:rPr>
                              <m:t>𝜌</m:t>
                            </m:r>
                          </m:den>
                        </m:f>
                      </m:oMath>
                    </m:oMathPara>
                  </a14:m>
                  <a:endParaRPr lang="en-US" dirty="0"/>
                </a:p>
                <a:p>
                  <a:pPr algn="ctr"/>
                  <a:r>
                    <a:rPr lang="en-US" sz="1600" dirty="0"/>
                    <a:t>Specific energy to failure </a:t>
                  </a:r>
                  <a:r>
                    <a:rPr lang="en-US" sz="1600" i="1" dirty="0"/>
                    <a:t>(J/kg)</a:t>
                  </a:r>
                  <a:r>
                    <a:rPr lang="en-US" sz="1600" dirty="0"/>
                    <a:t>, intrinsic material toughness</a:t>
                  </a:r>
                </a:p>
              </p:txBody>
            </p:sp>
          </mc:Choice>
          <mc:Fallback>
            <p:sp>
              <p:nvSpPr>
                <p:cNvPr id="14" name="TextBox 13">
                  <a:extLst>
                    <a:ext uri="{FF2B5EF4-FFF2-40B4-BE49-F238E27FC236}">
                      <a16:creationId xmlns:a16="http://schemas.microsoft.com/office/drawing/2014/main" id="{C7399286-E81E-58A8-E86A-1FC77BE2394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176977" y="3234865"/>
                  <a:ext cx="3678866" cy="1169166"/>
                </a:xfrm>
                <a:prstGeom prst="rect">
                  <a:avLst/>
                </a:prstGeom>
                <a:blipFill>
                  <a:blip r:embed="rId5"/>
                  <a:stretch>
                    <a:fillRect b="-531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8E580D90-B105-558E-EF7A-5F4A16F9B4D4}"/>
              </a:ext>
            </a:extLst>
          </p:cNvPr>
          <p:cNvCxnSpPr>
            <a:stCxn id="6" idx="2"/>
          </p:cNvCxnSpPr>
          <p:nvPr/>
        </p:nvCxnSpPr>
        <p:spPr>
          <a:xfrm flipH="1">
            <a:off x="4880344" y="2746256"/>
            <a:ext cx="712427" cy="57110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25F46AE2-E61F-AEB9-9470-97075D8FD00D}"/>
              </a:ext>
            </a:extLst>
          </p:cNvPr>
          <p:cNvCxnSpPr>
            <a:cxnSpLocks/>
          </p:cNvCxnSpPr>
          <p:nvPr/>
        </p:nvCxnSpPr>
        <p:spPr>
          <a:xfrm>
            <a:off x="6549656" y="2746256"/>
            <a:ext cx="616689" cy="43874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5"/>
          </a:lnRef>
          <a:fillRef idx="0">
            <a:schemeClr val="accent5"/>
          </a:fillRef>
          <a:effectRef idx="1">
            <a:schemeClr val="accent5"/>
          </a:effectRef>
          <a:fontRef idx="minor">
            <a:schemeClr val="tx1"/>
          </a:fontRef>
        </p:style>
      </p:cxnSp>
      <p:sp>
        <p:nvSpPr>
          <p:cNvPr id="24" name="Rectangle: Rounded Corners 131">
            <a:extLst>
              <a:ext uri="{FF2B5EF4-FFF2-40B4-BE49-F238E27FC236}">
                <a16:creationId xmlns:a16="http://schemas.microsoft.com/office/drawing/2014/main" id="{BC6B82B6-2189-AEAF-67DD-CAFB55D27148}"/>
              </a:ext>
            </a:extLst>
          </p:cNvPr>
          <p:cNvSpPr/>
          <p:nvPr/>
        </p:nvSpPr>
        <p:spPr>
          <a:xfrm>
            <a:off x="4197527" y="5688856"/>
            <a:ext cx="6294009" cy="862143"/>
          </a:xfrm>
          <a:prstGeom prst="round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ro-RO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31A56CDF-A259-7B79-A122-53143B255A0E}"/>
                  </a:ext>
                </a:extLst>
              </p:cNvPr>
              <p:cNvSpPr txBox="1"/>
              <p:nvPr/>
            </p:nvSpPr>
            <p:spPr>
              <a:xfrm>
                <a:off x="4742522" y="5844853"/>
                <a:ext cx="5249692" cy="52322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1400" b="1" i="1" dirty="0">
                    <a:solidFill>
                      <a:schemeClr val="accent6">
                        <a:lumMod val="50000"/>
                      </a:schemeClr>
                    </a:solidFill>
                  </a:rPr>
                  <a:t>Hub impact remarkable independence</a:t>
                </a:r>
              </a:p>
              <a:p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1400" i="1" noProof="0">
                        <a:solidFill>
                          <a:schemeClr val="accent6">
                            <a:lumMod val="50000"/>
                          </a:schemeClr>
                        </a:solidFill>
                        <a:latin typeface="Cambria Math" panose="02040503050406030204" pitchFamily="18" charset="0"/>
                      </a:rPr>
                      <m:t>m</m:t>
                    </m:r>
                    <m:r>
                      <m:rPr>
                        <m:sty m:val="p"/>
                      </m:rPr>
                      <a:rPr lang="en-US" sz="1400" b="0" i="1" baseline="-25000" noProof="0" smtClean="0">
                        <a:solidFill>
                          <a:schemeClr val="accent6">
                            <a:lumMod val="50000"/>
                          </a:schemeClr>
                        </a:solidFill>
                        <a:latin typeface="Cambria Math" panose="02040503050406030204" pitchFamily="18" charset="0"/>
                      </a:rPr>
                      <m:t>min</m:t>
                    </m:r>
                    <m:r>
                      <a:rPr lang="en-US" sz="1400" b="0" i="1" noProof="0" smtClean="0">
                        <a:solidFill>
                          <a:schemeClr val="accent6">
                            <a:lumMod val="50000"/>
                          </a:schemeClr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1400" i="1" noProof="0" dirty="0">
                    <a:solidFill>
                      <a:schemeClr val="accent6">
                        <a:lumMod val="50000"/>
                      </a:schemeClr>
                    </a:solidFill>
                  </a:rPr>
                  <a:t>is completely independent of radial count N and radius R.</a:t>
                </a:r>
              </a:p>
            </p:txBody>
          </p:sp>
        </mc:Choice>
        <mc:Fallback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31A56CDF-A259-7B79-A122-53143B255A0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42522" y="5844853"/>
                <a:ext cx="5249692" cy="523220"/>
              </a:xfrm>
              <a:prstGeom prst="rect">
                <a:avLst/>
              </a:prstGeom>
              <a:blipFill>
                <a:blip r:embed="rId6"/>
                <a:stretch>
                  <a:fillRect t="-2381" b="-952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26" name="Graphic 25" descr="Exclamation mark with solid fill">
            <a:extLst>
              <a:ext uri="{FF2B5EF4-FFF2-40B4-BE49-F238E27FC236}">
                <a16:creationId xmlns:a16="http://schemas.microsoft.com/office/drawing/2014/main" id="{7200D3A7-DBF5-A973-B5F1-AB43147EA1D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4310419" y="5857893"/>
            <a:ext cx="432103" cy="4321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8862093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FF81FA-7E01-6393-2AA8-9BCEC078FE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C072454F-AFA2-0D99-0DE5-B79E143D0A1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20894" y="391295"/>
            <a:ext cx="7791478" cy="636609"/>
          </a:xfrm>
        </p:spPr>
        <p:txBody>
          <a:bodyPr>
            <a:normAutofit/>
          </a:bodyPr>
          <a:lstStyle/>
          <a:p>
            <a:r>
              <a:rPr lang="en-US" sz="3200" dirty="0">
                <a:solidFill>
                  <a:schemeClr val="bg1"/>
                </a:solidFill>
              </a:rPr>
              <a:t>Minimum Net Mass &amp; Material Utilization</a:t>
            </a:r>
            <a:endParaRPr lang="ro-RO" sz="3200" dirty="0">
              <a:solidFill>
                <a:schemeClr val="bg1"/>
              </a:solidFill>
            </a:endParaRPr>
          </a:p>
        </p:txBody>
      </p:sp>
      <p:grpSp>
        <p:nvGrpSpPr>
          <p:cNvPr id="16" name="Group 15">
            <a:extLst>
              <a:ext uri="{FF2B5EF4-FFF2-40B4-BE49-F238E27FC236}">
                <a16:creationId xmlns:a16="http://schemas.microsoft.com/office/drawing/2014/main" id="{6E386A88-5E1E-CD8B-9183-28BFF144C4FF}"/>
              </a:ext>
            </a:extLst>
          </p:cNvPr>
          <p:cNvGrpSpPr/>
          <p:nvPr/>
        </p:nvGrpSpPr>
        <p:grpSpPr>
          <a:xfrm>
            <a:off x="820894" y="1318438"/>
            <a:ext cx="5656521" cy="1956391"/>
            <a:chOff x="903767" y="3030279"/>
            <a:chExt cx="5656521" cy="1956391"/>
          </a:xfrm>
        </p:grpSpPr>
        <p:sp>
          <p:nvSpPr>
            <p:cNvPr id="12" name="Rounded Rectangle 11">
              <a:extLst>
                <a:ext uri="{FF2B5EF4-FFF2-40B4-BE49-F238E27FC236}">
                  <a16:creationId xmlns:a16="http://schemas.microsoft.com/office/drawing/2014/main" id="{4C4C2F35-0819-D40D-0150-BEF1236F6279}"/>
                </a:ext>
              </a:extLst>
            </p:cNvPr>
            <p:cNvSpPr/>
            <p:nvPr/>
          </p:nvSpPr>
          <p:spPr>
            <a:xfrm>
              <a:off x="903767" y="3030279"/>
              <a:ext cx="5656521" cy="1956391"/>
            </a:xfrm>
            <a:prstGeom prst="roundRect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1" name="TextBox 10">
                  <a:extLst>
                    <a:ext uri="{FF2B5EF4-FFF2-40B4-BE49-F238E27FC236}">
                      <a16:creationId xmlns:a16="http://schemas.microsoft.com/office/drawing/2014/main" id="{371F64B1-A14C-042C-734E-3BAFA8D59F98}"/>
                    </a:ext>
                  </a:extLst>
                </p:cNvPr>
                <p:cNvSpPr txBox="1"/>
                <p:nvPr/>
              </p:nvSpPr>
              <p:spPr>
                <a:xfrm>
                  <a:off x="1008528" y="3234865"/>
                  <a:ext cx="5460380" cy="1547218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14:m>
                    <m:oMath xmlns:m="http://schemas.openxmlformats.org/officeDocument/2006/math">
                      <m:r>
                        <a:rPr lang="en-US" i="1" smtClean="0">
                          <a:latin typeface="Cambria Math" panose="02040503050406030204" pitchFamily="18" charset="0"/>
                        </a:rPr>
                        <m:t>𝜂</m:t>
                      </m:r>
                      <m:r>
                        <a:rPr lang="en-US" i="1" smtClean="0">
                          <a:latin typeface="Cambria Math" panose="02040503050406030204" pitchFamily="18" charset="0"/>
                        </a:rPr>
                        <m:t>∈(0, 1] </m:t>
                      </m:r>
                    </m:oMath>
                  </a14:m>
                  <a:r>
                    <a:rPr lang="en-US" dirty="0"/>
                    <a:t>- </a:t>
                  </a:r>
                  <a:r>
                    <a:rPr lang="en-US" sz="1600" dirty="0"/>
                    <a:t>Material utilization factor (structural efficiency)</a:t>
                  </a:r>
                </a:p>
                <a:p>
                  <a:endParaRPr lang="en-US" dirty="0"/>
                </a:p>
                <a:p>
                  <a:r>
                    <a:rPr lang="en-US" sz="1600" dirty="0"/>
                    <a:t>For centered impact:</a:t>
                  </a:r>
                </a:p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 smtClean="0">
                                <a:latin typeface="Cambria Math" panose="02040503050406030204" pitchFamily="18" charset="0"/>
                              </a:rPr>
                              <m:t>𝜂</m:t>
                            </m:r>
                          </m:e>
                          <m:sub>
                            <m:r>
                              <a:rPr lang="en-US" i="1" smtClean="0">
                                <a:latin typeface="Cambria Math" panose="02040503050406030204" pitchFamily="18" charset="0"/>
                              </a:rPr>
                              <m:t>𝐴</m:t>
                            </m:r>
                          </m:sub>
                        </m:sSub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=1−</m:t>
                        </m:r>
                        <m:f>
                          <m:f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m:rPr>
                                <m:sty m:val="p"/>
                              </m:rPr>
                              <a:rPr lang="en-US" i="0" smtClean="0">
                                <a:latin typeface="Cambria Math" panose="02040503050406030204" pitchFamily="18" charset="0"/>
                              </a:rPr>
                              <m:t>Φ</m:t>
                            </m:r>
                            <m:d>
                              <m:dPr>
                                <m:ctrlPr>
                                  <a:rPr lang="en-US" i="1" smtClean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sSub>
                                  <m:sSubPr>
                                    <m:ctrlPr>
                                      <a:rPr lang="en-US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i="1" smtClean="0">
                                        <a:latin typeface="Cambria Math" panose="02040503050406030204" pitchFamily="18" charset="0"/>
                                      </a:rPr>
                                      <m:t>𝜖</m:t>
                                    </m:r>
                                  </m:e>
                                  <m:sub>
                                    <m:r>
                                      <a:rPr lang="en-US" i="1" smtClean="0">
                                        <a:latin typeface="Cambria Math" panose="02040503050406030204" pitchFamily="18" charset="0"/>
                                      </a:rPr>
                                      <m:t>𝑝</m:t>
                                    </m:r>
                                  </m:sub>
                                </m:sSub>
                              </m:e>
                            </m:d>
                          </m:num>
                          <m:den>
                            <m:r>
                              <m:rPr>
                                <m:sty m:val="p"/>
                              </m:rPr>
                              <a:rPr lang="en-US" i="0" smtClean="0">
                                <a:latin typeface="Cambria Math" panose="02040503050406030204" pitchFamily="18" charset="0"/>
                              </a:rPr>
                              <m:t>Φ</m:t>
                            </m:r>
                            <m:d>
                              <m:dPr>
                                <m:ctrlPr>
                                  <a:rPr lang="en-US" i="1" smtClean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sSub>
                                  <m:sSubPr>
                                    <m:ctrlPr>
                                      <a:rPr lang="en-US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i="1" smtClean="0">
                                        <a:latin typeface="Cambria Math" panose="02040503050406030204" pitchFamily="18" charset="0"/>
                                      </a:rPr>
                                      <m:t>𝜖</m:t>
                                    </m:r>
                                  </m:e>
                                  <m:sub>
                                    <m:r>
                                      <a:rPr lang="en-US" i="1" smtClean="0">
                                        <a:latin typeface="Cambria Math" panose="02040503050406030204" pitchFamily="18" charset="0"/>
                                      </a:rPr>
                                      <m:t>𝑏</m:t>
                                    </m:r>
                                  </m:sub>
                                </m:sSub>
                              </m:e>
                            </m:d>
                          </m:den>
                        </m:f>
                      </m:oMath>
                    </m:oMathPara>
                  </a14:m>
                  <a:endParaRPr lang="en-US" dirty="0"/>
                </a:p>
              </p:txBody>
            </p:sp>
          </mc:Choice>
          <mc:Fallback>
            <p:sp>
              <p:nvSpPr>
                <p:cNvPr id="11" name="TextBox 10">
                  <a:extLst>
                    <a:ext uri="{FF2B5EF4-FFF2-40B4-BE49-F238E27FC236}">
                      <a16:creationId xmlns:a16="http://schemas.microsoft.com/office/drawing/2014/main" id="{371F64B1-A14C-042C-734E-3BAFA8D59F9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08528" y="3234865"/>
                  <a:ext cx="5460380" cy="1547218"/>
                </a:xfrm>
                <a:prstGeom prst="rect">
                  <a:avLst/>
                </a:prstGeom>
                <a:blipFill>
                  <a:blip r:embed="rId3"/>
                  <a:stretch>
                    <a:fillRect l="-463" t="-245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pic>
        <p:nvPicPr>
          <p:cNvPr id="2" name="Picture 1">
            <a:extLst>
              <a:ext uri="{FF2B5EF4-FFF2-40B4-BE49-F238E27FC236}">
                <a16:creationId xmlns:a16="http://schemas.microsoft.com/office/drawing/2014/main" id="{359FE2EC-A933-E13B-02F0-72A4727861B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5655" y="3839905"/>
            <a:ext cx="10743119" cy="2190610"/>
          </a:xfrm>
          <a:prstGeom prst="rect">
            <a:avLst/>
          </a:prstGeo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2D8CBE43-FC10-1E5E-CB38-4184906B2A77}"/>
              </a:ext>
            </a:extLst>
          </p:cNvPr>
          <p:cNvSpPr/>
          <p:nvPr/>
        </p:nvSpPr>
        <p:spPr>
          <a:xfrm>
            <a:off x="2573079" y="4537695"/>
            <a:ext cx="2466754" cy="236324"/>
          </a:xfrm>
          <a:prstGeom prst="rect">
            <a:avLst/>
          </a:prstGeom>
          <a:solidFill>
            <a:schemeClr val="bg1">
              <a:lumMod val="75000"/>
              <a:alpha val="12702"/>
            </a:schemeClr>
          </a:solidFill>
          <a:ln>
            <a:solidFill>
              <a:schemeClr val="dk1">
                <a:shade val="95000"/>
                <a:satMod val="105000"/>
              </a:schemeClr>
            </a:solidFill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A4746A35-607E-DB2B-B56D-A3DAA506C373}"/>
              </a:ext>
            </a:extLst>
          </p:cNvPr>
          <p:cNvSpPr/>
          <p:nvPr/>
        </p:nvSpPr>
        <p:spPr>
          <a:xfrm>
            <a:off x="2573079" y="5326206"/>
            <a:ext cx="2466754" cy="236324"/>
          </a:xfrm>
          <a:prstGeom prst="rect">
            <a:avLst/>
          </a:prstGeom>
          <a:solidFill>
            <a:schemeClr val="bg1">
              <a:lumMod val="75000"/>
              <a:alpha val="12702"/>
            </a:schemeClr>
          </a:solidFill>
          <a:ln>
            <a:solidFill>
              <a:schemeClr val="dk1">
                <a:shade val="95000"/>
                <a:satMod val="105000"/>
              </a:schemeClr>
            </a:solidFill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D3C7707A-5B21-B50D-2E19-26450B778570}"/>
                  </a:ext>
                </a:extLst>
              </p:cNvPr>
              <p:cNvSpPr txBox="1"/>
              <p:nvPr/>
            </p:nvSpPr>
            <p:spPr>
              <a:xfrm>
                <a:off x="7181376" y="2087623"/>
                <a:ext cx="4487398" cy="69256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i="0" smtClean="0">
                          <a:latin typeface="Cambria Math" panose="02040503050406030204" pitchFamily="18" charset="0"/>
                        </a:rPr>
                        <m:t>Φ</m:t>
                      </m:r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𝜖</m:t>
                          </m:r>
                        </m:e>
                      </m:d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  <m:sup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𝜖</m:t>
                          </m:r>
                        </m:sup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𝜎</m:t>
                          </m:r>
                          <m:d>
                            <m:d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p>
                                <m:sSup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𝜖</m:t>
                                  </m:r>
                                </m:e>
                                <m:sup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′</m:t>
                                  </m:r>
                                </m:sup>
                              </m:sSup>
                            </m:e>
                          </m:d>
                        </m:e>
                      </m:nary>
                      <m:r>
                        <a:rPr lang="en-US" i="1">
                          <a:latin typeface="Cambria Math" panose="02040503050406030204" pitchFamily="18" charset="0"/>
                        </a:rPr>
                        <m:t> 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𝑑</m:t>
                      </m:r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𝜖</m:t>
                          </m:r>
                        </m:e>
                        <m:sup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′</m:t>
                          </m:r>
                        </m:sup>
                      </m:sSup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𝐸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𝜖</m:t>
                          </m:r>
                        </m:e>
                        <m:sup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i="1">
                          <a:latin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4</m:t>
                          </m:r>
                        </m:den>
                      </m:f>
                      <m:r>
                        <a:rPr lang="en-US" i="1">
                          <a:latin typeface="Cambria Math" panose="02040503050406030204" pitchFamily="18" charset="0"/>
                        </a:rPr>
                        <m:t>𝑏</m:t>
                      </m:r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𝜖</m:t>
                          </m:r>
                        </m:e>
                        <m:sup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4</m:t>
                          </m:r>
                        </m:sup>
                      </m:sSup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D3C7707A-5B21-B50D-2E19-26450B77857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181376" y="2087623"/>
                <a:ext cx="4487398" cy="692562"/>
              </a:xfrm>
              <a:prstGeom prst="rect">
                <a:avLst/>
              </a:prstGeom>
              <a:blipFill>
                <a:blip r:embed="rId5"/>
                <a:stretch>
                  <a:fillRect t="-160000" b="-240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45598483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3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12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5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D53C0A6-1CCB-CE18-ACF9-3F611F1E8D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5CD12C75-291A-055A-1B61-6BFE62A17C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>
                <a:solidFill>
                  <a:schemeClr val="bg1"/>
                </a:solidFill>
              </a:rPr>
              <a:t>Off-Centre Impact</a:t>
            </a:r>
            <a:endParaRPr lang="ro-RO" dirty="0">
              <a:solidFill>
                <a:schemeClr val="bg1"/>
              </a:solidFill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C852C5E-CBC0-EC2D-F702-FE17998311C7}"/>
              </a:ext>
            </a:extLst>
          </p:cNvPr>
          <p:cNvPicPr>
            <a:picLocks noChangeAspect="1"/>
          </p:cNvPicPr>
          <p:nvPr/>
        </p:nvPicPr>
        <p:blipFill>
          <a:blip r:embed="rId2">
            <a:clrChange>
              <a:clrFrom>
                <a:srgbClr val="000000"/>
              </a:clrFrom>
              <a:clrTo>
                <a:srgbClr val="000000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432471" y="6323329"/>
            <a:ext cx="1492133" cy="496892"/>
          </a:xfrm>
          <a:prstGeom prst="rect">
            <a:avLst/>
          </a:prstGeom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338FD5FF-2935-9EE6-3C51-2A2E2ACB966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03474" y="1327318"/>
            <a:ext cx="7772400" cy="2417094"/>
          </a:xfrm>
          <a:prstGeom prst="rect">
            <a:avLst/>
          </a:prstGeom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CD64989F-B8B1-C094-6E22-C8A56880BD7C}"/>
                  </a:ext>
                </a:extLst>
              </p:cNvPr>
              <p:cNvSpPr txBox="1"/>
              <p:nvPr/>
            </p:nvSpPr>
            <p:spPr>
              <a:xfrm>
                <a:off x="820894" y="4674065"/>
                <a:ext cx="3267048" cy="72750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6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600" i="1" smtClean="0">
                              <a:latin typeface="Cambria Math" panose="02040503050406030204" pitchFamily="18" charset="0"/>
                            </a:rPr>
                            <m:t>𝜖</m:t>
                          </m:r>
                        </m:e>
                        <m:sub>
                          <m:r>
                            <a:rPr lang="en-US" sz="1600" i="1" smtClean="0">
                              <a:latin typeface="Cambria Math" panose="02040503050406030204" pitchFamily="18" charset="0"/>
                            </a:rPr>
                            <m:t>𝑜</m:t>
                          </m:r>
                        </m:sub>
                      </m:sSub>
                      <m:d>
                        <m:dPr>
                          <m:ctrlPr>
                            <a:rPr lang="en-US" sz="160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600" i="1" smtClean="0"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</m:d>
                      <m:r>
                        <a:rPr lang="en-US" sz="160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US" sz="160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600" i="1" smtClean="0">
                              <a:latin typeface="Cambria Math" panose="02040503050406030204" pitchFamily="18" charset="0"/>
                            </a:rPr>
                            <m:t>1+</m:t>
                          </m:r>
                          <m:sSub>
                            <m:sSubPr>
                              <m:ctrlPr>
                                <a:rPr lang="en-US" sz="160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600" i="1" smtClean="0">
                                  <a:latin typeface="Cambria Math" panose="02040503050406030204" pitchFamily="18" charset="0"/>
                                </a:rPr>
                                <m:t>𝜖</m:t>
                              </m:r>
                            </m:e>
                            <m:sub>
                              <m:r>
                                <a:rPr lang="en-US" sz="1600" i="1" smtClean="0"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</m:sub>
                          </m:sSub>
                        </m:e>
                      </m:d>
                      <m:rad>
                        <m:radPr>
                          <m:degHide m:val="on"/>
                          <m:ctrlPr>
                            <a:rPr lang="en-US" sz="1600" i="1" smtClean="0">
                              <a:latin typeface="Cambria Math" panose="02040503050406030204" pitchFamily="18" charset="0"/>
                            </a:rPr>
                          </m:ctrlPr>
                        </m:radPr>
                        <m:deg/>
                        <m:e>
                          <m:r>
                            <a:rPr lang="en-US" sz="1600" i="1" smtClean="0">
                              <a:latin typeface="Cambria Math" panose="02040503050406030204" pitchFamily="18" charset="0"/>
                            </a:rPr>
                            <m:t>1+</m:t>
                          </m:r>
                          <m:sSup>
                            <m:sSupPr>
                              <m:ctrlPr>
                                <a:rPr lang="en-US" sz="160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ctrlPr>
                                    <a:rPr lang="en-US" sz="160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f>
                                    <m:fPr>
                                      <m:ctrlPr>
                                        <a:rPr lang="en-US" sz="160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fPr>
                                    <m:num>
                                      <m:r>
                                        <a:rPr lang="en-US" sz="1600" i="1" smtClean="0">
                                          <a:latin typeface="Cambria Math" panose="02040503050406030204" pitchFamily="18" charset="0"/>
                                        </a:rPr>
                                        <m:t>𝑤</m:t>
                                      </m:r>
                                    </m:num>
                                    <m:den>
                                      <m:r>
                                        <a:rPr lang="en-US" sz="1600" i="1" smtClean="0">
                                          <a:latin typeface="Cambria Math" panose="02040503050406030204" pitchFamily="18" charset="0"/>
                                        </a:rPr>
                                        <m:t>𝑅</m:t>
                                      </m:r>
                                      <m:r>
                                        <a:rPr lang="en-US" sz="1600" i="1" smtClean="0">
                                          <a:latin typeface="Cambria Math" panose="02040503050406030204" pitchFamily="18" charset="0"/>
                                        </a:rPr>
                                        <m:t>−</m:t>
                                      </m:r>
                                      <m:r>
                                        <a:rPr lang="en-US" sz="1600" i="1" smtClean="0">
                                          <a:latin typeface="Cambria Math" panose="02040503050406030204" pitchFamily="18" charset="0"/>
                                        </a:rPr>
                                        <m:t>𝑎</m:t>
                                      </m:r>
                                    </m:den>
                                  </m:f>
                                </m:e>
                              </m:d>
                            </m:e>
                            <m:sup>
                              <m:r>
                                <a:rPr lang="en-US" sz="160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e>
                      </m:rad>
                      <m:r>
                        <a:rPr lang="en-US" sz="1600" i="1" smtClean="0">
                          <a:latin typeface="Cambria Math" panose="02040503050406030204" pitchFamily="18" charset="0"/>
                        </a:rPr>
                        <m:t>−1</m:t>
                      </m:r>
                    </m:oMath>
                  </m:oMathPara>
                </a14:m>
                <a:endParaRPr lang="en-US" sz="1600" dirty="0"/>
              </a:p>
            </p:txBody>
          </p:sp>
        </mc:Choice>
        <mc:Fallback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CD64989F-B8B1-C094-6E22-C8A56880BD7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0894" y="4674065"/>
                <a:ext cx="3267048" cy="727507"/>
              </a:xfrm>
              <a:prstGeom prst="rect">
                <a:avLst/>
              </a:prstGeom>
              <a:blipFill>
                <a:blip r:embed="rId4"/>
                <a:stretch>
                  <a:fillRect l="-386" r="-38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76FC0351-B8FE-03D7-ECAE-8DACBD7AD296}"/>
                  </a:ext>
                </a:extLst>
              </p:cNvPr>
              <p:cNvSpPr txBox="1"/>
              <p:nvPr/>
            </p:nvSpPr>
            <p:spPr>
              <a:xfrm>
                <a:off x="1037524" y="5590987"/>
                <a:ext cx="2651367" cy="72750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6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600" i="1" smtClean="0"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  <m:sub>
                          <m:r>
                            <a:rPr lang="en-US" sz="160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</m:sub>
                      </m:sSub>
                      <m:r>
                        <a:rPr lang="en-US" sz="160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US" sz="160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600" i="1" smtClean="0">
                              <a:latin typeface="Cambria Math" panose="02040503050406030204" pitchFamily="18" charset="0"/>
                            </a:rPr>
                            <m:t>𝑅</m:t>
                          </m:r>
                          <m:r>
                            <a:rPr lang="en-US" sz="160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sz="160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</m:d>
                      <m:rad>
                        <m:radPr>
                          <m:degHide m:val="on"/>
                          <m:ctrlPr>
                            <a:rPr lang="en-US" sz="1600" i="1" smtClean="0">
                              <a:latin typeface="Cambria Math" panose="02040503050406030204" pitchFamily="18" charset="0"/>
                            </a:rPr>
                          </m:ctrlPr>
                        </m:radPr>
                        <m:deg/>
                        <m:e>
                          <m:sSup>
                            <m:sSupPr>
                              <m:ctrlPr>
                                <a:rPr lang="en-US" sz="160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ctrlPr>
                                    <a:rPr lang="en-US" sz="160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f>
                                    <m:fPr>
                                      <m:ctrlPr>
                                        <a:rPr lang="en-US" sz="160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fPr>
                                    <m:num>
                                      <m:r>
                                        <a:rPr lang="en-US" sz="1600" i="1" smtClean="0">
                                          <a:latin typeface="Cambria Math" panose="02040503050406030204" pitchFamily="18" charset="0"/>
                                        </a:rPr>
                                        <m:t>1+</m:t>
                                      </m:r>
                                      <m:sSub>
                                        <m:sSubPr>
                                          <m:ctrlPr>
                                            <a:rPr lang="en-US" sz="1600" i="1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sz="1600" i="1" smtClean="0">
                                              <a:latin typeface="Cambria Math" panose="02040503050406030204" pitchFamily="18" charset="0"/>
                                            </a:rPr>
                                            <m:t>𝜖</m:t>
                                          </m:r>
                                        </m:e>
                                        <m:sub>
                                          <m:r>
                                            <a:rPr lang="en-US" sz="1600" i="1" smtClean="0">
                                              <a:latin typeface="Cambria Math" panose="02040503050406030204" pitchFamily="18" charset="0"/>
                                            </a:rPr>
                                            <m:t>𝑏</m:t>
                                          </m:r>
                                        </m:sub>
                                      </m:sSub>
                                    </m:num>
                                    <m:den>
                                      <m:r>
                                        <a:rPr lang="en-US" sz="1600" i="1" smtClean="0">
                                          <a:latin typeface="Cambria Math" panose="02040503050406030204" pitchFamily="18" charset="0"/>
                                        </a:rPr>
                                        <m:t>1+</m:t>
                                      </m:r>
                                      <m:sSub>
                                        <m:sSubPr>
                                          <m:ctrlPr>
                                            <a:rPr lang="en-US" sz="1600" i="1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sz="1600" i="1" smtClean="0">
                                              <a:latin typeface="Cambria Math" panose="02040503050406030204" pitchFamily="18" charset="0"/>
                                            </a:rPr>
                                            <m:t>𝜖</m:t>
                                          </m:r>
                                        </m:e>
                                        <m:sub>
                                          <m:r>
                                            <a:rPr lang="en-US" sz="1600" i="1" smtClean="0">
                                              <a:latin typeface="Cambria Math" panose="02040503050406030204" pitchFamily="18" charset="0"/>
                                            </a:rPr>
                                            <m:t>𝑝</m:t>
                                          </m:r>
                                        </m:sub>
                                      </m:sSub>
                                    </m:den>
                                  </m:f>
                                </m:e>
                              </m:d>
                            </m:e>
                            <m:sup>
                              <m:r>
                                <a:rPr lang="en-US" sz="160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a:rPr lang="en-US" sz="1600" i="1" smtClean="0">
                              <a:latin typeface="Cambria Math" panose="02040503050406030204" pitchFamily="18" charset="0"/>
                            </a:rPr>
                            <m:t>−1</m:t>
                          </m:r>
                        </m:e>
                      </m:rad>
                    </m:oMath>
                  </m:oMathPara>
                </a14:m>
                <a:endParaRPr lang="en-US" sz="1600" dirty="0"/>
              </a:p>
            </p:txBody>
          </p:sp>
        </mc:Choice>
        <mc:Fallback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76FC0351-B8FE-03D7-ECAE-8DACBD7AD29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37524" y="5590987"/>
                <a:ext cx="2651367" cy="727507"/>
              </a:xfrm>
              <a:prstGeom prst="rect">
                <a:avLst/>
              </a:prstGeom>
              <a:blipFill>
                <a:blip r:embed="rId5"/>
                <a:stretch>
                  <a:fillRect r="-95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7" name="Rectangle 16">
            <a:extLst>
              <a:ext uri="{FF2B5EF4-FFF2-40B4-BE49-F238E27FC236}">
                <a16:creationId xmlns:a16="http://schemas.microsoft.com/office/drawing/2014/main" id="{993EEBED-46BA-01D7-82F3-3E98F46F1C88}"/>
              </a:ext>
            </a:extLst>
          </p:cNvPr>
          <p:cNvSpPr/>
          <p:nvPr/>
        </p:nvSpPr>
        <p:spPr>
          <a:xfrm>
            <a:off x="7506586" y="1486150"/>
            <a:ext cx="2466754" cy="2319649"/>
          </a:xfrm>
          <a:prstGeom prst="rect">
            <a:avLst/>
          </a:prstGeom>
          <a:solidFill>
            <a:schemeClr val="bg1">
              <a:lumMod val="75000"/>
              <a:alpha val="12702"/>
            </a:schemeClr>
          </a:solidFill>
          <a:ln>
            <a:solidFill>
              <a:schemeClr val="dk1">
                <a:shade val="95000"/>
                <a:satMod val="105000"/>
              </a:schemeClr>
            </a:solidFill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BB442BEC-F627-5B52-DD4E-940D2ACCF977}"/>
              </a:ext>
            </a:extLst>
          </p:cNvPr>
          <p:cNvSpPr txBox="1"/>
          <p:nvPr/>
        </p:nvSpPr>
        <p:spPr>
          <a:xfrm>
            <a:off x="820894" y="4321448"/>
            <a:ext cx="360443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/>
              <a:t>Strain on the outer segment:</a:t>
            </a:r>
          </a:p>
        </p:txBody>
      </p:sp>
      <p:grpSp>
        <p:nvGrpSpPr>
          <p:cNvPr id="22" name="Group 21">
            <a:extLst>
              <a:ext uri="{FF2B5EF4-FFF2-40B4-BE49-F238E27FC236}">
                <a16:creationId xmlns:a16="http://schemas.microsoft.com/office/drawing/2014/main" id="{EC06FBE9-D039-D544-8553-19FD01FCB5E9}"/>
              </a:ext>
            </a:extLst>
          </p:cNvPr>
          <p:cNvGrpSpPr/>
          <p:nvPr/>
        </p:nvGrpSpPr>
        <p:grpSpPr>
          <a:xfrm>
            <a:off x="5869763" y="4182050"/>
            <a:ext cx="4165600" cy="1956344"/>
            <a:chOff x="5869763" y="4182050"/>
            <a:chExt cx="4165600" cy="1956344"/>
          </a:xfrm>
        </p:grpSpPr>
        <p:pic>
          <p:nvPicPr>
            <p:cNvPr id="19" name="Picture 18">
              <a:extLst>
                <a:ext uri="{FF2B5EF4-FFF2-40B4-BE49-F238E27FC236}">
                  <a16:creationId xmlns:a16="http://schemas.microsoft.com/office/drawing/2014/main" id="{7107FC03-98DB-F3CF-BEC4-64F99CF7F223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5869763" y="4182050"/>
              <a:ext cx="4165600" cy="1956344"/>
            </a:xfrm>
            <a:prstGeom prst="rect">
              <a:avLst/>
            </a:prstGeom>
          </p:spPr>
        </p:pic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5E8EE26F-339E-FC73-E355-D101678890DD}"/>
                </a:ext>
              </a:extLst>
            </p:cNvPr>
            <p:cNvSpPr/>
            <p:nvPr/>
          </p:nvSpPr>
          <p:spPr>
            <a:xfrm>
              <a:off x="7315200" y="4497572"/>
              <a:ext cx="445747" cy="1640822"/>
            </a:xfrm>
            <a:prstGeom prst="rect">
              <a:avLst/>
            </a:prstGeom>
            <a:solidFill>
              <a:schemeClr val="bg1">
                <a:lumMod val="75000"/>
                <a:alpha val="12702"/>
              </a:schemeClr>
            </a:solidFill>
            <a:ln>
              <a:solidFill>
                <a:schemeClr val="dk1">
                  <a:shade val="95000"/>
                  <a:satMod val="105000"/>
                </a:schemeClr>
              </a:solidFill>
            </a:ln>
          </p:spPr>
          <p:style>
            <a:lnRef idx="1">
              <a:schemeClr val="dk1"/>
            </a:lnRef>
            <a:fillRef idx="2">
              <a:schemeClr val="dk1"/>
            </a:fillRef>
            <a:effectRef idx="1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1" name="Rectangle 20">
              <a:extLst>
                <a:ext uri="{FF2B5EF4-FFF2-40B4-BE49-F238E27FC236}">
                  <a16:creationId xmlns:a16="http://schemas.microsoft.com/office/drawing/2014/main" id="{63524585-B306-704B-C365-E80A9F1C7846}"/>
                </a:ext>
              </a:extLst>
            </p:cNvPr>
            <p:cNvSpPr/>
            <p:nvPr/>
          </p:nvSpPr>
          <p:spPr>
            <a:xfrm>
              <a:off x="9097021" y="4497572"/>
              <a:ext cx="445747" cy="1640822"/>
            </a:xfrm>
            <a:prstGeom prst="rect">
              <a:avLst/>
            </a:prstGeom>
            <a:solidFill>
              <a:schemeClr val="bg1">
                <a:lumMod val="75000"/>
                <a:alpha val="12702"/>
              </a:schemeClr>
            </a:solidFill>
            <a:ln>
              <a:solidFill>
                <a:schemeClr val="dk1">
                  <a:shade val="95000"/>
                  <a:satMod val="105000"/>
                </a:schemeClr>
              </a:solidFill>
            </a:ln>
          </p:spPr>
          <p:style>
            <a:lnRef idx="1">
              <a:schemeClr val="dk1"/>
            </a:lnRef>
            <a:fillRef idx="2">
              <a:schemeClr val="dk1"/>
            </a:fillRef>
            <a:effectRef idx="1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419434359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9ECEC1-8709-ECAB-8CBA-3F1E4FF1F3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84B12592-ABFA-FA8F-62AA-EC12F9CF4F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>
                <a:solidFill>
                  <a:schemeClr val="bg1"/>
                </a:solidFill>
              </a:rPr>
              <a:t>Off-Centre Impact</a:t>
            </a:r>
            <a:endParaRPr lang="ro-RO" dirty="0">
              <a:solidFill>
                <a:schemeClr val="bg1"/>
              </a:solidFill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6695A1C0-6C3F-0F95-F671-2A2DA18712EB}"/>
              </a:ext>
            </a:extLst>
          </p:cNvPr>
          <p:cNvPicPr>
            <a:picLocks noChangeAspect="1"/>
          </p:cNvPicPr>
          <p:nvPr/>
        </p:nvPicPr>
        <p:blipFill>
          <a:blip r:embed="rId2">
            <a:clrChange>
              <a:clrFrom>
                <a:srgbClr val="000000"/>
              </a:clrFrom>
              <a:clrTo>
                <a:srgbClr val="000000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432471" y="6323329"/>
            <a:ext cx="1492133" cy="496892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5AC3EAA3-F22F-2113-5BD6-E4F7292F44E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7567" y="1266279"/>
            <a:ext cx="6502400" cy="3213100"/>
          </a:xfrm>
          <a:prstGeom prst="rect">
            <a:avLst/>
          </a:prstGeom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32732A38-A803-58F9-4F71-4BD274CA4CD8}"/>
                  </a:ext>
                </a:extLst>
              </p:cNvPr>
              <p:cNvSpPr txBox="1"/>
              <p:nvPr/>
            </p:nvSpPr>
            <p:spPr>
              <a:xfrm>
                <a:off x="1691463" y="5453860"/>
                <a:ext cx="4404537" cy="86946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smtClean="0">
                          <a:latin typeface="Cambria Math" panose="02040503050406030204" pitchFamily="18" charset="0"/>
                        </a:rPr>
                        <m:t>𝒰</m:t>
                      </m:r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h</m:t>
                              </m:r>
                            </m:sub>
                          </m:s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h</m:t>
                              </m:r>
                            </m:sub>
                          </m:sSub>
                        </m:e>
                      </m:d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⋅</m:t>
                      </m:r>
                      <m:r>
                        <m:rPr>
                          <m:sty m:val="p"/>
                        </m:rPr>
                        <a:rPr lang="en-US" b="0" i="1" smtClean="0">
                          <a:latin typeface="Cambria Math" panose="02040503050406030204" pitchFamily="18" charset="0"/>
                        </a:rPr>
                        <m:t>a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r>
                        <m:rPr>
                          <m:sty m:val="p"/>
                        </m:rPr>
                        <a:rPr lang="en-US" i="0">
                          <a:latin typeface="Cambria Math" panose="02040503050406030204" pitchFamily="18" charset="0"/>
                        </a:rPr>
                        <m:t>Φ</m:t>
                      </m:r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𝜖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d>
                      <m:r>
                        <a:rPr lang="en-US" i="1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𝐴</m:t>
                      </m:r>
                      <m:nary>
                        <m:naryPr>
                          <m:chr m:val="∑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7</m:t>
                          </m:r>
                        </m:sup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</m:nary>
                      <m:r>
                        <m:rPr>
                          <m:sty m:val="p"/>
                        </m:rPr>
                        <a:rPr lang="en-US" i="0">
                          <a:latin typeface="Cambria Math" panose="02040503050406030204" pitchFamily="18" charset="0"/>
                        </a:rPr>
                        <m:t>Φ</m:t>
                      </m:r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𝜖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32732A38-A803-58F9-4F71-4BD274CA4CD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91463" y="5453860"/>
                <a:ext cx="4404537" cy="869469"/>
              </a:xfrm>
              <a:prstGeom prst="rect">
                <a:avLst/>
              </a:prstGeom>
              <a:blipFill>
                <a:blip r:embed="rId4"/>
                <a:stretch>
                  <a:fillRect t="-95652" b="-15217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B2829E2D-34C2-FE23-CCE6-8195095D1B4C}"/>
                  </a:ext>
                </a:extLst>
              </p:cNvPr>
              <p:cNvSpPr txBox="1"/>
              <p:nvPr/>
            </p:nvSpPr>
            <p:spPr>
              <a:xfrm>
                <a:off x="820894" y="4479379"/>
                <a:ext cx="3824105" cy="6463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dirty="0"/>
                  <a:t>After impact, the central node (hub) is at the coordinates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1" smtClean="0">
                        <a:latin typeface="Cambria Math" panose="02040503050406030204" pitchFamily="18" charset="0"/>
                      </a:rPr>
                      <m:t>h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=(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b="0" i="1" smtClean="0">
                            <a:latin typeface="Cambria Math" panose="02040503050406030204" pitchFamily="18" charset="0"/>
                          </a:rPr>
                          <m:t>x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b="0" i="1" smtClean="0">
                            <a:latin typeface="Cambria Math" panose="02040503050406030204" pitchFamily="18" charset="0"/>
                          </a:rPr>
                          <m:t>h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,0,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b="0" i="1" smtClean="0">
                            <a:latin typeface="Cambria Math" panose="02040503050406030204" pitchFamily="18" charset="0"/>
                          </a:rPr>
                          <m:t>z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b="0" i="1" smtClean="0">
                            <a:latin typeface="Cambria Math" panose="02040503050406030204" pitchFamily="18" charset="0"/>
                          </a:rPr>
                          <m:t>h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.</a:t>
                </a:r>
              </a:p>
            </p:txBody>
          </p:sp>
        </mc:Choice>
        <mc:Fallback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B2829E2D-34C2-FE23-CCE6-8195095D1B4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0894" y="4479379"/>
                <a:ext cx="3824105" cy="646331"/>
              </a:xfrm>
              <a:prstGeom prst="rect">
                <a:avLst/>
              </a:prstGeom>
              <a:blipFill>
                <a:blip r:embed="rId5"/>
                <a:stretch>
                  <a:fillRect l="-1325" t="-3846" r="-1656" b="-1346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28" name="Group 27">
            <a:extLst>
              <a:ext uri="{FF2B5EF4-FFF2-40B4-BE49-F238E27FC236}">
                <a16:creationId xmlns:a16="http://schemas.microsoft.com/office/drawing/2014/main" id="{3D89A189-45A0-24E1-B785-EC48F70C0D10}"/>
              </a:ext>
            </a:extLst>
          </p:cNvPr>
          <p:cNvGrpSpPr/>
          <p:nvPr/>
        </p:nvGrpSpPr>
        <p:grpSpPr>
          <a:xfrm>
            <a:off x="7025380" y="4658414"/>
            <a:ext cx="4902032" cy="1435747"/>
            <a:chOff x="6961668" y="4155974"/>
            <a:chExt cx="4440648" cy="1435747"/>
          </a:xfrm>
        </p:grpSpPr>
        <mc:AlternateContent xmlns:mc="http://schemas.openxmlformats.org/markup-compatibility/2006">
          <mc:Choice xmlns:a14="http://schemas.microsoft.com/office/drawing/2010/main" Requires="a14">
            <p:sp>
              <p:nvSpPr>
                <p:cNvPr id="24" name="TextBox 23">
                  <a:extLst>
                    <a:ext uri="{FF2B5EF4-FFF2-40B4-BE49-F238E27FC236}">
                      <a16:creationId xmlns:a16="http://schemas.microsoft.com/office/drawing/2014/main" id="{1A3A00E9-525E-1775-E27B-6FAE9A152F5E}"/>
                    </a:ext>
                  </a:extLst>
                </p:cNvPr>
                <p:cNvSpPr txBox="1"/>
                <p:nvPr/>
              </p:nvSpPr>
              <p:spPr>
                <a:xfrm>
                  <a:off x="6961668" y="4532278"/>
                  <a:ext cx="4021765" cy="5934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160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600" i="1">
                                <a:latin typeface="Cambria Math" panose="02040503050406030204" pitchFamily="18" charset="0"/>
                              </a:rPr>
                              <m:t>𝐿</m:t>
                            </m:r>
                          </m:e>
                          <m:sub>
                            <m:r>
                              <a:rPr lang="en-US" sz="1600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  <m:d>
                          <m:dPr>
                            <m:ctrlPr>
                              <a:rPr lang="en-US" sz="16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sz="16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1600" i="1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en-US" sz="1600" i="1">
                                    <a:latin typeface="Cambria Math" panose="02040503050406030204" pitchFamily="18" charset="0"/>
                                  </a:rPr>
                                  <m:t>h</m:t>
                                </m:r>
                              </m:sub>
                            </m:sSub>
                            <m:r>
                              <a:rPr lang="en-US" sz="1600" i="1">
                                <a:latin typeface="Cambria Math" panose="02040503050406030204" pitchFamily="18" charset="0"/>
                              </a:rPr>
                              <m:t>,</m:t>
                            </m:r>
                            <m:sSub>
                              <m:sSubPr>
                                <m:ctrlPr>
                                  <a:rPr lang="en-US" sz="16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1600" i="1">
                                    <a:latin typeface="Cambria Math" panose="02040503050406030204" pitchFamily="18" charset="0"/>
                                  </a:rPr>
                                  <m:t>𝑧</m:t>
                                </m:r>
                              </m:e>
                              <m:sub>
                                <m:r>
                                  <a:rPr lang="en-US" sz="1600" i="1">
                                    <a:latin typeface="Cambria Math" panose="02040503050406030204" pitchFamily="18" charset="0"/>
                                  </a:rPr>
                                  <m:t>h</m:t>
                                </m:r>
                              </m:sub>
                            </m:sSub>
                          </m:e>
                        </m:d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=</m:t>
                        </m:r>
                        <m:rad>
                          <m:radPr>
                            <m:degHide m:val="on"/>
                            <m:ctrlPr>
                              <a:rPr lang="en-US" sz="1600" i="1">
                                <a:latin typeface="Cambria Math" panose="02040503050406030204" pitchFamily="18" charset="0"/>
                              </a:rPr>
                            </m:ctrlPr>
                          </m:radPr>
                          <m:deg/>
                          <m:e>
                            <m:sSup>
                              <m:sSupPr>
                                <m:ctrlPr>
                                  <a:rPr lang="en-US" sz="1600" i="1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sz="1600" i="1">
                                    <a:latin typeface="Cambria Math" panose="02040503050406030204" pitchFamily="18" charset="0"/>
                                  </a:rPr>
                                  <m:t>𝑅</m:t>
                                </m:r>
                              </m:e>
                              <m:sup>
                                <m:r>
                                  <a:rPr lang="en-US" sz="1600" i="1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p>
                            </m:sSup>
                            <m:r>
                              <a:rPr lang="en-US" sz="1600" i="1">
                                <a:latin typeface="Cambria Math" panose="02040503050406030204" pitchFamily="18" charset="0"/>
                              </a:rPr>
                              <m:t>−2</m:t>
                            </m:r>
                            <m:r>
                              <a:rPr lang="en-US" sz="1600" i="1">
                                <a:latin typeface="Cambria Math" panose="02040503050406030204" pitchFamily="18" charset="0"/>
                              </a:rPr>
                              <m:t>𝑅</m:t>
                            </m:r>
                            <m:sSub>
                              <m:sSubPr>
                                <m:ctrlPr>
                                  <a:rPr lang="en-US" sz="16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1600" i="1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en-US" sz="1600" i="1">
                                    <a:latin typeface="Cambria Math" panose="02040503050406030204" pitchFamily="18" charset="0"/>
                                  </a:rPr>
                                  <m:t>h</m:t>
                                </m:r>
                              </m:sub>
                            </m:sSub>
                            <m:func>
                              <m:funcPr>
                                <m:ctrlPr>
                                  <a:rPr lang="en-US" sz="1600" i="1">
                                    <a:latin typeface="Cambria Math" panose="02040503050406030204" pitchFamily="18" charset="0"/>
                                  </a:rPr>
                                </m:ctrlPr>
                              </m:funcPr>
                              <m:fName>
                                <m:r>
                                  <m:rPr>
                                    <m:sty m:val="p"/>
                                  </m:rPr>
                                  <a:rPr lang="en-US" sz="1600" i="0">
                                    <a:latin typeface="Cambria Math" panose="02040503050406030204" pitchFamily="18" charset="0"/>
                                  </a:rPr>
                                  <m:t>cos</m:t>
                                </m:r>
                              </m:fName>
                              <m:e>
                                <m:sSub>
                                  <m:sSubPr>
                                    <m:ctrlPr>
                                      <a:rPr lang="en-US" sz="16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1600" i="1">
                                        <a:latin typeface="Cambria Math" panose="02040503050406030204" pitchFamily="18" charset="0"/>
                                      </a:rPr>
                                      <m:t>𝜑</m:t>
                                    </m:r>
                                  </m:e>
                                  <m:sub>
                                    <m:r>
                                      <a:rPr lang="en-US" sz="1600" i="1">
                                        <a:latin typeface="Cambria Math" panose="02040503050406030204" pitchFamily="18" charset="0"/>
                                      </a:rPr>
                                      <m:t>𝑘</m:t>
                                    </m:r>
                                  </m:sub>
                                </m:sSub>
                              </m:e>
                            </m:func>
                            <m:r>
                              <a:rPr lang="en-US" sz="1600" i="1">
                                <a:latin typeface="Cambria Math" panose="02040503050406030204" pitchFamily="18" charset="0"/>
                              </a:rPr>
                              <m:t>+</m:t>
                            </m:r>
                            <m:sSubSup>
                              <m:sSubSupPr>
                                <m:ctrlPr>
                                  <a:rPr lang="en-US" sz="1600" i="1">
                                    <a:latin typeface="Cambria Math" panose="02040503050406030204" pitchFamily="18" charset="0"/>
                                  </a:rPr>
                                </m:ctrlPr>
                              </m:sSubSupPr>
                              <m:e>
                                <m:r>
                                  <a:rPr lang="en-US" sz="1600" i="1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en-US" sz="1600" i="1">
                                    <a:latin typeface="Cambria Math" panose="02040503050406030204" pitchFamily="18" charset="0"/>
                                  </a:rPr>
                                  <m:t>h</m:t>
                                </m:r>
                              </m:sub>
                              <m:sup>
                                <m:r>
                                  <a:rPr lang="en-US" sz="1600" i="1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p>
                            </m:sSubSup>
                            <m:r>
                              <a:rPr lang="en-US" sz="1600" i="1">
                                <a:latin typeface="Cambria Math" panose="02040503050406030204" pitchFamily="18" charset="0"/>
                              </a:rPr>
                              <m:t>+</m:t>
                            </m:r>
                            <m:sSubSup>
                              <m:sSubSupPr>
                                <m:ctrlPr>
                                  <a:rPr lang="en-US" sz="1600" i="1">
                                    <a:latin typeface="Cambria Math" panose="02040503050406030204" pitchFamily="18" charset="0"/>
                                  </a:rPr>
                                </m:ctrlPr>
                              </m:sSubSupPr>
                              <m:e>
                                <m:r>
                                  <a:rPr lang="en-US" sz="1600" i="1">
                                    <a:latin typeface="Cambria Math" panose="02040503050406030204" pitchFamily="18" charset="0"/>
                                  </a:rPr>
                                  <m:t>𝑧</m:t>
                                </m:r>
                              </m:e>
                              <m:sub>
                                <m:r>
                                  <a:rPr lang="en-US" sz="1600" i="1">
                                    <a:latin typeface="Cambria Math" panose="02040503050406030204" pitchFamily="18" charset="0"/>
                                  </a:rPr>
                                  <m:t>h</m:t>
                                </m:r>
                              </m:sub>
                              <m:sup>
                                <m:r>
                                  <a:rPr lang="en-US" sz="1600" i="1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p>
                            </m:sSubSup>
                          </m:e>
                        </m:rad>
                      </m:oMath>
                    </m:oMathPara>
                  </a14:m>
                  <a:endParaRPr lang="en-US" sz="1600" dirty="0"/>
                </a:p>
              </p:txBody>
            </p:sp>
          </mc:Choice>
          <mc:Fallback>
            <p:sp>
              <p:nvSpPr>
                <p:cNvPr id="24" name="TextBox 23">
                  <a:extLst>
                    <a:ext uri="{FF2B5EF4-FFF2-40B4-BE49-F238E27FC236}">
                      <a16:creationId xmlns:a16="http://schemas.microsoft.com/office/drawing/2014/main" id="{1A3A00E9-525E-1775-E27B-6FAE9A152F5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961668" y="4532278"/>
                  <a:ext cx="4021765" cy="593432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26" name="TextBox 25">
                  <a:extLst>
                    <a:ext uri="{FF2B5EF4-FFF2-40B4-BE49-F238E27FC236}">
                      <a16:creationId xmlns:a16="http://schemas.microsoft.com/office/drawing/2014/main" id="{24CA7C90-B3E0-8F60-B04B-FB440688F650}"/>
                    </a:ext>
                  </a:extLst>
                </p:cNvPr>
                <p:cNvSpPr txBox="1"/>
                <p:nvPr/>
              </p:nvSpPr>
              <p:spPr>
                <a:xfrm>
                  <a:off x="6988891" y="5023104"/>
                  <a:ext cx="2565105" cy="568617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160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600" i="1">
                                <a:latin typeface="Cambria Math" panose="02040503050406030204" pitchFamily="18" charset="0"/>
                              </a:rPr>
                              <m:t>𝜖</m:t>
                            </m:r>
                          </m:e>
                          <m:sub>
                            <m:r>
                              <a:rPr lang="en-US" sz="1600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  <m:d>
                          <m:dPr>
                            <m:ctrlPr>
                              <a:rPr lang="en-US" sz="16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sz="16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1600" i="1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en-US" sz="1600" i="1">
                                    <a:latin typeface="Cambria Math" panose="02040503050406030204" pitchFamily="18" charset="0"/>
                                  </a:rPr>
                                  <m:t>h</m:t>
                                </m:r>
                              </m:sub>
                            </m:sSub>
                            <m:r>
                              <a:rPr lang="en-US" sz="1600" i="1">
                                <a:latin typeface="Cambria Math" panose="02040503050406030204" pitchFamily="18" charset="0"/>
                              </a:rPr>
                              <m:t>,</m:t>
                            </m:r>
                            <m:sSub>
                              <m:sSubPr>
                                <m:ctrlPr>
                                  <a:rPr lang="en-US" sz="16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1600" i="1">
                                    <a:latin typeface="Cambria Math" panose="02040503050406030204" pitchFamily="18" charset="0"/>
                                  </a:rPr>
                                  <m:t>𝑧</m:t>
                                </m:r>
                              </m:e>
                              <m:sub>
                                <m:r>
                                  <a:rPr lang="en-US" sz="1600" i="1">
                                    <a:latin typeface="Cambria Math" panose="02040503050406030204" pitchFamily="18" charset="0"/>
                                  </a:rPr>
                                  <m:t>h</m:t>
                                </m:r>
                              </m:sub>
                            </m:sSub>
                          </m:e>
                        </m:d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=</m:t>
                        </m:r>
                        <m:f>
                          <m:fPr>
                            <m:ctrlPr>
                              <a:rPr lang="en-US" sz="1600" i="1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sSub>
                              <m:sSubPr>
                                <m:ctrlPr>
                                  <a:rPr lang="en-US" sz="16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1600" i="1">
                                    <a:latin typeface="Cambria Math" panose="02040503050406030204" pitchFamily="18" charset="0"/>
                                  </a:rPr>
                                  <m:t>𝐿</m:t>
                                </m:r>
                              </m:e>
                              <m:sub>
                                <m:r>
                                  <a:rPr lang="en-US" sz="1600" i="1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</m:sub>
                            </m:sSub>
                            <m:d>
                              <m:dPr>
                                <m:ctrlPr>
                                  <a:rPr lang="en-US" sz="1600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sSub>
                                  <m:sSubPr>
                                    <m:ctrlPr>
                                      <a:rPr lang="en-US" sz="16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1600" i="1"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lang="en-US" sz="1600" i="1">
                                        <a:latin typeface="Cambria Math" panose="02040503050406030204" pitchFamily="18" charset="0"/>
                                      </a:rPr>
                                      <m:t>h</m:t>
                                    </m:r>
                                  </m:sub>
                                </m:sSub>
                                <m:r>
                                  <a:rPr lang="en-US" sz="1600" i="1"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  <m:sSub>
                                  <m:sSubPr>
                                    <m:ctrlPr>
                                      <a:rPr lang="en-US" sz="16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1600" i="1">
                                        <a:latin typeface="Cambria Math" panose="02040503050406030204" pitchFamily="18" charset="0"/>
                                      </a:rPr>
                                      <m:t>𝑧</m:t>
                                    </m:r>
                                  </m:e>
                                  <m:sub>
                                    <m:r>
                                      <a:rPr lang="en-US" sz="1600" i="1">
                                        <a:latin typeface="Cambria Math" panose="02040503050406030204" pitchFamily="18" charset="0"/>
                                      </a:rPr>
                                      <m:t>h</m:t>
                                    </m:r>
                                  </m:sub>
                                </m:sSub>
                              </m:e>
                            </m:d>
                          </m:num>
                          <m:den>
                            <m:r>
                              <a:rPr lang="en-US" sz="1600" i="1">
                                <a:latin typeface="Cambria Math" panose="02040503050406030204" pitchFamily="18" charset="0"/>
                              </a:rPr>
                              <m:t>𝑅</m:t>
                            </m:r>
                          </m:den>
                        </m:f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−1</m:t>
                        </m:r>
                      </m:oMath>
                    </m:oMathPara>
                  </a14:m>
                  <a:endParaRPr lang="en-US" sz="1600" dirty="0"/>
                </a:p>
              </p:txBody>
            </p:sp>
          </mc:Choice>
          <mc:Fallback>
            <p:sp>
              <p:nvSpPr>
                <p:cNvPr id="26" name="TextBox 25">
                  <a:extLst>
                    <a:ext uri="{FF2B5EF4-FFF2-40B4-BE49-F238E27FC236}">
                      <a16:creationId xmlns:a16="http://schemas.microsoft.com/office/drawing/2014/main" id="{24CA7C90-B3E0-8F60-B04B-FB440688F65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988891" y="5023104"/>
                  <a:ext cx="2565105" cy="568617"/>
                </a:xfrm>
                <a:prstGeom prst="rect">
                  <a:avLst/>
                </a:prstGeom>
                <a:blipFill>
                  <a:blip r:embed="rId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2954ED02-B3CF-AD1A-2AD7-3A935EA2E175}"/>
                </a:ext>
              </a:extLst>
            </p:cNvPr>
            <p:cNvSpPr txBox="1"/>
            <p:nvPr/>
          </p:nvSpPr>
          <p:spPr>
            <a:xfrm>
              <a:off x="7058040" y="4155974"/>
              <a:ext cx="4344276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/>
              <a:r>
                <a:rPr lang="en-US" sz="1600" dirty="0"/>
                <a:t>Strain for the untouched radials:</a:t>
              </a:r>
            </a:p>
          </p:txBody>
        </p:sp>
      </p:grpSp>
      <p:grpSp>
        <p:nvGrpSpPr>
          <p:cNvPr id="35" name="Group 34">
            <a:extLst>
              <a:ext uri="{FF2B5EF4-FFF2-40B4-BE49-F238E27FC236}">
                <a16:creationId xmlns:a16="http://schemas.microsoft.com/office/drawing/2014/main" id="{7D3A3471-7918-D546-39EA-4D1210CE6F2A}"/>
              </a:ext>
            </a:extLst>
          </p:cNvPr>
          <p:cNvGrpSpPr/>
          <p:nvPr/>
        </p:nvGrpSpPr>
        <p:grpSpPr>
          <a:xfrm>
            <a:off x="4167963" y="1695348"/>
            <a:ext cx="7756641" cy="3961173"/>
            <a:chOff x="4167963" y="1695348"/>
            <a:chExt cx="7756641" cy="3961173"/>
          </a:xfrm>
        </p:grpSpPr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9" name="TextBox 18">
                  <a:extLst>
                    <a:ext uri="{FF2B5EF4-FFF2-40B4-BE49-F238E27FC236}">
                      <a16:creationId xmlns:a16="http://schemas.microsoft.com/office/drawing/2014/main" id="{33797964-4D82-AF83-C8E1-BCC407A9C06D}"/>
                    </a:ext>
                  </a:extLst>
                </p:cNvPr>
                <p:cNvSpPr txBox="1"/>
                <p:nvPr/>
              </p:nvSpPr>
              <p:spPr>
                <a:xfrm>
                  <a:off x="7695314" y="2116696"/>
                  <a:ext cx="3947337" cy="39049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160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600" i="1">
                                <a:latin typeface="Cambria Math" panose="02040503050406030204" pitchFamily="18" charset="0"/>
                              </a:rPr>
                              <m:t>𝐿</m:t>
                            </m:r>
                          </m:e>
                          <m:sub>
                            <m:r>
                              <a:rPr lang="en-US" sz="1600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d>
                          <m:dPr>
                            <m:ctrlPr>
                              <a:rPr lang="en-US" sz="16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sz="16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1600" i="1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en-US" sz="1600" i="1">
                                    <a:latin typeface="Cambria Math" panose="02040503050406030204" pitchFamily="18" charset="0"/>
                                  </a:rPr>
                                  <m:t>h</m:t>
                                </m:r>
                              </m:sub>
                            </m:sSub>
                            <m:r>
                              <a:rPr lang="en-US" sz="1600" i="1">
                                <a:latin typeface="Cambria Math" panose="02040503050406030204" pitchFamily="18" charset="0"/>
                              </a:rPr>
                              <m:t>,</m:t>
                            </m:r>
                            <m:sSub>
                              <m:sSubPr>
                                <m:ctrlPr>
                                  <a:rPr lang="en-US" sz="16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1600" i="1">
                                    <a:latin typeface="Cambria Math" panose="02040503050406030204" pitchFamily="18" charset="0"/>
                                  </a:rPr>
                                  <m:t>𝑧</m:t>
                                </m:r>
                              </m:e>
                              <m:sub>
                                <m:r>
                                  <a:rPr lang="en-US" sz="1600" i="1">
                                    <a:latin typeface="Cambria Math" panose="02040503050406030204" pitchFamily="18" charset="0"/>
                                  </a:rPr>
                                  <m:t>h</m:t>
                                </m:r>
                              </m:sub>
                            </m:sSub>
                          </m:e>
                        </m:d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=</m:t>
                        </m:r>
                        <m:rad>
                          <m:radPr>
                            <m:degHide m:val="on"/>
                            <m:ctrlPr>
                              <a:rPr lang="en-US" sz="1600" i="1">
                                <a:latin typeface="Cambria Math" panose="02040503050406030204" pitchFamily="18" charset="0"/>
                              </a:rPr>
                            </m:ctrlPr>
                          </m:radPr>
                          <m:deg/>
                          <m:e>
                            <m:sSup>
                              <m:sSupPr>
                                <m:ctrlPr>
                                  <a:rPr lang="en-US" sz="1600" i="1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d>
                                  <m:dPr>
                                    <m:ctrlPr>
                                      <a:rPr lang="en-US" sz="1600" i="1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sz="1600" i="1">
                                        <a:latin typeface="Cambria Math" panose="02040503050406030204" pitchFamily="18" charset="0"/>
                                      </a:rPr>
                                      <m:t>𝑎</m:t>
                                    </m:r>
                                    <m:r>
                                      <a:rPr lang="en-US" sz="1600" i="1">
                                        <a:latin typeface="Cambria Math" panose="02040503050406030204" pitchFamily="18" charset="0"/>
                                      </a:rPr>
                                      <m:t>−</m:t>
                                    </m:r>
                                    <m:sSub>
                                      <m:sSubPr>
                                        <m:ctrlPr>
                                          <a:rPr lang="en-US" sz="16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sz="1600" i="1">
                                            <a:latin typeface="Cambria Math" panose="02040503050406030204" pitchFamily="18" charset="0"/>
                                          </a:rPr>
                                          <m:t>𝑥</m:t>
                                        </m:r>
                                      </m:e>
                                      <m:sub>
                                        <m:r>
                                          <a:rPr lang="en-US" sz="1600" i="1">
                                            <a:latin typeface="Cambria Math" panose="02040503050406030204" pitchFamily="18" charset="0"/>
                                          </a:rPr>
                                          <m:t>h</m:t>
                                        </m:r>
                                      </m:sub>
                                    </m:sSub>
                                  </m:e>
                                </m:d>
                              </m:e>
                              <m:sup>
                                <m:r>
                                  <a:rPr lang="en-US" sz="1600" i="1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p>
                            </m:sSup>
                            <m:r>
                              <a:rPr lang="en-US" sz="1600" i="1">
                                <a:latin typeface="Cambria Math" panose="02040503050406030204" pitchFamily="18" charset="0"/>
                              </a:rPr>
                              <m:t>+</m:t>
                            </m:r>
                            <m:sSup>
                              <m:sSupPr>
                                <m:ctrlPr>
                                  <a:rPr lang="en-US" sz="1600" i="1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d>
                                  <m:dPr>
                                    <m:ctrlPr>
                                      <a:rPr lang="en-US" sz="1600" i="1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sz="1600" i="1">
                                        <a:latin typeface="Cambria Math" panose="02040503050406030204" pitchFamily="18" charset="0"/>
                                      </a:rPr>
                                      <m:t>𝑤</m:t>
                                    </m:r>
                                    <m:r>
                                      <a:rPr lang="en-US" sz="1600" i="1">
                                        <a:latin typeface="Cambria Math" panose="02040503050406030204" pitchFamily="18" charset="0"/>
                                      </a:rPr>
                                      <m:t>−</m:t>
                                    </m:r>
                                    <m:sSub>
                                      <m:sSubPr>
                                        <m:ctrlPr>
                                          <a:rPr lang="en-US" sz="16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sz="1600" i="1">
                                            <a:latin typeface="Cambria Math" panose="02040503050406030204" pitchFamily="18" charset="0"/>
                                          </a:rPr>
                                          <m:t>𝑧</m:t>
                                        </m:r>
                                      </m:e>
                                      <m:sub>
                                        <m:r>
                                          <a:rPr lang="en-US" sz="1600" i="1">
                                            <a:latin typeface="Cambria Math" panose="02040503050406030204" pitchFamily="18" charset="0"/>
                                          </a:rPr>
                                          <m:t>h</m:t>
                                        </m:r>
                                      </m:sub>
                                    </m:sSub>
                                  </m:e>
                                </m:d>
                              </m:e>
                              <m:sup>
                                <m:r>
                                  <a:rPr lang="en-US" sz="1600" i="1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p>
                            </m:sSup>
                          </m:e>
                        </m:rad>
                      </m:oMath>
                    </m:oMathPara>
                  </a14:m>
                  <a:endParaRPr lang="en-US" sz="1600" dirty="0"/>
                </a:p>
              </p:txBody>
            </p:sp>
          </mc:Choice>
          <mc:Fallback>
            <p:sp>
              <p:nvSpPr>
                <p:cNvPr id="19" name="TextBox 18">
                  <a:extLst>
                    <a:ext uri="{FF2B5EF4-FFF2-40B4-BE49-F238E27FC236}">
                      <a16:creationId xmlns:a16="http://schemas.microsoft.com/office/drawing/2014/main" id="{33797964-4D82-AF83-C8E1-BCC407A9C06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695314" y="2116696"/>
                  <a:ext cx="3947337" cy="390492"/>
                </a:xfrm>
                <a:prstGeom prst="rect">
                  <a:avLst/>
                </a:prstGeom>
                <a:blipFill>
                  <a:blip r:embed="rId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20" name="TextBox 19">
                  <a:extLst>
                    <a:ext uri="{FF2B5EF4-FFF2-40B4-BE49-F238E27FC236}">
                      <a16:creationId xmlns:a16="http://schemas.microsoft.com/office/drawing/2014/main" id="{7B3A7134-D62F-8741-1239-088CADCCD664}"/>
                    </a:ext>
                  </a:extLst>
                </p:cNvPr>
                <p:cNvSpPr txBox="1"/>
                <p:nvPr/>
              </p:nvSpPr>
              <p:spPr>
                <a:xfrm>
                  <a:off x="7580328" y="1695348"/>
                  <a:ext cx="4344276" cy="338554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 lang="en-US" sz="1600" b="0" i="0" smtClean="0">
                            <a:latin typeface="Cambria Math" panose="02040503050406030204" pitchFamily="18" charset="0"/>
                          </a:rPr>
                          <m:t>Leng</m:t>
                        </m:r>
                        <m:r>
                          <m:rPr>
                            <m:sty m:val="p"/>
                          </m:rPr>
                          <a:rPr lang="en-US" sz="1600" b="0" i="1" smtClean="0">
                            <a:latin typeface="Cambria Math" panose="02040503050406030204" pitchFamily="18" charset="0"/>
                          </a:rPr>
                          <m:t>th</m:t>
                        </m:r>
                        <m:r>
                          <a:rPr lang="en-US" sz="1600" b="0" i="0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m:rPr>
                            <m:sty m:val="p"/>
                          </m:rPr>
                          <a:rPr lang="en-US" sz="1600" b="0" i="0" smtClean="0">
                            <a:latin typeface="Cambria Math" panose="02040503050406030204" pitchFamily="18" charset="0"/>
                          </a:rPr>
                          <m:t>between</m:t>
                        </m:r>
                        <m:r>
                          <a:rPr lang="en-US" sz="1600" b="0" i="0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m:rPr>
                            <m:sty m:val="p"/>
                          </m:rPr>
                          <a:rPr lang="en-US" sz="1600" b="0" i="1" smtClean="0">
                            <a:latin typeface="Cambria Math" panose="02040503050406030204" pitchFamily="18" charset="0"/>
                          </a:rPr>
                          <m:t>h</m:t>
                        </m:r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=(</m:t>
                        </m:r>
                        <m:sSub>
                          <m:sSubPr>
                            <m:ctrlP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x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h</m:t>
                            </m:r>
                          </m:sub>
                        </m:sSub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,0,</m:t>
                        </m:r>
                        <m:sSub>
                          <m:sSubPr>
                            <m:ctrlP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z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h</m:t>
                            </m:r>
                          </m:sub>
                        </m:sSub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)</m:t>
                        </m:r>
                        <m:r>
                          <a:rPr lang="en-US" sz="1600" b="0" i="0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m:rPr>
                            <m:sty m:val="p"/>
                          </m:rPr>
                          <a:rPr lang="en-US" sz="1600" b="0" i="0" smtClean="0">
                            <a:latin typeface="Cambria Math" panose="02040503050406030204" pitchFamily="18" charset="0"/>
                          </a:rPr>
                          <m:t>and</m:t>
                        </m:r>
                        <m:r>
                          <a:rPr lang="en-US" sz="1600" b="0" i="0" smtClean="0">
                            <a:latin typeface="Cambria Math" panose="02040503050406030204" pitchFamily="18" charset="0"/>
                          </a:rPr>
                          <m:t> (</m:t>
                        </m:r>
                        <m:r>
                          <m:rPr>
                            <m:sty m:val="p"/>
                          </m:rPr>
                          <a:rPr lang="en-US" sz="1600" b="0" i="0" smtClean="0">
                            <a:latin typeface="Cambria Math" panose="02040503050406030204" pitchFamily="18" charset="0"/>
                          </a:rPr>
                          <m:t>a</m:t>
                        </m:r>
                        <m:r>
                          <a:rPr lang="en-US" sz="1600" b="0" i="0" smtClean="0">
                            <a:latin typeface="Cambria Math" panose="02040503050406030204" pitchFamily="18" charset="0"/>
                          </a:rPr>
                          <m:t>,0,</m:t>
                        </m:r>
                        <m:r>
                          <m:rPr>
                            <m:sty m:val="p"/>
                          </m:rPr>
                          <a:rPr lang="en-US" sz="1600" b="0" i="0" smtClean="0">
                            <a:latin typeface="Cambria Math" panose="02040503050406030204" pitchFamily="18" charset="0"/>
                          </a:rPr>
                          <m:t>w</m:t>
                        </m:r>
                        <m:r>
                          <a:rPr lang="en-US" sz="1600" b="0" i="0" smtClean="0">
                            <a:latin typeface="Cambria Math" panose="02040503050406030204" pitchFamily="18" charset="0"/>
                          </a:rPr>
                          <m:t>) </m:t>
                        </m:r>
                        <m:r>
                          <m:rPr>
                            <m:sty m:val="p"/>
                          </m:rPr>
                          <a:rPr lang="en-US" sz="1600" b="0" i="0" smtClean="0">
                            <a:latin typeface="Cambria Math" panose="02040503050406030204" pitchFamily="18" charset="0"/>
                          </a:rPr>
                          <m:t>is</m:t>
                        </m:r>
                        <m:r>
                          <a:rPr lang="en-US" sz="1600" b="0" i="0" smtClean="0">
                            <a:latin typeface="Cambria Math" panose="02040503050406030204" pitchFamily="18" charset="0"/>
                          </a:rPr>
                          <m:t>:</m:t>
                        </m:r>
                      </m:oMath>
                    </m:oMathPara>
                  </a14:m>
                  <a:endParaRPr lang="en-US" sz="1600" dirty="0"/>
                </a:p>
              </p:txBody>
            </p:sp>
          </mc:Choice>
          <mc:Fallback>
            <p:sp>
              <p:nvSpPr>
                <p:cNvPr id="20" name="TextBox 19">
                  <a:extLst>
                    <a:ext uri="{FF2B5EF4-FFF2-40B4-BE49-F238E27FC236}">
                      <a16:creationId xmlns:a16="http://schemas.microsoft.com/office/drawing/2014/main" id="{7B3A7134-D62F-8741-1239-088CADCCD66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580328" y="1695348"/>
                  <a:ext cx="4344276" cy="338554"/>
                </a:xfrm>
                <a:prstGeom prst="rect">
                  <a:avLst/>
                </a:prstGeom>
                <a:blipFill>
                  <a:blip r:embed="rId9"/>
                  <a:stretch>
                    <a:fillRect b="-1785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22" name="TextBox 21">
                  <a:extLst>
                    <a:ext uri="{FF2B5EF4-FFF2-40B4-BE49-F238E27FC236}">
                      <a16:creationId xmlns:a16="http://schemas.microsoft.com/office/drawing/2014/main" id="{7DB61557-DD73-C6B4-303E-18255C14C7E9}"/>
                    </a:ext>
                  </a:extLst>
                </p:cNvPr>
                <p:cNvSpPr txBox="1"/>
                <p:nvPr/>
              </p:nvSpPr>
              <p:spPr>
                <a:xfrm>
                  <a:off x="7580328" y="2757592"/>
                  <a:ext cx="3947337" cy="1105111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160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600" i="1">
                                <a:latin typeface="Cambria Math" panose="02040503050406030204" pitchFamily="18" charset="0"/>
                              </a:rPr>
                              <m:t>𝜖</m:t>
                            </m:r>
                          </m:e>
                          <m:sub>
                            <m:r>
                              <a:rPr lang="en-US" sz="1600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d>
                          <m:dPr>
                            <m:ctrlPr>
                              <a:rPr lang="en-US" sz="16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sz="16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1600" i="1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en-US" sz="1600" i="1">
                                    <a:latin typeface="Cambria Math" panose="02040503050406030204" pitchFamily="18" charset="0"/>
                                  </a:rPr>
                                  <m:t>h</m:t>
                                </m:r>
                              </m:sub>
                            </m:sSub>
                            <m:r>
                              <a:rPr lang="en-US" sz="1600" i="1">
                                <a:latin typeface="Cambria Math" panose="02040503050406030204" pitchFamily="18" charset="0"/>
                              </a:rPr>
                              <m:t>,</m:t>
                            </m:r>
                            <m:sSub>
                              <m:sSubPr>
                                <m:ctrlPr>
                                  <a:rPr lang="en-US" sz="16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1600" i="1">
                                    <a:latin typeface="Cambria Math" panose="02040503050406030204" pitchFamily="18" charset="0"/>
                                  </a:rPr>
                                  <m:t>𝑧</m:t>
                                </m:r>
                              </m:e>
                              <m:sub>
                                <m:r>
                                  <a:rPr lang="en-US" sz="1600" i="1">
                                    <a:latin typeface="Cambria Math" panose="02040503050406030204" pitchFamily="18" charset="0"/>
                                  </a:rPr>
                                  <m:t>h</m:t>
                                </m:r>
                              </m:sub>
                            </m:sSub>
                          </m:e>
                        </m:d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=</m:t>
                        </m:r>
                        <m:f>
                          <m:fPr>
                            <m:ctrlPr>
                              <a:rPr lang="en-US" sz="1600" i="1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sSub>
                              <m:sSubPr>
                                <m:ctrlPr>
                                  <a:rPr lang="en-US" sz="16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1600" i="1">
                                    <a:latin typeface="Cambria Math" panose="02040503050406030204" pitchFamily="18" charset="0"/>
                                  </a:rPr>
                                  <m:t>𝐿</m:t>
                                </m:r>
                              </m:e>
                              <m:sub>
                                <m:r>
                                  <a:rPr lang="en-US" sz="1600" i="1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  <m:d>
                              <m:dPr>
                                <m:ctrlPr>
                                  <a:rPr lang="en-US" sz="1600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sSub>
                                  <m:sSubPr>
                                    <m:ctrlPr>
                                      <a:rPr lang="en-US" sz="16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1600" i="1"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lang="en-US" sz="1600" i="1">
                                        <a:latin typeface="Cambria Math" panose="02040503050406030204" pitchFamily="18" charset="0"/>
                                      </a:rPr>
                                      <m:t>h</m:t>
                                    </m:r>
                                  </m:sub>
                                </m:sSub>
                                <m:r>
                                  <a:rPr lang="en-US" sz="1600" i="1"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  <m:sSub>
                                  <m:sSubPr>
                                    <m:ctrlPr>
                                      <a:rPr lang="en-US" sz="16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1600" i="1">
                                        <a:latin typeface="Cambria Math" panose="02040503050406030204" pitchFamily="18" charset="0"/>
                                      </a:rPr>
                                      <m:t>𝑧</m:t>
                                    </m:r>
                                  </m:e>
                                  <m:sub>
                                    <m:r>
                                      <a:rPr lang="en-US" sz="1600" i="1">
                                        <a:latin typeface="Cambria Math" panose="02040503050406030204" pitchFamily="18" charset="0"/>
                                      </a:rPr>
                                      <m:t>h</m:t>
                                    </m:r>
                                  </m:sub>
                                </m:sSub>
                              </m:e>
                            </m:d>
                          </m:num>
                          <m:den>
                            <m:r>
                              <a:rPr lang="en-US" sz="1600" i="1">
                                <a:latin typeface="Cambria Math" panose="02040503050406030204" pitchFamily="18" charset="0"/>
                              </a:rPr>
                              <m:t>𝑎</m:t>
                            </m:r>
                          </m:den>
                        </m:f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−1</m:t>
                        </m:r>
                      </m:oMath>
                    </m:oMathPara>
                  </a14:m>
                  <a:endParaRPr lang="en-US" sz="1600" i="1" dirty="0">
                    <a:latin typeface="Cambria Math" panose="02040503050406030204" pitchFamily="18" charset="0"/>
                  </a:endParaRPr>
                </a:p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160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60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⇒</m:t>
                            </m:r>
                            <m:r>
                              <m:rPr>
                                <m:sty m:val="p"/>
                              </m:rP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ϵ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i</m:t>
                            </m:r>
                          </m:sub>
                        </m:sSub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=</m:t>
                        </m:r>
                        <m:f>
                          <m:fPr>
                            <m:ctrlPr>
                              <a:rPr lang="en-US" sz="1600" i="1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ad>
                              <m:radPr>
                                <m:degHide m:val="on"/>
                                <m:ctrlPr>
                                  <a:rPr lang="en-US" sz="1600" i="1">
                                    <a:latin typeface="Cambria Math" panose="02040503050406030204" pitchFamily="18" charset="0"/>
                                  </a:rPr>
                                </m:ctrlPr>
                              </m:radPr>
                              <m:deg/>
                              <m:e>
                                <m:sSup>
                                  <m:sSupPr>
                                    <m:ctrlPr>
                                      <a:rPr lang="en-US" sz="16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d>
                                      <m:dPr>
                                        <m:ctrlPr>
                                          <a:rPr lang="en-US" sz="16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r>
                                          <a:rPr lang="en-US" sz="1600" i="1">
                                            <a:latin typeface="Cambria Math" panose="02040503050406030204" pitchFamily="18" charset="0"/>
                                          </a:rPr>
                                          <m:t>𝑎</m:t>
                                        </m:r>
                                        <m:r>
                                          <a:rPr lang="en-US" sz="1600" i="1">
                                            <a:latin typeface="Cambria Math" panose="02040503050406030204" pitchFamily="18" charset="0"/>
                                          </a:rPr>
                                          <m:t>−</m:t>
                                        </m:r>
                                        <m:sSub>
                                          <m:sSubPr>
                                            <m:ctrlPr>
                                              <a:rPr lang="en-US" sz="1600" i="1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sSubPr>
                                          <m:e>
                                            <m:r>
                                              <a:rPr lang="en-US" sz="1600" i="1">
                                                <a:latin typeface="Cambria Math" panose="02040503050406030204" pitchFamily="18" charset="0"/>
                                              </a:rPr>
                                              <m:t>𝑥</m:t>
                                            </m:r>
                                          </m:e>
                                          <m:sub>
                                            <m:r>
                                              <a:rPr lang="en-US" sz="1600" i="1">
                                                <a:latin typeface="Cambria Math" panose="02040503050406030204" pitchFamily="18" charset="0"/>
                                              </a:rPr>
                                              <m:t>h</m:t>
                                            </m:r>
                                          </m:sub>
                                        </m:sSub>
                                      </m:e>
                                    </m:d>
                                  </m:e>
                                  <m:sup>
                                    <m:r>
                                      <a:rPr lang="en-US" sz="1600" i="1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p>
                                </m:sSup>
                                <m:r>
                                  <a:rPr lang="en-US" sz="1600" i="1">
                                    <a:latin typeface="Cambria Math" panose="02040503050406030204" pitchFamily="18" charset="0"/>
                                  </a:rPr>
                                  <m:t>+</m:t>
                                </m:r>
                                <m:sSup>
                                  <m:sSupPr>
                                    <m:ctrlPr>
                                      <a:rPr lang="en-US" sz="16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d>
                                      <m:dPr>
                                        <m:ctrlPr>
                                          <a:rPr lang="en-US" sz="16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r>
                                          <a:rPr lang="en-US" sz="1600" i="1">
                                            <a:latin typeface="Cambria Math" panose="02040503050406030204" pitchFamily="18" charset="0"/>
                                          </a:rPr>
                                          <m:t>𝑤</m:t>
                                        </m:r>
                                        <m:r>
                                          <a:rPr lang="en-US" sz="1600" i="1">
                                            <a:latin typeface="Cambria Math" panose="02040503050406030204" pitchFamily="18" charset="0"/>
                                          </a:rPr>
                                          <m:t>−</m:t>
                                        </m:r>
                                        <m:sSub>
                                          <m:sSubPr>
                                            <m:ctrlPr>
                                              <a:rPr lang="en-US" sz="1600" i="1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sSubPr>
                                          <m:e>
                                            <m:r>
                                              <a:rPr lang="en-US" sz="1600" i="1">
                                                <a:latin typeface="Cambria Math" panose="02040503050406030204" pitchFamily="18" charset="0"/>
                                              </a:rPr>
                                              <m:t>𝑧</m:t>
                                            </m:r>
                                          </m:e>
                                          <m:sub>
                                            <m:r>
                                              <a:rPr lang="en-US" sz="1600" i="1">
                                                <a:latin typeface="Cambria Math" panose="02040503050406030204" pitchFamily="18" charset="0"/>
                                              </a:rPr>
                                              <m:t>h</m:t>
                                            </m:r>
                                          </m:sub>
                                        </m:sSub>
                                      </m:e>
                                    </m:d>
                                  </m:e>
                                  <m:sup>
                                    <m:r>
                                      <a:rPr lang="en-US" sz="1600" i="1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p>
                                </m:sSup>
                              </m:e>
                            </m:rad>
                          </m:num>
                          <m:den>
                            <m:r>
                              <a:rPr lang="en-US" sz="1600" i="1">
                                <a:latin typeface="Cambria Math" panose="02040503050406030204" pitchFamily="18" charset="0"/>
                              </a:rPr>
                              <m:t>𝑎</m:t>
                            </m:r>
                          </m:den>
                        </m:f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−1</m:t>
                        </m:r>
                      </m:oMath>
                    </m:oMathPara>
                  </a14:m>
                  <a:endParaRPr lang="en-US" sz="1600" dirty="0"/>
                </a:p>
              </p:txBody>
            </p:sp>
          </mc:Choice>
          <mc:Fallback>
            <p:sp>
              <p:nvSpPr>
                <p:cNvPr id="22" name="TextBox 21">
                  <a:extLst>
                    <a:ext uri="{FF2B5EF4-FFF2-40B4-BE49-F238E27FC236}">
                      <a16:creationId xmlns:a16="http://schemas.microsoft.com/office/drawing/2014/main" id="{7DB61557-DD73-C6B4-303E-18255C14C7E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580328" y="2757592"/>
                  <a:ext cx="3947337" cy="1105111"/>
                </a:xfrm>
                <a:prstGeom prst="rect">
                  <a:avLst/>
                </a:prstGeom>
                <a:blipFill>
                  <a:blip r:embed="rId1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30" name="Straight Arrow Connector 29">
              <a:extLst>
                <a:ext uri="{FF2B5EF4-FFF2-40B4-BE49-F238E27FC236}">
                  <a16:creationId xmlns:a16="http://schemas.microsoft.com/office/drawing/2014/main" id="{F7003A67-1E13-4841-E934-620E938FCE12}"/>
                </a:ext>
              </a:extLst>
            </p:cNvPr>
            <p:cNvCxnSpPr/>
            <p:nvPr/>
          </p:nvCxnSpPr>
          <p:spPr>
            <a:xfrm flipH="1">
              <a:off x="4167963" y="3625702"/>
              <a:ext cx="3772579" cy="2030819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6C1CBED1-17A9-F745-BAE4-B7D197A338C8}"/>
              </a:ext>
            </a:extLst>
          </p:cNvPr>
          <p:cNvCxnSpPr>
            <a:cxnSpLocks/>
            <a:stCxn id="26" idx="1"/>
          </p:cNvCxnSpPr>
          <p:nvPr/>
        </p:nvCxnSpPr>
        <p:spPr>
          <a:xfrm flipH="1">
            <a:off x="5901070" y="5809853"/>
            <a:ext cx="1154361" cy="9636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4"/>
          </a:lnRef>
          <a:fillRef idx="0">
            <a:schemeClr val="accent4"/>
          </a:fillRef>
          <a:effectRef idx="1">
            <a:schemeClr val="accent4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37" name="TextBox 36">
                <a:extLst>
                  <a:ext uri="{FF2B5EF4-FFF2-40B4-BE49-F238E27FC236}">
                    <a16:creationId xmlns:a16="http://schemas.microsoft.com/office/drawing/2014/main" id="{0027489A-A786-D7EA-4840-C1278416CEB4}"/>
                  </a:ext>
                </a:extLst>
              </p:cNvPr>
              <p:cNvSpPr txBox="1"/>
              <p:nvPr/>
            </p:nvSpPr>
            <p:spPr>
              <a:xfrm>
                <a:off x="7580328" y="6211860"/>
                <a:ext cx="2777756" cy="45839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40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1400" i="0">
                              <a:latin typeface="Cambria Math" panose="02040503050406030204" pitchFamily="18" charset="0"/>
                            </a:rPr>
                            <m:t>ϕ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1400" i="0">
                              <a:latin typeface="Cambria Math" panose="02040503050406030204" pitchFamily="18" charset="0"/>
                            </a:rPr>
                            <m:t>k</m:t>
                          </m:r>
                        </m:sub>
                      </m:sSub>
                      <m:r>
                        <a:rPr lang="en-US" sz="1400" i="0">
                          <a:latin typeface="Cambria Math" panose="02040503050406030204" pitchFamily="18" charset="0"/>
                        </a:rPr>
                        <m:t>=</m:t>
                      </m:r>
                      <m:r>
                        <m:rPr>
                          <m:sty m:val="p"/>
                        </m:rPr>
                        <a:rPr lang="en-US" sz="1400" i="0">
                          <a:latin typeface="Cambria Math" panose="02040503050406030204" pitchFamily="18" charset="0"/>
                        </a:rPr>
                        <m:t>k</m:t>
                      </m:r>
                      <m:r>
                        <a:rPr lang="en-US" sz="1400" i="0">
                          <a:latin typeface="Cambria Math" panose="02040503050406030204" pitchFamily="18" charset="0"/>
                        </a:rPr>
                        <m:t>⋅</m:t>
                      </m:r>
                      <m:f>
                        <m:fPr>
                          <m:ctrlPr>
                            <a:rPr lang="en-US" sz="140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m:rPr>
                              <m:sty m:val="p"/>
                            </m:rPr>
                            <a:rPr lang="en-US" sz="1400" i="0">
                              <a:latin typeface="Cambria Math" panose="02040503050406030204" pitchFamily="18" charset="0"/>
                            </a:rPr>
                            <m:t>π</m:t>
                          </m:r>
                        </m:num>
                        <m:den>
                          <m:r>
                            <a:rPr lang="en-US" sz="1400" i="0">
                              <a:latin typeface="Cambria Math" panose="02040503050406030204" pitchFamily="18" charset="0"/>
                            </a:rPr>
                            <m:t>4</m:t>
                          </m:r>
                        </m:den>
                      </m:f>
                      <m:r>
                        <a:rPr lang="en-US" sz="1400" i="0">
                          <a:latin typeface="Cambria Math" panose="02040503050406030204" pitchFamily="18" charset="0"/>
                        </a:rPr>
                        <m:t> </m:t>
                      </m:r>
                      <m:r>
                        <m:rPr>
                          <m:nor/>
                        </m:rPr>
                        <a:rPr lang="en-US" sz="1400" b="0" smtClean="0">
                          <a:latin typeface="Cambria Math" panose="02040503050406030204" pitchFamily="18" charset="0"/>
                        </a:rPr>
                        <m:t>for</m:t>
                      </m:r>
                      <m:r>
                        <m:rPr>
                          <m:nor/>
                        </m:rPr>
                        <a:rPr lang="en-US" sz="1400">
                          <a:latin typeface="Cambria Math" panose="02040503050406030204" pitchFamily="18" charset="0"/>
                        </a:rPr>
                        <m:t> </m:t>
                      </m:r>
                      <m:r>
                        <m:rPr>
                          <m:sty m:val="p"/>
                        </m:rPr>
                        <a:rPr lang="en-US" sz="1400" i="0">
                          <a:latin typeface="Cambria Math" panose="02040503050406030204" pitchFamily="18" charset="0"/>
                        </a:rPr>
                        <m:t>k</m:t>
                      </m:r>
                      <m:r>
                        <a:rPr lang="en-US" sz="1400" i="0">
                          <a:latin typeface="Cambria Math" panose="02040503050406030204" pitchFamily="18" charset="0"/>
                        </a:rPr>
                        <m:t>=0,1,…,7</m:t>
                      </m:r>
                    </m:oMath>
                  </m:oMathPara>
                </a14:m>
                <a:endParaRPr lang="en-US" sz="1400" dirty="0"/>
              </a:p>
            </p:txBody>
          </p:sp>
        </mc:Choice>
        <mc:Fallback>
          <p:sp>
            <p:nvSpPr>
              <p:cNvPr id="37" name="TextBox 36">
                <a:extLst>
                  <a:ext uri="{FF2B5EF4-FFF2-40B4-BE49-F238E27FC236}">
                    <a16:creationId xmlns:a16="http://schemas.microsoft.com/office/drawing/2014/main" id="{0027489A-A786-D7EA-4840-C1278416CEB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580328" y="6211860"/>
                <a:ext cx="2777756" cy="458395"/>
              </a:xfrm>
              <a:prstGeom prst="rect">
                <a:avLst/>
              </a:prstGeom>
              <a:blipFill>
                <a:blip r:embed="rId11"/>
                <a:stretch>
                  <a:fillRect b="-270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239220214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019C01-E8DB-F167-E573-2DA073DDD7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562D5E57-006B-DDB5-51D4-1DA7441D291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>
                <a:solidFill>
                  <a:schemeClr val="bg1"/>
                </a:solidFill>
              </a:rPr>
              <a:t>Off-Centre Impact</a:t>
            </a:r>
            <a:endParaRPr lang="ro-RO" dirty="0">
              <a:solidFill>
                <a:schemeClr val="bg1"/>
              </a:solidFill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451CF24-114D-6B36-8655-64626269F45B}"/>
              </a:ext>
            </a:extLst>
          </p:cNvPr>
          <p:cNvPicPr>
            <a:picLocks noChangeAspect="1"/>
          </p:cNvPicPr>
          <p:nvPr/>
        </p:nvPicPr>
        <p:blipFill>
          <a:blip r:embed="rId2">
            <a:clrChange>
              <a:clrFrom>
                <a:srgbClr val="000000"/>
              </a:clrFrom>
              <a:clrTo>
                <a:srgbClr val="000000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432471" y="6323329"/>
            <a:ext cx="1492133" cy="496892"/>
          </a:xfrm>
          <a:prstGeom prst="rect">
            <a:avLst/>
          </a:prstGeom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08DDD7C5-D3F8-C792-B8B4-1E1F549C3C26}"/>
                  </a:ext>
                </a:extLst>
              </p:cNvPr>
              <p:cNvSpPr txBox="1"/>
              <p:nvPr/>
            </p:nvSpPr>
            <p:spPr>
              <a:xfrm>
                <a:off x="890196" y="1392134"/>
                <a:ext cx="4344276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sz="1600">
                          <a:latin typeface="Cambria Math" panose="02040503050406030204" pitchFamily="18" charset="0"/>
                        </a:rPr>
                        <m:t>T</m:t>
                      </m:r>
                      <m:r>
                        <m:rPr>
                          <m:sty m:val="p"/>
                        </m:rPr>
                        <a:rPr lang="en-US" sz="1600" b="0" i="0" smtClean="0">
                          <a:latin typeface="Cambria Math" panose="02040503050406030204" pitchFamily="18" charset="0"/>
                        </a:rPr>
                        <m:t>o</m:t>
                      </m:r>
                      <m:r>
                        <a:rPr lang="en-US" sz="1600" b="0" i="0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m:rPr>
                          <m:sty m:val="p"/>
                        </m:rPr>
                        <a:rPr lang="en-US" sz="1600" b="0" i="1" smtClean="0">
                          <a:latin typeface="Cambria Math" panose="02040503050406030204" pitchFamily="18" charset="0"/>
                        </a:rPr>
                        <m:t>find</m:t>
                      </m:r>
                      <m:r>
                        <a:rPr lang="en-US" sz="1600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m:rPr>
                          <m:sty m:val="p"/>
                        </m:rPr>
                        <a:rPr lang="en-US" sz="1600" b="0" i="1" smtClean="0">
                          <a:latin typeface="Cambria Math" panose="02040503050406030204" pitchFamily="18" charset="0"/>
                        </a:rPr>
                        <m:t>h</m:t>
                      </m:r>
                      <m:r>
                        <a:rPr lang="en-US" sz="1600" b="0" i="1" smtClean="0">
                          <a:latin typeface="Cambria Math" panose="02040503050406030204" pitchFamily="18" charset="0"/>
                        </a:rPr>
                        <m:t>=(</m:t>
                      </m:r>
                      <m:sSub>
                        <m:sSubPr>
                          <m:ctrlPr>
                            <a:rPr lang="en-US" sz="16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1600" b="0" i="1" smtClean="0">
                              <a:latin typeface="Cambria Math" panose="02040503050406030204" pitchFamily="18" charset="0"/>
                            </a:rPr>
                            <m:t>x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1600" b="0" i="1" smtClean="0">
                              <a:latin typeface="Cambria Math" panose="02040503050406030204" pitchFamily="18" charset="0"/>
                            </a:rPr>
                            <m:t>h</m:t>
                          </m:r>
                        </m:sub>
                      </m:sSub>
                      <m:r>
                        <a:rPr lang="en-US" sz="1600" b="0" i="1" smtClean="0">
                          <a:latin typeface="Cambria Math" panose="02040503050406030204" pitchFamily="18" charset="0"/>
                        </a:rPr>
                        <m:t>,0,</m:t>
                      </m:r>
                      <m:sSub>
                        <m:sSubPr>
                          <m:ctrlPr>
                            <a:rPr lang="en-US" sz="16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1600" b="0" i="1" smtClean="0">
                              <a:latin typeface="Cambria Math" panose="02040503050406030204" pitchFamily="18" charset="0"/>
                            </a:rPr>
                            <m:t>z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1600" b="0" i="1" smtClean="0">
                              <a:latin typeface="Cambria Math" panose="02040503050406030204" pitchFamily="18" charset="0"/>
                            </a:rPr>
                            <m:t>h</m:t>
                          </m:r>
                        </m:sub>
                      </m:sSub>
                      <m:r>
                        <a:rPr lang="en-US" sz="1600" b="0" i="1" smtClean="0">
                          <a:latin typeface="Cambria Math" panose="02040503050406030204" pitchFamily="18" charset="0"/>
                        </a:rPr>
                        <m:t>)</m:t>
                      </m:r>
                      <m:r>
                        <a:rPr lang="en-US" sz="1600" b="0" i="0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m:rPr>
                          <m:sty m:val="p"/>
                        </m:rPr>
                        <a:rPr lang="en-US" sz="1600" b="0" i="0" smtClean="0">
                          <a:latin typeface="Cambria Math" panose="02040503050406030204" pitchFamily="18" charset="0"/>
                        </a:rPr>
                        <m:t>we</m:t>
                      </m:r>
                      <m:r>
                        <a:rPr lang="en-US" sz="1600" b="0" i="0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m:rPr>
                          <m:sty m:val="p"/>
                        </m:rPr>
                        <a:rPr lang="en-US" sz="1600" b="0" i="0" smtClean="0">
                          <a:latin typeface="Cambria Math" panose="02040503050406030204" pitchFamily="18" charset="0"/>
                        </a:rPr>
                        <m:t>minimize</m:t>
                      </m:r>
                      <m:r>
                        <a:rPr lang="en-US" sz="1600" b="0" i="1" smtClean="0">
                          <a:latin typeface="Cambria Math" panose="02040503050406030204" pitchFamily="18" charset="0"/>
                        </a:rPr>
                        <m:t>  </m:t>
                      </m:r>
                      <m:r>
                        <a:rPr lang="en-US" sz="1600" i="1">
                          <a:latin typeface="Cambria Math" panose="02040503050406030204" pitchFamily="18" charset="0"/>
                        </a:rPr>
                        <m:t>𝒰</m:t>
                      </m:r>
                      <m:d>
                        <m:dPr>
                          <m:ctrlPr>
                            <a:rPr lang="en-US" sz="16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16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6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sz="1600" i="1">
                                  <a:latin typeface="Cambria Math" panose="02040503050406030204" pitchFamily="18" charset="0"/>
                                </a:rPr>
                                <m:t>h</m:t>
                              </m:r>
                            </m:sub>
                          </m:sSub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sz="16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600" i="1"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</m:e>
                            <m:sub>
                              <m:r>
                                <a:rPr lang="en-US" sz="1600" i="1">
                                  <a:latin typeface="Cambria Math" panose="02040503050406030204" pitchFamily="18" charset="0"/>
                                </a:rPr>
                                <m:t>h</m:t>
                              </m:r>
                            </m:sub>
                          </m:sSub>
                        </m:e>
                      </m:d>
                      <m:r>
                        <a:rPr lang="en-US" sz="1600" b="0" i="1" smtClean="0"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en-US" sz="1600" dirty="0"/>
              </a:p>
            </p:txBody>
          </p:sp>
        </mc:Choice>
        <mc:Fallback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08DDD7C5-D3F8-C792-B8B4-1E1F549C3C2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90196" y="1392134"/>
                <a:ext cx="4344276" cy="338554"/>
              </a:xfrm>
              <a:prstGeom prst="rect">
                <a:avLst/>
              </a:prstGeom>
              <a:blipFill>
                <a:blip r:embed="rId3"/>
                <a:stretch>
                  <a:fillRect b="-1785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B689B7F3-C23D-1373-F4B8-B2A7D6E3E130}"/>
                  </a:ext>
                </a:extLst>
              </p:cNvPr>
              <p:cNvSpPr txBox="1"/>
              <p:nvPr/>
            </p:nvSpPr>
            <p:spPr>
              <a:xfrm>
                <a:off x="1326412" y="1841447"/>
                <a:ext cx="2830919" cy="665823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𝒰</m:t>
                          </m:r>
                        </m:num>
                        <m:den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𝜕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h</m:t>
                              </m:r>
                            </m:sub>
                          </m:sSub>
                        </m:den>
                      </m:f>
                      <m:r>
                        <a:rPr lang="en-US" i="1">
                          <a:latin typeface="Cambria Math" panose="02040503050406030204" pitchFamily="18" charset="0"/>
                        </a:rPr>
                        <m:t>=0 </m:t>
                      </m:r>
                      <m:r>
                        <m:rPr>
                          <m:nor/>
                        </m:rPr>
                        <a:rPr lang="en-US" b="0" i="0" smtClean="0">
                          <a:latin typeface="Cambria Math" panose="02040503050406030204" pitchFamily="18" charset="0"/>
                        </a:rPr>
                        <m:t>and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 </m:t>
                      </m:r>
                      <m:f>
                        <m:f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𝒰</m:t>
                          </m:r>
                        </m:num>
                        <m:den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𝜕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h</m:t>
                              </m:r>
                            </m:sub>
                          </m:sSub>
                        </m:den>
                      </m:f>
                      <m:r>
                        <a:rPr lang="en-US" i="1">
                          <a:latin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B689B7F3-C23D-1373-F4B8-B2A7D6E3E13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26412" y="1841447"/>
                <a:ext cx="2830919" cy="665823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EC5FC9E9-CAC9-5824-8AF0-369CC8CB478C}"/>
                  </a:ext>
                </a:extLst>
              </p:cNvPr>
              <p:cNvSpPr txBox="1"/>
              <p:nvPr/>
            </p:nvSpPr>
            <p:spPr>
              <a:xfrm>
                <a:off x="5617110" y="1392134"/>
                <a:ext cx="6307494" cy="120032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dirty="0">
                    <a:effectLst/>
                    <a:latin typeface="Google Sans Text"/>
                  </a:rPr>
                  <a:t>This cannot be solved analytically. We used the </a:t>
                </a:r>
                <a:r>
                  <a:rPr lang="en-US" dirty="0">
                    <a:solidFill>
                      <a:schemeClr val="accent1"/>
                    </a:solidFill>
                    <a:effectLst/>
                    <a:latin typeface="Google Sans Text"/>
                  </a:rPr>
                  <a:t>Nelder–Mead method</a:t>
                </a:r>
                <a:r>
                  <a:rPr lang="en-US" dirty="0">
                    <a:effectLst/>
                    <a:latin typeface="Google Sans Text"/>
                  </a:rPr>
                  <a:t> (the simplex algorithm) to directly find the coordinates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i="1" smtClean="0">
                            <a:effectLst/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 smtClean="0">
                                <a:effectLst/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b="0" i="1" smtClean="0">
                                <a:effectLst/>
                                <a:latin typeface="Cambria Math" panose="02040503050406030204" pitchFamily="18" charset="0"/>
                              </a:rPr>
                              <m:t>x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b="0" i="1" smtClean="0">
                                <a:effectLst/>
                                <a:latin typeface="Cambria Math" panose="02040503050406030204" pitchFamily="18" charset="0"/>
                              </a:rPr>
                              <m:t>h</m:t>
                            </m:r>
                          </m:sub>
                        </m:sSub>
                        <m:r>
                          <a:rPr lang="en-US" b="0" i="1" smtClean="0">
                            <a:effectLst/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b="0" i="1" smtClean="0">
                                <a:effectLst/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b="0" i="1" smtClean="0">
                                <a:effectLst/>
                                <a:latin typeface="Cambria Math" panose="02040503050406030204" pitchFamily="18" charset="0"/>
                              </a:rPr>
                              <m:t>z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b="0" i="1" smtClean="0">
                                <a:effectLst/>
                                <a:latin typeface="Cambria Math" panose="02040503050406030204" pitchFamily="18" charset="0"/>
                              </a:rPr>
                              <m:t>h</m:t>
                            </m:r>
                          </m:sub>
                        </m:sSub>
                      </m:e>
                    </m:d>
                  </m:oMath>
                </a14:m>
                <a:r>
                  <a:rPr lang="en-US" dirty="0">
                    <a:effectLst/>
                    <a:latin typeface="Google Sans Text"/>
                  </a:rPr>
                  <a:t> that minimize the function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𝒰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h</m:t>
                            </m:r>
                          </m:sub>
                        </m:sSub>
                        <m:r>
                          <a:rPr lang="en-US" i="1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𝑧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h</m:t>
                            </m:r>
                          </m:sub>
                        </m:sSub>
                      </m:e>
                    </m:d>
                    <m:r>
                      <a:rPr lang="en-US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dirty="0">
                    <a:effectLst/>
                    <a:latin typeface="Google Sans Text"/>
                  </a:rPr>
                  <a:t> without computing the Hessian matrix.</a:t>
                </a:r>
                <a:endParaRPr lang="en-US" dirty="0"/>
              </a:p>
            </p:txBody>
          </p:sp>
        </mc:Choice>
        <mc:Fallback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EC5FC9E9-CAC9-5824-8AF0-369CC8CB478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17110" y="1392134"/>
                <a:ext cx="6307494" cy="1200329"/>
              </a:xfrm>
              <a:prstGeom prst="rect">
                <a:avLst/>
              </a:prstGeom>
              <a:blipFill>
                <a:blip r:embed="rId5"/>
                <a:stretch>
                  <a:fillRect l="-805" t="-2083" r="-1207" b="-729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8BA159A5-BFA0-9DC7-61AD-8A2F79124D95}"/>
                  </a:ext>
                </a:extLst>
              </p:cNvPr>
              <p:cNvSpPr txBox="1"/>
              <p:nvPr/>
            </p:nvSpPr>
            <p:spPr>
              <a:xfrm>
                <a:off x="890196" y="3435710"/>
                <a:ext cx="5620000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b="0" i="1" smtClean="0">
                          <a:latin typeface="Cambria Math" panose="02040503050406030204" pitchFamily="18" charset="0"/>
                        </a:rPr>
                        <m:t>For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m:rPr>
                          <m:sty m:val="p"/>
                        </m:rPr>
                        <a:rPr lang="en-US" b="0" i="1" smtClean="0">
                          <a:latin typeface="Cambria Math" panose="02040503050406030204" pitchFamily="18" charset="0"/>
                        </a:rPr>
                        <m:t>the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m:rPr>
                          <m:sty m:val="p"/>
                        </m:rPr>
                        <a:rPr lang="en-US" b="0" i="1" smtClean="0">
                          <a:latin typeface="Cambria Math" panose="02040503050406030204" pitchFamily="18" charset="0"/>
                        </a:rPr>
                        <m:t>inner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m:rPr>
                          <m:sty m:val="p"/>
                        </m:rPr>
                        <a:rPr lang="en-US" b="0" i="1" smtClean="0">
                          <a:latin typeface="Cambria Math" panose="02040503050406030204" pitchFamily="18" charset="0"/>
                        </a:rPr>
                        <m:t>segment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, </m:t>
                      </m:r>
                      <m:r>
                        <m:rPr>
                          <m:sty m:val="p"/>
                        </m:rPr>
                        <a:rPr lang="en-US" b="0" i="1" smtClean="0">
                          <a:latin typeface="Cambria Math" panose="02040503050406030204" pitchFamily="18" charset="0"/>
                        </a:rPr>
                        <m:t>the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m:rPr>
                          <m:sty m:val="p"/>
                        </m:rPr>
                        <a:rPr lang="en-US" b="0" i="1" smtClean="0">
                          <a:latin typeface="Cambria Math" panose="02040503050406030204" pitchFamily="18" charset="0"/>
                        </a:rPr>
                        <m:t>NM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m:rPr>
                          <m:sty m:val="p"/>
                        </m:rPr>
                        <a:rPr lang="en-US" b="0" i="1" smtClean="0">
                          <a:latin typeface="Cambria Math" panose="02040503050406030204" pitchFamily="18" charset="0"/>
                        </a:rPr>
                        <m:t>method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m:rPr>
                          <m:sty m:val="p"/>
                        </m:rPr>
                        <a:rPr lang="en-US" b="0" i="1" smtClean="0">
                          <a:latin typeface="Cambria Math" panose="02040503050406030204" pitchFamily="18" charset="0"/>
                        </a:rPr>
                        <m:t>gives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 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𝜖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i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≈0.22 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𝜖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b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8BA159A5-BFA0-9DC7-61AD-8A2F79124D9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90196" y="3435710"/>
                <a:ext cx="5620000" cy="276999"/>
              </a:xfrm>
              <a:prstGeom prst="rect">
                <a:avLst/>
              </a:prstGeom>
              <a:blipFill>
                <a:blip r:embed="rId6"/>
                <a:stretch>
                  <a:fillRect l="-451" t="-4348" b="-3913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ED3E4106-AE27-B527-84AF-2ABCFE402022}"/>
                  </a:ext>
                </a:extLst>
              </p:cNvPr>
              <p:cNvSpPr txBox="1"/>
              <p:nvPr/>
            </p:nvSpPr>
            <p:spPr>
              <a:xfrm>
                <a:off x="847664" y="3935293"/>
                <a:ext cx="6968125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b="0" i="1" smtClean="0">
                          <a:latin typeface="Cambria Math" panose="02040503050406030204" pitchFamily="18" charset="0"/>
                        </a:rPr>
                        <m:t>For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m:rPr>
                          <m:sty m:val="p"/>
                        </m:rPr>
                        <a:rPr lang="en-US" b="0" i="1" smtClean="0">
                          <a:latin typeface="Cambria Math" panose="02040503050406030204" pitchFamily="18" charset="0"/>
                        </a:rPr>
                        <m:t>the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m:rPr>
                          <m:sty m:val="p"/>
                        </m:rPr>
                        <a:rPr lang="en-US" b="0" i="1" smtClean="0">
                          <a:latin typeface="Cambria Math" panose="02040503050406030204" pitchFamily="18" charset="0"/>
                        </a:rPr>
                        <m:t>untouched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m:rPr>
                          <m:sty m:val="p"/>
                        </m:rPr>
                        <a:rPr lang="en-US" b="0" i="1" smtClean="0">
                          <a:latin typeface="Cambria Math" panose="02040503050406030204" pitchFamily="18" charset="0"/>
                        </a:rPr>
                        <m:t>radial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m:rPr>
                          <m:sty m:val="p"/>
                        </m:rPr>
                        <a:rPr lang="en-US" b="0" i="1" smtClean="0">
                          <a:latin typeface="Cambria Math" panose="02040503050406030204" pitchFamily="18" charset="0"/>
                        </a:rPr>
                        <m:t>segments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, </m:t>
                      </m:r>
                      <m:r>
                        <m:rPr>
                          <m:sty m:val="p"/>
                        </m:rPr>
                        <a:rPr lang="en-US" b="0" i="1" smtClean="0">
                          <a:latin typeface="Cambria Math" panose="02040503050406030204" pitchFamily="18" charset="0"/>
                        </a:rPr>
                        <m:t>the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m:rPr>
                          <m:sty m:val="p"/>
                        </m:rPr>
                        <a:rPr lang="en-US" b="0" i="1" smtClean="0">
                          <a:latin typeface="Cambria Math" panose="02040503050406030204" pitchFamily="18" charset="0"/>
                        </a:rPr>
                        <m:t>NM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m:rPr>
                          <m:sty m:val="p"/>
                        </m:rPr>
                        <a:rPr lang="en-US" b="0" i="1" smtClean="0">
                          <a:latin typeface="Cambria Math" panose="02040503050406030204" pitchFamily="18" charset="0"/>
                        </a:rPr>
                        <m:t>method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m:rPr>
                          <m:sty m:val="p"/>
                        </m:rPr>
                        <a:rPr lang="en-US" b="0" i="1" smtClean="0">
                          <a:latin typeface="Cambria Math" panose="02040503050406030204" pitchFamily="18" charset="0"/>
                        </a:rPr>
                        <m:t>gives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  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𝜖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i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≤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0.11 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𝜖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b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ED3E4106-AE27-B527-84AF-2ABCFE40202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47664" y="3935293"/>
                <a:ext cx="6968125" cy="276999"/>
              </a:xfrm>
              <a:prstGeom prst="rect">
                <a:avLst/>
              </a:prstGeom>
              <a:blipFill>
                <a:blip r:embed="rId7"/>
                <a:stretch>
                  <a:fillRect t="-4545" b="-4545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5779E43F-F292-087D-C26F-5872B399FD59}"/>
                  </a:ext>
                </a:extLst>
              </p:cNvPr>
              <p:cNvSpPr txBox="1"/>
              <p:nvPr/>
            </p:nvSpPr>
            <p:spPr>
              <a:xfrm>
                <a:off x="890196" y="4627729"/>
                <a:ext cx="3095271" cy="582275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𝜂</m:t>
                      </m:r>
                      <m:r>
                        <a:rPr lang="en-US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en-US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U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net</m:t>
                              </m:r>
                            </m:sub>
                          </m:sSub>
                        </m:num>
                        <m:den>
                          <m:sSub>
                            <m:sSubPr>
                              <m:ctrlPr>
                                <a:rPr lang="en-US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m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net</m:t>
                              </m:r>
                            </m:sub>
                          </m:sSub>
                          <m:r>
                            <a:rPr lang="en-US" i="1" smtClean="0">
                              <a:latin typeface="Cambria Math" panose="02040503050406030204" pitchFamily="18" charset="0"/>
                            </a:rPr>
                            <m:t>⋅</m:t>
                          </m:r>
                          <m:sSub>
                            <m:sSubPr>
                              <m:ctrlPr>
                                <a:rPr lang="en-US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mat</m:t>
                              </m:r>
                            </m:sub>
                          </m:sSub>
                        </m:den>
                      </m:f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nary>
                            <m:naryPr>
                              <m:chr m:val="∑"/>
                              <m:limLoc m:val="subSup"/>
                              <m:supHide m:val="on"/>
                              <m:ctrlPr>
                                <a:rPr lang="en-US" i="1" smtClean="0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m:rPr>
                                  <m:sty m:val="p"/>
                                  <m:brk m:alnAt="9"/>
                                </m:r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threads</m:t>
                              </m:r>
                            </m:sub>
                            <m:sup/>
                            <m:e>
                              <m:sSub>
                                <m:sSubPr>
                                  <m:ctrlPr>
                                    <a:rPr lang="en-US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U</m:t>
                                  </m:r>
                                </m:e>
                                <m:sub>
                                  <m:r>
                                    <m:rPr>
                                      <m:sty m:val="p"/>
                                    </m:r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thr</m:t>
                                  </m:r>
                                </m:sub>
                              </m:sSub>
                            </m:e>
                          </m:nary>
                        </m:num>
                        <m:den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V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tot</m:t>
                              </m:r>
                            </m:sub>
                          </m:s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⋅</m:t>
                          </m:r>
                          <m:r>
                            <a:rPr lang="en-US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𝜙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</m:t>
                          </m:r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𝜖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b</m:t>
                              </m:r>
                            </m:sub>
                          </m:sSub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</m:t>
                          </m:r>
                        </m:den>
                      </m:f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5779E43F-F292-087D-C26F-5872B399FD5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90196" y="4627729"/>
                <a:ext cx="3095271" cy="582275"/>
              </a:xfrm>
              <a:prstGeom prst="rect">
                <a:avLst/>
              </a:prstGeom>
              <a:blipFill>
                <a:blip r:embed="rId8"/>
                <a:stretch>
                  <a:fillRect l="-1230" t="-80851" b="-6170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CD9AC354-C7D6-A250-B60E-3DAE39F3398B}"/>
                  </a:ext>
                </a:extLst>
              </p:cNvPr>
              <p:cNvSpPr txBox="1"/>
              <p:nvPr/>
            </p:nvSpPr>
            <p:spPr>
              <a:xfrm>
                <a:off x="957062" y="5573650"/>
                <a:ext cx="1332031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𝜂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Lo</m:t>
                          </m:r>
                        </m:sub>
                      </m:sSub>
                      <m:r>
                        <a:rPr lang="en-US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≈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6.25%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CD9AC354-C7D6-A250-B60E-3DAE39F3398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57062" y="5573650"/>
                <a:ext cx="1332031" cy="276999"/>
              </a:xfrm>
              <a:prstGeom prst="rect">
                <a:avLst/>
              </a:prstGeom>
              <a:blipFill>
                <a:blip r:embed="rId9"/>
                <a:stretch>
                  <a:fillRect l="-3774" r="-3774" b="-3043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52D19B26-A04A-250F-AEE9-BF414EA9BA3F}"/>
                  </a:ext>
                </a:extLst>
              </p:cNvPr>
              <p:cNvSpPr txBox="1"/>
              <p:nvPr/>
            </p:nvSpPr>
            <p:spPr>
              <a:xfrm>
                <a:off x="5109645" y="5055539"/>
                <a:ext cx="1267911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𝜂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net</m:t>
                          </m:r>
                        </m:sub>
                      </m:sSub>
                      <m:r>
                        <a:rPr lang="en-US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≈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6.8%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52D19B26-A04A-250F-AEE9-BF414EA9BA3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09645" y="5055539"/>
                <a:ext cx="1267911" cy="276999"/>
              </a:xfrm>
              <a:prstGeom prst="rect">
                <a:avLst/>
              </a:prstGeom>
              <a:blipFill>
                <a:blip r:embed="rId10"/>
                <a:stretch>
                  <a:fillRect l="-3960" r="-2970" b="-25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6" name="Right Brace 15">
            <a:extLst>
              <a:ext uri="{FF2B5EF4-FFF2-40B4-BE49-F238E27FC236}">
                <a16:creationId xmlns:a16="http://schemas.microsoft.com/office/drawing/2014/main" id="{0D339EB4-E29B-4ECE-DA9B-02CF10A6B077}"/>
              </a:ext>
            </a:extLst>
          </p:cNvPr>
          <p:cNvSpPr/>
          <p:nvPr/>
        </p:nvSpPr>
        <p:spPr>
          <a:xfrm>
            <a:off x="4331726" y="4627729"/>
            <a:ext cx="431660" cy="1222920"/>
          </a:xfrm>
          <a:prstGeom prst="rightBrac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8" name="Group 17">
            <a:extLst>
              <a:ext uri="{FF2B5EF4-FFF2-40B4-BE49-F238E27FC236}">
                <a16:creationId xmlns:a16="http://schemas.microsoft.com/office/drawing/2014/main" id="{31EA1DFD-D02A-04F2-D60B-4AA88BD36BB2}"/>
              </a:ext>
            </a:extLst>
          </p:cNvPr>
          <p:cNvGrpSpPr/>
          <p:nvPr/>
        </p:nvGrpSpPr>
        <p:grpSpPr>
          <a:xfrm>
            <a:off x="8314660" y="2995412"/>
            <a:ext cx="3708991" cy="1632317"/>
            <a:chOff x="5869763" y="4182050"/>
            <a:chExt cx="4165600" cy="1956344"/>
          </a:xfrm>
        </p:grpSpPr>
        <p:pic>
          <p:nvPicPr>
            <p:cNvPr id="21" name="Picture 20">
              <a:extLst>
                <a:ext uri="{FF2B5EF4-FFF2-40B4-BE49-F238E27FC236}">
                  <a16:creationId xmlns:a16="http://schemas.microsoft.com/office/drawing/2014/main" id="{65991E47-C51F-EE7A-4056-D47689B7A5E6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/>
            <a:stretch>
              <a:fillRect/>
            </a:stretch>
          </p:blipFill>
          <p:spPr>
            <a:xfrm>
              <a:off x="5869763" y="4182050"/>
              <a:ext cx="4165600" cy="1956344"/>
            </a:xfrm>
            <a:prstGeom prst="rect">
              <a:avLst/>
            </a:prstGeom>
          </p:spPr>
        </p:pic>
        <p:sp>
          <p:nvSpPr>
            <p:cNvPr id="23" name="Rectangle 22">
              <a:extLst>
                <a:ext uri="{FF2B5EF4-FFF2-40B4-BE49-F238E27FC236}">
                  <a16:creationId xmlns:a16="http://schemas.microsoft.com/office/drawing/2014/main" id="{C69102CD-A1C9-48EF-2935-C052B03F9ED8}"/>
                </a:ext>
              </a:extLst>
            </p:cNvPr>
            <p:cNvSpPr/>
            <p:nvPr/>
          </p:nvSpPr>
          <p:spPr>
            <a:xfrm>
              <a:off x="7315200" y="4497572"/>
              <a:ext cx="445747" cy="1640822"/>
            </a:xfrm>
            <a:prstGeom prst="rect">
              <a:avLst/>
            </a:prstGeom>
            <a:solidFill>
              <a:schemeClr val="bg1">
                <a:lumMod val="75000"/>
                <a:alpha val="12702"/>
              </a:schemeClr>
            </a:solidFill>
            <a:ln>
              <a:solidFill>
                <a:schemeClr val="dk1">
                  <a:shade val="95000"/>
                  <a:satMod val="105000"/>
                </a:schemeClr>
              </a:solidFill>
            </a:ln>
          </p:spPr>
          <p:style>
            <a:lnRef idx="1">
              <a:schemeClr val="dk1"/>
            </a:lnRef>
            <a:fillRef idx="2">
              <a:schemeClr val="dk1"/>
            </a:fillRef>
            <a:effectRef idx="1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5" name="Rectangle 24">
              <a:extLst>
                <a:ext uri="{FF2B5EF4-FFF2-40B4-BE49-F238E27FC236}">
                  <a16:creationId xmlns:a16="http://schemas.microsoft.com/office/drawing/2014/main" id="{71E3B343-A288-89B2-B2CA-219C9F2023EE}"/>
                </a:ext>
              </a:extLst>
            </p:cNvPr>
            <p:cNvSpPr/>
            <p:nvPr/>
          </p:nvSpPr>
          <p:spPr>
            <a:xfrm>
              <a:off x="9097021" y="4497572"/>
              <a:ext cx="445747" cy="1640822"/>
            </a:xfrm>
            <a:prstGeom prst="rect">
              <a:avLst/>
            </a:prstGeom>
            <a:solidFill>
              <a:schemeClr val="bg1">
                <a:lumMod val="75000"/>
                <a:alpha val="12702"/>
              </a:schemeClr>
            </a:solidFill>
            <a:ln>
              <a:solidFill>
                <a:schemeClr val="dk1">
                  <a:shade val="95000"/>
                  <a:satMod val="105000"/>
                </a:schemeClr>
              </a:solidFill>
            </a:ln>
          </p:spPr>
          <p:style>
            <a:lnRef idx="1">
              <a:schemeClr val="dk1"/>
            </a:lnRef>
            <a:fillRef idx="2">
              <a:schemeClr val="dk1"/>
            </a:fillRef>
            <a:effectRef idx="1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mc:AlternateContent xmlns:mc="http://schemas.openxmlformats.org/markup-compatibility/2006">
        <mc:Choice xmlns:a14="http://schemas.microsoft.com/office/drawing/2010/main" Requires="a14"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BF156196-5067-269D-3808-B0720F1A8B8A}"/>
                  </a:ext>
                </a:extLst>
              </p:cNvPr>
              <p:cNvSpPr txBox="1"/>
              <p:nvPr/>
            </p:nvSpPr>
            <p:spPr>
              <a:xfrm>
                <a:off x="5234472" y="5555122"/>
                <a:ext cx="3359459" cy="52322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1400" dirty="0">
                    <a:solidFill>
                      <a:schemeClr val="accent1"/>
                    </a:solidFill>
                  </a:rPr>
                  <a:t>Remember that hub-center impact was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400" i="1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i="1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𝜂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sz="1400" i="1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net</m:t>
                        </m:r>
                      </m:sub>
                    </m:sSub>
                    <m:r>
                      <a:rPr lang="en-US" sz="1400" i="1">
                        <a:solidFill>
                          <a:schemeClr val="accent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≈</m:t>
                    </m:r>
                    <m:r>
                      <a:rPr lang="en-US" sz="1400" b="0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99</m:t>
                    </m:r>
                    <m:r>
                      <a:rPr lang="en-US" sz="1400" i="1">
                        <a:solidFill>
                          <a:schemeClr val="accent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.</m:t>
                    </m:r>
                    <m:r>
                      <a:rPr lang="en-US" sz="1400" b="0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3</m:t>
                    </m:r>
                    <m:r>
                      <a:rPr lang="en-US" sz="1400" i="1">
                        <a:solidFill>
                          <a:schemeClr val="accent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%</m:t>
                    </m:r>
                  </m:oMath>
                </a14:m>
                <a:endParaRPr lang="en-US" sz="1400" dirty="0">
                  <a:solidFill>
                    <a:schemeClr val="accent1"/>
                  </a:solidFill>
                </a:endParaRPr>
              </a:p>
            </p:txBody>
          </p:sp>
        </mc:Choice>
        <mc:Fallback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BF156196-5067-269D-3808-B0720F1A8B8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34472" y="5555122"/>
                <a:ext cx="3359459" cy="523220"/>
              </a:xfrm>
              <a:prstGeom prst="rect">
                <a:avLst/>
              </a:prstGeom>
              <a:blipFill>
                <a:blip r:embed="rId12"/>
                <a:stretch>
                  <a:fillRect t="-2381" r="-377" b="-238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31584782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5" grpId="0"/>
      <p:bldP spid="16" grpId="0" animBg="1"/>
      <p:bldP spid="29" grpId="0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A8BBDD-1144-7594-7DB0-86DDC755FA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3C98AA7A-5513-D4D9-89BD-C72CD7B6E1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>
                <a:solidFill>
                  <a:schemeClr val="bg1"/>
                </a:solidFill>
              </a:rPr>
              <a:t>Off-Centre Impact – Thread Failure </a:t>
            </a:r>
            <a:endParaRPr lang="ro-RO" dirty="0">
              <a:solidFill>
                <a:schemeClr val="bg1"/>
              </a:solidFill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7CA049E-F40C-C204-D85C-1D2212E5E0AB}"/>
              </a:ext>
            </a:extLst>
          </p:cNvPr>
          <p:cNvPicPr>
            <a:picLocks noChangeAspect="1"/>
          </p:cNvPicPr>
          <p:nvPr/>
        </p:nvPicPr>
        <p:blipFill>
          <a:blip r:embed="rId2">
            <a:clrChange>
              <a:clrFrom>
                <a:srgbClr val="000000"/>
              </a:clrFrom>
              <a:clrTo>
                <a:srgbClr val="000000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432471" y="6323329"/>
            <a:ext cx="1492133" cy="496892"/>
          </a:xfrm>
          <a:prstGeom prst="rect">
            <a:avLst/>
          </a:prstGeom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CBBE7E6E-A290-1872-B3EE-816A611309CF}"/>
                  </a:ext>
                </a:extLst>
              </p:cNvPr>
              <p:cNvSpPr txBox="1"/>
              <p:nvPr/>
            </p:nvSpPr>
            <p:spPr>
              <a:xfrm>
                <a:off x="1304281" y="1489548"/>
                <a:ext cx="3047114" cy="66082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𝜂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𝐵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𝑊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sub>
                          </m:sSub>
                        </m:num>
                        <m:den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</m:e>
                            <m:sub>
                              <m:r>
                                <m:rPr>
                                  <m:nor/>
                                </m:rPr>
                                <a:rPr lang="en-US" i="0">
                                  <a:latin typeface="Cambria Math" panose="02040503050406030204" pitchFamily="18" charset="0"/>
                                </a:rPr>
                                <m:t>net</m:t>
                              </m:r>
                            </m:sub>
                          </m:sSub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  <m:sub>
                              <m:r>
                                <m:rPr>
                                  <m:nor/>
                                </m:rPr>
                                <a:rPr lang="en-US" i="0">
                                  <a:latin typeface="Cambria Math" panose="02040503050406030204" pitchFamily="18" charset="0"/>
                                </a:rPr>
                                <m:t>mat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CBBE7E6E-A290-1872-B3EE-816A611309C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04281" y="1489548"/>
                <a:ext cx="3047114" cy="660822"/>
              </a:xfrm>
              <a:prstGeom prst="rect">
                <a:avLst/>
              </a:prstGeom>
              <a:blipFill>
                <a:blip r:embed="rId3"/>
                <a:stretch>
                  <a:fillRect b="-188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FCE5EFDB-D906-C77D-2C5E-EE34A937A0E5}"/>
                  </a:ext>
                </a:extLst>
              </p:cNvPr>
              <p:cNvSpPr txBox="1"/>
              <p:nvPr/>
            </p:nvSpPr>
            <p:spPr>
              <a:xfrm>
                <a:off x="4986309" y="1635293"/>
                <a:ext cx="6097772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𝑊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𝐵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𝒰</m:t>
                      </m:r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e>
                      </m:d>
                      <m:r>
                        <a:rPr lang="en-US" i="1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𝒰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rem</m:t>
                          </m:r>
                        </m:sub>
                      </m:sSub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e>
                      </m:d>
                      <m:r>
                        <a:rPr lang="en-US" i="1">
                          <a:latin typeface="Cambria Math" panose="02040503050406030204" pitchFamily="18" charset="0"/>
                        </a:rPr>
                        <m:t>−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𝒰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rem</m:t>
                          </m:r>
                        </m:sub>
                      </m:sSub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FCE5EFDB-D906-C77D-2C5E-EE34A937A0E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986309" y="1635293"/>
                <a:ext cx="6097772" cy="369332"/>
              </a:xfrm>
              <a:prstGeom prst="rect">
                <a:avLst/>
              </a:prstGeom>
              <a:blipFill>
                <a:blip r:embed="rId4"/>
                <a:stretch>
                  <a:fillRect b="-3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53" name="Group 52">
            <a:extLst>
              <a:ext uri="{FF2B5EF4-FFF2-40B4-BE49-F238E27FC236}">
                <a16:creationId xmlns:a16="http://schemas.microsoft.com/office/drawing/2014/main" id="{FBFFB919-47AE-9E4C-48F1-2AD647BEF46F}"/>
              </a:ext>
            </a:extLst>
          </p:cNvPr>
          <p:cNvGrpSpPr/>
          <p:nvPr/>
        </p:nvGrpSpPr>
        <p:grpSpPr>
          <a:xfrm>
            <a:off x="592146" y="3357642"/>
            <a:ext cx="3606849" cy="1226194"/>
            <a:chOff x="592146" y="3357642"/>
            <a:chExt cx="3606849" cy="1226194"/>
          </a:xfrm>
        </p:grpSpPr>
        <p:sp>
          <p:nvSpPr>
            <p:cNvPr id="21" name="Rounded Rectangle 20">
              <a:extLst>
                <a:ext uri="{FF2B5EF4-FFF2-40B4-BE49-F238E27FC236}">
                  <a16:creationId xmlns:a16="http://schemas.microsoft.com/office/drawing/2014/main" id="{C59B37B7-9299-EEC7-D0AE-38E233AD1853}"/>
                </a:ext>
              </a:extLst>
            </p:cNvPr>
            <p:cNvSpPr/>
            <p:nvPr/>
          </p:nvSpPr>
          <p:spPr>
            <a:xfrm>
              <a:off x="592146" y="3357642"/>
              <a:ext cx="3606849" cy="1226194"/>
            </a:xfrm>
            <a:prstGeom prst="roundRect">
              <a:avLst>
                <a:gd name="adj" fmla="val 9321"/>
              </a:avLst>
            </a:prstGeom>
            <a:solidFill>
              <a:srgbClr val="FFFFFF"/>
            </a:solidFill>
            <a:ln w="9525">
              <a:solidFill>
                <a:srgbClr val="E2E8F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27" name="Rounded Rectangle 26">
              <a:extLst>
                <a:ext uri="{FF2B5EF4-FFF2-40B4-BE49-F238E27FC236}">
                  <a16:creationId xmlns:a16="http://schemas.microsoft.com/office/drawing/2014/main" id="{443F3876-B87D-5BFD-AA87-9D458E774AE1}"/>
                </a:ext>
              </a:extLst>
            </p:cNvPr>
            <p:cNvSpPr/>
            <p:nvPr/>
          </p:nvSpPr>
          <p:spPr>
            <a:xfrm>
              <a:off x="2989320" y="3579545"/>
              <a:ext cx="990600" cy="209550"/>
            </a:xfrm>
            <a:prstGeom prst="roundRect">
              <a:avLst>
                <a:gd name="adj" fmla="val 18181"/>
              </a:avLst>
            </a:prstGeom>
            <a:solidFill>
              <a:srgbClr val="EFF6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33" name="TextBox 32">
                  <a:extLst>
                    <a:ext uri="{FF2B5EF4-FFF2-40B4-BE49-F238E27FC236}">
                      <a16:creationId xmlns:a16="http://schemas.microsoft.com/office/drawing/2014/main" id="{1436D178-9097-F888-A5C5-7B9946EC815B}"/>
                    </a:ext>
                  </a:extLst>
                </p:cNvPr>
                <p:cNvSpPr txBox="1"/>
                <p:nvPr/>
              </p:nvSpPr>
              <p:spPr>
                <a:xfrm>
                  <a:off x="811221" y="3887173"/>
                  <a:ext cx="3263949" cy="449418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anchor="t">
                  <a:spAutoFit/>
                </a:bodyPr>
                <a:lstStyle/>
                <a:p>
                  <a:pPr>
                    <a:lnSpc>
                      <a:spcPts val="1822"/>
                    </a:lnSpc>
                  </a:pPr>
                  <a:r>
                    <a:rPr sz="1350" b="0" i="0" u="none" dirty="0">
                      <a:solidFill>
                        <a:srgbClr val="334155"/>
                      </a:solidFill>
                      <a:latin typeface="Inter"/>
                    </a:rPr>
                    <a:t>Minimize 𝒰(</a:t>
                  </a:r>
                  <a:r>
                    <a:rPr sz="1350" b="0" i="1" u="none" dirty="0">
                      <a:solidFill>
                        <a:srgbClr val="334155"/>
                      </a:solidFill>
                      <a:latin typeface="Inter"/>
                    </a:rPr>
                    <a:t>h</a:t>
                  </a:r>
                  <a:r>
                    <a:rPr sz="1350" b="0" i="0" u="none" dirty="0">
                      <a:solidFill>
                        <a:srgbClr val="334155"/>
                      </a:solidFill>
                      <a:latin typeface="Inter"/>
                    </a:rPr>
                    <a:t>; </a:t>
                  </a:r>
                  <a:r>
                    <a:rPr sz="1350" b="0" i="1" u="none" dirty="0">
                      <a:solidFill>
                        <a:srgbClr val="334155"/>
                      </a:solidFill>
                      <a:latin typeface="Inter"/>
                    </a:rPr>
                    <a:t>w</a:t>
                  </a:r>
                  <a:r>
                    <a:rPr sz="1350" b="0" i="0" u="none" dirty="0">
                      <a:solidFill>
                        <a:srgbClr val="334155"/>
                      </a:solidFill>
                      <a:latin typeface="Inter"/>
                    </a:rPr>
                    <a:t>) until outer strain reaches </a:t>
                  </a:r>
                  <a14:m>
                    <m:oMath xmlns:m="http://schemas.openxmlformats.org/officeDocument/2006/math">
                      <m:sSub>
                        <m:sSubPr>
                          <m:ctrlPr>
                            <a:rPr lang="en-US" sz="1350" i="1">
                              <a:solidFill>
                                <a:srgbClr val="334155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1350" i="1">
                              <a:solidFill>
                                <a:srgbClr val="334155"/>
                              </a:solidFill>
                              <a:latin typeface="Cambria Math" panose="02040503050406030204" pitchFamily="18" charset="0"/>
                            </a:rPr>
                            <m:t>ϵ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1350" b="0" i="1" smtClean="0">
                              <a:solidFill>
                                <a:srgbClr val="334155"/>
                              </a:solidFill>
                              <a:latin typeface="Cambria Math" panose="02040503050406030204" pitchFamily="18" charset="0"/>
                            </a:rPr>
                            <m:t>o</m:t>
                          </m:r>
                        </m:sub>
                      </m:sSub>
                      <m:r>
                        <a:rPr lang="en-US" sz="1350" i="1">
                          <a:solidFill>
                            <a:srgbClr val="334155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sz="1350" i="1">
                              <a:solidFill>
                                <a:srgbClr val="334155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1350" i="1">
                              <a:solidFill>
                                <a:srgbClr val="334155"/>
                              </a:solidFill>
                              <a:latin typeface="Cambria Math" panose="02040503050406030204" pitchFamily="18" charset="0"/>
                            </a:rPr>
                            <m:t>ϵ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1350" i="1">
                              <a:solidFill>
                                <a:srgbClr val="334155"/>
                              </a:solidFill>
                              <a:latin typeface="Cambria Math" panose="02040503050406030204" pitchFamily="18" charset="0"/>
                            </a:rPr>
                            <m:t>b</m:t>
                          </m:r>
                        </m:sub>
                      </m:sSub>
                      <m:r>
                        <a:rPr lang="en-US" sz="1350" i="1">
                          <a:solidFill>
                            <a:srgbClr val="334155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</m:oMath>
                  </a14:m>
                  <a:r>
                    <a:rPr sz="1350" b="0" i="0" u="none" dirty="0">
                      <a:solidFill>
                        <a:srgbClr val="334155"/>
                      </a:solidFill>
                      <a:latin typeface="Inter"/>
                    </a:rPr>
                    <a:t>; store 𝒰(</a:t>
                  </a:r>
                  <a:r>
                    <a:rPr sz="1350" b="0" i="1" u="none" dirty="0">
                      <a:solidFill>
                        <a:srgbClr val="334155"/>
                      </a:solidFill>
                      <a:latin typeface="Inter"/>
                    </a:rPr>
                    <a:t>w</a:t>
                  </a:r>
                  <a:r>
                    <a:rPr sz="1125" b="0" i="0" u="none" dirty="0">
                      <a:solidFill>
                        <a:srgbClr val="334155"/>
                      </a:solidFill>
                      <a:latin typeface="Inter"/>
                    </a:rPr>
                    <a:t>1</a:t>
                  </a:r>
                  <a:r>
                    <a:rPr sz="1350" b="0" i="0" u="none" dirty="0">
                      <a:solidFill>
                        <a:srgbClr val="334155"/>
                      </a:solidFill>
                      <a:latin typeface="Inter"/>
                    </a:rPr>
                    <a:t>).</a:t>
                  </a:r>
                </a:p>
              </p:txBody>
            </p:sp>
          </mc:Choice>
          <mc:Fallback>
            <p:sp>
              <p:nvSpPr>
                <p:cNvPr id="33" name="TextBox 32">
                  <a:extLst>
                    <a:ext uri="{FF2B5EF4-FFF2-40B4-BE49-F238E27FC236}">
                      <a16:creationId xmlns:a16="http://schemas.microsoft.com/office/drawing/2014/main" id="{1436D178-9097-F888-A5C5-7B9946EC815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11221" y="3887173"/>
                  <a:ext cx="3263949" cy="449418"/>
                </a:xfrm>
                <a:prstGeom prst="rect">
                  <a:avLst/>
                </a:prstGeom>
                <a:blipFill>
                  <a:blip r:embed="rId5"/>
                  <a:stretch>
                    <a:fillRect l="-3101" t="-11111" b="-250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39" name="TextBox 38">
              <a:extLst>
                <a:ext uri="{FF2B5EF4-FFF2-40B4-BE49-F238E27FC236}">
                  <a16:creationId xmlns:a16="http://schemas.microsoft.com/office/drawing/2014/main" id="{2396079E-A194-7E63-DF13-660A525D7994}"/>
                </a:ext>
              </a:extLst>
            </p:cNvPr>
            <p:cNvSpPr txBox="1"/>
            <p:nvPr/>
          </p:nvSpPr>
          <p:spPr>
            <a:xfrm>
              <a:off x="811221" y="3557667"/>
              <a:ext cx="2226468" cy="253305"/>
            </a:xfrm>
            <a:prstGeom prst="rect">
              <a:avLst/>
            </a:prstGeom>
            <a:noFill/>
          </p:spPr>
          <p:txBody>
            <a:bodyPr wrap="none" lIns="0" tIns="0" rIns="0" bIns="0" anchor="t">
              <a:spAutoFit/>
            </a:bodyPr>
            <a:lstStyle/>
            <a:p>
              <a:pPr algn="l"/>
              <a:r>
                <a:rPr sz="1350" b="1" i="0" u="none">
                  <a:solidFill>
                    <a:srgbClr val="0F172A"/>
                  </a:solidFill>
                  <a:latin typeface="Space Grotesk"/>
                </a:rPr>
                <a:t>01 · First Rupture (</a:t>
              </a:r>
              <a:r>
                <a:rPr sz="1350" b="1" i="1" u="none">
                  <a:solidFill>
                    <a:srgbClr val="0F172A"/>
                  </a:solidFill>
                  <a:latin typeface="Space Grotesk"/>
                </a:rPr>
                <a:t>w</a:t>
              </a:r>
              <a:r>
                <a:rPr sz="1125" b="1" i="0" u="none">
                  <a:solidFill>
                    <a:srgbClr val="0F172A"/>
                  </a:solidFill>
                  <a:latin typeface="Space Grotesk"/>
                </a:rPr>
                <a:t>1</a:t>
              </a:r>
              <a:r>
                <a:rPr sz="1350" b="1" i="0" u="none">
                  <a:solidFill>
                    <a:srgbClr val="0F172A"/>
                  </a:solidFill>
                  <a:latin typeface="Space Grotesk"/>
                </a:rPr>
                <a:t>)</a:t>
              </a:r>
            </a:p>
          </p:txBody>
        </p:sp>
        <p:sp>
          <p:nvSpPr>
            <p:cNvPr id="40" name="TextBox 39">
              <a:extLst>
                <a:ext uri="{FF2B5EF4-FFF2-40B4-BE49-F238E27FC236}">
                  <a16:creationId xmlns:a16="http://schemas.microsoft.com/office/drawing/2014/main" id="{1DA1166F-2E49-1FB3-57D0-C548C54783F8}"/>
                </a:ext>
              </a:extLst>
            </p:cNvPr>
            <p:cNvSpPr txBox="1"/>
            <p:nvPr/>
          </p:nvSpPr>
          <p:spPr>
            <a:xfrm>
              <a:off x="3065520" y="3598595"/>
              <a:ext cx="933450" cy="171450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algn="l"/>
              <a:r>
                <a:rPr sz="1050" b="1" i="0" u="none">
                  <a:solidFill>
                    <a:srgbClr val="2563EB"/>
                  </a:solidFill>
                  <a:latin typeface="JetBrains Mono"/>
                </a:rPr>
                <a:t>Nelder-Mead</a:t>
              </a:r>
            </a:p>
          </p:txBody>
        </p:sp>
      </p:grpSp>
      <p:grpSp>
        <p:nvGrpSpPr>
          <p:cNvPr id="54" name="Group 53">
            <a:extLst>
              <a:ext uri="{FF2B5EF4-FFF2-40B4-BE49-F238E27FC236}">
                <a16:creationId xmlns:a16="http://schemas.microsoft.com/office/drawing/2014/main" id="{DE6B3379-C4F5-BDB4-013C-50FADEA11F01}"/>
              </a:ext>
            </a:extLst>
          </p:cNvPr>
          <p:cNvGrpSpPr/>
          <p:nvPr/>
        </p:nvGrpSpPr>
        <p:grpSpPr>
          <a:xfrm>
            <a:off x="4351395" y="3357642"/>
            <a:ext cx="3606849" cy="1226194"/>
            <a:chOff x="4351395" y="3357642"/>
            <a:chExt cx="3606849" cy="1226194"/>
          </a:xfrm>
        </p:grpSpPr>
        <p:sp>
          <p:nvSpPr>
            <p:cNvPr id="22" name="Rounded Rectangle 21">
              <a:extLst>
                <a:ext uri="{FF2B5EF4-FFF2-40B4-BE49-F238E27FC236}">
                  <a16:creationId xmlns:a16="http://schemas.microsoft.com/office/drawing/2014/main" id="{2EB2D558-5943-6078-FE46-B5FD9A463137}"/>
                </a:ext>
              </a:extLst>
            </p:cNvPr>
            <p:cNvSpPr/>
            <p:nvPr/>
          </p:nvSpPr>
          <p:spPr>
            <a:xfrm>
              <a:off x="4351395" y="3357642"/>
              <a:ext cx="3606849" cy="1226194"/>
            </a:xfrm>
            <a:prstGeom prst="roundRect">
              <a:avLst>
                <a:gd name="adj" fmla="val 9321"/>
              </a:avLst>
            </a:prstGeom>
            <a:solidFill>
              <a:srgbClr val="FFFFFF"/>
            </a:solidFill>
            <a:ln w="9525">
              <a:solidFill>
                <a:srgbClr val="E2E8F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28" name="Rounded Rectangle 27">
              <a:extLst>
                <a:ext uri="{FF2B5EF4-FFF2-40B4-BE49-F238E27FC236}">
                  <a16:creationId xmlns:a16="http://schemas.microsoft.com/office/drawing/2014/main" id="{3C8D1777-F953-73EF-D40E-5A56B36783EF}"/>
                </a:ext>
              </a:extLst>
            </p:cNvPr>
            <p:cNvSpPr/>
            <p:nvPr/>
          </p:nvSpPr>
          <p:spPr>
            <a:xfrm>
              <a:off x="6672370" y="3562430"/>
              <a:ext cx="1066800" cy="209550"/>
            </a:xfrm>
            <a:prstGeom prst="roundRect">
              <a:avLst>
                <a:gd name="adj" fmla="val 18181"/>
              </a:avLst>
            </a:prstGeom>
            <a:solidFill>
              <a:srgbClr val="F1F5F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5C7CFB0B-FA47-D98A-DDB0-4EC7BECA1590}"/>
                </a:ext>
              </a:extLst>
            </p:cNvPr>
            <p:cNvSpPr txBox="1"/>
            <p:nvPr/>
          </p:nvSpPr>
          <p:spPr>
            <a:xfrm>
              <a:off x="4570470" y="3852942"/>
              <a:ext cx="3263949" cy="462855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algn="l">
                <a:lnSpc>
                  <a:spcPts val="1822"/>
                </a:lnSpc>
              </a:pPr>
              <a:r>
                <a:rPr sz="1350" b="0" i="0" u="none">
                  <a:solidFill>
                    <a:srgbClr val="334155"/>
                  </a:solidFill>
                  <a:latin typeface="Inter"/>
                </a:rPr>
                <a:t>Severed outer segment is removed from the network connectivity matrix.</a:t>
              </a:r>
            </a:p>
          </p:txBody>
        </p:sp>
        <p:sp>
          <p:nvSpPr>
            <p:cNvPr id="41" name="TextBox 40">
              <a:extLst>
                <a:ext uri="{FF2B5EF4-FFF2-40B4-BE49-F238E27FC236}">
                  <a16:creationId xmlns:a16="http://schemas.microsoft.com/office/drawing/2014/main" id="{84C65BC8-650E-6641-A2A0-49C0A35F4F7F}"/>
                </a:ext>
              </a:extLst>
            </p:cNvPr>
            <p:cNvSpPr txBox="1"/>
            <p:nvPr/>
          </p:nvSpPr>
          <p:spPr>
            <a:xfrm>
              <a:off x="4570470" y="3557667"/>
              <a:ext cx="2238375" cy="219075"/>
            </a:xfrm>
            <a:prstGeom prst="rect">
              <a:avLst/>
            </a:prstGeom>
            <a:noFill/>
          </p:spPr>
          <p:txBody>
            <a:bodyPr wrap="none" lIns="0" tIns="0" rIns="0" bIns="0" anchor="t">
              <a:spAutoFit/>
            </a:bodyPr>
            <a:lstStyle/>
            <a:p>
              <a:pPr algn="l"/>
              <a:r>
                <a:rPr sz="1350" b="1" i="0" u="none">
                  <a:solidFill>
                    <a:srgbClr val="0F172A"/>
                  </a:solidFill>
                  <a:latin typeface="Space Grotesk"/>
                </a:rPr>
                <a:t>02 · Topology Pruning</a:t>
              </a:r>
            </a:p>
          </p:txBody>
        </p:sp>
        <p:sp>
          <p:nvSpPr>
            <p:cNvPr id="42" name="TextBox 41">
              <a:extLst>
                <a:ext uri="{FF2B5EF4-FFF2-40B4-BE49-F238E27FC236}">
                  <a16:creationId xmlns:a16="http://schemas.microsoft.com/office/drawing/2014/main" id="{65D7DE0A-524F-E2A8-46EE-2F8026194292}"/>
                </a:ext>
              </a:extLst>
            </p:cNvPr>
            <p:cNvSpPr txBox="1"/>
            <p:nvPr/>
          </p:nvSpPr>
          <p:spPr>
            <a:xfrm>
              <a:off x="6748570" y="3581480"/>
              <a:ext cx="1009650" cy="171450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algn="l"/>
              <a:r>
                <a:rPr sz="1050" b="1" i="0" u="none">
                  <a:solidFill>
                    <a:srgbClr val="64748B"/>
                  </a:solidFill>
                  <a:latin typeface="JetBrains Mono"/>
                </a:rPr>
                <a:t>Graph Update</a:t>
              </a:r>
            </a:p>
          </p:txBody>
        </p:sp>
      </p:grpSp>
      <p:grpSp>
        <p:nvGrpSpPr>
          <p:cNvPr id="55" name="Group 54">
            <a:extLst>
              <a:ext uri="{FF2B5EF4-FFF2-40B4-BE49-F238E27FC236}">
                <a16:creationId xmlns:a16="http://schemas.microsoft.com/office/drawing/2014/main" id="{6DE18744-EC7C-2CE2-3A00-FEEB1912FF63}"/>
              </a:ext>
            </a:extLst>
          </p:cNvPr>
          <p:cNvGrpSpPr/>
          <p:nvPr/>
        </p:nvGrpSpPr>
        <p:grpSpPr>
          <a:xfrm>
            <a:off x="8110645" y="3357642"/>
            <a:ext cx="3606849" cy="1226194"/>
            <a:chOff x="8110645" y="3357642"/>
            <a:chExt cx="3606849" cy="1226194"/>
          </a:xfrm>
        </p:grpSpPr>
        <p:sp>
          <p:nvSpPr>
            <p:cNvPr id="23" name="Rounded Rectangle 22">
              <a:extLst>
                <a:ext uri="{FF2B5EF4-FFF2-40B4-BE49-F238E27FC236}">
                  <a16:creationId xmlns:a16="http://schemas.microsoft.com/office/drawing/2014/main" id="{539CC8D1-33FC-92FE-3887-00F3A91C60D5}"/>
                </a:ext>
              </a:extLst>
            </p:cNvPr>
            <p:cNvSpPr/>
            <p:nvPr/>
          </p:nvSpPr>
          <p:spPr>
            <a:xfrm>
              <a:off x="8110645" y="3357642"/>
              <a:ext cx="3606849" cy="1226194"/>
            </a:xfrm>
            <a:prstGeom prst="roundRect">
              <a:avLst>
                <a:gd name="adj" fmla="val 9321"/>
              </a:avLst>
            </a:prstGeom>
            <a:solidFill>
              <a:srgbClr val="FFFFFF"/>
            </a:solidFill>
            <a:ln w="9525">
              <a:solidFill>
                <a:srgbClr val="E2E8F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29" name="Rounded Rectangle 28">
              <a:extLst>
                <a:ext uri="{FF2B5EF4-FFF2-40B4-BE49-F238E27FC236}">
                  <a16:creationId xmlns:a16="http://schemas.microsoft.com/office/drawing/2014/main" id="{8CBD0820-4166-3E6B-6A6D-F02E7A8380CA}"/>
                </a:ext>
              </a:extLst>
            </p:cNvPr>
            <p:cNvSpPr/>
            <p:nvPr/>
          </p:nvSpPr>
          <p:spPr>
            <a:xfrm>
              <a:off x="11193619" y="3562430"/>
              <a:ext cx="304800" cy="209550"/>
            </a:xfrm>
            <a:prstGeom prst="roundRect">
              <a:avLst>
                <a:gd name="adj" fmla="val 18181"/>
              </a:avLst>
            </a:prstGeom>
            <a:solidFill>
              <a:srgbClr val="F1F5F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7A1E4B38-0E8A-DE64-FDCB-E73033568E94}"/>
                </a:ext>
              </a:extLst>
            </p:cNvPr>
            <p:cNvSpPr txBox="1"/>
            <p:nvPr/>
          </p:nvSpPr>
          <p:spPr>
            <a:xfrm>
              <a:off x="8329720" y="3852942"/>
              <a:ext cx="3263949" cy="496639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algn="l">
                <a:lnSpc>
                  <a:spcPts val="1822"/>
                </a:lnSpc>
              </a:pPr>
              <a:r>
                <a:rPr sz="1350" b="0" i="0" u="none">
                  <a:solidFill>
                    <a:srgbClr val="334155"/>
                  </a:solidFill>
                  <a:latin typeface="Inter"/>
                </a:rPr>
                <a:t>Advance </a:t>
              </a:r>
              <a:r>
                <a:rPr sz="1350" b="0" i="1" u="none">
                  <a:solidFill>
                    <a:srgbClr val="334155"/>
                  </a:solidFill>
                  <a:latin typeface="Inter"/>
                </a:rPr>
                <a:t>w</a:t>
              </a:r>
              <a:r>
                <a:rPr sz="1350" b="0" i="0" u="none">
                  <a:solidFill>
                    <a:srgbClr val="334155"/>
                  </a:solidFill>
                  <a:latin typeface="Inter"/>
                </a:rPr>
                <a:t> past </a:t>
              </a:r>
              <a:r>
                <a:rPr sz="1350" b="0" i="1" u="none">
                  <a:solidFill>
                    <a:srgbClr val="334155"/>
                  </a:solidFill>
                  <a:latin typeface="Inter"/>
                </a:rPr>
                <a:t>w</a:t>
              </a:r>
              <a:r>
                <a:rPr sz="1125" b="0" i="0" u="none">
                  <a:solidFill>
                    <a:srgbClr val="334155"/>
                  </a:solidFill>
                  <a:latin typeface="Inter"/>
                </a:rPr>
                <a:t>1</a:t>
              </a:r>
              <a:r>
                <a:rPr sz="1350" b="0" i="0" u="none">
                  <a:solidFill>
                    <a:srgbClr val="334155"/>
                  </a:solidFill>
                  <a:latin typeface="Inter"/>
                </a:rPr>
                <a:t> with step size Δ</a:t>
              </a:r>
              <a:r>
                <a:rPr sz="1350" b="0" i="1" u="none">
                  <a:solidFill>
                    <a:srgbClr val="334155"/>
                  </a:solidFill>
                  <a:latin typeface="Inter"/>
                </a:rPr>
                <a:t>w</a:t>
              </a:r>
              <a:r>
                <a:rPr sz="1350" b="0" i="0" u="none">
                  <a:solidFill>
                    <a:srgbClr val="334155"/>
                  </a:solidFill>
                  <a:latin typeface="Inter"/>
                </a:rPr>
                <a:t> (0.002</a:t>
              </a:r>
              <a:r>
                <a:rPr sz="1350" b="0" i="1" u="none">
                  <a:solidFill>
                    <a:srgbClr val="334155"/>
                  </a:solidFill>
                  <a:latin typeface="Inter"/>
                </a:rPr>
                <a:t>R</a:t>
              </a:r>
              <a:r>
                <a:rPr sz="1350" b="0" i="0" u="none">
                  <a:solidFill>
                    <a:srgbClr val="334155"/>
                  </a:solidFill>
                  <a:latin typeface="Inter"/>
                </a:rPr>
                <a:t> for S, 0.0005</a:t>
              </a:r>
              <a:r>
                <a:rPr sz="1350" b="0" i="1" u="none">
                  <a:solidFill>
                    <a:srgbClr val="334155"/>
                  </a:solidFill>
                  <a:latin typeface="Inter"/>
                </a:rPr>
                <a:t>R</a:t>
              </a:r>
              <a:r>
                <a:rPr sz="1350" b="0" i="0" u="none">
                  <a:solidFill>
                    <a:srgbClr val="334155"/>
                  </a:solidFill>
                  <a:latin typeface="Inter"/>
                </a:rPr>
                <a:t> for D).</a:t>
              </a:r>
            </a:p>
          </p:txBody>
        </p:sp>
        <p:sp>
          <p:nvSpPr>
            <p:cNvPr id="43" name="TextBox 42">
              <a:extLst>
                <a:ext uri="{FF2B5EF4-FFF2-40B4-BE49-F238E27FC236}">
                  <a16:creationId xmlns:a16="http://schemas.microsoft.com/office/drawing/2014/main" id="{BB9A5F23-FB65-9C37-D2CB-599323CF52EC}"/>
                </a:ext>
              </a:extLst>
            </p:cNvPr>
            <p:cNvSpPr txBox="1"/>
            <p:nvPr/>
          </p:nvSpPr>
          <p:spPr>
            <a:xfrm>
              <a:off x="8329720" y="3557667"/>
              <a:ext cx="2047875" cy="219075"/>
            </a:xfrm>
            <a:prstGeom prst="rect">
              <a:avLst/>
            </a:prstGeom>
            <a:noFill/>
          </p:spPr>
          <p:txBody>
            <a:bodyPr wrap="none" lIns="0" tIns="0" rIns="0" bIns="0" anchor="t">
              <a:spAutoFit/>
            </a:bodyPr>
            <a:lstStyle/>
            <a:p>
              <a:pPr algn="l"/>
              <a:r>
                <a:rPr sz="1350" b="1" i="0" u="none">
                  <a:solidFill>
                    <a:srgbClr val="0F172A"/>
                  </a:solidFill>
                  <a:latin typeface="Space Grotesk"/>
                </a:rPr>
                <a:t>03 · Deflection Step</a:t>
              </a:r>
            </a:p>
          </p:txBody>
        </p:sp>
        <p:sp>
          <p:nvSpPr>
            <p:cNvPr id="44" name="TextBox 43">
              <a:extLst>
                <a:ext uri="{FF2B5EF4-FFF2-40B4-BE49-F238E27FC236}">
                  <a16:creationId xmlns:a16="http://schemas.microsoft.com/office/drawing/2014/main" id="{CEC1E892-F6CA-BF06-1D7C-119AE072A991}"/>
                </a:ext>
              </a:extLst>
            </p:cNvPr>
            <p:cNvSpPr txBox="1"/>
            <p:nvPr/>
          </p:nvSpPr>
          <p:spPr>
            <a:xfrm>
              <a:off x="11269819" y="3581480"/>
              <a:ext cx="247650" cy="171450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algn="l"/>
              <a:r>
                <a:rPr sz="1050" b="1" i="0" u="none">
                  <a:solidFill>
                    <a:srgbClr val="64748B"/>
                  </a:solidFill>
                  <a:latin typeface="JetBrains Mono"/>
                </a:rPr>
                <a:t>Δ</a:t>
              </a:r>
              <a:r>
                <a:rPr sz="1050" b="1" i="1" u="none">
                  <a:solidFill>
                    <a:srgbClr val="64748B"/>
                  </a:solidFill>
                  <a:latin typeface="JetBrains Mono"/>
                </a:rPr>
                <a:t>w</a:t>
              </a:r>
            </a:p>
          </p:txBody>
        </p:sp>
      </p:grpSp>
      <p:grpSp>
        <p:nvGrpSpPr>
          <p:cNvPr id="56" name="Group 55">
            <a:extLst>
              <a:ext uri="{FF2B5EF4-FFF2-40B4-BE49-F238E27FC236}">
                <a16:creationId xmlns:a16="http://schemas.microsoft.com/office/drawing/2014/main" id="{8C2C1829-AD63-FBD1-F6D8-6970E734E6FC}"/>
              </a:ext>
            </a:extLst>
          </p:cNvPr>
          <p:cNvGrpSpPr/>
          <p:nvPr/>
        </p:nvGrpSpPr>
        <p:grpSpPr>
          <a:xfrm>
            <a:off x="592146" y="4736237"/>
            <a:ext cx="3606849" cy="1226194"/>
            <a:chOff x="592146" y="4736237"/>
            <a:chExt cx="3606849" cy="1226194"/>
          </a:xfrm>
        </p:grpSpPr>
        <p:sp>
          <p:nvSpPr>
            <p:cNvPr id="24" name="Rounded Rectangle 23">
              <a:extLst>
                <a:ext uri="{FF2B5EF4-FFF2-40B4-BE49-F238E27FC236}">
                  <a16:creationId xmlns:a16="http://schemas.microsoft.com/office/drawing/2014/main" id="{E548E2D3-F98D-1CEF-B771-88C8F042B2BE}"/>
                </a:ext>
              </a:extLst>
            </p:cNvPr>
            <p:cNvSpPr/>
            <p:nvPr/>
          </p:nvSpPr>
          <p:spPr>
            <a:xfrm>
              <a:off x="592146" y="4736237"/>
              <a:ext cx="3606849" cy="1226194"/>
            </a:xfrm>
            <a:prstGeom prst="roundRect">
              <a:avLst>
                <a:gd name="adj" fmla="val 9321"/>
              </a:avLst>
            </a:prstGeom>
            <a:solidFill>
              <a:srgbClr val="FFFFFF"/>
            </a:solidFill>
            <a:ln w="9525">
              <a:solidFill>
                <a:srgbClr val="E2E8F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30" name="Rounded Rectangle 29">
              <a:extLst>
                <a:ext uri="{FF2B5EF4-FFF2-40B4-BE49-F238E27FC236}">
                  <a16:creationId xmlns:a16="http://schemas.microsoft.com/office/drawing/2014/main" id="{F8F2F670-5289-4D45-F424-A3FA6E1DD272}"/>
                </a:ext>
              </a:extLst>
            </p:cNvPr>
            <p:cNvSpPr/>
            <p:nvPr/>
          </p:nvSpPr>
          <p:spPr>
            <a:xfrm>
              <a:off x="3198870" y="4936262"/>
              <a:ext cx="781050" cy="236190"/>
            </a:xfrm>
            <a:prstGeom prst="roundRect">
              <a:avLst>
                <a:gd name="adj" fmla="val 16131"/>
              </a:avLst>
            </a:prstGeom>
            <a:solidFill>
              <a:srgbClr val="EFF6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36" name="TextBox 35">
              <a:extLst>
                <a:ext uri="{FF2B5EF4-FFF2-40B4-BE49-F238E27FC236}">
                  <a16:creationId xmlns:a16="http://schemas.microsoft.com/office/drawing/2014/main" id="{5216C247-66F3-D003-95A2-0C0EEA4BF896}"/>
                </a:ext>
              </a:extLst>
            </p:cNvPr>
            <p:cNvSpPr txBox="1"/>
            <p:nvPr/>
          </p:nvSpPr>
          <p:spPr>
            <a:xfrm>
              <a:off x="811221" y="5248652"/>
              <a:ext cx="3263949" cy="449675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algn="l">
                <a:lnSpc>
                  <a:spcPts val="1822"/>
                </a:lnSpc>
              </a:pPr>
              <a:r>
                <a:rPr sz="1350" b="0" i="0" u="none" dirty="0">
                  <a:solidFill>
                    <a:srgbClr val="334155"/>
                  </a:solidFill>
                  <a:latin typeface="Inter"/>
                </a:rPr>
                <a:t>Re-optimize hub coordinates across remaining radials at each step.</a:t>
              </a:r>
            </a:p>
          </p:txBody>
        </p:sp>
        <p:sp>
          <p:nvSpPr>
            <p:cNvPr id="45" name="TextBox 44">
              <a:extLst>
                <a:ext uri="{FF2B5EF4-FFF2-40B4-BE49-F238E27FC236}">
                  <a16:creationId xmlns:a16="http://schemas.microsoft.com/office/drawing/2014/main" id="{A1E4F1D6-A685-F3DA-1905-CD1BD9DFFC11}"/>
                </a:ext>
              </a:extLst>
            </p:cNvPr>
            <p:cNvSpPr txBox="1"/>
            <p:nvPr/>
          </p:nvSpPr>
          <p:spPr>
            <a:xfrm>
              <a:off x="811221" y="4944745"/>
              <a:ext cx="2393156" cy="219075"/>
            </a:xfrm>
            <a:prstGeom prst="rect">
              <a:avLst/>
            </a:prstGeom>
            <a:noFill/>
          </p:spPr>
          <p:txBody>
            <a:bodyPr wrap="none" lIns="0" tIns="0" rIns="0" bIns="0" anchor="t">
              <a:spAutoFit/>
            </a:bodyPr>
            <a:lstStyle/>
            <a:p>
              <a:pPr algn="l"/>
              <a:r>
                <a:rPr sz="1350" b="1" i="0" u="none">
                  <a:solidFill>
                    <a:srgbClr val="0F172A"/>
                  </a:solidFill>
                  <a:latin typeface="Space Grotesk"/>
                </a:rPr>
                <a:t>04 · Hub Re-equilibrium</a:t>
              </a:r>
            </a:p>
          </p:txBody>
        </p:sp>
        <p:sp>
          <p:nvSpPr>
            <p:cNvPr id="46" name="TextBox 45">
              <a:extLst>
                <a:ext uri="{FF2B5EF4-FFF2-40B4-BE49-F238E27FC236}">
                  <a16:creationId xmlns:a16="http://schemas.microsoft.com/office/drawing/2014/main" id="{C0923AE1-1C56-9025-ABCD-5B53FDD93EB7}"/>
                </a:ext>
              </a:extLst>
            </p:cNvPr>
            <p:cNvSpPr txBox="1"/>
            <p:nvPr/>
          </p:nvSpPr>
          <p:spPr>
            <a:xfrm>
              <a:off x="3275070" y="4955312"/>
              <a:ext cx="723900" cy="198090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algn="l"/>
              <a:r>
                <a:rPr sz="1050" b="1" i="0" u="none">
                  <a:solidFill>
                    <a:srgbClr val="2563EB"/>
                  </a:solidFill>
                  <a:latin typeface="JetBrains Mono"/>
                </a:rPr>
                <a:t>min 𝒰</a:t>
              </a:r>
              <a:r>
                <a:rPr sz="875" b="1" i="0" u="none">
                  <a:solidFill>
                    <a:srgbClr val="2563EB"/>
                  </a:solidFill>
                  <a:latin typeface="JetBrains Mono"/>
                </a:rPr>
                <a:t>rem</a:t>
              </a:r>
            </a:p>
          </p:txBody>
        </p:sp>
      </p:grpSp>
      <p:grpSp>
        <p:nvGrpSpPr>
          <p:cNvPr id="57" name="Group 56">
            <a:extLst>
              <a:ext uri="{FF2B5EF4-FFF2-40B4-BE49-F238E27FC236}">
                <a16:creationId xmlns:a16="http://schemas.microsoft.com/office/drawing/2014/main" id="{18847A03-7573-17C3-2964-B5BD8606F2EB}"/>
              </a:ext>
            </a:extLst>
          </p:cNvPr>
          <p:cNvGrpSpPr/>
          <p:nvPr/>
        </p:nvGrpSpPr>
        <p:grpSpPr>
          <a:xfrm>
            <a:off x="4351395" y="4736237"/>
            <a:ext cx="3606849" cy="1226194"/>
            <a:chOff x="4351395" y="4736237"/>
            <a:chExt cx="3606849" cy="1226194"/>
          </a:xfrm>
        </p:grpSpPr>
        <p:sp>
          <p:nvSpPr>
            <p:cNvPr id="25" name="Rounded Rectangle 24">
              <a:extLst>
                <a:ext uri="{FF2B5EF4-FFF2-40B4-BE49-F238E27FC236}">
                  <a16:creationId xmlns:a16="http://schemas.microsoft.com/office/drawing/2014/main" id="{C9063B77-96B4-4943-C3E9-CE5BEEDAA769}"/>
                </a:ext>
              </a:extLst>
            </p:cNvPr>
            <p:cNvSpPr/>
            <p:nvPr/>
          </p:nvSpPr>
          <p:spPr>
            <a:xfrm>
              <a:off x="4351395" y="4736237"/>
              <a:ext cx="3606849" cy="1226194"/>
            </a:xfrm>
            <a:prstGeom prst="roundRect">
              <a:avLst>
                <a:gd name="adj" fmla="val 9321"/>
              </a:avLst>
            </a:prstGeom>
            <a:solidFill>
              <a:srgbClr val="FFFFFF"/>
            </a:solidFill>
            <a:ln w="9525">
              <a:solidFill>
                <a:srgbClr val="E2E8F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31" name="Rounded Rectangle 30">
              <a:extLst>
                <a:ext uri="{FF2B5EF4-FFF2-40B4-BE49-F238E27FC236}">
                  <a16:creationId xmlns:a16="http://schemas.microsoft.com/office/drawing/2014/main" id="{DB0B921C-1BE1-8A3E-917E-20190BDBD678}"/>
                </a:ext>
              </a:extLst>
            </p:cNvPr>
            <p:cNvSpPr/>
            <p:nvPr/>
          </p:nvSpPr>
          <p:spPr>
            <a:xfrm>
              <a:off x="6900970" y="4958140"/>
              <a:ext cx="838200" cy="209550"/>
            </a:xfrm>
            <a:prstGeom prst="roundRect">
              <a:avLst>
                <a:gd name="adj" fmla="val 18181"/>
              </a:avLst>
            </a:prstGeom>
            <a:solidFill>
              <a:srgbClr val="FEF2F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37" name="TextBox 36">
                  <a:extLst>
                    <a:ext uri="{FF2B5EF4-FFF2-40B4-BE49-F238E27FC236}">
                      <a16:creationId xmlns:a16="http://schemas.microsoft.com/office/drawing/2014/main" id="{4F7830BF-FAB3-8D1B-ED8A-3E4E79EFC2EF}"/>
                    </a:ext>
                  </a:extLst>
                </p:cNvPr>
                <p:cNvSpPr txBox="1"/>
                <p:nvPr/>
              </p:nvSpPr>
              <p:spPr>
                <a:xfrm>
                  <a:off x="4570470" y="5265768"/>
                  <a:ext cx="3263949" cy="449995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anchor="t">
                  <a:spAutoFit/>
                </a:bodyPr>
                <a:lstStyle/>
                <a:p>
                  <a:pPr algn="l">
                    <a:lnSpc>
                      <a:spcPts val="1822"/>
                    </a:lnSpc>
                  </a:pPr>
                  <a:r>
                    <a:rPr sz="1350" b="0" i="0" u="none" dirty="0">
                      <a:solidFill>
                        <a:srgbClr val="334155"/>
                      </a:solidFill>
                      <a:latin typeface="Inter"/>
                    </a:rPr>
                    <a:t>Identify when inner segment reaches </a:t>
                  </a:r>
                  <a14:m>
                    <m:oMath xmlns:m="http://schemas.openxmlformats.org/officeDocument/2006/math">
                      <m:sSub>
                        <m:sSubPr>
                          <m:ctrlPr>
                            <a:rPr lang="en-US" sz="1350" b="0" i="1" u="none" smtClean="0">
                              <a:solidFill>
                                <a:srgbClr val="334155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1350" b="0" i="1" u="none" smtClean="0">
                              <a:solidFill>
                                <a:srgbClr val="334155"/>
                              </a:solidFill>
                              <a:latin typeface="Cambria Math" panose="02040503050406030204" pitchFamily="18" charset="0"/>
                            </a:rPr>
                            <m:t>ϵ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1350" b="0" i="1" u="none" smtClean="0">
                              <a:solidFill>
                                <a:srgbClr val="334155"/>
                              </a:solidFill>
                              <a:latin typeface="Cambria Math" panose="02040503050406030204" pitchFamily="18" charset="0"/>
                            </a:rPr>
                            <m:t>i</m:t>
                          </m:r>
                        </m:sub>
                      </m:sSub>
                      <m:r>
                        <a:rPr lang="en-US" sz="1350" b="0" i="1" u="none" smtClean="0">
                          <a:solidFill>
                            <a:srgbClr val="334155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sz="1350" b="0" i="1" u="none" smtClean="0">
                              <a:solidFill>
                                <a:srgbClr val="334155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1350" b="0" i="1" u="none" smtClean="0">
                              <a:solidFill>
                                <a:srgbClr val="334155"/>
                              </a:solidFill>
                              <a:latin typeface="Cambria Math" panose="02040503050406030204" pitchFamily="18" charset="0"/>
                            </a:rPr>
                            <m:t>ϵ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1350" b="0" i="1" u="none" smtClean="0">
                              <a:solidFill>
                                <a:srgbClr val="334155"/>
                              </a:solidFill>
                              <a:latin typeface="Cambria Math" panose="02040503050406030204" pitchFamily="18" charset="0"/>
                            </a:rPr>
                            <m:t>b</m:t>
                          </m:r>
                        </m:sub>
                      </m:sSub>
                    </m:oMath>
                  </a14:m>
                  <a:r>
                    <a:rPr sz="1350" b="0" i="0" u="none" dirty="0">
                      <a:solidFill>
                        <a:srgbClr val="334155"/>
                      </a:solidFill>
                      <a:latin typeface="Inter"/>
                    </a:rPr>
                    <a:t>; extract 𝒰</a:t>
                  </a:r>
                  <a:r>
                    <a:rPr sz="1125" b="0" i="0" u="none" dirty="0">
                      <a:solidFill>
                        <a:srgbClr val="334155"/>
                      </a:solidFill>
                      <a:latin typeface="Inter"/>
                    </a:rPr>
                    <a:t>rem</a:t>
                  </a:r>
                  <a:r>
                    <a:rPr sz="1350" b="0" i="0" u="none" dirty="0">
                      <a:solidFill>
                        <a:srgbClr val="334155"/>
                      </a:solidFill>
                      <a:latin typeface="Inter"/>
                    </a:rPr>
                    <a:t>(</a:t>
                  </a:r>
                  <a:r>
                    <a:rPr sz="1350" b="0" i="1" u="none" dirty="0">
                      <a:solidFill>
                        <a:srgbClr val="334155"/>
                      </a:solidFill>
                      <a:latin typeface="Inter"/>
                    </a:rPr>
                    <a:t>w</a:t>
                  </a:r>
                  <a:r>
                    <a:rPr sz="1125" b="0" i="0" u="none" dirty="0">
                      <a:solidFill>
                        <a:srgbClr val="334155"/>
                      </a:solidFill>
                      <a:latin typeface="Inter"/>
                    </a:rPr>
                    <a:t>2</a:t>
                  </a:r>
                  <a:r>
                    <a:rPr sz="1350" b="0" i="0" u="none" dirty="0">
                      <a:solidFill>
                        <a:srgbClr val="334155"/>
                      </a:solidFill>
                      <a:latin typeface="Inter"/>
                    </a:rPr>
                    <a:t>).</a:t>
                  </a:r>
                </a:p>
              </p:txBody>
            </p:sp>
          </mc:Choice>
          <mc:Fallback>
            <p:sp>
              <p:nvSpPr>
                <p:cNvPr id="37" name="TextBox 36">
                  <a:extLst>
                    <a:ext uri="{FF2B5EF4-FFF2-40B4-BE49-F238E27FC236}">
                      <a16:creationId xmlns:a16="http://schemas.microsoft.com/office/drawing/2014/main" id="{4F7830BF-FAB3-8D1B-ED8A-3E4E79EFC2E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570470" y="5265768"/>
                  <a:ext cx="3263949" cy="449995"/>
                </a:xfrm>
                <a:prstGeom prst="rect">
                  <a:avLst/>
                </a:prstGeom>
                <a:blipFill>
                  <a:blip r:embed="rId6"/>
                  <a:stretch>
                    <a:fillRect l="-3502" t="-8108" r="-2335" b="-2162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47" name="TextBox 46">
              <a:extLst>
                <a:ext uri="{FF2B5EF4-FFF2-40B4-BE49-F238E27FC236}">
                  <a16:creationId xmlns:a16="http://schemas.microsoft.com/office/drawing/2014/main" id="{705F8AC0-4DD3-EF5B-A8B5-A0C21AFAD5DE}"/>
                </a:ext>
              </a:extLst>
            </p:cNvPr>
            <p:cNvSpPr txBox="1"/>
            <p:nvPr/>
          </p:nvSpPr>
          <p:spPr>
            <a:xfrm>
              <a:off x="4570470" y="4936262"/>
              <a:ext cx="2595562" cy="253305"/>
            </a:xfrm>
            <a:prstGeom prst="rect">
              <a:avLst/>
            </a:prstGeom>
            <a:noFill/>
          </p:spPr>
          <p:txBody>
            <a:bodyPr wrap="none" lIns="0" tIns="0" rIns="0" bIns="0" anchor="t">
              <a:spAutoFit/>
            </a:bodyPr>
            <a:lstStyle/>
            <a:p>
              <a:pPr algn="l"/>
              <a:r>
                <a:rPr sz="1350" b="1" i="0" u="none">
                  <a:solidFill>
                    <a:srgbClr val="0F172A"/>
                  </a:solidFill>
                  <a:latin typeface="Space Grotesk"/>
                </a:rPr>
                <a:t>05 · Second Rupture (</a:t>
              </a:r>
              <a:r>
                <a:rPr sz="1350" b="1" i="1" u="none">
                  <a:solidFill>
                    <a:srgbClr val="0F172A"/>
                  </a:solidFill>
                  <a:latin typeface="Space Grotesk"/>
                </a:rPr>
                <a:t>w</a:t>
              </a:r>
              <a:r>
                <a:rPr sz="1125" b="1" i="0" u="none">
                  <a:solidFill>
                    <a:srgbClr val="0F172A"/>
                  </a:solidFill>
                  <a:latin typeface="Space Grotesk"/>
                </a:rPr>
                <a:t>2</a:t>
              </a:r>
              <a:r>
                <a:rPr sz="1350" b="1" i="0" u="none">
                  <a:solidFill>
                    <a:srgbClr val="0F172A"/>
                  </a:solidFill>
                  <a:latin typeface="Space Grotesk"/>
                </a:rPr>
                <a:t>)</a:t>
              </a:r>
            </a:p>
          </p:txBody>
        </p:sp>
        <p:sp>
          <p:nvSpPr>
            <p:cNvPr id="48" name="TextBox 47">
              <a:extLst>
                <a:ext uri="{FF2B5EF4-FFF2-40B4-BE49-F238E27FC236}">
                  <a16:creationId xmlns:a16="http://schemas.microsoft.com/office/drawing/2014/main" id="{39BD2B07-DA35-9DBD-6954-CF12401629C0}"/>
                </a:ext>
              </a:extLst>
            </p:cNvPr>
            <p:cNvSpPr txBox="1"/>
            <p:nvPr/>
          </p:nvSpPr>
          <p:spPr>
            <a:xfrm>
              <a:off x="6977170" y="4977190"/>
              <a:ext cx="781050" cy="171450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algn="l"/>
              <a:r>
                <a:rPr sz="1050" b="1" i="0" u="none">
                  <a:solidFill>
                    <a:srgbClr val="DC2626"/>
                  </a:solidFill>
                  <a:latin typeface="JetBrains Mono"/>
                </a:rPr>
                <a:t>Bisection</a:t>
              </a:r>
            </a:p>
          </p:txBody>
        </p:sp>
      </p:grpSp>
      <p:grpSp>
        <p:nvGrpSpPr>
          <p:cNvPr id="58" name="Group 57">
            <a:extLst>
              <a:ext uri="{FF2B5EF4-FFF2-40B4-BE49-F238E27FC236}">
                <a16:creationId xmlns:a16="http://schemas.microsoft.com/office/drawing/2014/main" id="{CB9DEA3A-9D10-0F9D-A304-4E14A53BD1DF}"/>
              </a:ext>
            </a:extLst>
          </p:cNvPr>
          <p:cNvGrpSpPr/>
          <p:nvPr/>
        </p:nvGrpSpPr>
        <p:grpSpPr>
          <a:xfrm>
            <a:off x="8110645" y="4736237"/>
            <a:ext cx="3606849" cy="1226194"/>
            <a:chOff x="8110645" y="4736237"/>
            <a:chExt cx="3606849" cy="1226194"/>
          </a:xfrm>
        </p:grpSpPr>
        <p:sp>
          <p:nvSpPr>
            <p:cNvPr id="26" name="Rounded Rectangle 25">
              <a:extLst>
                <a:ext uri="{FF2B5EF4-FFF2-40B4-BE49-F238E27FC236}">
                  <a16:creationId xmlns:a16="http://schemas.microsoft.com/office/drawing/2014/main" id="{28876DA6-455E-2B64-9996-E36A3098FFF0}"/>
                </a:ext>
              </a:extLst>
            </p:cNvPr>
            <p:cNvSpPr/>
            <p:nvPr/>
          </p:nvSpPr>
          <p:spPr>
            <a:xfrm>
              <a:off x="8110645" y="4736237"/>
              <a:ext cx="3606849" cy="1226194"/>
            </a:xfrm>
            <a:prstGeom prst="roundRect">
              <a:avLst>
                <a:gd name="adj" fmla="val 9321"/>
              </a:avLst>
            </a:prstGeom>
            <a:solidFill>
              <a:srgbClr val="FFFFFF"/>
            </a:solidFill>
            <a:ln w="9525">
              <a:solidFill>
                <a:srgbClr val="E2E8F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32" name="Rounded Rectangle 31">
              <a:extLst>
                <a:ext uri="{FF2B5EF4-FFF2-40B4-BE49-F238E27FC236}">
                  <a16:creationId xmlns:a16="http://schemas.microsoft.com/office/drawing/2014/main" id="{D531202C-8769-9C1F-2234-C190A628BA94}"/>
                </a:ext>
              </a:extLst>
            </p:cNvPr>
            <p:cNvSpPr/>
            <p:nvPr/>
          </p:nvSpPr>
          <p:spPr>
            <a:xfrm>
              <a:off x="10669744" y="4936262"/>
              <a:ext cx="828675" cy="236190"/>
            </a:xfrm>
            <a:prstGeom prst="roundRect">
              <a:avLst>
                <a:gd name="adj" fmla="val 16131"/>
              </a:avLst>
            </a:prstGeom>
            <a:solidFill>
              <a:srgbClr val="F0FDF4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38" name="TextBox 37">
              <a:extLst>
                <a:ext uri="{FF2B5EF4-FFF2-40B4-BE49-F238E27FC236}">
                  <a16:creationId xmlns:a16="http://schemas.microsoft.com/office/drawing/2014/main" id="{75EBEBA9-008C-566D-49F8-4CD8A718590B}"/>
                </a:ext>
              </a:extLst>
            </p:cNvPr>
            <p:cNvSpPr txBox="1"/>
            <p:nvPr/>
          </p:nvSpPr>
          <p:spPr>
            <a:xfrm>
              <a:off x="8329720" y="5248652"/>
              <a:ext cx="3263949" cy="496639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algn="l">
                <a:lnSpc>
                  <a:spcPts val="1822"/>
                </a:lnSpc>
              </a:pPr>
              <a:r>
                <a:rPr sz="1350" b="0" i="0" u="none">
                  <a:solidFill>
                    <a:srgbClr val="334155"/>
                  </a:solidFill>
                  <a:latin typeface="Inter"/>
                </a:rPr>
                <a:t>Sum total absorbed work </a:t>
              </a:r>
              <a:r>
                <a:rPr sz="1350" b="0" i="1" u="none">
                  <a:solidFill>
                    <a:srgbClr val="334155"/>
                  </a:solidFill>
                  <a:latin typeface="Inter"/>
                </a:rPr>
                <a:t>W</a:t>
              </a:r>
              <a:r>
                <a:rPr sz="1125" b="0" i="0" u="none">
                  <a:solidFill>
                    <a:srgbClr val="334155"/>
                  </a:solidFill>
                  <a:latin typeface="Inter"/>
                </a:rPr>
                <a:t>B</a:t>
              </a:r>
              <a:r>
                <a:rPr sz="1350" b="0" i="0" u="none">
                  <a:solidFill>
                    <a:srgbClr val="334155"/>
                  </a:solidFill>
                  <a:latin typeface="Inter"/>
                </a:rPr>
                <a:t> and scale against theoretical capacity.</a:t>
              </a:r>
            </a:p>
          </p:txBody>
        </p:sp>
        <p:sp>
          <p:nvSpPr>
            <p:cNvPr id="49" name="TextBox 48">
              <a:extLst>
                <a:ext uri="{FF2B5EF4-FFF2-40B4-BE49-F238E27FC236}">
                  <a16:creationId xmlns:a16="http://schemas.microsoft.com/office/drawing/2014/main" id="{7B027E63-5F4A-6014-CFA0-74DF819FA1BA}"/>
                </a:ext>
              </a:extLst>
            </p:cNvPr>
            <p:cNvSpPr txBox="1"/>
            <p:nvPr/>
          </p:nvSpPr>
          <p:spPr>
            <a:xfrm>
              <a:off x="8329720" y="4944745"/>
              <a:ext cx="2440781" cy="219075"/>
            </a:xfrm>
            <a:prstGeom prst="rect">
              <a:avLst/>
            </a:prstGeom>
            <a:noFill/>
          </p:spPr>
          <p:txBody>
            <a:bodyPr wrap="none" lIns="0" tIns="0" rIns="0" bIns="0" anchor="t">
              <a:spAutoFit/>
            </a:bodyPr>
            <a:lstStyle/>
            <a:p>
              <a:pPr algn="l"/>
              <a:r>
                <a:rPr sz="1350" b="1" i="0" u="none">
                  <a:solidFill>
                    <a:srgbClr val="0F172A"/>
                  </a:solidFill>
                  <a:latin typeface="Space Grotesk"/>
                </a:rPr>
                <a:t>06 · Energy &amp; Efficiency</a:t>
              </a:r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50" name="TextBox 49">
                  <a:extLst>
                    <a:ext uri="{FF2B5EF4-FFF2-40B4-BE49-F238E27FC236}">
                      <a16:creationId xmlns:a16="http://schemas.microsoft.com/office/drawing/2014/main" id="{11282620-BF0B-26AD-44AB-0B7A8D5BD58F}"/>
                    </a:ext>
                  </a:extLst>
                </p:cNvPr>
                <p:cNvSpPr txBox="1"/>
                <p:nvPr/>
              </p:nvSpPr>
              <p:spPr>
                <a:xfrm>
                  <a:off x="10745944" y="4955312"/>
                  <a:ext cx="771525" cy="161583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anchor="t">
                  <a:spAutoFit/>
                </a:bodyPr>
                <a:lstStyle/>
                <a:p>
                  <a:pPr algn="l"/>
                  <a14:m>
                    <m:oMath xmlns:m="http://schemas.openxmlformats.org/officeDocument/2006/math">
                      <m:sSub>
                        <m:sSubPr>
                          <m:ctrlPr>
                            <a:rPr lang="en-US" sz="1050" b="1" i="1" u="none" smtClean="0">
                              <a:solidFill>
                                <a:srgbClr val="16A34A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1050" b="1" i="1" u="none" smtClean="0">
                              <a:solidFill>
                                <a:srgbClr val="16A34A"/>
                              </a:solidFill>
                              <a:latin typeface="Cambria Math" panose="02040503050406030204" pitchFamily="18" charset="0"/>
                            </a:rPr>
                            <m:t>η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1050" b="1" i="1" u="none" smtClean="0">
                              <a:solidFill>
                                <a:srgbClr val="16A34A"/>
                              </a:solidFill>
                              <a:latin typeface="Cambria Math" panose="02040503050406030204" pitchFamily="18" charset="0"/>
                            </a:rPr>
                            <m:t>B</m:t>
                          </m:r>
                        </m:sub>
                      </m:sSub>
                    </m:oMath>
                  </a14:m>
                  <a:r>
                    <a:rPr sz="1050" b="1" i="0" u="none" dirty="0">
                      <a:solidFill>
                        <a:srgbClr val="16A34A"/>
                      </a:solidFill>
                      <a:latin typeface="JetBrains Mono"/>
                    </a:rPr>
                    <a:t> Metric</a:t>
                  </a:r>
                </a:p>
              </p:txBody>
            </p:sp>
          </mc:Choice>
          <mc:Fallback>
            <p:sp>
              <p:nvSpPr>
                <p:cNvPr id="50" name="TextBox 49">
                  <a:extLst>
                    <a:ext uri="{FF2B5EF4-FFF2-40B4-BE49-F238E27FC236}">
                      <a16:creationId xmlns:a16="http://schemas.microsoft.com/office/drawing/2014/main" id="{11282620-BF0B-26AD-44AB-0B7A8D5BD58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745944" y="4955312"/>
                  <a:ext cx="771525" cy="161583"/>
                </a:xfrm>
                <a:prstGeom prst="rect">
                  <a:avLst/>
                </a:prstGeom>
                <a:blipFill>
                  <a:blip r:embed="rId7"/>
                  <a:stretch>
                    <a:fillRect l="-6557" t="-30769" b="-5384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52" name="TextBox 51">
            <a:extLst>
              <a:ext uri="{FF2B5EF4-FFF2-40B4-BE49-F238E27FC236}">
                <a16:creationId xmlns:a16="http://schemas.microsoft.com/office/drawing/2014/main" id="{6F26550F-08DE-29EB-0DA0-89E973F48276}"/>
              </a:ext>
            </a:extLst>
          </p:cNvPr>
          <p:cNvSpPr txBox="1"/>
          <p:nvPr/>
        </p:nvSpPr>
        <p:spPr>
          <a:xfrm>
            <a:off x="654057" y="2505795"/>
            <a:ext cx="11001523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800" b="0" i="0" u="none" dirty="0">
                <a:solidFill>
                  <a:schemeClr val="accent1"/>
                </a:solidFill>
                <a:latin typeface="Inter"/>
              </a:rPr>
              <a:t>Due to non-linear cubic elasticity and asymmetric hub shifts, energy absorption </a:t>
            </a:r>
            <a:r>
              <a:rPr lang="en-US" sz="1800" b="0" i="1" u="none" dirty="0">
                <a:solidFill>
                  <a:schemeClr val="accent1"/>
                </a:solidFill>
                <a:latin typeface="Inter"/>
              </a:rPr>
              <a:t>W</a:t>
            </a:r>
            <a:r>
              <a:rPr lang="en-US" sz="1600" b="0" i="0" u="none" dirty="0">
                <a:solidFill>
                  <a:schemeClr val="accent1"/>
                </a:solidFill>
                <a:latin typeface="Inter"/>
              </a:rPr>
              <a:t>B</a:t>
            </a:r>
            <a:r>
              <a:rPr lang="en-US" sz="1800" b="0" i="0" u="none" dirty="0">
                <a:solidFill>
                  <a:schemeClr val="accent1"/>
                </a:solidFill>
                <a:latin typeface="Inter"/>
              </a:rPr>
              <a:t> is resolved numerically via Nelder-Mead optimization and bisection.</a:t>
            </a:r>
          </a:p>
        </p:txBody>
      </p:sp>
    </p:spTree>
    <p:extLst>
      <p:ext uri="{BB962C8B-B14F-4D97-AF65-F5344CB8AC3E}">
        <p14:creationId xmlns:p14="http://schemas.microsoft.com/office/powerpoint/2010/main" val="63522783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BE5223-744F-79B8-B7F4-0B872955F9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9" name="Group 38">
            <a:extLst>
              <a:ext uri="{FF2B5EF4-FFF2-40B4-BE49-F238E27FC236}">
                <a16:creationId xmlns:a16="http://schemas.microsoft.com/office/drawing/2014/main" id="{839838DC-A2DC-7E2E-1B56-939D05515512}"/>
              </a:ext>
            </a:extLst>
          </p:cNvPr>
          <p:cNvGrpSpPr/>
          <p:nvPr/>
        </p:nvGrpSpPr>
        <p:grpSpPr>
          <a:xfrm>
            <a:off x="9473609" y="2275367"/>
            <a:ext cx="2042904" cy="1443773"/>
            <a:chOff x="9473609" y="2275367"/>
            <a:chExt cx="2042904" cy="1443773"/>
          </a:xfrm>
        </p:grpSpPr>
        <p:sp>
          <p:nvSpPr>
            <p:cNvPr id="35" name="Rectangle 34">
              <a:extLst>
                <a:ext uri="{FF2B5EF4-FFF2-40B4-BE49-F238E27FC236}">
                  <a16:creationId xmlns:a16="http://schemas.microsoft.com/office/drawing/2014/main" id="{ACCCACBE-0694-84BB-0D36-31A076F7BB68}"/>
                </a:ext>
              </a:extLst>
            </p:cNvPr>
            <p:cNvSpPr/>
            <p:nvPr/>
          </p:nvSpPr>
          <p:spPr>
            <a:xfrm>
              <a:off x="10643191" y="2275367"/>
              <a:ext cx="680483" cy="361507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6" name="TextBox 35">
              <a:extLst>
                <a:ext uri="{FF2B5EF4-FFF2-40B4-BE49-F238E27FC236}">
                  <a16:creationId xmlns:a16="http://schemas.microsoft.com/office/drawing/2014/main" id="{A44DB136-D8E7-8CB5-4E88-FC0CF6C2796F}"/>
                </a:ext>
              </a:extLst>
            </p:cNvPr>
            <p:cNvSpPr txBox="1"/>
            <p:nvPr/>
          </p:nvSpPr>
          <p:spPr>
            <a:xfrm>
              <a:off x="9473609" y="3072809"/>
              <a:ext cx="2042904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>
                  <a:solidFill>
                    <a:schemeClr val="accent1">
                      <a:lumMod val="75000"/>
                    </a:schemeClr>
                  </a:solidFill>
                </a:rPr>
                <a:t>decrease of over 72% !</a:t>
              </a:r>
            </a:p>
          </p:txBody>
        </p:sp>
        <p:cxnSp>
          <p:nvCxnSpPr>
            <p:cNvPr id="38" name="Straight Arrow Connector 37">
              <a:extLst>
                <a:ext uri="{FF2B5EF4-FFF2-40B4-BE49-F238E27FC236}">
                  <a16:creationId xmlns:a16="http://schemas.microsoft.com/office/drawing/2014/main" id="{B6354B44-80CA-1A6C-7B5A-76C63E9386A6}"/>
                </a:ext>
              </a:extLst>
            </p:cNvPr>
            <p:cNvCxnSpPr/>
            <p:nvPr/>
          </p:nvCxnSpPr>
          <p:spPr>
            <a:xfrm flipH="1">
              <a:off x="10643191" y="2636874"/>
              <a:ext cx="297711" cy="435935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" name="Title 3">
            <a:extLst>
              <a:ext uri="{FF2B5EF4-FFF2-40B4-BE49-F238E27FC236}">
                <a16:creationId xmlns:a16="http://schemas.microsoft.com/office/drawing/2014/main" id="{A5268506-4FD2-8EB8-E756-9962C97427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>
                <a:solidFill>
                  <a:schemeClr val="bg1"/>
                </a:solidFill>
              </a:rPr>
              <a:t>Off-Centre Impact</a:t>
            </a:r>
            <a:endParaRPr lang="ro-RO" dirty="0">
              <a:solidFill>
                <a:schemeClr val="bg1"/>
              </a:solidFill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73B9511-888C-0C69-BE9E-601F2893DDDD}"/>
              </a:ext>
            </a:extLst>
          </p:cNvPr>
          <p:cNvPicPr>
            <a:picLocks noChangeAspect="1"/>
          </p:cNvPicPr>
          <p:nvPr/>
        </p:nvPicPr>
        <p:blipFill>
          <a:blip r:embed="rId2">
            <a:clrChange>
              <a:clrFrom>
                <a:srgbClr val="000000"/>
              </a:clrFrom>
              <a:clrTo>
                <a:srgbClr val="000000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432471" y="6323329"/>
            <a:ext cx="1492133" cy="496892"/>
          </a:xfrm>
          <a:prstGeom prst="rect">
            <a:avLst/>
          </a:prstGeom>
        </p:spPr>
      </p:pic>
      <p:grpSp>
        <p:nvGrpSpPr>
          <p:cNvPr id="18" name="Group 17">
            <a:extLst>
              <a:ext uri="{FF2B5EF4-FFF2-40B4-BE49-F238E27FC236}">
                <a16:creationId xmlns:a16="http://schemas.microsoft.com/office/drawing/2014/main" id="{2BC236A2-0C4F-0F92-13EC-53E9C57E0FA1}"/>
              </a:ext>
            </a:extLst>
          </p:cNvPr>
          <p:cNvGrpSpPr/>
          <p:nvPr/>
        </p:nvGrpSpPr>
        <p:grpSpPr>
          <a:xfrm>
            <a:off x="702340" y="1472656"/>
            <a:ext cx="4165600" cy="1956344"/>
            <a:chOff x="4147289" y="4510361"/>
            <a:chExt cx="4165600" cy="1956344"/>
          </a:xfrm>
        </p:grpSpPr>
        <p:pic>
          <p:nvPicPr>
            <p:cNvPr id="12" name="Picture 11">
              <a:extLst>
                <a:ext uri="{FF2B5EF4-FFF2-40B4-BE49-F238E27FC236}">
                  <a16:creationId xmlns:a16="http://schemas.microsoft.com/office/drawing/2014/main" id="{59311D8D-4158-769B-1C00-0C05D098AFD4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4147289" y="4510361"/>
              <a:ext cx="4165600" cy="1956344"/>
            </a:xfrm>
            <a:prstGeom prst="rect">
              <a:avLst/>
            </a:prstGeom>
          </p:spPr>
        </p:pic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48EFBC74-7AAF-0DC5-04EF-80202DE3EA23}"/>
                </a:ext>
              </a:extLst>
            </p:cNvPr>
            <p:cNvSpPr/>
            <p:nvPr/>
          </p:nvSpPr>
          <p:spPr>
            <a:xfrm>
              <a:off x="6042265" y="4825883"/>
              <a:ext cx="445747" cy="1640822"/>
            </a:xfrm>
            <a:prstGeom prst="rect">
              <a:avLst/>
            </a:prstGeom>
            <a:solidFill>
              <a:schemeClr val="bg1">
                <a:lumMod val="75000"/>
                <a:alpha val="12702"/>
              </a:schemeClr>
            </a:solidFill>
            <a:ln>
              <a:solidFill>
                <a:schemeClr val="dk1">
                  <a:shade val="95000"/>
                  <a:satMod val="105000"/>
                </a:schemeClr>
              </a:solidFill>
            </a:ln>
          </p:spPr>
          <p:style>
            <a:lnRef idx="1">
              <a:schemeClr val="dk1"/>
            </a:lnRef>
            <a:fillRef idx="2">
              <a:schemeClr val="dk1"/>
            </a:fillRef>
            <a:effectRef idx="1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8BC9A0B1-9738-5B55-4A45-63F90D92D22A}"/>
                </a:ext>
              </a:extLst>
            </p:cNvPr>
            <p:cNvSpPr/>
            <p:nvPr/>
          </p:nvSpPr>
          <p:spPr>
            <a:xfrm>
              <a:off x="7845876" y="4825883"/>
              <a:ext cx="445747" cy="1640822"/>
            </a:xfrm>
            <a:prstGeom prst="rect">
              <a:avLst/>
            </a:prstGeom>
            <a:solidFill>
              <a:schemeClr val="bg1">
                <a:lumMod val="75000"/>
                <a:alpha val="12702"/>
              </a:schemeClr>
            </a:solidFill>
            <a:ln>
              <a:solidFill>
                <a:schemeClr val="dk1">
                  <a:shade val="95000"/>
                  <a:satMod val="105000"/>
                </a:schemeClr>
              </a:solidFill>
            </a:ln>
          </p:spPr>
          <p:style>
            <a:lnRef idx="1">
              <a:schemeClr val="dk1"/>
            </a:lnRef>
            <a:fillRef idx="2">
              <a:schemeClr val="dk1"/>
            </a:fillRef>
            <a:effectRef idx="1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mc:AlternateContent xmlns:mc="http://schemas.openxmlformats.org/markup-compatibility/2006">
        <mc:Choice xmlns:a14="http://schemas.microsoft.com/office/drawing/2010/main" Requires="a14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4E354A3A-E9A6-0C83-363E-D58FFCB5A3FA}"/>
                  </a:ext>
                </a:extLst>
              </p:cNvPr>
              <p:cNvSpPr txBox="1"/>
              <p:nvPr/>
            </p:nvSpPr>
            <p:spPr>
              <a:xfrm>
                <a:off x="1830987" y="5321520"/>
                <a:ext cx="3423093" cy="680636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i="0">
                              <a:latin typeface="Cambria Math" panose="02040503050406030204" pitchFamily="18" charset="0"/>
                            </a:rPr>
                            <m:t>Λ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𝐸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𝐸</m:t>
                              </m:r>
                            </m:e>
                            <m:sub>
                              <m:r>
                                <m:rPr>
                                  <m:nor/>
                                </m:rPr>
                                <a:rPr lang="en-US" i="0">
                                  <a:latin typeface="Cambria Math" panose="02040503050406030204" pitchFamily="18" charset="0"/>
                                </a:rPr>
                                <m:t>kin</m:t>
                              </m:r>
                            </m:sub>
                          </m:s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𝒰</m:t>
                          </m:r>
                          <m:d>
                            <m:d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𝑤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e>
                          </m:d>
                        </m:num>
                        <m:den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𝒰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rem</m:t>
                              </m:r>
                            </m:sub>
                          </m:sSub>
                          <m:d>
                            <m:d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𝑤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</m:e>
                          </m:d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𝒰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rem</m:t>
                              </m:r>
                            </m:sub>
                          </m:sSub>
                          <m:d>
                            <m:d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𝑤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e>
                          </m:d>
                        </m:den>
                      </m:f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4E354A3A-E9A6-0C83-363E-D58FFCB5A3F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830987" y="5321520"/>
                <a:ext cx="3423093" cy="680636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C97ECB92-30C0-F663-34D0-D620AE7CA04C}"/>
                  </a:ext>
                </a:extLst>
              </p:cNvPr>
              <p:cNvSpPr txBox="1"/>
              <p:nvPr/>
            </p:nvSpPr>
            <p:spPr>
              <a:xfrm>
                <a:off x="734208" y="4155674"/>
                <a:ext cx="5616649" cy="83099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sz="1600" dirty="0">
                    <a:latin typeface="Google Sans Text"/>
                  </a:rPr>
                  <a:t>I</a:t>
                </a:r>
                <a:r>
                  <a:rPr lang="en-US" sz="1600" dirty="0">
                    <a:effectLst/>
                    <a:latin typeface="Google Sans Text"/>
                  </a:rPr>
                  <a:t>ndicator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600" i="1" smtClean="0">
                            <a:effectLst/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sz="1600" b="0" i="1" smtClean="0">
                            <a:effectLst/>
                            <a:latin typeface="Cambria Math" panose="02040503050406030204" pitchFamily="18" charset="0"/>
                          </a:rPr>
                          <m:t>Λ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sz="1600" b="0" i="1" smtClean="0">
                            <a:effectLst/>
                            <a:latin typeface="Cambria Math" panose="02040503050406030204" pitchFamily="18" charset="0"/>
                          </a:rPr>
                          <m:t>E</m:t>
                        </m:r>
                      </m:sub>
                    </m:sSub>
                  </m:oMath>
                </a14:m>
                <a:r>
                  <a:rPr lang="en-US" sz="1600" dirty="0">
                    <a:effectLst/>
                    <a:latin typeface="Google Sans Text"/>
                  </a:rPr>
                  <a:t> measures how much of the drone's kinetic energy exceeds the threshold of the first failure, relative to the useful capacity of the residual net</a:t>
                </a:r>
                <a:endParaRPr lang="en-US" sz="1600" dirty="0"/>
              </a:p>
            </p:txBody>
          </p:sp>
        </mc:Choice>
        <mc:Fallback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C97ECB92-30C0-F663-34D0-D620AE7CA04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34208" y="4155674"/>
                <a:ext cx="5616649" cy="830997"/>
              </a:xfrm>
              <a:prstGeom prst="rect">
                <a:avLst/>
              </a:prstGeom>
              <a:blipFill>
                <a:blip r:embed="rId5"/>
                <a:stretch>
                  <a:fillRect l="-450" t="-3030" b="-909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49" name="Group 48">
            <a:extLst>
              <a:ext uri="{FF2B5EF4-FFF2-40B4-BE49-F238E27FC236}">
                <a16:creationId xmlns:a16="http://schemas.microsoft.com/office/drawing/2014/main" id="{DC36A6B5-F6FD-5833-1D55-C33B25D294BD}"/>
              </a:ext>
            </a:extLst>
          </p:cNvPr>
          <p:cNvGrpSpPr/>
          <p:nvPr/>
        </p:nvGrpSpPr>
        <p:grpSpPr>
          <a:xfrm>
            <a:off x="4008475" y="6359249"/>
            <a:ext cx="4893367" cy="370186"/>
            <a:chOff x="3859619" y="6323329"/>
            <a:chExt cx="4893367" cy="370186"/>
          </a:xfrm>
        </p:grpSpPr>
        <p:sp>
          <p:nvSpPr>
            <p:cNvPr id="48" name="Rectangle 47">
              <a:extLst>
                <a:ext uri="{FF2B5EF4-FFF2-40B4-BE49-F238E27FC236}">
                  <a16:creationId xmlns:a16="http://schemas.microsoft.com/office/drawing/2014/main" id="{3F1A4433-30F6-5311-2235-A6EE3261605B}"/>
                </a:ext>
              </a:extLst>
            </p:cNvPr>
            <p:cNvSpPr/>
            <p:nvPr/>
          </p:nvSpPr>
          <p:spPr>
            <a:xfrm>
              <a:off x="3859619" y="6323329"/>
              <a:ext cx="4864571" cy="370186"/>
            </a:xfrm>
            <a:prstGeom prst="rect">
              <a:avLst/>
            </a:prstGeom>
            <a:ln>
              <a:solidFill>
                <a:srgbClr val="0070C0"/>
              </a:solidFill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29" name="TextBox 28">
                  <a:extLst>
                    <a:ext uri="{FF2B5EF4-FFF2-40B4-BE49-F238E27FC236}">
                      <a16:creationId xmlns:a16="http://schemas.microsoft.com/office/drawing/2014/main" id="{C408B721-4D03-23FB-3751-768818378350}"/>
                    </a:ext>
                  </a:extLst>
                </p:cNvPr>
                <p:cNvSpPr txBox="1"/>
                <p:nvPr/>
              </p:nvSpPr>
              <p:spPr>
                <a:xfrm>
                  <a:off x="3888415" y="6324183"/>
                  <a:ext cx="4864571" cy="338554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14:m>
                    <m:oMath xmlns:m="http://schemas.openxmlformats.org/officeDocument/2006/math">
                      <m:sSub>
                        <m:sSubPr>
                          <m:ctrlPr>
                            <a:rPr lang="en-US" sz="1600" i="1" smtClean="0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1600" b="0" i="0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</a:rPr>
                            <m:t>Λ</m:t>
                          </m:r>
                        </m:e>
                        <m:sub>
                          <m:r>
                            <a:rPr lang="en-US" sz="1600" b="0" i="1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</a:rPr>
                            <m:t>𝐸</m:t>
                          </m:r>
                        </m:sub>
                      </m:sSub>
                      <m:r>
                        <a:rPr lang="en-US" sz="1600" b="0" i="1">
                          <a:solidFill>
                            <a:srgbClr val="0070C0"/>
                          </a:solidFill>
                          <a:latin typeface="Cambria Math" panose="02040503050406030204" pitchFamily="18" charset="0"/>
                        </a:rPr>
                        <m:t>≈0.85−0.95</m:t>
                      </m:r>
                    </m:oMath>
                  </a14:m>
                  <a:r>
                    <a:rPr lang="en-US" sz="1600" dirty="0">
                      <a:solidFill>
                        <a:srgbClr val="0070C0"/>
                      </a:solidFill>
                    </a:rPr>
                    <a:t> to leverage full sacrificial efficiency</a:t>
                  </a:r>
                </a:p>
              </p:txBody>
            </p:sp>
          </mc:Choice>
          <mc:Fallback>
            <p:sp>
              <p:nvSpPr>
                <p:cNvPr id="29" name="TextBox 28">
                  <a:extLst>
                    <a:ext uri="{FF2B5EF4-FFF2-40B4-BE49-F238E27FC236}">
                      <a16:creationId xmlns:a16="http://schemas.microsoft.com/office/drawing/2014/main" id="{C408B721-4D03-23FB-3751-76881837835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888415" y="6324183"/>
                  <a:ext cx="4864571" cy="338554"/>
                </a:xfrm>
                <a:prstGeom prst="rect">
                  <a:avLst/>
                </a:prstGeom>
                <a:blipFill>
                  <a:blip r:embed="rId6"/>
                  <a:stretch>
                    <a:fillRect t="-3571" r="-521" b="-250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30" name="Left Brace 29">
            <a:extLst>
              <a:ext uri="{FF2B5EF4-FFF2-40B4-BE49-F238E27FC236}">
                <a16:creationId xmlns:a16="http://schemas.microsoft.com/office/drawing/2014/main" id="{6647EFE0-751F-B181-38F5-B28B96F58208}"/>
              </a:ext>
            </a:extLst>
          </p:cNvPr>
          <p:cNvSpPr/>
          <p:nvPr/>
        </p:nvSpPr>
        <p:spPr>
          <a:xfrm>
            <a:off x="6579075" y="4155674"/>
            <a:ext cx="358847" cy="1764153"/>
          </a:xfrm>
          <a:prstGeom prst="leftBrac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E1EB3B6D-16BF-3D22-C435-586EC2B9F2FC}"/>
                  </a:ext>
                </a:extLst>
              </p:cNvPr>
              <p:cNvSpPr txBox="1"/>
              <p:nvPr/>
            </p:nvSpPr>
            <p:spPr>
              <a:xfrm>
                <a:off x="5405768" y="2085567"/>
                <a:ext cx="1640072" cy="73052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Sup>
                            <m:sSubSup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US" i="1">
                                  <a:latin typeface="Cambria Math" panose="02040503050406030204" pitchFamily="18" charset="0"/>
                                </a:rPr>
                                <m:t>min</m:t>
                              </m:r>
                            </m:sub>
                            <m:sup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sup>
                          </m:sSubSup>
                        </m:num>
                        <m:den>
                          <m:sSubSup>
                            <m:sSubSup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US" i="1">
                                  <a:latin typeface="Cambria Math" panose="02040503050406030204" pitchFamily="18" charset="0"/>
                                </a:rPr>
                                <m:t>min</m:t>
                              </m:r>
                            </m:sub>
                            <m:sup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sup>
                          </m:sSubSup>
                        </m:den>
                      </m:f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𝜂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sub>
                          </m:sSub>
                        </m:num>
                        <m:den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𝜂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E1EB3B6D-16BF-3D22-C435-586EC2B9F2F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05768" y="2085567"/>
                <a:ext cx="1640072" cy="730521"/>
              </a:xfrm>
              <a:prstGeom prst="rect">
                <a:avLst/>
              </a:prstGeom>
              <a:blipFill>
                <a:blip r:embed="rId7"/>
                <a:stretch>
                  <a:fillRect b="-172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4" name="TextBox 33">
                <a:extLst>
                  <a:ext uri="{FF2B5EF4-FFF2-40B4-BE49-F238E27FC236}">
                    <a16:creationId xmlns:a16="http://schemas.microsoft.com/office/drawing/2014/main" id="{BB6BB039-30C4-22CB-A65C-4787EE4FB3D1}"/>
                  </a:ext>
                </a:extLst>
              </p:cNvPr>
              <p:cNvSpPr txBox="1"/>
              <p:nvPr/>
            </p:nvSpPr>
            <p:spPr>
              <a:xfrm>
                <a:off x="7145169" y="2085567"/>
                <a:ext cx="4371344" cy="73052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a</m:t>
                          </m:r>
                        </m:num>
                        <m:den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R</m:t>
                          </m:r>
                        </m:den>
                      </m:f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=0.5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⇒</m:t>
                      </m:r>
                      <m:f>
                        <m:f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Sup>
                            <m:sSubSup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US" i="1">
                                  <a:latin typeface="Cambria Math" panose="02040503050406030204" pitchFamily="18" charset="0"/>
                                </a:rPr>
                                <m:t>min</m:t>
                              </m:r>
                            </m:sub>
                            <m:sup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sup>
                          </m:sSubSup>
                        </m:num>
                        <m:den>
                          <m:sSubSup>
                            <m:sSubSup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US" i="1">
                                  <a:latin typeface="Cambria Math" panose="02040503050406030204" pitchFamily="18" charset="0"/>
                                </a:rPr>
                                <m:t>min</m:t>
                              </m:r>
                            </m:sub>
                            <m:sup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sup>
                          </m:sSubSup>
                        </m:den>
                      </m:f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𝜂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sub>
                          </m:sSub>
                        </m:num>
                        <m:den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𝜂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sub>
                          </m:sSub>
                        </m:den>
                      </m:f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0.068</m:t>
                          </m:r>
                        </m:num>
                        <m:den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0.244</m:t>
                          </m:r>
                        </m:den>
                      </m:f>
                      <m:r>
                        <a:rPr lang="en-US" i="1">
                          <a:latin typeface="Cambria Math" panose="02040503050406030204" pitchFamily="18" charset="0"/>
                        </a:rPr>
                        <m:t>≈0.279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34" name="TextBox 33">
                <a:extLst>
                  <a:ext uri="{FF2B5EF4-FFF2-40B4-BE49-F238E27FC236}">
                    <a16:creationId xmlns:a16="http://schemas.microsoft.com/office/drawing/2014/main" id="{BB6BB039-30C4-22CB-A65C-4787EE4FB3D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145169" y="2085567"/>
                <a:ext cx="4371344" cy="730521"/>
              </a:xfrm>
              <a:prstGeom prst="rect">
                <a:avLst/>
              </a:prstGeom>
              <a:blipFill>
                <a:blip r:embed="rId8"/>
                <a:stretch>
                  <a:fillRect b="-172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50" name="Group 49">
            <a:extLst>
              <a:ext uri="{FF2B5EF4-FFF2-40B4-BE49-F238E27FC236}">
                <a16:creationId xmlns:a16="http://schemas.microsoft.com/office/drawing/2014/main" id="{199D0253-4BD0-55AD-D825-3231F408754D}"/>
              </a:ext>
            </a:extLst>
          </p:cNvPr>
          <p:cNvGrpSpPr/>
          <p:nvPr/>
        </p:nvGrpSpPr>
        <p:grpSpPr>
          <a:xfrm>
            <a:off x="6937922" y="4155674"/>
            <a:ext cx="4045510" cy="369332"/>
            <a:chOff x="6937922" y="4155674"/>
            <a:chExt cx="4045510" cy="369332"/>
          </a:xfrm>
        </p:grpSpPr>
        <mc:AlternateContent xmlns:mc="http://schemas.openxmlformats.org/markup-compatibility/2006">
          <mc:Choice xmlns:a14="http://schemas.microsoft.com/office/drawing/2010/main" Requires="a14">
            <p:sp>
              <p:nvSpPr>
                <p:cNvPr id="24" name="TextBox 23">
                  <a:extLst>
                    <a:ext uri="{FF2B5EF4-FFF2-40B4-BE49-F238E27FC236}">
                      <a16:creationId xmlns:a16="http://schemas.microsoft.com/office/drawing/2014/main" id="{52795F9B-57F1-5079-9364-4B503B81A701}"/>
                    </a:ext>
                  </a:extLst>
                </p:cNvPr>
                <p:cNvSpPr txBox="1"/>
                <p:nvPr/>
              </p:nvSpPr>
              <p:spPr>
                <a:xfrm>
                  <a:off x="6937922" y="4155674"/>
                  <a:ext cx="1289198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i="0">
                                <a:latin typeface="Cambria Math" panose="02040503050406030204" pitchFamily="18" charset="0"/>
                              </a:rPr>
                              <m:t>Λ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𝐸</m:t>
                            </m:r>
                          </m:sub>
                        </m:sSub>
                        <m:r>
                          <a:rPr lang="en-US" i="1">
                            <a:latin typeface="Cambria Math" panose="02040503050406030204" pitchFamily="18" charset="0"/>
                          </a:rPr>
                          <m:t>≤0</m:t>
                        </m:r>
                      </m:oMath>
                    </m:oMathPara>
                  </a14:m>
                  <a:endParaRPr lang="en-US" dirty="0"/>
                </a:p>
              </p:txBody>
            </p:sp>
          </mc:Choice>
          <mc:Fallback>
            <p:sp>
              <p:nvSpPr>
                <p:cNvPr id="24" name="TextBox 23">
                  <a:extLst>
                    <a:ext uri="{FF2B5EF4-FFF2-40B4-BE49-F238E27FC236}">
                      <a16:creationId xmlns:a16="http://schemas.microsoft.com/office/drawing/2014/main" id="{52795F9B-57F1-5079-9364-4B503B81A70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937922" y="4155674"/>
                  <a:ext cx="1289198" cy="369332"/>
                </a:xfrm>
                <a:prstGeom prst="rect">
                  <a:avLst/>
                </a:prstGeom>
                <a:blipFill>
                  <a:blip r:embed="rId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41" name="TextBox 40">
              <a:extLst>
                <a:ext uri="{FF2B5EF4-FFF2-40B4-BE49-F238E27FC236}">
                  <a16:creationId xmlns:a16="http://schemas.microsoft.com/office/drawing/2014/main" id="{00C5D7D5-42D7-D86E-228B-9022ED9FBE0E}"/>
                </a:ext>
              </a:extLst>
            </p:cNvPr>
            <p:cNvSpPr txBox="1"/>
            <p:nvPr/>
          </p:nvSpPr>
          <p:spPr>
            <a:xfrm>
              <a:off x="8724190" y="4180815"/>
              <a:ext cx="2259242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1400" i="1" dirty="0">
                  <a:solidFill>
                    <a:srgbClr val="0070C0"/>
                  </a:solidFill>
                </a:rPr>
                <a:t>Pure elastic response</a:t>
              </a:r>
            </a:p>
          </p:txBody>
        </p:sp>
      </p:grpSp>
      <p:grpSp>
        <p:nvGrpSpPr>
          <p:cNvPr id="51" name="Group 50">
            <a:extLst>
              <a:ext uri="{FF2B5EF4-FFF2-40B4-BE49-F238E27FC236}">
                <a16:creationId xmlns:a16="http://schemas.microsoft.com/office/drawing/2014/main" id="{07E9D6CA-3832-B475-07A2-09884535E6B9}"/>
              </a:ext>
            </a:extLst>
          </p:cNvPr>
          <p:cNvGrpSpPr/>
          <p:nvPr/>
        </p:nvGrpSpPr>
        <p:grpSpPr>
          <a:xfrm>
            <a:off x="6937922" y="4894338"/>
            <a:ext cx="4403330" cy="369332"/>
            <a:chOff x="6937922" y="4894338"/>
            <a:chExt cx="4403330" cy="369332"/>
          </a:xfrm>
        </p:grpSpPr>
        <mc:AlternateContent xmlns:mc="http://schemas.openxmlformats.org/markup-compatibility/2006">
          <mc:Choice xmlns:a14="http://schemas.microsoft.com/office/drawing/2010/main" Requires="a14">
            <p:sp>
              <p:nvSpPr>
                <p:cNvPr id="25" name="TextBox 24">
                  <a:extLst>
                    <a:ext uri="{FF2B5EF4-FFF2-40B4-BE49-F238E27FC236}">
                      <a16:creationId xmlns:a16="http://schemas.microsoft.com/office/drawing/2014/main" id="{C448E541-BF4C-E0CD-3A5B-D64B209F8FAC}"/>
                    </a:ext>
                  </a:extLst>
                </p:cNvPr>
                <p:cNvSpPr txBox="1"/>
                <p:nvPr/>
              </p:nvSpPr>
              <p:spPr>
                <a:xfrm>
                  <a:off x="6937922" y="4894338"/>
                  <a:ext cx="1689691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0" smtClean="0">
                                <a:latin typeface="Cambria Math" panose="02040503050406030204" pitchFamily="18" charset="0"/>
                              </a:rPr>
                              <m:t>0&lt;</m:t>
                            </m:r>
                            <m:r>
                              <m:rPr>
                                <m:sty m:val="p"/>
                              </m:rPr>
                              <a:rPr lang="en-US" i="0">
                                <a:latin typeface="Cambria Math" panose="02040503050406030204" pitchFamily="18" charset="0"/>
                              </a:rPr>
                              <m:t>Λ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𝐸</m:t>
                            </m:r>
                          </m:sub>
                        </m:s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&lt;1</m:t>
                        </m:r>
                      </m:oMath>
                    </m:oMathPara>
                  </a14:m>
                  <a:endParaRPr lang="en-US" dirty="0"/>
                </a:p>
              </p:txBody>
            </p:sp>
          </mc:Choice>
          <mc:Fallback>
            <p:sp>
              <p:nvSpPr>
                <p:cNvPr id="25" name="TextBox 24">
                  <a:extLst>
                    <a:ext uri="{FF2B5EF4-FFF2-40B4-BE49-F238E27FC236}">
                      <a16:creationId xmlns:a16="http://schemas.microsoft.com/office/drawing/2014/main" id="{C448E541-BF4C-E0CD-3A5B-D64B209F8FA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937922" y="4894338"/>
                  <a:ext cx="1689691" cy="369332"/>
                </a:xfrm>
                <a:prstGeom prst="rect">
                  <a:avLst/>
                </a:prstGeom>
                <a:blipFill>
                  <a:blip r:embed="rId1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43" name="TextBox 42">
              <a:extLst>
                <a:ext uri="{FF2B5EF4-FFF2-40B4-BE49-F238E27FC236}">
                  <a16:creationId xmlns:a16="http://schemas.microsoft.com/office/drawing/2014/main" id="{F802AB13-1703-4861-C332-554D5E9DB4AA}"/>
                </a:ext>
              </a:extLst>
            </p:cNvPr>
            <p:cNvSpPr txBox="1"/>
            <p:nvPr/>
          </p:nvSpPr>
          <p:spPr>
            <a:xfrm>
              <a:off x="8724190" y="4894338"/>
              <a:ext cx="2617062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1400" i="1" dirty="0">
                  <a:solidFill>
                    <a:srgbClr val="0070C0"/>
                  </a:solidFill>
                </a:rPr>
                <a:t>Controlled sacrificial capture</a:t>
              </a:r>
            </a:p>
          </p:txBody>
        </p:sp>
      </p:grpSp>
      <p:grpSp>
        <p:nvGrpSpPr>
          <p:cNvPr id="52" name="Group 51">
            <a:extLst>
              <a:ext uri="{FF2B5EF4-FFF2-40B4-BE49-F238E27FC236}">
                <a16:creationId xmlns:a16="http://schemas.microsoft.com/office/drawing/2014/main" id="{6B9AEC0F-0718-22CC-73C4-2F57C7555CDD}"/>
              </a:ext>
            </a:extLst>
          </p:cNvPr>
          <p:cNvGrpSpPr/>
          <p:nvPr/>
        </p:nvGrpSpPr>
        <p:grpSpPr>
          <a:xfrm>
            <a:off x="6937922" y="5448336"/>
            <a:ext cx="5491121" cy="369332"/>
            <a:chOff x="6937922" y="5448336"/>
            <a:chExt cx="5491121" cy="369332"/>
          </a:xfrm>
        </p:grpSpPr>
        <mc:AlternateContent xmlns:mc="http://schemas.openxmlformats.org/markup-compatibility/2006">
          <mc:Choice xmlns:a14="http://schemas.microsoft.com/office/drawing/2010/main" Requires="a14">
            <p:sp>
              <p:nvSpPr>
                <p:cNvPr id="27" name="TextBox 26">
                  <a:extLst>
                    <a:ext uri="{FF2B5EF4-FFF2-40B4-BE49-F238E27FC236}">
                      <a16:creationId xmlns:a16="http://schemas.microsoft.com/office/drawing/2014/main" id="{E9C03531-B261-2D43-ED25-B9D1453BEB45}"/>
                    </a:ext>
                  </a:extLst>
                </p:cNvPr>
                <p:cNvSpPr txBox="1"/>
                <p:nvPr/>
              </p:nvSpPr>
              <p:spPr>
                <a:xfrm>
                  <a:off x="6937922" y="5448336"/>
                  <a:ext cx="1289198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i="0">
                                <a:latin typeface="Cambria Math" panose="02040503050406030204" pitchFamily="18" charset="0"/>
                              </a:rPr>
                              <m:t>Λ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𝐸</m:t>
                            </m:r>
                          </m:sub>
                        </m:sSub>
                        <m:r>
                          <a:rPr lang="en-US" i="1">
                            <a:latin typeface="Cambria Math" panose="02040503050406030204" pitchFamily="18" charset="0"/>
                          </a:rPr>
                          <m:t>≥1</m:t>
                        </m:r>
                      </m:oMath>
                    </m:oMathPara>
                  </a14:m>
                  <a:endParaRPr lang="en-US" dirty="0"/>
                </a:p>
              </p:txBody>
            </p:sp>
          </mc:Choice>
          <mc:Fallback>
            <p:sp>
              <p:nvSpPr>
                <p:cNvPr id="27" name="TextBox 26">
                  <a:extLst>
                    <a:ext uri="{FF2B5EF4-FFF2-40B4-BE49-F238E27FC236}">
                      <a16:creationId xmlns:a16="http://schemas.microsoft.com/office/drawing/2014/main" id="{E9C03531-B261-2D43-ED25-B9D1453BEB4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937922" y="5448336"/>
                  <a:ext cx="1289198" cy="369332"/>
                </a:xfrm>
                <a:prstGeom prst="rect">
                  <a:avLst/>
                </a:prstGeom>
                <a:blipFill>
                  <a:blip r:embed="rId11"/>
                  <a:stretch>
                    <a:fillRect b="-344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45" name="TextBox 44">
              <a:extLst>
                <a:ext uri="{FF2B5EF4-FFF2-40B4-BE49-F238E27FC236}">
                  <a16:creationId xmlns:a16="http://schemas.microsoft.com/office/drawing/2014/main" id="{05F9EAB0-C51D-57D7-E2A7-A26E920CB492}"/>
                </a:ext>
              </a:extLst>
            </p:cNvPr>
            <p:cNvSpPr txBox="1"/>
            <p:nvPr/>
          </p:nvSpPr>
          <p:spPr>
            <a:xfrm>
              <a:off x="8724190" y="5509891"/>
              <a:ext cx="3704853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1400" i="1" dirty="0">
                  <a:solidFill>
                    <a:srgbClr val="0070C0"/>
                  </a:solidFill>
                </a:rPr>
                <a:t>Perforation / Catastrophic failure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72913595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3" presetClass="entr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11" dur="5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2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/>
      <p:bldP spid="22" grpId="0"/>
      <p:bldP spid="30" grpId="0" animBg="1"/>
      <p:bldP spid="34" grpId="0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E528F2-975B-119C-312C-A56FF891BC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3CAE2BFE-5038-25F1-5B55-1F2932F19A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>
                <a:solidFill>
                  <a:schemeClr val="bg1"/>
                </a:solidFill>
              </a:rPr>
              <a:t>Limitations of the current approach</a:t>
            </a:r>
            <a:endParaRPr lang="ro-RO" dirty="0">
              <a:solidFill>
                <a:schemeClr val="bg1"/>
              </a:solidFill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7036559-6DA2-4972-AE7D-258914CA882E}"/>
              </a:ext>
            </a:extLst>
          </p:cNvPr>
          <p:cNvPicPr>
            <a:picLocks noChangeAspect="1"/>
          </p:cNvPicPr>
          <p:nvPr/>
        </p:nvPicPr>
        <p:blipFill>
          <a:blip r:embed="rId2">
            <a:clrChange>
              <a:clrFrom>
                <a:srgbClr val="000000"/>
              </a:clrFrom>
              <a:clrTo>
                <a:srgbClr val="000000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432471" y="6323329"/>
            <a:ext cx="1492133" cy="496892"/>
          </a:xfrm>
          <a:prstGeom prst="rect">
            <a:avLst/>
          </a:prstGeom>
        </p:spPr>
      </p:pic>
      <p:grpSp>
        <p:nvGrpSpPr>
          <p:cNvPr id="23" name="Group 22">
            <a:extLst>
              <a:ext uri="{FF2B5EF4-FFF2-40B4-BE49-F238E27FC236}">
                <a16:creationId xmlns:a16="http://schemas.microsoft.com/office/drawing/2014/main" id="{96DD6596-B41D-71DB-6620-B534A186880D}"/>
              </a:ext>
            </a:extLst>
          </p:cNvPr>
          <p:cNvGrpSpPr/>
          <p:nvPr/>
        </p:nvGrpSpPr>
        <p:grpSpPr>
          <a:xfrm>
            <a:off x="820894" y="1681073"/>
            <a:ext cx="11103710" cy="738664"/>
            <a:chOff x="820894" y="1681073"/>
            <a:chExt cx="11103710" cy="738664"/>
          </a:xfrm>
        </p:grpSpPr>
        <p:sp>
          <p:nvSpPr>
            <p:cNvPr id="3" name="TextBox 2">
              <a:extLst>
                <a:ext uri="{FF2B5EF4-FFF2-40B4-BE49-F238E27FC236}">
                  <a16:creationId xmlns:a16="http://schemas.microsoft.com/office/drawing/2014/main" id="{EBF4105D-9D42-DDC4-CD8E-C3F112AA7D16}"/>
                </a:ext>
              </a:extLst>
            </p:cNvPr>
            <p:cNvSpPr txBox="1"/>
            <p:nvPr/>
          </p:nvSpPr>
          <p:spPr>
            <a:xfrm>
              <a:off x="820894" y="1681073"/>
              <a:ext cx="6097772" cy="64633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just">
                <a:buNone/>
              </a:pPr>
              <a:r>
                <a:rPr lang="en-US" dirty="0">
                  <a:effectLst/>
                  <a:latin typeface="Helvetica" pitchFamily="2" charset="0"/>
                </a:rPr>
                <a:t>The cubic law has no yield region; real dragline silk softens before stiffening.</a:t>
              </a:r>
            </a:p>
          </p:txBody>
        </p:sp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34FC984C-169C-6397-F6D7-724302308714}"/>
                </a:ext>
              </a:extLst>
            </p:cNvPr>
            <p:cNvSpPr txBox="1"/>
            <p:nvPr/>
          </p:nvSpPr>
          <p:spPr>
            <a:xfrm>
              <a:off x="7097424" y="1681073"/>
              <a:ext cx="4827180" cy="738664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buNone/>
              </a:pPr>
              <a:r>
                <a:rPr lang="en-US" sz="1400" dirty="0">
                  <a:effectLst/>
                  <a:latin typeface="Helvetica" pitchFamily="2" charset="0"/>
                </a:rPr>
                <a:t>S. W. Cranford, A. </a:t>
              </a:r>
              <a:r>
                <a:rPr lang="en-US" sz="1400" dirty="0" err="1">
                  <a:effectLst/>
                  <a:latin typeface="Helvetica" pitchFamily="2" charset="0"/>
                </a:rPr>
                <a:t>Tarakanova</a:t>
              </a:r>
              <a:r>
                <a:rPr lang="en-US" sz="1400" dirty="0">
                  <a:effectLst/>
                  <a:latin typeface="Helvetica" pitchFamily="2" charset="0"/>
                </a:rPr>
                <a:t>, N. M. Pugno, and M. J. Buehler – “</a:t>
              </a:r>
              <a:r>
                <a:rPr lang="en-US" sz="1400" i="1" dirty="0">
                  <a:effectLst/>
                  <a:latin typeface="Helvetica" pitchFamily="2" charset="0"/>
                </a:rPr>
                <a:t>Nonlinear material behavior of spider silk yields robust Webs</a:t>
              </a:r>
              <a:r>
                <a:rPr lang="en-US" sz="1400" dirty="0">
                  <a:effectLst/>
                  <a:latin typeface="Helvetica" pitchFamily="2" charset="0"/>
                </a:rPr>
                <a:t>”, Nature 482, 72 (2012)</a:t>
              </a:r>
            </a:p>
          </p:txBody>
        </p:sp>
      </p:grpSp>
      <p:grpSp>
        <p:nvGrpSpPr>
          <p:cNvPr id="24" name="Group 23">
            <a:extLst>
              <a:ext uri="{FF2B5EF4-FFF2-40B4-BE49-F238E27FC236}">
                <a16:creationId xmlns:a16="http://schemas.microsoft.com/office/drawing/2014/main" id="{7A962771-B31C-B16B-6606-2F681952C7B7}"/>
              </a:ext>
            </a:extLst>
          </p:cNvPr>
          <p:cNvGrpSpPr/>
          <p:nvPr/>
        </p:nvGrpSpPr>
        <p:grpSpPr>
          <a:xfrm>
            <a:off x="820894" y="2861286"/>
            <a:ext cx="10003512" cy="646331"/>
            <a:chOff x="820894" y="2861286"/>
            <a:chExt cx="10003512" cy="646331"/>
          </a:xfrm>
        </p:grpSpPr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6586A2D5-6C3E-F63B-08E3-5AEDD3F99A14}"/>
                </a:ext>
              </a:extLst>
            </p:cNvPr>
            <p:cNvSpPr txBox="1"/>
            <p:nvPr/>
          </p:nvSpPr>
          <p:spPr>
            <a:xfrm>
              <a:off x="820894" y="2861286"/>
              <a:ext cx="6097772" cy="64633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just">
                <a:buNone/>
              </a:pPr>
              <a:r>
                <a:rPr lang="en-US" dirty="0">
                  <a:effectLst/>
                  <a:latin typeface="Helvetica" pitchFamily="2" charset="0"/>
                </a:rPr>
                <a:t>Threads are massless in the quasi-static analysis, and bending, friction at crossings, and knots are ignored.</a:t>
              </a:r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3" name="TextBox 12">
                  <a:extLst>
                    <a:ext uri="{FF2B5EF4-FFF2-40B4-BE49-F238E27FC236}">
                      <a16:creationId xmlns:a16="http://schemas.microsoft.com/office/drawing/2014/main" id="{627A0D1A-46DE-FE2A-D1F3-53F1C061FBE7}"/>
                    </a:ext>
                  </a:extLst>
                </p:cNvPr>
                <p:cNvSpPr txBox="1"/>
                <p:nvPr/>
              </p:nvSpPr>
              <p:spPr>
                <a:xfrm>
                  <a:off x="7097424" y="2951087"/>
                  <a:ext cx="3726982" cy="215444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14:m>
                    <m:oMath xmlns:m="http://schemas.openxmlformats.org/officeDocument/2006/math">
                      <m:func>
                        <m:funcPr>
                          <m:ctrlPr>
                            <a:rPr lang="en-US" sz="1400" i="0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sz="1400" i="0">
                              <a:latin typeface="Cambria Math" panose="02040503050406030204" pitchFamily="18" charset="0"/>
                            </a:rPr>
                            <m:t>min</m:t>
                          </m:r>
                        </m:fName>
                        <m:e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𝒰</m:t>
                          </m:r>
                          <m:d>
                            <m:dPr>
                              <m:ctrlPr>
                                <a:rPr lang="en-US" sz="14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sz="14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40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sz="1400" i="1">
                                      <a:latin typeface="Cambria Math" panose="02040503050406030204" pitchFamily="18" charset="0"/>
                                    </a:rPr>
                                    <m:t>h</m:t>
                                  </m:r>
                                </m:sub>
                              </m:sSub>
                              <m:r>
                                <a:rPr lang="en-US" sz="1400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sSub>
                                <m:sSubPr>
                                  <m:ctrlPr>
                                    <a:rPr lang="en-US" sz="14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400" i="1">
                                      <a:latin typeface="Cambria Math" panose="02040503050406030204" pitchFamily="18" charset="0"/>
                                    </a:rPr>
                                    <m:t>𝑧</m:t>
                                  </m:r>
                                </m:e>
                                <m:sub>
                                  <m:r>
                                    <a:rPr lang="en-US" sz="1400" i="1">
                                      <a:latin typeface="Cambria Math" panose="02040503050406030204" pitchFamily="18" charset="0"/>
                                    </a:rPr>
                                    <m:t>h</m:t>
                                  </m:r>
                                </m:sub>
                              </m:sSub>
                            </m:e>
                          </m:d>
                        </m:e>
                      </m:func>
                      <m:r>
                        <m:rPr>
                          <m:sty m:val="p"/>
                        </m:rPr>
                        <a:rPr lang="en-US" sz="1400" b="0" i="1" smtClean="0">
                          <a:latin typeface="Cambria Math" panose="02040503050406030204" pitchFamily="18" charset="0"/>
                        </a:rPr>
                        <m:t>or</m:t>
                      </m:r>
                      <m:nary>
                        <m:naryPr>
                          <m:chr m:val="∑"/>
                          <m:subHide m:val="on"/>
                          <m:supHide m:val="on"/>
                          <m:ctrlPr>
                            <a:rPr lang="en-US" sz="1400" i="1">
                              <a:latin typeface="Cambria Math" panose="02040503050406030204" pitchFamily="18" charset="0"/>
                            </a:rPr>
                          </m:ctrlPr>
                        </m:naryPr>
                        <m:sub/>
                        <m:sup/>
                        <m:e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𝐅</m:t>
                          </m:r>
                        </m:e>
                      </m:nary>
                      <m:r>
                        <a:rPr lang="en-US" sz="1400" i="1">
                          <a:latin typeface="Cambria Math" panose="02040503050406030204" pitchFamily="18" charset="0"/>
                        </a:rPr>
                        <m:t>=0</m:t>
                      </m:r>
                    </m:oMath>
                  </a14:m>
                  <a:r>
                    <a:rPr lang="en-US" sz="1400" dirty="0"/>
                    <a:t>, ignores threads mass.</a:t>
                  </a:r>
                </a:p>
              </p:txBody>
            </p:sp>
          </mc:Choice>
          <mc:Fallback>
            <p:sp>
              <p:nvSpPr>
                <p:cNvPr id="13" name="TextBox 12">
                  <a:extLst>
                    <a:ext uri="{FF2B5EF4-FFF2-40B4-BE49-F238E27FC236}">
                      <a16:creationId xmlns:a16="http://schemas.microsoft.com/office/drawing/2014/main" id="{627A0D1A-46DE-FE2A-D1F3-53F1C061FBE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097424" y="2951087"/>
                  <a:ext cx="3726982" cy="215444"/>
                </a:xfrm>
                <a:prstGeom prst="rect">
                  <a:avLst/>
                </a:prstGeom>
                <a:blipFill>
                  <a:blip r:embed="rId3"/>
                  <a:stretch>
                    <a:fillRect l="-1695" t="-161111" r="-2034" b="-25555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mc:AlternateContent xmlns:mc="http://schemas.openxmlformats.org/markup-compatibility/2006">
        <mc:Choice xmlns:a14="http://schemas.microsoft.com/office/drawing/2010/main" Requires="a14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6DF5CA08-57D7-F9E7-7FB5-ABB4B3CCE58A}"/>
                  </a:ext>
                </a:extLst>
              </p:cNvPr>
              <p:cNvSpPr txBox="1"/>
              <p:nvPr/>
            </p:nvSpPr>
            <p:spPr>
              <a:xfrm>
                <a:off x="820894" y="5399999"/>
                <a:ext cx="6097772" cy="92333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just">
                  <a:buNone/>
                </a:pPr>
                <a:r>
                  <a:rPr lang="en-US" dirty="0">
                    <a:effectLst/>
                    <a:latin typeface="Helvetica" pitchFamily="2" charset="0"/>
                  </a:rPr>
                  <a:t>Failure is instantaneous at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smtClean="0">
                            <a:effectLst/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b="0" i="1" smtClean="0">
                            <a:effectLst/>
                            <a:latin typeface="Cambria Math" panose="02040503050406030204" pitchFamily="18" charset="0"/>
                          </a:rPr>
                          <m:t>ϵ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b="0" i="1" smtClean="0">
                            <a:effectLst/>
                            <a:latin typeface="Cambria Math" panose="02040503050406030204" pitchFamily="18" charset="0"/>
                          </a:rPr>
                          <m:t>b</m:t>
                        </m:r>
                      </m:sub>
                    </m:sSub>
                  </m:oMath>
                </a14:m>
                <a:r>
                  <a:rPr lang="en-US" dirty="0">
                    <a:effectLst/>
                    <a:latin typeface="Helvetica" pitchFamily="2" charset="0"/>
                  </a:rPr>
                  <a:t>, without damage or softening. A broken radial then fails at several segments as the released thread recoils.</a:t>
                </a:r>
              </a:p>
            </p:txBody>
          </p:sp>
        </mc:Choice>
        <mc:Fallback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6DF5CA08-57D7-F9E7-7FB5-ABB4B3CCE58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0894" y="5399999"/>
                <a:ext cx="6097772" cy="923330"/>
              </a:xfrm>
              <a:prstGeom prst="rect">
                <a:avLst/>
              </a:prstGeom>
              <a:blipFill>
                <a:blip r:embed="rId4"/>
                <a:stretch>
                  <a:fillRect l="-832" t="-4110" r="-832" b="-958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25" name="Group 24">
            <a:extLst>
              <a:ext uri="{FF2B5EF4-FFF2-40B4-BE49-F238E27FC236}">
                <a16:creationId xmlns:a16="http://schemas.microsoft.com/office/drawing/2014/main" id="{6B40DC92-D012-43C3-6CEC-018AD51FFE50}"/>
              </a:ext>
            </a:extLst>
          </p:cNvPr>
          <p:cNvGrpSpPr/>
          <p:nvPr/>
        </p:nvGrpSpPr>
        <p:grpSpPr>
          <a:xfrm>
            <a:off x="820894" y="4307315"/>
            <a:ext cx="11079127" cy="646331"/>
            <a:chOff x="820894" y="4307315"/>
            <a:chExt cx="11079127" cy="646331"/>
          </a:xfrm>
        </p:grpSpPr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228CA655-C06A-83CA-2366-A6363893F83F}"/>
                </a:ext>
              </a:extLst>
            </p:cNvPr>
            <p:cNvSpPr txBox="1"/>
            <p:nvPr/>
          </p:nvSpPr>
          <p:spPr>
            <a:xfrm>
              <a:off x="820894" y="4307315"/>
              <a:ext cx="6097772" cy="64633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just">
                <a:buNone/>
              </a:pPr>
              <a:r>
                <a:rPr lang="en-US" dirty="0">
                  <a:effectLst/>
                  <a:latin typeface="Helvetica" pitchFamily="2" charset="0"/>
                </a:rPr>
                <a:t>Strength variability between threads, which drives cascades in fiber-bundle models is not included.</a:t>
              </a:r>
            </a:p>
          </p:txBody>
        </p:sp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8AB7B051-42A3-0368-4EB7-633DA0D33F8D}"/>
                </a:ext>
              </a:extLst>
            </p:cNvPr>
            <p:cNvSpPr txBox="1"/>
            <p:nvPr/>
          </p:nvSpPr>
          <p:spPr>
            <a:xfrm>
              <a:off x="7097424" y="4375598"/>
              <a:ext cx="4802597" cy="52322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buNone/>
              </a:pPr>
              <a:r>
                <a:rPr lang="en-US" sz="1400" dirty="0">
                  <a:effectLst/>
                  <a:latin typeface="Helvetica" pitchFamily="2" charset="0"/>
                </a:rPr>
                <a:t>G. Pal et al. – “</a:t>
              </a:r>
              <a:r>
                <a:rPr lang="en-US" sz="1400" i="1" dirty="0">
                  <a:effectLst/>
                  <a:latin typeface="Helvetica" pitchFamily="2" charset="0"/>
                </a:rPr>
                <a:t>Scaling laws of failure dynamics on complex networks</a:t>
              </a:r>
              <a:r>
                <a:rPr lang="en-US" sz="1400" dirty="0">
                  <a:effectLst/>
                  <a:latin typeface="Helvetica" pitchFamily="2" charset="0"/>
                </a:rPr>
                <a:t>”, Sci. Rep. 13, 19733 (2023).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40127039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340E9E-2789-BBB6-53BD-19B61A3B9A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E8AEA9E9-CC56-D994-F308-26C1707253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>
                <a:solidFill>
                  <a:schemeClr val="bg1"/>
                </a:solidFill>
              </a:rPr>
              <a:t>Research next steps</a:t>
            </a:r>
            <a:endParaRPr lang="ro-RO" dirty="0">
              <a:solidFill>
                <a:schemeClr val="bg1"/>
              </a:solidFill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CDC0798-CE01-CC27-96C4-D5122666A37A}"/>
              </a:ext>
            </a:extLst>
          </p:cNvPr>
          <p:cNvPicPr>
            <a:picLocks noChangeAspect="1"/>
          </p:cNvPicPr>
          <p:nvPr/>
        </p:nvPicPr>
        <p:blipFill>
          <a:blip r:embed="rId2">
            <a:clrChange>
              <a:clrFrom>
                <a:srgbClr val="000000"/>
              </a:clrFrom>
              <a:clrTo>
                <a:srgbClr val="000000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432471" y="6323329"/>
            <a:ext cx="1492133" cy="496892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AA2C1C73-B29F-288A-7DE3-96F8EE7D01C2}"/>
              </a:ext>
            </a:extLst>
          </p:cNvPr>
          <p:cNvSpPr txBox="1"/>
          <p:nvPr/>
        </p:nvSpPr>
        <p:spPr>
          <a:xfrm>
            <a:off x="820894" y="1422400"/>
            <a:ext cx="1054907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Rockfall barriers, safety nets, and aircraft arresting systems, where localized failure</a:t>
            </a:r>
          </a:p>
          <a:p>
            <a:r>
              <a:rPr lang="en-US" dirty="0"/>
              <a:t>could replace heavier dissipators.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845D47D-66ED-5657-B06E-01ACD43FE094}"/>
              </a:ext>
            </a:extLst>
          </p:cNvPr>
          <p:cNvSpPr txBox="1"/>
          <p:nvPr/>
        </p:nvSpPr>
        <p:spPr>
          <a:xfrm>
            <a:off x="820894" y="2463227"/>
            <a:ext cx="9542306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dirty="0">
                <a:effectLst/>
                <a:latin typeface="Helvetica" pitchFamily="2" charset="0"/>
              </a:rPr>
              <a:t>Counter-drone barriers. Fixed nets around sensitive sites, where the design target is the lightest (or least visible) barrier for a given threat</a:t>
            </a:r>
          </a:p>
        </p:txBody>
      </p:sp>
    </p:spTree>
    <p:extLst>
      <p:ext uri="{BB962C8B-B14F-4D97-AF65-F5344CB8AC3E}">
        <p14:creationId xmlns:p14="http://schemas.microsoft.com/office/powerpoint/2010/main" val="3501264811"/>
      </p:ext>
    </p:extLst>
  </p:cSld>
  <p:clrMapOvr>
    <a:masterClrMapping/>
  </p:clrMapOvr>
</p:sld>
</file>

<file path=ppt/theme/theme1.xml><?xml version="1.0" encoding="utf-8"?>
<a:theme xmlns:a="http://schemas.openxmlformats.org/drawingml/2006/main" name="1_Office Theme">
  <a:themeElements>
    <a:clrScheme name="Violet">
      <a:dk1>
        <a:sysClr val="windowText" lastClr="000000"/>
      </a:dk1>
      <a:lt1>
        <a:sysClr val="window" lastClr="FFFFFF"/>
      </a:lt1>
      <a:dk2>
        <a:srgbClr val="373545"/>
      </a:dk2>
      <a:lt2>
        <a:srgbClr val="DCD8DC"/>
      </a:lt2>
      <a:accent1>
        <a:srgbClr val="AD84C6"/>
      </a:accent1>
      <a:accent2>
        <a:srgbClr val="8784C7"/>
      </a:accent2>
      <a:accent3>
        <a:srgbClr val="5D739A"/>
      </a:accent3>
      <a:accent4>
        <a:srgbClr val="6997AF"/>
      </a:accent4>
      <a:accent5>
        <a:srgbClr val="84ACB6"/>
      </a:accent5>
      <a:accent6>
        <a:srgbClr val="6F8183"/>
      </a:accent6>
      <a:hlink>
        <a:srgbClr val="69A020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112843</TotalTime>
  <Words>2811</Words>
  <Application>Microsoft Macintosh PowerPoint</Application>
  <PresentationFormat>Widescreen</PresentationFormat>
  <Paragraphs>316</Paragraphs>
  <Slides>25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9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35" baseType="lpstr">
      <vt:lpstr>Aptos</vt:lpstr>
      <vt:lpstr>Arial</vt:lpstr>
      <vt:lpstr>Calibri</vt:lpstr>
      <vt:lpstr>Cambria Math</vt:lpstr>
      <vt:lpstr>Google Sans Text</vt:lpstr>
      <vt:lpstr>Helvetica</vt:lpstr>
      <vt:lpstr>Inter</vt:lpstr>
      <vt:lpstr>JetBrains Mono</vt:lpstr>
      <vt:lpstr>Space Grotesk</vt:lpstr>
      <vt:lpstr>1_Office Theme</vt:lpstr>
      <vt:lpstr>PowerPoint Presentation</vt:lpstr>
      <vt:lpstr>Agenda</vt:lpstr>
      <vt:lpstr>Impact waves in single thread</vt:lpstr>
      <vt:lpstr>Impact waves in single thread</vt:lpstr>
      <vt:lpstr>Impact waves in single thread</vt:lpstr>
      <vt:lpstr>Impact waves in single thread</vt:lpstr>
      <vt:lpstr>Impact waves in single thread</vt:lpstr>
      <vt:lpstr>Thread breaking conditions</vt:lpstr>
      <vt:lpstr>Model material elasticity</vt:lpstr>
      <vt:lpstr>Single Thread - Simulation</vt:lpstr>
      <vt:lpstr>Single Thread - Simulation</vt:lpstr>
      <vt:lpstr>Simulation tangent speed</vt:lpstr>
      <vt:lpstr>Single Thread – Silk Simulation</vt:lpstr>
      <vt:lpstr>Single Thread – Dyneema Simulation</vt:lpstr>
      <vt:lpstr>Wave “ping-pong” effect</vt:lpstr>
      <vt:lpstr>From Wave PDE to Pure Geometry</vt:lpstr>
      <vt:lpstr>Minimum Net Mass &amp; Material Utilization</vt:lpstr>
      <vt:lpstr>Minimum Net Mass &amp; Material Utilization</vt:lpstr>
      <vt:lpstr>Off-Centre Impact</vt:lpstr>
      <vt:lpstr>Off-Centre Impact</vt:lpstr>
      <vt:lpstr>Off-Centre Impact</vt:lpstr>
      <vt:lpstr>Off-Centre Impact – Thread Failure </vt:lpstr>
      <vt:lpstr>Off-Centre Impact</vt:lpstr>
      <vt:lpstr>Limitations of the current approach</vt:lpstr>
      <vt:lpstr>Research next steps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Qualify Market Potential (I)</dc:title>
  <dc:creator>Octavian Radu</dc:creator>
  <cp:lastModifiedBy>Octavian Radu</cp:lastModifiedBy>
  <cp:revision>30</cp:revision>
  <dcterms:created xsi:type="dcterms:W3CDTF">2024-01-29T10:19:11Z</dcterms:created>
  <dcterms:modified xsi:type="dcterms:W3CDTF">2026-10-28T14:22:19Z</dcterms:modified>
</cp:coreProperties>
</file>