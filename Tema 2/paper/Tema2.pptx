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handoutMasterIdLst>
    <p:handoutMasterId r:id="rId16"/>
  </p:handoutMasterIdLst>
  <p:sldIdLst>
    <p:sldId id="256" r:id="rId2"/>
    <p:sldId id="329" r:id="rId3"/>
    <p:sldId id="306" r:id="rId4"/>
    <p:sldId id="335" r:id="rId5"/>
    <p:sldId id="331" r:id="rId6"/>
    <p:sldId id="332" r:id="rId7"/>
    <p:sldId id="333" r:id="rId8"/>
    <p:sldId id="336" r:id="rId9"/>
    <p:sldId id="337" r:id="rId10"/>
    <p:sldId id="338" r:id="rId11"/>
    <p:sldId id="339" r:id="rId12"/>
    <p:sldId id="340" r:id="rId13"/>
    <p:sldId id="34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7" autoAdjust="0"/>
    <p:restoredTop sz="96302" autoAdjust="0"/>
  </p:normalViewPr>
  <p:slideViewPr>
    <p:cSldViewPr snapToGrid="0">
      <p:cViewPr varScale="1">
        <p:scale>
          <a:sx n="120" d="100"/>
          <a:sy n="120" d="100"/>
        </p:scale>
        <p:origin x="18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10.10.2026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9992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>
            <a:spLocks noGrp="1"/>
          </p:cNvSpPr>
          <p:nvPr>
            <p:ph type="sldNum" idx="429496729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4294967295"/>
          </p:nvPr>
        </p:nvSpPr>
        <p:spPr/>
        <p:txBody>
          <a:bodyPr/>
          <a:lstStyle/>
          <a:p>
            <a:r>
              <a:rPr lang="en-US"/>
              <a:t>The analogy concerns particle motion relative to wave propagation</a:t>
            </a:r>
            <a:r>
              <a:t>. </a:t>
            </a:r>
            <a:r>
              <a:rPr lang="en-US"/>
              <a:t>The physical mechanisms in rock and in a thread differ</a:t>
            </a:r>
            <a:r>
              <a:t>.</a:t>
            </a:r>
          </a:p>
          <a:p>
            <a:endParaRPr/>
          </a:p>
          <a:p>
            <a:r>
              <a:t>[Sources]</a:t>
            </a:r>
          </a:p>
          <a:p>
            <a:r>
              <a:t>USGS, Body waves inside the earth</a:t>
            </a:r>
          </a:p>
          <a:p>
            <a:r>
              <a:t>https://earthquake.usgs.gov/earthquakes/events/1906calif/18april/earthwaves.php</a:t>
            </a:r>
            <a:endParaRPr lang="en-US"/>
          </a:p>
          <a:p>
            <a:r>
              <a:rPr lang="en-US"/>
              <a:t>Illustrations: AI-generated conceptual schematics of P/S particle motion and the thread initial condition, based on the existing slide 5 setup.</a:t>
            </a:r>
            <a:endParaRPr/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88000">
                <a:schemeClr val="accent1">
                  <a:lumMod val="40000"/>
                  <a:lumOff val="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0.png"/><Relationship Id="rId7" Type="http://schemas.openxmlformats.org/officeDocument/2006/relationships/image" Target="../media/image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181155" y="1274808"/>
            <a:ext cx="4717473" cy="384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Spider Webs and Sacrificial Failure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Impact regimes and quasi-static capacity</a:t>
            </a:r>
            <a:endParaRPr lang="en-US" sz="1800" kern="0" dirty="0">
              <a:solidFill>
                <a:srgbClr val="842E7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The Most Beautiful Spider Webs Ever Found in Nature">
            <a:extLst>
              <a:ext uri="{FF2B5EF4-FFF2-40B4-BE49-F238E27FC236}">
                <a16:creationId xmlns:a16="http://schemas.microsoft.com/office/drawing/2014/main" id="{C0728887-A316-2F96-E88D-96D9AC741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09" y="1274808"/>
            <a:ext cx="6901024" cy="45668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1400" kern="0" dirty="0">
                <a:solidFill>
                  <a:srgbClr val="000000"/>
                </a:solidFill>
                <a:latin typeface="Arial"/>
                <a:cs typeface="Arial"/>
              </a:rPr>
              <a:t>	Single thread and impact regime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SACRIFICIAL FAILURE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D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5" name="Picture 4" descr="Spider web Vectors - Download Free High-Quality Vectors | Magnific  (formerly Freepik)">
            <a:extLst>
              <a:ext uri="{FF2B5EF4-FFF2-40B4-BE49-F238E27FC236}">
                <a16:creationId xmlns:a16="http://schemas.microsoft.com/office/drawing/2014/main" id="{CAFBC2E2-D5FD-D4BC-AB16-6795D5593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988" y="1415797"/>
            <a:ext cx="4699000" cy="46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Spider Webs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3862086" y="3105834"/>
            <a:ext cx="4467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846FB-298D-24F0-0112-7EA19B7A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E43649-49E8-E3BF-7813-35584CEE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F2345D-9FC6-DA8E-C8A8-26AB6052DE26}"/>
              </a:ext>
            </a:extLst>
          </p:cNvPr>
          <p:cNvSpPr txBox="1"/>
          <p:nvPr/>
        </p:nvSpPr>
        <p:spPr>
          <a:xfrm>
            <a:off x="889711" y="1300276"/>
            <a:ext cx="4892040" cy="178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lvl="0">
              <a:spcAft>
                <a:spcPts val="0"/>
              </a:spcAft>
              <a:buClr>
                <a:srgbClr val="000000"/>
              </a:buClr>
              <a:defRPr/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Earthquake waves offer an analogy for thread impact. P waves are longitudinal: particle motion is parallel to propagation. S waves are transverse: particle motion is perpendicular to propagation.</a:t>
            </a:r>
            <a:endParaRPr kumimoji="0" lang="ro-RO" sz="20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A15EDD-9959-F1A5-0CEB-F90B1441A72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300276"/>
            <a:ext cx="48920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Consider a thread initially at rest and unstrained. At x = 0, we suddenly impose a constant transverse velocity v₀. How does the thread respond?</a:t>
            </a:r>
          </a:p>
        </p:txBody>
      </p:sp>
      <p:pic>
        <p:nvPicPr>
          <p:cNvPr id="8" name="Picture 7" descr="image-6e0c89fbcb4d578d650100f64f2af2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617" y="3154680"/>
            <a:ext cx="4012741" cy="2606040"/>
          </a:xfrm>
          <a:prstGeom prst="rect">
            <a:avLst/>
          </a:prstGeom>
        </p:spPr>
      </p:pic>
      <p:pic>
        <p:nvPicPr>
          <p:cNvPr id="9" name="Picture 8" descr="image-7a185b9c87ed71f3abbcd25a45258cc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356" y="3154680"/>
            <a:ext cx="4355167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9711" y="5897880"/>
            <a:ext cx="10104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How can transverse motion generate a longitudinal wave in the thread?</a:t>
            </a:r>
          </a:p>
        </p:txBody>
      </p:sp>
    </p:spTree>
    <p:extLst>
      <p:ext uri="{BB962C8B-B14F-4D97-AF65-F5344CB8AC3E}">
        <p14:creationId xmlns:p14="http://schemas.microsoft.com/office/powerpoint/2010/main" val="279691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889809" y="1300345"/>
            <a:ext cx="975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Consider a long thread along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, at rest and unstrained, whose point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x=0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 is suddenly given a constant transverse velocity v</a:t>
            </a:r>
            <a:r>
              <a:rPr lang="en-US" sz="2000" kern="0" baseline="-25000" dirty="0">
                <a:solidFill>
                  <a:srgbClr val="000000"/>
                </a:solidFill>
                <a:cs typeface="Arial"/>
                <a:sym typeface="Arial"/>
              </a:rPr>
              <a:t>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.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580F07-E278-4A82-D273-CD73186ECEA1}"/>
              </a:ext>
            </a:extLst>
          </p:cNvPr>
          <p:cNvCxnSpPr/>
          <p:nvPr/>
        </p:nvCxnSpPr>
        <p:spPr>
          <a:xfrm>
            <a:off x="1427376" y="2759223"/>
            <a:ext cx="839585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C4F105-4AC8-4B7F-9906-8608CE531533}"/>
                  </a:ext>
                </a:extLst>
              </p:cNvPr>
              <p:cNvSpPr txBox="1"/>
              <p:nvPr/>
            </p:nvSpPr>
            <p:spPr>
              <a:xfrm>
                <a:off x="1739103" y="2403628"/>
                <a:ext cx="21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C4F105-4AC8-4B7F-9906-8608CE5315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103" y="2403628"/>
                <a:ext cx="218841" cy="276999"/>
              </a:xfrm>
              <a:prstGeom prst="rect">
                <a:avLst/>
              </a:prstGeom>
              <a:blipFill>
                <a:blip r:embed="rId3"/>
                <a:stretch>
                  <a:fillRect l="-15789" r="-1578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63D5FB-D11E-1B7B-3522-8A639D98DA1E}"/>
              </a:ext>
            </a:extLst>
          </p:cNvPr>
          <p:cNvCxnSpPr>
            <a:cxnSpLocks/>
          </p:cNvCxnSpPr>
          <p:nvPr/>
        </p:nvCxnSpPr>
        <p:spPr>
          <a:xfrm flipV="1">
            <a:off x="820894" y="3295222"/>
            <a:ext cx="1446067" cy="46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F930E62-ED67-3536-B392-FDFC413F5DAE}"/>
              </a:ext>
            </a:extLst>
          </p:cNvPr>
          <p:cNvCxnSpPr>
            <a:cxnSpLocks/>
          </p:cNvCxnSpPr>
          <p:nvPr/>
        </p:nvCxnSpPr>
        <p:spPr>
          <a:xfrm>
            <a:off x="2266961" y="3006758"/>
            <a:ext cx="0" cy="70226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BBCB98-AD65-F9EA-AB73-E32EFD4B02FD}"/>
                  </a:ext>
                </a:extLst>
              </p:cNvPr>
              <p:cNvSpPr txBox="1"/>
              <p:nvPr/>
            </p:nvSpPr>
            <p:spPr>
              <a:xfrm>
                <a:off x="921208" y="3410981"/>
                <a:ext cx="13457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BBCB98-AD65-F9EA-AB73-E32EFD4B0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208" y="3410981"/>
                <a:ext cx="1345753" cy="276999"/>
              </a:xfrm>
              <a:prstGeom prst="rect">
                <a:avLst/>
              </a:prstGeom>
              <a:blipFill>
                <a:blip r:embed="rId4"/>
                <a:stretch>
                  <a:fillRect l="-2804" r="-2804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045609F-7D5B-A615-D0DE-FAC2160F4B4B}"/>
              </a:ext>
            </a:extLst>
          </p:cNvPr>
          <p:cNvSpPr txBox="1"/>
          <p:nvPr/>
        </p:nvSpPr>
        <p:spPr>
          <a:xfrm>
            <a:off x="2317460" y="2663746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4"/>
                </a:solidFill>
              </a:rPr>
              <a:t>Before longitudinal wave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B1AED3-B28E-5322-BA9F-B72DED2432C9}"/>
              </a:ext>
            </a:extLst>
          </p:cNvPr>
          <p:cNvSpPr txBox="1"/>
          <p:nvPr/>
        </p:nvSpPr>
        <p:spPr>
          <a:xfrm>
            <a:off x="2317460" y="3172111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After longitudinal wave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5ABC692A-CBA3-14A5-9B83-8760CC330BC7}"/>
              </a:ext>
            </a:extLst>
          </p:cNvPr>
          <p:cNvSpPr/>
          <p:nvPr/>
        </p:nvSpPr>
        <p:spPr>
          <a:xfrm>
            <a:off x="4104640" y="2542127"/>
            <a:ext cx="396240" cy="116689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D2B278-F1E6-8158-03FB-A579130FC4F9}"/>
                  </a:ext>
                </a:extLst>
              </p:cNvPr>
              <p:cNvSpPr txBox="1"/>
              <p:nvPr/>
            </p:nvSpPr>
            <p:spPr>
              <a:xfrm>
                <a:off x="4989805" y="2589537"/>
                <a:ext cx="971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D2B278-F1E6-8158-03FB-A579130FC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05" y="2589537"/>
                <a:ext cx="971420" cy="276999"/>
              </a:xfrm>
              <a:prstGeom prst="rect">
                <a:avLst/>
              </a:prstGeom>
              <a:blipFill>
                <a:blip r:embed="rId5"/>
                <a:stretch>
                  <a:fillRect l="-6494" r="-3896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C1122F-B127-699B-3924-0D6452F3E4F8}"/>
                  </a:ext>
                </a:extLst>
              </p:cNvPr>
              <p:cNvSpPr txBox="1"/>
              <p:nvPr/>
            </p:nvSpPr>
            <p:spPr>
              <a:xfrm>
                <a:off x="4989805" y="2999194"/>
                <a:ext cx="11060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cL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C1122F-B127-699B-3924-0D6452F3E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05" y="2999194"/>
                <a:ext cx="1106072" cy="276999"/>
              </a:xfrm>
              <a:prstGeom prst="rect">
                <a:avLst/>
              </a:prstGeom>
              <a:blipFill>
                <a:blip r:embed="rId6"/>
                <a:stretch>
                  <a:fillRect l="-2273" r="-113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B18368-45D4-292C-8930-3C83670EF989}"/>
                  </a:ext>
                </a:extLst>
              </p:cNvPr>
              <p:cNvSpPr txBox="1"/>
              <p:nvPr/>
            </p:nvSpPr>
            <p:spPr>
              <a:xfrm>
                <a:off x="4986265" y="3408851"/>
                <a:ext cx="1309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B18368-45D4-292C-8930-3C83670EF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6265" y="3408851"/>
                <a:ext cx="1309654" cy="276999"/>
              </a:xfrm>
              <a:prstGeom prst="rect">
                <a:avLst/>
              </a:prstGeom>
              <a:blipFill>
                <a:blip r:embed="rId7"/>
                <a:stretch>
                  <a:fillRect l="-962" t="-4348" r="-1923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92F662CF-360C-B1D4-F82D-DF77FD08D218}"/>
              </a:ext>
            </a:extLst>
          </p:cNvPr>
          <p:cNvGrpSpPr/>
          <p:nvPr/>
        </p:nvGrpSpPr>
        <p:grpSpPr>
          <a:xfrm>
            <a:off x="889809" y="2843213"/>
            <a:ext cx="537567" cy="307777"/>
            <a:chOff x="889809" y="2843213"/>
            <a:chExt cx="537567" cy="307777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22FDC5E-0CCD-4582-DEFF-741AA4422204}"/>
                </a:ext>
              </a:extLst>
            </p:cNvPr>
            <p:cNvCxnSpPr/>
            <p:nvPr/>
          </p:nvCxnSpPr>
          <p:spPr>
            <a:xfrm>
              <a:off x="889809" y="3125575"/>
              <a:ext cx="5375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003B1B4-DB74-D9E5-6E41-A9A0DC7ED2AA}"/>
                    </a:ext>
                  </a:extLst>
                </p:cNvPr>
                <p:cNvSpPr txBox="1"/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Δl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003B1B4-DB74-D9E5-6E41-A9A0DC7ED2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CD7298-783B-9BC7-B1DB-D90AEA40D1F4}"/>
                  </a:ext>
                </a:extLst>
              </p:cNvPr>
              <p:cNvSpPr txBox="1"/>
              <p:nvPr/>
            </p:nvSpPr>
            <p:spPr>
              <a:xfrm>
                <a:off x="6584802" y="2906861"/>
                <a:ext cx="13384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CD7298-783B-9BC7-B1DB-D90AEA40D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802" y="2906861"/>
                <a:ext cx="1338425" cy="369332"/>
              </a:xfrm>
              <a:prstGeom prst="rect">
                <a:avLst/>
              </a:prstGeom>
              <a:blipFill>
                <a:blip r:embed="rId9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12D6E-DD1B-A787-0E50-3B23D0A4461D}"/>
                  </a:ext>
                </a:extLst>
              </p:cNvPr>
              <p:cNvSpPr txBox="1"/>
              <p:nvPr/>
            </p:nvSpPr>
            <p:spPr>
              <a:xfrm>
                <a:off x="4644999" y="5356093"/>
                <a:ext cx="2346961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12D6E-DD1B-A787-0E50-3B23D0A44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999" y="5356093"/>
                <a:ext cx="2346961" cy="403124"/>
              </a:xfrm>
              <a:prstGeom prst="rect">
                <a:avLst/>
              </a:prstGeom>
              <a:blipFill>
                <a:blip r:embed="rId10"/>
                <a:stretch>
                  <a:fillRect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F60D1E06-A824-E51E-4E08-45E7B1918A95}"/>
              </a:ext>
            </a:extLst>
          </p:cNvPr>
          <p:cNvGrpSpPr/>
          <p:nvPr/>
        </p:nvGrpSpPr>
        <p:grpSpPr>
          <a:xfrm>
            <a:off x="820894" y="4246880"/>
            <a:ext cx="3472104" cy="2219825"/>
            <a:chOff x="820894" y="4246880"/>
            <a:chExt cx="3472104" cy="2219825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1A4CBC-C50D-0AC1-C114-37F776CF4D6A}"/>
                </a:ext>
              </a:extLst>
            </p:cNvPr>
            <p:cNvSpPr txBox="1"/>
            <p:nvPr/>
          </p:nvSpPr>
          <p:spPr>
            <a:xfrm>
              <a:off x="820894" y="4246880"/>
              <a:ext cx="32099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Momentum conservation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2F6881D-DB4C-51A7-D0DC-C90DEEB288DF}"/>
                    </a:ext>
                  </a:extLst>
                </p:cNvPr>
                <p:cNvSpPr txBox="1"/>
                <p:nvPr/>
              </p:nvSpPr>
              <p:spPr>
                <a:xfrm>
                  <a:off x="893675" y="4826368"/>
                  <a:ext cx="10098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initial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2F6881D-DB4C-51A7-D0DC-C90DEEB288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675" y="4826368"/>
                  <a:ext cx="100989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3750" r="-5000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DBB4465-0678-DA0D-360C-5AD7FD49706D}"/>
                    </a:ext>
                  </a:extLst>
                </p:cNvPr>
                <p:cNvSpPr txBox="1"/>
                <p:nvPr/>
              </p:nvSpPr>
              <p:spPr>
                <a:xfrm>
                  <a:off x="820894" y="5313523"/>
                  <a:ext cx="3472104" cy="2706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final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Δv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(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2 </m:t>
                        </m:r>
                      </m:oMath>
                    </m:oMathPara>
                  </a14:m>
                  <a:endParaRPr lang="en-US" baseline="-25000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DBB4465-0678-DA0D-360C-5AD7FD497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894" y="5313523"/>
                  <a:ext cx="3472104" cy="270652"/>
                </a:xfrm>
                <a:prstGeom prst="rect">
                  <a:avLst/>
                </a:prstGeom>
                <a:blipFill>
                  <a:blip r:embed="rId12"/>
                  <a:stretch>
                    <a:fillRect t="-9091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BEC5FB9-9A30-3382-3921-5FF2985B3E18}"/>
                    </a:ext>
                  </a:extLst>
                </p:cNvPr>
                <p:cNvSpPr txBox="1"/>
                <p:nvPr/>
              </p:nvSpPr>
              <p:spPr>
                <a:xfrm>
                  <a:off x="867100" y="5940151"/>
                  <a:ext cx="2917465" cy="526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Δp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Δt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Pfinal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Pinitial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Δt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BEC5FB9-9A30-3382-3921-5FF2985B3E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00" y="5940151"/>
                  <a:ext cx="2917465" cy="526554"/>
                </a:xfrm>
                <a:prstGeom prst="rect">
                  <a:avLst/>
                </a:prstGeom>
                <a:blipFill>
                  <a:blip r:embed="rId13"/>
                  <a:stretch>
                    <a:fillRect l="-2165" t="-2326" r="-1732" b="-139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Right Brace 44">
            <a:extLst>
              <a:ext uri="{FF2B5EF4-FFF2-40B4-BE49-F238E27FC236}">
                <a16:creationId xmlns:a16="http://schemas.microsoft.com/office/drawing/2014/main" id="{9FE3158A-BB0C-94BA-75AC-4142A71EF4F0}"/>
              </a:ext>
            </a:extLst>
          </p:cNvPr>
          <p:cNvSpPr/>
          <p:nvPr/>
        </p:nvSpPr>
        <p:spPr>
          <a:xfrm>
            <a:off x="4383852" y="4826368"/>
            <a:ext cx="396240" cy="149696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DFEA62-7EC6-A350-E3EC-7A44550AAE8B}"/>
              </a:ext>
            </a:extLst>
          </p:cNvPr>
          <p:cNvCxnSpPr>
            <a:cxnSpLocks/>
          </p:cNvCxnSpPr>
          <p:nvPr/>
        </p:nvCxnSpPr>
        <p:spPr>
          <a:xfrm>
            <a:off x="7792720" y="3295221"/>
            <a:ext cx="1005840" cy="87656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A24E5A6-FEBF-1824-9B79-6889000145B7}"/>
              </a:ext>
            </a:extLst>
          </p:cNvPr>
          <p:cNvCxnSpPr>
            <a:cxnSpLocks/>
          </p:cNvCxnSpPr>
          <p:nvPr/>
        </p:nvCxnSpPr>
        <p:spPr>
          <a:xfrm flipV="1">
            <a:off x="6584802" y="4964867"/>
            <a:ext cx="2130629" cy="61930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CB0DDD6-E711-8D00-2323-D208B21AFF6C}"/>
              </a:ext>
            </a:extLst>
          </p:cNvPr>
          <p:cNvGrpSpPr/>
          <p:nvPr/>
        </p:nvGrpSpPr>
        <p:grpSpPr>
          <a:xfrm>
            <a:off x="8589319" y="4135120"/>
            <a:ext cx="1843152" cy="998727"/>
            <a:chOff x="8672448" y="4104640"/>
            <a:chExt cx="1843152" cy="99872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057ABE2-E44E-0A2F-1CBC-2152F7A72706}"/>
                    </a:ext>
                  </a:extLst>
                </p:cNvPr>
                <p:cNvSpPr txBox="1"/>
                <p:nvPr/>
              </p:nvSpPr>
              <p:spPr>
                <a:xfrm>
                  <a:off x="8672448" y="4141309"/>
                  <a:ext cx="1633402" cy="9106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 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 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den>
                            </m:f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057ABE2-E44E-0A2F-1CBC-2152F7A72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2448" y="4141309"/>
                  <a:ext cx="1633402" cy="9106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077139CF-BAED-3824-97D3-3ABFF535D8C3}"/>
                </a:ext>
              </a:extLst>
            </p:cNvPr>
            <p:cNvSpPr/>
            <p:nvPr/>
          </p:nvSpPr>
          <p:spPr>
            <a:xfrm>
              <a:off x="8798560" y="4104640"/>
              <a:ext cx="1717040" cy="998727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A7A11891-CEB8-2C82-1AD0-7C7E604320C7}"/>
              </a:ext>
            </a:extLst>
          </p:cNvPr>
          <p:cNvSpPr txBox="1"/>
          <p:nvPr/>
        </p:nvSpPr>
        <p:spPr>
          <a:xfrm>
            <a:off x="9027177" y="3236791"/>
            <a:ext cx="199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Longitudinal Wave Velocity</a:t>
            </a:r>
          </a:p>
        </p:txBody>
      </p:sp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/>
      <p:bldP spid="27" grpId="0"/>
      <p:bldP spid="34" grpId="0"/>
      <p:bldP spid="36" grpId="0"/>
      <p:bldP spid="45" grpId="0" animBg="1"/>
      <p:bldP spid="5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1D011-E630-BC43-8FF3-A56F32778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E6843-2719-0AB9-012B-9DF5560B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4310E3-FFCF-BF14-5CA1-94F73AB69DBF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Mass conservation and thread tension determine the transverse wave speed.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F35152-DFB2-9D3C-C31C-1E704B11373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48E989F-7A33-1180-4880-BA1DEF7A25C2}"/>
              </a:ext>
            </a:extLst>
          </p:cNvPr>
          <p:cNvGrpSpPr/>
          <p:nvPr/>
        </p:nvGrpSpPr>
        <p:grpSpPr>
          <a:xfrm>
            <a:off x="5050768" y="2021644"/>
            <a:ext cx="6082194" cy="1407356"/>
            <a:chOff x="3844342" y="1272972"/>
            <a:chExt cx="6082194" cy="14073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044E6A1-57E0-C21C-A26D-D3EC2456E6B0}"/>
                    </a:ext>
                  </a:extLst>
                </p:cNvPr>
                <p:cNvSpPr txBox="1"/>
                <p:nvPr/>
              </p:nvSpPr>
              <p:spPr>
                <a:xfrm>
                  <a:off x="8671385" y="1960589"/>
                  <a:ext cx="1255151" cy="477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b="0" i="1" baseline="-2500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044E6A1-57E0-C21C-A26D-D3EC2456E6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385" y="1960589"/>
                  <a:ext cx="1255151" cy="477182"/>
                </a:xfrm>
                <a:prstGeom prst="rect">
                  <a:avLst/>
                </a:prstGeom>
                <a:blipFill>
                  <a:blip r:embed="rId3"/>
                  <a:stretch>
                    <a:fillRect l="-3000" t="-2564" r="-2000" b="-128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14E9A1-FF78-F9E9-679D-0A1CA1F57908}"/>
                    </a:ext>
                  </a:extLst>
                </p:cNvPr>
                <p:cNvSpPr txBox="1"/>
                <p:nvPr/>
              </p:nvSpPr>
              <p:spPr>
                <a:xfrm>
                  <a:off x="3844342" y="1898468"/>
                  <a:ext cx="282769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init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14E9A1-FF78-F9E9-679D-0A1CA1F57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342" y="1898468"/>
                  <a:ext cx="2827697" cy="276999"/>
                </a:xfrm>
                <a:prstGeom prst="rect">
                  <a:avLst/>
                </a:prstGeom>
                <a:blipFill>
                  <a:blip r:embed="rId4"/>
                  <a:stretch>
                    <a:fillRect t="-4348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90981CE-9503-B86B-C13F-8D613ED2B51F}"/>
                    </a:ext>
                  </a:extLst>
                </p:cNvPr>
                <p:cNvSpPr txBox="1"/>
                <p:nvPr/>
              </p:nvSpPr>
              <p:spPr>
                <a:xfrm>
                  <a:off x="3844342" y="2403329"/>
                  <a:ext cx="401231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final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⋅(1+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90981CE-9503-B86B-C13F-8D613ED2B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342" y="2403329"/>
                  <a:ext cx="401231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631" t="-4348" r="-631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4E630E1-8E37-0C2E-CA42-AA915F7C3B51}"/>
                </a:ext>
              </a:extLst>
            </p:cNvPr>
            <p:cNvSpPr/>
            <p:nvPr/>
          </p:nvSpPr>
          <p:spPr>
            <a:xfrm>
              <a:off x="8065902" y="1850978"/>
              <a:ext cx="396240" cy="81836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2EBED4A-FBD4-7EF2-F2B8-B67C2F342125}"/>
                </a:ext>
              </a:extLst>
            </p:cNvPr>
            <p:cNvSpPr txBox="1"/>
            <p:nvPr/>
          </p:nvSpPr>
          <p:spPr>
            <a:xfrm>
              <a:off x="5201920" y="1272972"/>
              <a:ext cx="17881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Mass Conservation</a:t>
              </a:r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33F058-2198-D78E-607D-66716F1303B1}"/>
              </a:ext>
            </a:extLst>
          </p:cNvPr>
          <p:cNvCxnSpPr/>
          <p:nvPr/>
        </p:nvCxnSpPr>
        <p:spPr>
          <a:xfrm>
            <a:off x="1427376" y="2534685"/>
            <a:ext cx="839585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D85D870-16C4-5D08-41B7-CB1C412D9902}"/>
                  </a:ext>
                </a:extLst>
              </p:cNvPr>
              <p:cNvSpPr txBox="1"/>
              <p:nvPr/>
            </p:nvSpPr>
            <p:spPr>
              <a:xfrm>
                <a:off x="1739103" y="2179090"/>
                <a:ext cx="21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D85D870-16C4-5D08-41B7-CB1C412D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103" y="2179090"/>
                <a:ext cx="218841" cy="276999"/>
              </a:xfrm>
              <a:prstGeom prst="rect">
                <a:avLst/>
              </a:prstGeom>
              <a:blipFill>
                <a:blip r:embed="rId6"/>
                <a:stretch>
                  <a:fillRect l="-15789" r="-1578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62ADE2-DB8F-8C62-4841-B4654DB733DA}"/>
              </a:ext>
            </a:extLst>
          </p:cNvPr>
          <p:cNvCxnSpPr>
            <a:cxnSpLocks/>
          </p:cNvCxnSpPr>
          <p:nvPr/>
        </p:nvCxnSpPr>
        <p:spPr>
          <a:xfrm flipV="1">
            <a:off x="820894" y="3070684"/>
            <a:ext cx="1446067" cy="46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71C44A-580C-CE70-FB3E-38FE98EC1079}"/>
              </a:ext>
            </a:extLst>
          </p:cNvPr>
          <p:cNvCxnSpPr>
            <a:cxnSpLocks/>
          </p:cNvCxnSpPr>
          <p:nvPr/>
        </p:nvCxnSpPr>
        <p:spPr>
          <a:xfrm>
            <a:off x="2266961" y="2782220"/>
            <a:ext cx="0" cy="70226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DF751-C3A5-3444-F929-3747357BBCD3}"/>
                  </a:ext>
                </a:extLst>
              </p:cNvPr>
              <p:cNvSpPr txBox="1"/>
              <p:nvPr/>
            </p:nvSpPr>
            <p:spPr>
              <a:xfrm>
                <a:off x="921208" y="3186443"/>
                <a:ext cx="13457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DF751-C3A5-3444-F929-3747357B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208" y="3186443"/>
                <a:ext cx="1345753" cy="276999"/>
              </a:xfrm>
              <a:prstGeom prst="rect">
                <a:avLst/>
              </a:prstGeom>
              <a:blipFill>
                <a:blip r:embed="rId7"/>
                <a:stretch>
                  <a:fillRect l="-2804" r="-2804" b="-4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B4F95F6-7497-0A30-9231-C5027A2F8E7B}"/>
              </a:ext>
            </a:extLst>
          </p:cNvPr>
          <p:cNvSpPr txBox="1"/>
          <p:nvPr/>
        </p:nvSpPr>
        <p:spPr>
          <a:xfrm>
            <a:off x="2317460" y="2439208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4"/>
                </a:solidFill>
              </a:rPr>
              <a:t>Before longitudinal wave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FE7BCC-E52A-4DC8-4EAA-6C99CCC9F7DD}"/>
              </a:ext>
            </a:extLst>
          </p:cNvPr>
          <p:cNvSpPr txBox="1"/>
          <p:nvPr/>
        </p:nvSpPr>
        <p:spPr>
          <a:xfrm>
            <a:off x="2317460" y="2947573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After longitudinal wave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8495673-EF31-F3C5-2D45-51D984FE86BF}"/>
              </a:ext>
            </a:extLst>
          </p:cNvPr>
          <p:cNvGrpSpPr/>
          <p:nvPr/>
        </p:nvGrpSpPr>
        <p:grpSpPr>
          <a:xfrm>
            <a:off x="889809" y="2618675"/>
            <a:ext cx="537567" cy="307777"/>
            <a:chOff x="889809" y="2843213"/>
            <a:chExt cx="537567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D3BDA4F-D93B-A4B4-07C4-11FE836E3466}"/>
                </a:ext>
              </a:extLst>
            </p:cNvPr>
            <p:cNvCxnSpPr/>
            <p:nvPr/>
          </p:nvCxnSpPr>
          <p:spPr>
            <a:xfrm>
              <a:off x="889809" y="3125575"/>
              <a:ext cx="5375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EA1602F-04BA-765C-B117-29B20A150BF1}"/>
                    </a:ext>
                  </a:extLst>
                </p:cNvPr>
                <p:cNvSpPr txBox="1"/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Δl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EA1602F-04BA-765C-B117-29B20A150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47253C-A9F7-BDDB-2C05-86F20610D20A}"/>
                  </a:ext>
                </a:extLst>
              </p:cNvPr>
              <p:cNvSpPr txBox="1"/>
              <p:nvPr/>
            </p:nvSpPr>
            <p:spPr>
              <a:xfrm>
                <a:off x="6702940" y="5449284"/>
                <a:ext cx="1713418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e>
                      </m:ra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47253C-A9F7-BDDB-2C05-86F20610D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940" y="5449284"/>
                <a:ext cx="1713418" cy="818366"/>
              </a:xfrm>
              <a:prstGeom prst="rect">
                <a:avLst/>
              </a:prstGeom>
              <a:blipFill>
                <a:blip r:embed="rId9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65BC9B2-3286-ADA3-72C4-C4627751A167}"/>
                  </a:ext>
                </a:extLst>
              </p:cNvPr>
              <p:cNvSpPr txBox="1"/>
              <p:nvPr/>
            </p:nvSpPr>
            <p:spPr>
              <a:xfrm>
                <a:off x="4113902" y="4062180"/>
                <a:ext cx="1721817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Δs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m:rPr>
                                  <m:sty m:val="p"/>
                                </m:rPr>
                                <a:rPr lang="en-US" b="0" i="1" baseline="-25000" smtClean="0">
                                  <a:latin typeface="Cambria Math" panose="02040503050406030204" pitchFamily="18" charset="0"/>
                                </a:rPr>
                                <m:t>real</m:t>
                              </m:r>
                            </m:den>
                          </m:f>
                        </m:e>
                      </m:rad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65BC9B2-3286-ADA3-72C4-C4627751A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4062180"/>
                <a:ext cx="1721817" cy="818366"/>
              </a:xfrm>
              <a:prstGeom prst="rect">
                <a:avLst/>
              </a:prstGeom>
              <a:blipFill>
                <a:blip r:embed="rId10"/>
                <a:stretch>
                  <a:fillRect l="-2941" r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E529AFF-DA6E-3C6B-2A0D-1D6E30D35F1E}"/>
                  </a:ext>
                </a:extLst>
              </p:cNvPr>
              <p:cNvSpPr txBox="1"/>
              <p:nvPr/>
            </p:nvSpPr>
            <p:spPr>
              <a:xfrm>
                <a:off x="6267822" y="4062180"/>
                <a:ext cx="2149819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)(1+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b="0" i="1" baseline="-2500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e>
                      </m:rad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E529AFF-DA6E-3C6B-2A0D-1D6E30D35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822" y="4062180"/>
                <a:ext cx="2149819" cy="818366"/>
              </a:xfrm>
              <a:prstGeom prst="rect">
                <a:avLst/>
              </a:prstGeom>
              <a:blipFill>
                <a:blip r:embed="rId11"/>
                <a:stretch>
                  <a:fillRect l="-1176" r="-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6ABD64-8281-57DF-BB63-F400844F4EE2}"/>
                  </a:ext>
                </a:extLst>
              </p:cNvPr>
              <p:cNvSpPr txBox="1"/>
              <p:nvPr/>
            </p:nvSpPr>
            <p:spPr>
              <a:xfrm>
                <a:off x="4113902" y="5406187"/>
                <a:ext cx="16046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Δs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6ABD64-8281-57DF-BB63-F400844F4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5406187"/>
                <a:ext cx="1604606" cy="276999"/>
              </a:xfrm>
              <a:prstGeom prst="rect">
                <a:avLst/>
              </a:prstGeom>
              <a:blipFill>
                <a:blip r:embed="rId12"/>
                <a:stretch>
                  <a:fillRect l="-3150" r="-2362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293EB2-DC03-0C7D-0811-3C4978C9D913}"/>
                  </a:ext>
                </a:extLst>
              </p:cNvPr>
              <p:cNvSpPr txBox="1"/>
              <p:nvPr/>
            </p:nvSpPr>
            <p:spPr>
              <a:xfrm>
                <a:off x="4113902" y="6086053"/>
                <a:ext cx="10740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cT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293EB2-DC03-0C7D-0811-3C4978C9D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6086053"/>
                <a:ext cx="1074012" cy="276999"/>
              </a:xfrm>
              <a:prstGeom prst="rect">
                <a:avLst/>
              </a:prstGeom>
              <a:blipFill>
                <a:blip r:embed="rId13"/>
                <a:stretch>
                  <a:fillRect l="-4706" r="-352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ight Brace 30">
            <a:extLst>
              <a:ext uri="{FF2B5EF4-FFF2-40B4-BE49-F238E27FC236}">
                <a16:creationId xmlns:a16="http://schemas.microsoft.com/office/drawing/2014/main" id="{705A3637-B2A6-4C9E-69DC-732208475F22}"/>
              </a:ext>
            </a:extLst>
          </p:cNvPr>
          <p:cNvSpPr/>
          <p:nvPr/>
        </p:nvSpPr>
        <p:spPr>
          <a:xfrm>
            <a:off x="6012604" y="5445544"/>
            <a:ext cx="396240" cy="96384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334F6BF-DAE3-F79F-A940-1DC6CFAB9B7A}"/>
              </a:ext>
            </a:extLst>
          </p:cNvPr>
          <p:cNvSpPr/>
          <p:nvPr/>
        </p:nvSpPr>
        <p:spPr>
          <a:xfrm>
            <a:off x="6702940" y="5364325"/>
            <a:ext cx="1766164" cy="998727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B50038-E957-BEE0-0F5A-0423A01F1D04}"/>
              </a:ext>
            </a:extLst>
          </p:cNvPr>
          <p:cNvGrpSpPr/>
          <p:nvPr/>
        </p:nvGrpSpPr>
        <p:grpSpPr>
          <a:xfrm>
            <a:off x="-186335" y="4445532"/>
            <a:ext cx="2902135" cy="1639485"/>
            <a:chOff x="-186335" y="4445532"/>
            <a:chExt cx="2902135" cy="1639485"/>
          </a:xfrm>
        </p:grpSpPr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FEA4DE5A-8C73-2691-3340-C8400847A7C0}"/>
                </a:ext>
              </a:extLst>
            </p:cNvPr>
            <p:cNvSpPr/>
            <p:nvPr/>
          </p:nvSpPr>
          <p:spPr>
            <a:xfrm>
              <a:off x="-186335" y="4479737"/>
              <a:ext cx="2773680" cy="160528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CE723F21-50B3-4951-F436-CD2128B49C3E}"/>
                </a:ext>
              </a:extLst>
            </p:cNvPr>
            <p:cNvSpPr/>
            <p:nvPr/>
          </p:nvSpPr>
          <p:spPr>
            <a:xfrm>
              <a:off x="1853261" y="4669480"/>
              <a:ext cx="464199" cy="350874"/>
            </a:xfrm>
            <a:prstGeom prst="arc">
              <a:avLst>
                <a:gd name="adj1" fmla="val 15925566"/>
                <a:gd name="adj2" fmla="val 21471919"/>
              </a:avLst>
            </a:prstGeom>
            <a:ln>
              <a:solidFill>
                <a:srgbClr val="00B050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7BFBA6-6E02-77C9-B208-D8805C244146}"/>
                </a:ext>
              </a:extLst>
            </p:cNvPr>
            <p:cNvSpPr txBox="1"/>
            <p:nvPr/>
          </p:nvSpPr>
          <p:spPr>
            <a:xfrm>
              <a:off x="1002389" y="5511615"/>
              <a:ext cx="17134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accent4"/>
                  </a:solidFill>
                </a:rPr>
                <a:t>Thread deformation due to transversal wave.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27648F8-A798-DD87-CAD7-53AC5E445B4F}"/>
                    </a:ext>
                  </a:extLst>
                </p:cNvPr>
                <p:cNvSpPr txBox="1"/>
                <p:nvPr/>
              </p:nvSpPr>
              <p:spPr>
                <a:xfrm>
                  <a:off x="2183572" y="4445532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Δs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27648F8-A798-DD87-CAD7-53AC5E445B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3572" y="4445532"/>
                  <a:ext cx="396232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7BE5E05-44CE-5626-2781-D196CD1F5EC4}"/>
              </a:ext>
            </a:extLst>
          </p:cNvPr>
          <p:cNvSpPr txBox="1"/>
          <p:nvPr/>
        </p:nvSpPr>
        <p:spPr>
          <a:xfrm>
            <a:off x="8525518" y="5173632"/>
            <a:ext cx="199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Transversal Wave Velocity</a:t>
            </a:r>
          </a:p>
        </p:txBody>
      </p:sp>
    </p:spTree>
    <p:extLst>
      <p:ext uri="{BB962C8B-B14F-4D97-AF65-F5344CB8AC3E}">
        <p14:creationId xmlns:p14="http://schemas.microsoft.com/office/powerpoint/2010/main" val="1639992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7" grpId="0"/>
      <p:bldP spid="37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0CE86-1613-6F14-BB6E-053D94662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DFBE7D-28B4-6DF6-7CF4-884721ED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FBAD7D-88DE-936B-B22F-1F4CA4AA7115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…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02B79F-D998-06B5-4B83-1FCB94580F2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CD18D-6FDA-3B2A-7049-A61BBF129E37}"/>
                  </a:ext>
                </a:extLst>
              </p:cNvPr>
              <p:cNvSpPr txBox="1"/>
              <p:nvPr/>
            </p:nvSpPr>
            <p:spPr>
              <a:xfrm>
                <a:off x="623680" y="4332452"/>
                <a:ext cx="3734164" cy="2825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CD18D-6FDA-3B2A-7049-A61BBF129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680" y="4332452"/>
                <a:ext cx="3734164" cy="282513"/>
              </a:xfrm>
              <a:prstGeom prst="rect">
                <a:avLst/>
              </a:prstGeom>
              <a:blipFill>
                <a:blip r:embed="rId3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6ECCD0E7-F7EC-D9D1-B603-C90A2AF7BABB}"/>
              </a:ext>
            </a:extLst>
          </p:cNvPr>
          <p:cNvGrpSpPr/>
          <p:nvPr/>
        </p:nvGrpSpPr>
        <p:grpSpPr>
          <a:xfrm>
            <a:off x="2661920" y="1972896"/>
            <a:ext cx="7160001" cy="1522914"/>
            <a:chOff x="2153920" y="1869617"/>
            <a:chExt cx="7160001" cy="15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7E027CF-89C6-3A44-5349-924A62E011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22000" y="1869617"/>
              <a:ext cx="3000641" cy="9448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D84581-80BB-16C1-13A7-C000D5EF55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22641" y="1869617"/>
              <a:ext cx="3505200" cy="8603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05135A0-681E-53D4-0F43-C8BDC7DF7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22641" y="1869617"/>
              <a:ext cx="0" cy="944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7B6874-04C7-CB46-10D5-6A351D61A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3920" y="2733217"/>
              <a:ext cx="7160001" cy="98399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A01A517-6E92-76BC-1C61-C9164D6AE999}"/>
                    </a:ext>
                  </a:extLst>
                </p:cNvPr>
                <p:cNvSpPr txBox="1"/>
                <p:nvPr/>
              </p:nvSpPr>
              <p:spPr>
                <a:xfrm>
                  <a:off x="5422640" y="2301417"/>
                  <a:ext cx="50456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1400" b="0" i="1" baseline="-2500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A01A517-6E92-76BC-1C61-C9164D6AE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2640" y="2301417"/>
                  <a:ext cx="5045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5000" r="-7500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19DEB1B-53EE-D78D-86F5-088576321433}"/>
                    </a:ext>
                  </a:extLst>
                </p:cNvPr>
                <p:cNvSpPr txBox="1"/>
                <p:nvPr/>
              </p:nvSpPr>
              <p:spPr>
                <a:xfrm>
                  <a:off x="7048421" y="2001692"/>
                  <a:ext cx="1191480" cy="210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baseline="-250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19DEB1B-53EE-D78D-86F5-088576321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8421" y="2001692"/>
                  <a:ext cx="1191480" cy="210507"/>
                </a:xfrm>
                <a:prstGeom prst="rect">
                  <a:avLst/>
                </a:prstGeom>
                <a:blipFill>
                  <a:blip r:embed="rId5"/>
                  <a:stretch>
                    <a:fillRect l="-4255" r="-2128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0DC36A-9BE9-1F0E-6EAD-9B6707003742}"/>
                    </a:ext>
                  </a:extLst>
                </p:cNvPr>
                <p:cNvSpPr txBox="1"/>
                <p:nvPr/>
              </p:nvSpPr>
              <p:spPr>
                <a:xfrm>
                  <a:off x="6173523" y="3182024"/>
                  <a:ext cx="2003434" cy="210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sz="1400" b="0" i="1" baseline="-25000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- 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baseline="-25000" dirty="0">
                    <a:solidFill>
                      <a:srgbClr val="9F2175"/>
                    </a:solidFill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0DC36A-9BE9-1F0E-6EAD-9B67070037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3523" y="3182024"/>
                  <a:ext cx="2003434" cy="210507"/>
                </a:xfrm>
                <a:prstGeom prst="rect">
                  <a:avLst/>
                </a:prstGeom>
                <a:blipFill>
                  <a:blip r:embed="rId6"/>
                  <a:stretch>
                    <a:fillRect l="-1266" t="-5556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6D6B94F1-4C14-41E5-64AA-0824DC3D8E95}"/>
                </a:ext>
              </a:extLst>
            </p:cNvPr>
            <p:cNvSpPr/>
            <p:nvPr/>
          </p:nvSpPr>
          <p:spPr>
            <a:xfrm rot="5400000">
              <a:off x="7007600" y="1260811"/>
              <a:ext cx="335280" cy="3505201"/>
            </a:xfrm>
            <a:prstGeom prst="rightBrace">
              <a:avLst/>
            </a:prstGeom>
            <a:ln>
              <a:solidFill>
                <a:srgbClr val="9F217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CC98C93-23EC-E393-54DB-0DD3AAA3C61D}"/>
                  </a:ext>
                </a:extLst>
              </p:cNvPr>
              <p:cNvSpPr txBox="1"/>
              <p:nvPr/>
            </p:nvSpPr>
            <p:spPr>
              <a:xfrm>
                <a:off x="631332" y="4826554"/>
                <a:ext cx="4061176" cy="4469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rad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(Smith, 1958)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CC98C93-23EC-E393-54DB-0DD3AAA3C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332" y="4826554"/>
                <a:ext cx="4061176" cy="446982"/>
              </a:xfrm>
              <a:prstGeom prst="rect">
                <a:avLst/>
              </a:prstGeom>
              <a:blipFill>
                <a:blip r:embed="rId7"/>
                <a:stretch>
                  <a:fillRect l="-1246" t="-2778" r="-2492" b="-1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511FBA56-BA58-0532-90E6-8DE225CBC643}"/>
              </a:ext>
            </a:extLst>
          </p:cNvPr>
          <p:cNvSpPr txBox="1"/>
          <p:nvPr/>
        </p:nvSpPr>
        <p:spPr>
          <a:xfrm>
            <a:off x="623680" y="3769360"/>
            <a:ext cx="2782748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Pythagoras Theorem: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12C055A-B645-6599-7F4E-F7BC9A7A9181}"/>
              </a:ext>
            </a:extLst>
          </p:cNvPr>
          <p:cNvGrpSpPr/>
          <p:nvPr/>
        </p:nvGrpSpPr>
        <p:grpSpPr>
          <a:xfrm>
            <a:off x="6096000" y="4174691"/>
            <a:ext cx="5444813" cy="2065788"/>
            <a:chOff x="5708739" y="3952240"/>
            <a:chExt cx="5444813" cy="2065788"/>
          </a:xfrm>
        </p:grpSpPr>
        <p:sp>
          <p:nvSpPr>
            <p:cNvPr id="30" name="Rectangle: Rounded Corners 34">
              <a:extLst>
                <a:ext uri="{FF2B5EF4-FFF2-40B4-BE49-F238E27FC236}">
                  <a16:creationId xmlns:a16="http://schemas.microsoft.com/office/drawing/2014/main" id="{414E1675-6496-1E91-AF77-C927CFA247C9}"/>
                </a:ext>
              </a:extLst>
            </p:cNvPr>
            <p:cNvSpPr/>
            <p:nvPr/>
          </p:nvSpPr>
          <p:spPr>
            <a:xfrm>
              <a:off x="5708739" y="3952240"/>
              <a:ext cx="5444813" cy="2065788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o-RO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C48F459-C85F-C7D4-A9BC-F184FC3ECF89}"/>
                    </a:ext>
                  </a:extLst>
                </p:cNvPr>
                <p:cNvSpPr txBox="1"/>
                <p:nvPr/>
              </p:nvSpPr>
              <p:spPr>
                <a:xfrm>
                  <a:off x="6520695" y="4614965"/>
                  <a:ext cx="4473572" cy="12603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Having the approximations 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ad>
                        <m:radPr>
                          <m:degHide m:val="on"/>
                          <m:ctrlP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d>
                            <m:dPr>
                              <m:ctrlP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</m:rad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rad>
                    </m:oMath>
                  </a14:m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 and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EAϵ</m:t>
                      </m:r>
                    </m:oMath>
                  </a14:m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, Smith equation become: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≈2</m:t>
                        </m:r>
                        <m:sSubSup>
                          <m:sSub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 ⇒ </m:t>
                        </m:r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≈</m:t>
                        </m:r>
                        <m:sSup>
                          <m:s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i="1" smtClean="0">
                                        <a:solidFill>
                                          <a:schemeClr val="accent6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m:rPr>
                                <m:lit/>
                              </m:r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6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C48F459-C85F-C7D4-A9BC-F184FC3ECF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0695" y="4614965"/>
                  <a:ext cx="4473572" cy="1260345"/>
                </a:xfrm>
                <a:prstGeom prst="rect">
                  <a:avLst/>
                </a:prstGeom>
                <a:blipFill>
                  <a:blip r:embed="rId8"/>
                  <a:stretch>
                    <a:fillRect l="-5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Graphic 31" descr="Angel face outline with solid fill">
              <a:extLst>
                <a:ext uri="{FF2B5EF4-FFF2-40B4-BE49-F238E27FC236}">
                  <a16:creationId xmlns:a16="http://schemas.microsoft.com/office/drawing/2014/main" id="{22135D76-37CE-D791-3B69-2AC9A26518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742285" y="4675571"/>
              <a:ext cx="619125" cy="61912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4048FE8-55A3-061E-DF00-A3E85982CA72}"/>
                    </a:ext>
                  </a:extLst>
                </p:cNvPr>
                <p:cNvSpPr txBox="1"/>
                <p:nvPr/>
              </p:nvSpPr>
              <p:spPr>
                <a:xfrm>
                  <a:off x="6435201" y="4135120"/>
                  <a:ext cx="4414862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 b="1"/>
                          <m:t>Strain</m:t>
                        </m:r>
                        <m:r>
                          <m:rPr>
                            <m:nor/>
                          </m:rPr>
                          <a:rPr lang="en-US" sz="1600" b="1"/>
                          <m:t>–</m:t>
                        </m:r>
                        <m:r>
                          <m:rPr>
                            <m:nor/>
                          </m:rPr>
                          <a:rPr lang="en-US" sz="1600" b="1"/>
                          <m:t>Velocity</m:t>
                        </m:r>
                        <m:r>
                          <m:rPr>
                            <m:nor/>
                          </m:rPr>
                          <a:rPr lang="en-US" sz="1600" b="1"/>
                          <m:t> </m:t>
                        </m:r>
                        <m:r>
                          <m:rPr>
                            <m:nor/>
                          </m:rPr>
                          <a:rPr lang="en-US" sz="1600" b="1"/>
                          <m:t>Curve</m:t>
                        </m:r>
                        <m:r>
                          <m:rPr>
                            <m:nor/>
                          </m:rPr>
                          <a:rPr lang="en-US" sz="1600" b="1"/>
                          <m:t> (</m:t>
                        </m:r>
                        <m:r>
                          <m:rPr>
                            <m:nor/>
                          </m:rPr>
                          <a:rPr lang="en-US" sz="1600" b="1"/>
                          <m:t>Linear</m:t>
                        </m:r>
                        <m:r>
                          <m:rPr>
                            <m:nor/>
                          </m:rPr>
                          <a:rPr lang="en-US" sz="1600" b="1"/>
                          <m:t> </m:t>
                        </m:r>
                        <m:r>
                          <m:rPr>
                            <m:nor/>
                          </m:rPr>
                          <a:rPr lang="en-US" sz="1600" b="1"/>
                          <m:t>Regime</m:t>
                        </m:r>
                        <m:r>
                          <m:rPr>
                            <m:nor/>
                          </m:rPr>
                          <a:rPr lang="en-US" sz="1600" b="1"/>
                          <m:t>, </m:t>
                        </m:r>
                        <m:r>
                          <a:rPr lang="en-US" sz="1600" b="1" i="1" smtClean="0"/>
                          <m:t>𝝐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≪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m:rPr>
                            <m:nor/>
                          </m:rPr>
                          <a:rPr lang="en-US" sz="1600" b="1"/>
                          <m:t>)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4048FE8-55A3-061E-DF00-A3E85982CA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201" y="4135120"/>
                  <a:ext cx="4414862" cy="246221"/>
                </a:xfrm>
                <a:prstGeom prst="rect">
                  <a:avLst/>
                </a:prstGeom>
                <a:blipFill>
                  <a:blip r:embed="rId10"/>
                  <a:stretch>
                    <a:fillRect l="-862" t="-15000" r="-1149" b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4A9F22D-A589-1E26-6D8A-BEDAE4375CD9}"/>
              </a:ext>
            </a:extLst>
          </p:cNvPr>
          <p:cNvSpPr txBox="1"/>
          <p:nvPr/>
        </p:nvSpPr>
        <p:spPr>
          <a:xfrm>
            <a:off x="631332" y="5689356"/>
            <a:ext cx="447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J. C. Smith, F. L. McCrackin, and H. F. Schiefer – “</a:t>
            </a:r>
            <a:r>
              <a:rPr lang="en-US" sz="1200" i="1" dirty="0"/>
              <a:t>Stress-strain relationships in yarns subjected to rapid impact loading</a:t>
            </a:r>
            <a:r>
              <a:rPr lang="en-US" sz="1200" dirty="0"/>
              <a:t>”, J. Res. Natl. Bur. Stand, 1958</a:t>
            </a:r>
          </a:p>
        </p:txBody>
      </p:sp>
    </p:spTree>
    <p:extLst>
      <p:ext uri="{BB962C8B-B14F-4D97-AF65-F5344CB8AC3E}">
        <p14:creationId xmlns:p14="http://schemas.microsoft.com/office/powerpoint/2010/main" val="3351877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1945-F75E-5207-8C5D-FA4487D5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A95632-2B24-D534-502B-B13B3FE1C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Thread breaking conditions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BC02C-38FA-C36C-E7CF-82F92D89AB25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…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D9B07B-D156-8E94-466E-F7FA240E698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2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F0A84-F847-D1B3-1A93-EE29F353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210A4C-4085-4997-4B23-B3764FA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Wave “ping-pong” effect</a:t>
            </a:r>
            <a:endParaRPr lang="ro-RO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228ECC-8027-D82E-D9E4-67B2671F5B1A}"/>
                  </a:ext>
                </a:extLst>
              </p:cNvPr>
              <p:cNvSpPr txBox="1"/>
              <p:nvPr/>
            </p:nvSpPr>
            <p:spPr>
              <a:xfrm>
                <a:off x="889809" y="1366678"/>
                <a:ext cx="9757169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Finite Boundaries &amp; Multiple Reflections: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Initial impact wave reaches frame anchors within microseconds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μs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Reflected tension waves bounce between projectile and anchors dozens of times during arrest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228ECC-8027-D82E-D9E4-67B2671F5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09" y="1366678"/>
                <a:ext cx="9757169" cy="861774"/>
              </a:xfrm>
              <a:prstGeom prst="rect">
                <a:avLst/>
              </a:prstGeom>
              <a:blipFill>
                <a:blip r:embed="rId2"/>
                <a:stretch>
                  <a:fillRect l="-520" t="-2899"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4AFCED-E099-5777-910B-F63564CF943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BDFB9E-A44C-2BA8-7238-C96171CF6CD5}"/>
              </a:ext>
            </a:extLst>
          </p:cNvPr>
          <p:cNvSpPr txBox="1"/>
          <p:nvPr/>
        </p:nvSpPr>
        <p:spPr>
          <a:xfrm>
            <a:off x="820894" y="4774317"/>
            <a:ext cx="801960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Physical Takeaway: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projectile does </a:t>
            </a:r>
            <a:r>
              <a:rPr lang="en-US" sz="1600" b="1" dirty="0"/>
              <a:t>not</a:t>
            </a:r>
            <a:r>
              <a:rPr lang="en-US" sz="1600" dirty="0"/>
              <a:t> experience isolated traveling wave fronts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net behaves collectively as a </a:t>
            </a:r>
            <a:r>
              <a:rPr lang="en-US" sz="1600" b="1" dirty="0"/>
              <a:t>quasi-static nonlinear spring assembly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A57AE-085E-17E8-CCD7-450ED309B0F6}"/>
              </a:ext>
            </a:extLst>
          </p:cNvPr>
          <p:cNvSpPr txBox="1"/>
          <p:nvPr/>
        </p:nvSpPr>
        <p:spPr>
          <a:xfrm>
            <a:off x="855351" y="3670771"/>
            <a:ext cx="757929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Tension Homogenization: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Each round-trip reflection superimposes incremental tension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stress gradients smooth out within milliseconds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89AA3C-CD35-8688-F53C-957A11AC4F78}"/>
                  </a:ext>
                </a:extLst>
              </p:cNvPr>
              <p:cNvSpPr txBox="1"/>
              <p:nvPr/>
            </p:nvSpPr>
            <p:spPr>
              <a:xfrm>
                <a:off x="889809" y="2567226"/>
                <a:ext cx="8838982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Velocity Scale Disparity: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Transverse wave speed: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b="0" i="1" baseline="-2500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≈800-1800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Drone impact velocity: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1600" b="0" i="1" baseline="-2500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=10-20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cT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≫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1600" b="0" i="1" baseline="-2500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ratio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40-190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89AA3C-CD35-8688-F53C-957A11AC4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09" y="2567226"/>
                <a:ext cx="8838982" cy="861774"/>
              </a:xfrm>
              <a:prstGeom prst="rect">
                <a:avLst/>
              </a:prstGeom>
              <a:blipFill>
                <a:blip r:embed="rId4"/>
                <a:stretch>
                  <a:fillRect l="-574" t="-2899"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4840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4AAA-72DA-9834-63D3-07902F74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75A52A6-ED64-5E8A-0CCD-FE8087BE69DD}"/>
              </a:ext>
            </a:extLst>
          </p:cNvPr>
          <p:cNvSpPr/>
          <p:nvPr/>
        </p:nvSpPr>
        <p:spPr>
          <a:xfrm>
            <a:off x="6456810" y="3965043"/>
            <a:ext cx="5392289" cy="207481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6308120-114A-465C-C069-9C8095E012E9}"/>
              </a:ext>
            </a:extLst>
          </p:cNvPr>
          <p:cNvSpPr/>
          <p:nvPr/>
        </p:nvSpPr>
        <p:spPr>
          <a:xfrm>
            <a:off x="267396" y="3965043"/>
            <a:ext cx="5736362" cy="250166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38C27-4195-22CC-B3F3-AEAD9B2A1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From Wave PDE to Pure Geometry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51A31C-9E6C-45D4-CE59-C7396F00AB0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09475D-CFA7-CA95-A43A-932310DCE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474" y="1327318"/>
            <a:ext cx="7772400" cy="2417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CD74A-AF95-070C-5F31-DBB8993CFF9E}"/>
                  </a:ext>
                </a:extLst>
              </p:cNvPr>
              <p:cNvSpPr txBox="1"/>
              <p:nvPr/>
            </p:nvSpPr>
            <p:spPr>
              <a:xfrm>
                <a:off x="342901" y="4043826"/>
                <a:ext cx="5384131" cy="23296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None/>
                </a:pPr>
                <a:r>
                  <a:rPr lang="en-US" b="1" dirty="0">
                    <a:effectLst/>
                    <a:latin typeface="Google Sans Text"/>
                  </a:rPr>
                  <a:t>Kinematic Strain Relation</a:t>
                </a:r>
                <a:endParaRPr lang="en-US" dirty="0">
                  <a:effectLst/>
                  <a:latin typeface="Google Sans Text"/>
                </a:endParaRPr>
              </a:p>
              <a:p>
                <a:r>
                  <a:rPr lang="en-US" sz="1600" dirty="0">
                    <a:effectLst/>
                    <a:latin typeface="Google Sans Text"/>
                  </a:rPr>
                  <a:t>Out-of-plane hub displacement </a:t>
                </a:r>
                <a:r>
                  <a:rPr lang="en-US" sz="1600" i="1" dirty="0">
                    <a:latin typeface="Google Sans Text"/>
                  </a:rPr>
                  <a:t>w</a:t>
                </a:r>
                <a:r>
                  <a:rPr lang="en-US" sz="1600" dirty="0">
                    <a:effectLst/>
                    <a:latin typeface="Google Sans Text"/>
                  </a:rPr>
                  <a:t> defines deformed </a:t>
                </a:r>
                <a:r>
                  <a:rPr lang="en-US" sz="1600" dirty="0">
                    <a:latin typeface="Google Sans Text"/>
                  </a:rPr>
                  <a:t>length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dirty="0">
                  <a:effectLst/>
                  <a:latin typeface="Google Sans Text"/>
                </a:endParaRPr>
              </a:p>
              <a:p>
                <a:r>
                  <a:rPr lang="en-US" sz="1600" dirty="0">
                    <a:effectLst/>
                    <a:latin typeface="Google Sans Text"/>
                  </a:rPr>
                  <a:t>Exact closed-form strain with </a:t>
                </a:r>
                <a:r>
                  <a:rPr lang="en-US" sz="1600" dirty="0" err="1">
                    <a:effectLst/>
                    <a:latin typeface="Google Sans Text"/>
                  </a:rPr>
                  <a:t>prestrain</a:t>
                </a:r>
                <a:r>
                  <a:rPr lang="en-US" sz="16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effectLst/>
                        <a:latin typeface="Cambria Math" panose="02040503050406030204" pitchFamily="18" charset="0"/>
                      </a:rPr>
                      <m:t>ϵ</m:t>
                    </m:r>
                    <m:r>
                      <m:rPr>
                        <m:sty m:val="p"/>
                      </m:rPr>
                      <a:rPr lang="en-US" b="0" i="1" baseline="-25000" smtClean="0">
                        <a:effectLst/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dirty="0">
                    <a:effectLst/>
                    <a:latin typeface="Google Sans Text"/>
                  </a:rPr>
                  <a:t>:</a:t>
                </a:r>
              </a:p>
              <a:p>
                <a:endParaRPr lang="en-US" dirty="0">
                  <a:effectLst/>
                  <a:latin typeface="Google Sans Text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effectLst/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𝜖</m:t>
                      </m:r>
                      <m:d>
                        <m:d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ad>
                        <m:radPr>
                          <m:degHide m:val="on"/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i="1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CD74A-AF95-070C-5F31-DBB8993CF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1" y="4043826"/>
                <a:ext cx="5384131" cy="2329612"/>
              </a:xfrm>
              <a:prstGeom prst="rect">
                <a:avLst/>
              </a:prstGeom>
              <a:blipFill>
                <a:blip r:embed="rId4"/>
                <a:stretch>
                  <a:fillRect l="-471" t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7A9F3-D80E-2A94-E02B-66B6BE75EA57}"/>
                  </a:ext>
                </a:extLst>
              </p:cNvPr>
              <p:cNvSpPr txBox="1"/>
              <p:nvPr/>
            </p:nvSpPr>
            <p:spPr>
              <a:xfrm>
                <a:off x="6593304" y="4043826"/>
                <a:ext cx="5077327" cy="17988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None/>
                </a:pPr>
                <a:r>
                  <a:rPr lang="en-US" b="1" dirty="0">
                    <a:effectLst/>
                    <a:latin typeface="Google Sans Text"/>
                  </a:rPr>
                  <a:t>Global Energy Balance</a:t>
                </a:r>
                <a:endParaRPr lang="en-US" dirty="0">
                  <a:effectLst/>
                  <a:latin typeface="Google Sans Text"/>
                </a:endParaRPr>
              </a:p>
              <a:p>
                <a:endParaRPr lang="en-US" dirty="0">
                  <a:effectLst/>
                  <a:latin typeface="Google Sans Text"/>
                </a:endParaRPr>
              </a:p>
              <a:p>
                <a:r>
                  <a:rPr lang="en-US" sz="1600" dirty="0">
                    <a:effectLst/>
                    <a:latin typeface="Google Sans Text"/>
                  </a:rPr>
                  <a:t>Total strain energy absorbed up to deflection </a:t>
                </a:r>
                <a:r>
                  <a:rPr lang="en-US" sz="1600" i="1" dirty="0">
                    <a:latin typeface="Google Sans Text"/>
                  </a:rPr>
                  <a:t>w</a:t>
                </a:r>
                <a:r>
                  <a:rPr lang="en-US" sz="1600" dirty="0">
                    <a:effectLst/>
                    <a:latin typeface="Google Sans Text"/>
                  </a:rPr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dirty="0">
                  <a:latin typeface="Google Sans Text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effectLst/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d>
                            </m:e>
                          </m:d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effectLst/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7A9F3-D80E-2A94-E02B-66B6BE75E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304" y="4043826"/>
                <a:ext cx="5077327" cy="1798826"/>
              </a:xfrm>
              <a:prstGeom prst="rect">
                <a:avLst/>
              </a:prstGeom>
              <a:blipFill>
                <a:blip r:embed="rId5"/>
                <a:stretch>
                  <a:fillRect l="-1000" t="-2817" b="-90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071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08C52-D3BE-1E45-553D-72D70874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91E865-5ECC-EBCA-6EE7-6BC9DAA18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894" y="391295"/>
            <a:ext cx="7791478" cy="63660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Minimum Net Mass &amp; Material Utilization</a:t>
            </a:r>
            <a:endParaRPr lang="ro-RO" sz="32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E57AF7-5F52-3B26-91DD-10CB4E43DFF6}"/>
                  </a:ext>
                </a:extLst>
              </p:cNvPr>
              <p:cNvSpPr txBox="1"/>
              <p:nvPr/>
            </p:nvSpPr>
            <p:spPr>
              <a:xfrm>
                <a:off x="4716633" y="2169688"/>
                <a:ext cx="1752275" cy="5765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𝐦𝐢𝐧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𝐤𝐢𝐧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𝐞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𝐦𝐚𝐭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E57AF7-5F52-3B26-91DD-10CB4E43D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633" y="2169688"/>
                <a:ext cx="1752275" cy="576568"/>
              </a:xfrm>
              <a:prstGeom prst="rect">
                <a:avLst/>
              </a:prstGeom>
              <a:blipFill>
                <a:blip r:embed="rId2"/>
                <a:stretch>
                  <a:fillRect l="-1439" r="-1439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F5C149-8642-D144-565D-9C57ECA5A9B3}"/>
                  </a:ext>
                </a:extLst>
              </p:cNvPr>
              <p:cNvSpPr txBox="1"/>
              <p:nvPr/>
            </p:nvSpPr>
            <p:spPr>
              <a:xfrm>
                <a:off x="1137684" y="1414130"/>
                <a:ext cx="88356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Equating drone kinetic energy to strain energy at failure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Eki</m:t>
                    </m:r>
                    <m:r>
                      <m:rPr>
                        <m:sty m:val="p"/>
                      </m:rPr>
                      <a:rPr lang="en-US" b="0" i="1" baseline="-2500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wb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)):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F5C149-8642-D144-565D-9C57ECA5A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684" y="1414130"/>
                <a:ext cx="8835656" cy="369332"/>
              </a:xfrm>
              <a:prstGeom prst="rect">
                <a:avLst/>
              </a:prstGeom>
              <a:blipFill>
                <a:blip r:embed="rId3"/>
                <a:stretch>
                  <a:fillRect l="-574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3FDD041-A594-A82C-CF9F-B40A8A207DC3}"/>
              </a:ext>
            </a:extLst>
          </p:cNvPr>
          <p:cNvGrpSpPr/>
          <p:nvPr/>
        </p:nvGrpSpPr>
        <p:grpSpPr>
          <a:xfrm>
            <a:off x="584790" y="3317359"/>
            <a:ext cx="5656521" cy="1956391"/>
            <a:chOff x="903767" y="3030279"/>
            <a:chExt cx="5656521" cy="1956391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CDE67222-0DAE-A3B8-B3F1-78B53A6EC48B}"/>
                </a:ext>
              </a:extLst>
            </p:cNvPr>
            <p:cNvSpPr/>
            <p:nvPr/>
          </p:nvSpPr>
          <p:spPr>
            <a:xfrm>
              <a:off x="903767" y="3030279"/>
              <a:ext cx="5656521" cy="195639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D6942AB-53A4-9C9F-5307-ED218EFF8CC6}"/>
                    </a:ext>
                  </a:extLst>
                </p:cNvPr>
                <p:cNvSpPr txBox="1"/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∈(0, 1] </m:t>
                      </m:r>
                    </m:oMath>
                  </a14:m>
                  <a:r>
                    <a:rPr lang="en-US" dirty="0"/>
                    <a:t>- </a:t>
                  </a:r>
                  <a:r>
                    <a:rPr lang="en-US" sz="1600" dirty="0"/>
                    <a:t>Material utilization factor (structural efficiency)</a:t>
                  </a:r>
                </a:p>
                <a:p>
                  <a:endParaRPr lang="en-US" dirty="0"/>
                </a:p>
                <a:p>
                  <a:r>
                    <a:rPr lang="en-US" sz="1600" dirty="0"/>
                    <a:t>For centered impact:</a:t>
                  </a: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=1−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D6942AB-53A4-9C9F-5307-ED218EFF8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blipFill>
                  <a:blip r:embed="rId4"/>
                  <a:stretch>
                    <a:fillRect l="-696" t="-16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88F2F39-512D-7DE7-DA68-DB4AFE9A7441}"/>
              </a:ext>
            </a:extLst>
          </p:cNvPr>
          <p:cNvGrpSpPr/>
          <p:nvPr/>
        </p:nvGrpSpPr>
        <p:grpSpPr>
          <a:xfrm>
            <a:off x="6996223" y="3184997"/>
            <a:ext cx="4176617" cy="1616150"/>
            <a:chOff x="7006855" y="3030279"/>
            <a:chExt cx="4176617" cy="1616150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55B723D-C8C5-B3BC-60D5-70C931B16998}"/>
                </a:ext>
              </a:extLst>
            </p:cNvPr>
            <p:cNvSpPr/>
            <p:nvPr/>
          </p:nvSpPr>
          <p:spPr>
            <a:xfrm>
              <a:off x="7006855" y="3030279"/>
              <a:ext cx="4176617" cy="16161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399286-E81E-58A8-E86A-1FC77BE2394C}"/>
                    </a:ext>
                  </a:extLst>
                </p:cNvPr>
                <p:cNvSpPr txBox="1"/>
                <p:nvPr/>
              </p:nvSpPr>
              <p:spPr>
                <a:xfrm>
                  <a:off x="7176977" y="3234865"/>
                  <a:ext cx="3678866" cy="11691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𝐞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𝐦𝐚𝐭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0" smtClean="0">
                                <a:latin typeface="Cambria Math" panose="02040503050406030204" pitchFamily="18" charset="0"/>
                              </a:rPr>
                              <m:t>𝚽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  <a:p>
                  <a:pPr algn="ctr"/>
                  <a:r>
                    <a:rPr lang="en-US" sz="1600" dirty="0"/>
                    <a:t>Specific energy to failure </a:t>
                  </a:r>
                  <a:r>
                    <a:rPr lang="en-US" sz="1600" i="1" dirty="0"/>
                    <a:t>(J/kg)</a:t>
                  </a:r>
                  <a:r>
                    <a:rPr lang="en-US" sz="1600" dirty="0"/>
                    <a:t>, intrinsic material toughness</a:t>
                  </a: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399286-E81E-58A8-E86A-1FC77BE239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6977" y="3234865"/>
                  <a:ext cx="3678866" cy="1169166"/>
                </a:xfrm>
                <a:prstGeom prst="rect">
                  <a:avLst/>
                </a:prstGeom>
                <a:blipFill>
                  <a:blip r:embed="rId5"/>
                  <a:stretch>
                    <a:fillRect b="-53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580D90-B105-558E-EF7A-5F4A16F9B4D4}"/>
              </a:ext>
            </a:extLst>
          </p:cNvPr>
          <p:cNvCxnSpPr>
            <a:stCxn id="6" idx="2"/>
          </p:cNvCxnSpPr>
          <p:nvPr/>
        </p:nvCxnSpPr>
        <p:spPr>
          <a:xfrm flipH="1">
            <a:off x="4880344" y="2746256"/>
            <a:ext cx="712427" cy="571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5F46AE2-E61F-AEB9-9470-97075D8FD00D}"/>
              </a:ext>
            </a:extLst>
          </p:cNvPr>
          <p:cNvCxnSpPr>
            <a:cxnSpLocks/>
          </p:cNvCxnSpPr>
          <p:nvPr/>
        </p:nvCxnSpPr>
        <p:spPr>
          <a:xfrm>
            <a:off x="6549656" y="2746256"/>
            <a:ext cx="616689" cy="438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4" name="Rectangle: Rounded Corners 131">
            <a:extLst>
              <a:ext uri="{FF2B5EF4-FFF2-40B4-BE49-F238E27FC236}">
                <a16:creationId xmlns:a16="http://schemas.microsoft.com/office/drawing/2014/main" id="{BC6B82B6-2189-AEAF-67DD-CAFB55D27148}"/>
              </a:ext>
            </a:extLst>
          </p:cNvPr>
          <p:cNvSpPr/>
          <p:nvPr/>
        </p:nvSpPr>
        <p:spPr>
          <a:xfrm>
            <a:off x="4197527" y="5688856"/>
            <a:ext cx="6294009" cy="86214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1A56CDF-A259-7B79-A122-53143B255A0E}"/>
                  </a:ext>
                </a:extLst>
              </p:cNvPr>
              <p:cNvSpPr txBox="1"/>
              <p:nvPr/>
            </p:nvSpPr>
            <p:spPr>
              <a:xfrm>
                <a:off x="4742522" y="5844853"/>
                <a:ext cx="524969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i="1" dirty="0">
                    <a:solidFill>
                      <a:schemeClr val="accent6">
                        <a:lumMod val="50000"/>
                      </a:schemeClr>
                    </a:solidFill>
                  </a:rPr>
                  <a:t>Hub impact remarkable independence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400" b="0" i="1" baseline="-2500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sz="1400" b="0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is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</a:t>
                </a:r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completely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independent of radial </a:t>
                </a:r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count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N </a:t>
                </a:r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and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radius R.</a:t>
                </a: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1A56CDF-A259-7B79-A122-53143B255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522" y="5844853"/>
                <a:ext cx="5249692" cy="523220"/>
              </a:xfrm>
              <a:prstGeom prst="rect">
                <a:avLst/>
              </a:prstGeom>
              <a:blipFill>
                <a:blip r:embed="rId6"/>
                <a:stretch>
                  <a:fillRect t="-2381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Graphic 25" descr="Exclamation mark with solid fill">
            <a:extLst>
              <a:ext uri="{FF2B5EF4-FFF2-40B4-BE49-F238E27FC236}">
                <a16:creationId xmlns:a16="http://schemas.microsoft.com/office/drawing/2014/main" id="{7200D3A7-DBF5-A973-B5F1-AB43147EA1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10419" y="5857893"/>
            <a:ext cx="432103" cy="43210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75EE087-00E7-9DDC-BD76-23E501D64CE6}"/>
              </a:ext>
            </a:extLst>
          </p:cNvPr>
          <p:cNvSpPr txBox="1"/>
          <p:nvPr/>
        </p:nvSpPr>
        <p:spPr>
          <a:xfrm>
            <a:off x="9407015" y="1627080"/>
            <a:ext cx="21690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Mentrionat</a:t>
            </a:r>
            <a:r>
              <a:rPr lang="en-US" dirty="0"/>
              <a:t> eta 0.993 </a:t>
            </a:r>
            <a:r>
              <a:rPr lang="en-US" dirty="0" err="1"/>
              <a:t>pentru</a:t>
            </a:r>
            <a:r>
              <a:rPr lang="en-US" dirty="0"/>
              <a:t> Silk </a:t>
            </a:r>
            <a:r>
              <a:rPr lang="en-US" dirty="0" err="1"/>
              <a:t>si</a:t>
            </a:r>
            <a:r>
              <a:rPr lang="en-US" dirty="0"/>
              <a:t> 0… </a:t>
            </a:r>
            <a:r>
              <a:rPr lang="en-US" dirty="0" err="1"/>
              <a:t>pentru</a:t>
            </a:r>
            <a:r>
              <a:rPr lang="en-US" dirty="0"/>
              <a:t> D.</a:t>
            </a:r>
          </a:p>
        </p:txBody>
      </p:sp>
    </p:spTree>
    <p:extLst>
      <p:ext uri="{BB962C8B-B14F-4D97-AF65-F5344CB8AC3E}">
        <p14:creationId xmlns:p14="http://schemas.microsoft.com/office/powerpoint/2010/main" val="1788620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3C0A6-1CCB-CE18-ACF9-3F611F1E8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C75-291A-055A-1B61-6BFE62A17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852C5E-CBC0-EC2D-F702-FE17998311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38FD5FF-2935-9EE6-3C51-2A2E2ACB9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474" y="1327318"/>
            <a:ext cx="7772400" cy="2417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D64989F-B8B1-C094-6E22-C8A56880BD7C}"/>
                  </a:ext>
                </a:extLst>
              </p:cNvPr>
              <p:cNvSpPr txBox="1"/>
              <p:nvPr/>
            </p:nvSpPr>
            <p:spPr>
              <a:xfrm>
                <a:off x="1024550" y="4202658"/>
                <a:ext cx="3671839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D64989F-B8B1-C094-6E22-C8A56880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550" y="4202658"/>
                <a:ext cx="3671839" cy="818366"/>
              </a:xfrm>
              <a:prstGeom prst="rect">
                <a:avLst/>
              </a:prstGeom>
              <a:blipFill>
                <a:blip r:embed="rId4"/>
                <a:stretch>
                  <a:fillRect l="-345" r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C0351-B8FE-03D7-ECAE-8DACBD7AD296}"/>
                  </a:ext>
                </a:extLst>
              </p:cNvPr>
              <p:cNvSpPr txBox="1"/>
              <p:nvPr/>
            </p:nvSpPr>
            <p:spPr>
              <a:xfrm>
                <a:off x="1370702" y="5362313"/>
                <a:ext cx="2979534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C0351-B8FE-03D7-ECAE-8DACBD7A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702" y="5362313"/>
                <a:ext cx="2979534" cy="818366"/>
              </a:xfrm>
              <a:prstGeom prst="rect">
                <a:avLst/>
              </a:prstGeom>
              <a:blipFill>
                <a:blip r:embed="rId5"/>
                <a:stretch>
                  <a:fillRect l="-426" r="-1277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016E25-65EF-3C22-7F49-99EE69AC3F08}"/>
                  </a:ext>
                </a:extLst>
              </p:cNvPr>
              <p:cNvSpPr txBox="1"/>
              <p:nvPr/>
            </p:nvSpPr>
            <p:spPr>
              <a:xfrm>
                <a:off x="5380245" y="4202658"/>
                <a:ext cx="30888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Pentru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firul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intern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≈0.22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016E25-65EF-3C22-7F49-99EE69AC3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245" y="4202658"/>
                <a:ext cx="3088859" cy="276999"/>
              </a:xfrm>
              <a:prstGeom prst="rect">
                <a:avLst/>
              </a:prstGeom>
              <a:blipFill>
                <a:blip r:embed="rId6"/>
                <a:stretch>
                  <a:fillRect l="-1230" r="-410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8515E2-A28D-E931-13EA-72762154E39B}"/>
                  </a:ext>
                </a:extLst>
              </p:cNvPr>
              <p:cNvSpPr txBox="1"/>
              <p:nvPr/>
            </p:nvSpPr>
            <p:spPr>
              <a:xfrm>
                <a:off x="5380245" y="4744025"/>
                <a:ext cx="3261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Pentru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firele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radiale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0.11 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8515E2-A28D-E931-13EA-72762154E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245" y="4744025"/>
                <a:ext cx="3261983" cy="276999"/>
              </a:xfrm>
              <a:prstGeom prst="rect">
                <a:avLst/>
              </a:prstGeom>
              <a:blipFill>
                <a:blip r:embed="rId7"/>
                <a:stretch>
                  <a:fillRect l="-1163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006393-FEBB-544A-ED5A-E413FE57AEBC}"/>
                  </a:ext>
                </a:extLst>
              </p:cNvPr>
              <p:cNvSpPr txBox="1"/>
              <p:nvPr/>
            </p:nvSpPr>
            <p:spPr>
              <a:xfrm>
                <a:off x="5463600" y="5323286"/>
                <a:ext cx="3095271" cy="5822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net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net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mat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9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threads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thr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tot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006393-FEBB-544A-ED5A-E413FE57A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3600" y="5323286"/>
                <a:ext cx="3095271" cy="582275"/>
              </a:xfrm>
              <a:prstGeom prst="rect">
                <a:avLst/>
              </a:prstGeom>
              <a:blipFill>
                <a:blip r:embed="rId8"/>
                <a:stretch>
                  <a:fillRect l="-1230" t="-80851" r="-410" b="-59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BE932E-70BA-9B4C-D35C-29DFB39DCB62}"/>
                  </a:ext>
                </a:extLst>
              </p:cNvPr>
              <p:cNvSpPr txBox="1"/>
              <p:nvPr/>
            </p:nvSpPr>
            <p:spPr>
              <a:xfrm>
                <a:off x="9312079" y="4202657"/>
                <a:ext cx="13320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6.25%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BE932E-70BA-9B4C-D35C-29DFB39D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2079" y="4202657"/>
                <a:ext cx="1332031" cy="276999"/>
              </a:xfrm>
              <a:prstGeom prst="rect">
                <a:avLst/>
              </a:prstGeom>
              <a:blipFill>
                <a:blip r:embed="rId9"/>
                <a:stretch>
                  <a:fillRect l="-3774" r="-3774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FF74E31-97AE-78ED-5BC0-4E21A697A026}"/>
                  </a:ext>
                </a:extLst>
              </p:cNvPr>
              <p:cNvSpPr txBox="1"/>
              <p:nvPr/>
            </p:nvSpPr>
            <p:spPr>
              <a:xfrm>
                <a:off x="9312078" y="4882524"/>
                <a:ext cx="12679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net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6.8%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FF74E31-97AE-78ED-5BC0-4E21A697A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2078" y="4882524"/>
                <a:ext cx="1267911" cy="276999"/>
              </a:xfrm>
              <a:prstGeom prst="rect">
                <a:avLst/>
              </a:prstGeom>
              <a:blipFill>
                <a:blip r:embed="rId10"/>
                <a:stretch>
                  <a:fillRect l="-3960" r="-2970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4343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BBDD-1144-7594-7DB0-86DDC755F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98AA7A-5513-D4D9-89BD-C72CD7B6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Off-Centre Impact – Thread Failure 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A049E-F40C-C204-D85C-1D2212E5E0A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278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97323</TotalTime>
  <Words>838</Words>
  <Application>Microsoft Macintosh PowerPoint</Application>
  <PresentationFormat>Widescreen</PresentationFormat>
  <Paragraphs>125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Cambria Math</vt:lpstr>
      <vt:lpstr>Google Sans Text</vt:lpstr>
      <vt:lpstr>1_Office Theme</vt:lpstr>
      <vt:lpstr>PowerPoint Presentation</vt:lpstr>
      <vt:lpstr>Agenda</vt:lpstr>
      <vt:lpstr>Spider Webs</vt:lpstr>
      <vt:lpstr>Impact waves in single thread</vt:lpstr>
      <vt:lpstr>Impact waves in single thread</vt:lpstr>
      <vt:lpstr>Impact waves in single thread</vt:lpstr>
      <vt:lpstr>Impact waves in single thread</vt:lpstr>
      <vt:lpstr>Thread breaking conditions</vt:lpstr>
      <vt:lpstr>Wave “ping-pong” effect</vt:lpstr>
      <vt:lpstr>From Wave PDE to Pure Geometry</vt:lpstr>
      <vt:lpstr>Minimum Net Mass &amp; Material Utilization</vt:lpstr>
      <vt:lpstr>Off-Centre Impact</vt:lpstr>
      <vt:lpstr>Off-Centre Impact – Thread Failure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19</cp:revision>
  <dcterms:created xsi:type="dcterms:W3CDTF">2024-01-29T10:19:11Z</dcterms:created>
  <dcterms:modified xsi:type="dcterms:W3CDTF">2026-10-17T19:42:11Z</dcterms:modified>
</cp:coreProperties>
</file>