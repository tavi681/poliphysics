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29" r:id="rId3"/>
    <p:sldId id="335" r:id="rId4"/>
    <p:sldId id="349" r:id="rId5"/>
    <p:sldId id="331" r:id="rId6"/>
    <p:sldId id="332" r:id="rId7"/>
    <p:sldId id="333" r:id="rId8"/>
    <p:sldId id="336" r:id="rId9"/>
    <p:sldId id="352" r:id="rId10"/>
    <p:sldId id="346" r:id="rId11"/>
    <p:sldId id="343" r:id="rId12"/>
    <p:sldId id="344" r:id="rId13"/>
    <p:sldId id="345" r:id="rId14"/>
    <p:sldId id="337" r:id="rId15"/>
    <p:sldId id="338" r:id="rId16"/>
    <p:sldId id="339" r:id="rId17"/>
    <p:sldId id="350" r:id="rId18"/>
    <p:sldId id="340" r:id="rId19"/>
    <p:sldId id="347" r:id="rId20"/>
    <p:sldId id="348" r:id="rId21"/>
    <p:sldId id="341" r:id="rId22"/>
    <p:sldId id="342" r:id="rId23"/>
    <p:sldId id="35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175"/>
    <a:srgbClr val="F8EEEF"/>
    <a:srgbClr val="1CA497"/>
    <a:srgbClr val="F8A0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9BAE7D-2473-B849-81CD-13C40C9EC794}" v="70" dt="2026-07-27T21:46:24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7" autoAdjust="0"/>
    <p:restoredTop sz="96302" autoAdjust="0"/>
  </p:normalViewPr>
  <p:slideViewPr>
    <p:cSldViewPr snapToGrid="0">
      <p:cViewPr varScale="1">
        <p:scale>
          <a:sx n="120" d="100"/>
          <a:sy n="120" d="100"/>
        </p:scale>
        <p:origin x="18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4" d="100"/>
          <a:sy n="74" d="100"/>
        </p:scale>
        <p:origin x="2964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2E86F5-2987-464E-100F-5953944B43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3400E-F3CB-4024-86DC-70180CFF9B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4BBC0-246C-4EDF-BC1F-DD96E1F72B7E}" type="datetimeFigureOut">
              <a:rPr lang="ro-RO" smtClean="0"/>
              <a:t>10.10.2026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F9863-B6FC-AC26-2EAF-016896776A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B37CA-584D-1085-D07C-29D7B9EF6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DBF4C-D2F6-4906-B66A-55A4CD2836C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3172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99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>
            <a:spLocks noGrp="1"/>
          </p:cNvSpPr>
          <p:nvPr>
            <p:ph type="sldNum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4294967295"/>
          </p:nvPr>
        </p:nvSpPr>
        <p:spPr/>
        <p:txBody>
          <a:bodyPr/>
          <a:lstStyle/>
          <a:p>
            <a:r>
              <a:rPr lang="en-US"/>
              <a:t>The analogy concerns particle motion relative to wave propagation</a:t>
            </a:r>
            <a:r>
              <a:t>. </a:t>
            </a:r>
            <a:r>
              <a:rPr lang="en-US"/>
              <a:t>The physical mechanisms in rock and in a thread differ</a:t>
            </a:r>
            <a:r>
              <a:t>.</a:t>
            </a:r>
          </a:p>
          <a:p>
            <a:endParaRPr/>
          </a:p>
          <a:p>
            <a:r>
              <a:t>[Sources]</a:t>
            </a:r>
          </a:p>
          <a:p>
            <a:r>
              <a:t>USGS, Body waves inside the earth</a:t>
            </a:r>
          </a:p>
          <a:p>
            <a:r>
              <a:t>https://earthquake.usgs.gov/earthquakes/events/1906calif/18april/earthwaves.php</a:t>
            </a:r>
            <a:endParaRPr lang="en-US"/>
          </a:p>
          <a:p>
            <a:r>
              <a:rPr lang="en-US"/>
              <a:t>Illustrations: AI-generated conceptual schematics of P/S particle motion and the thread initial condition, based on the existing slide 5 setup.</a:t>
            </a:r>
            <a:endParaRPr/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2711-C736-0ACF-74F4-58745EB3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827D1-77CF-F0EE-8DA9-3A6559ADEA8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/>
        <p:txBody>
          <a:bodyPr/>
          <a:lstStyle/>
          <a:p>
            <a:r>
              <a:rPr lang="en-US"/>
              <a:t>The analogy concerns particle motion relative to wave propagation</a:t>
            </a:r>
            <a:r>
              <a:t>. </a:t>
            </a:r>
            <a:r>
              <a:rPr lang="en-US"/>
              <a:t>The physical mechanisms in rock and in a thread differ</a:t>
            </a:r>
            <a:r>
              <a:t>.</a:t>
            </a:r>
          </a:p>
          <a:p>
            <a:endParaRPr/>
          </a:p>
          <a:p>
            <a:r>
              <a:t>[Sources]</a:t>
            </a:r>
          </a:p>
          <a:p>
            <a:r>
              <a:t>USGS, Body waves inside the earth</a:t>
            </a:r>
          </a:p>
          <a:p>
            <a:r>
              <a:t>https://earthquake.usgs.gov/earthquakes/events/1906calif/18april/earthwaves.php</a:t>
            </a:r>
            <a:endParaRPr lang="en-US"/>
          </a:p>
          <a:p>
            <a:r>
              <a:rPr lang="en-US"/>
              <a:t>Illustrations: AI-generated conceptual schematics of P/S particle motion and the thread initial condition, based on the existing slide 5 setup.</a:t>
            </a:r>
            <a:endParaRPr/>
          </a:p>
          <a:p>
            <a:r>
              <a:t>[/Sources]</a:t>
            </a:r>
          </a:p>
        </p:txBody>
      </p:sp>
    </p:spTree>
    <p:extLst>
      <p:ext uri="{BB962C8B-B14F-4D97-AF65-F5344CB8AC3E}">
        <p14:creationId xmlns:p14="http://schemas.microsoft.com/office/powerpoint/2010/main" val="313077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title"/>
          </p:nvPr>
        </p:nvSpPr>
        <p:spPr>
          <a:xfrm>
            <a:off x="820894" y="391295"/>
            <a:ext cx="7648210" cy="63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body" idx="1"/>
          </p:nvPr>
        </p:nvSpPr>
        <p:spPr>
          <a:xfrm>
            <a:off x="838200" y="144040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December 2023	</a:t>
            </a:r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Rounded Rectangle 11">
            <a:extLst>
              <a:ext uri="{FF2B5EF4-FFF2-40B4-BE49-F238E27FC236}">
                <a16:creationId xmlns:a16="http://schemas.microsoft.com/office/drawing/2014/main" id="{638B3E5C-A52F-4456-5B0C-6E08E3585E2D}"/>
              </a:ext>
            </a:extLst>
          </p:cNvPr>
          <p:cNvSpPr/>
          <p:nvPr userDrawn="1"/>
        </p:nvSpPr>
        <p:spPr>
          <a:xfrm rot="5400000">
            <a:off x="4326695" y="-3131811"/>
            <a:ext cx="636608" cy="768282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88000">
                <a:schemeClr val="accent1">
                  <a:lumMod val="40000"/>
                  <a:lumOff val="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12E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7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56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257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681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85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84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13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69114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2" Type="http://schemas.openxmlformats.org/officeDocument/2006/relationships/image" Target="../media/image1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8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sv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12" Type="http://schemas.openxmlformats.org/officeDocument/2006/relationships/image" Target="../media/image1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09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09.png"/><Relationship Id="rId7" Type="http://schemas.openxmlformats.org/officeDocument/2006/relationships/image" Target="../media/image1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/>
          <p:nvPr/>
        </p:nvSpPr>
        <p:spPr>
          <a:xfrm>
            <a:off x="7181155" y="1274808"/>
            <a:ext cx="4717473" cy="384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tabLst/>
              <a:defRPr/>
            </a:pPr>
            <a:r>
              <a:rPr lang="en-US" sz="6000" kern="0" dirty="0">
                <a:solidFill>
                  <a:srgbClr val="842E7B"/>
                </a:solidFill>
                <a:latin typeface="Arial"/>
                <a:ea typeface="Arial"/>
                <a:cs typeface="Arial"/>
                <a:sym typeface="Arial"/>
              </a:rPr>
              <a:t>Spider Webs and Sacrificial Failure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A471F-9696-A752-7DC8-4F7C657E5438}"/>
              </a:ext>
            </a:extLst>
          </p:cNvPr>
          <p:cNvSpPr/>
          <p:nvPr/>
        </p:nvSpPr>
        <p:spPr>
          <a:xfrm>
            <a:off x="0" y="0"/>
            <a:ext cx="9153939" cy="1505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F28FDB-F4FE-07B1-4680-A946F16E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69" y="322547"/>
            <a:ext cx="3059082" cy="10186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ABAA74-1264-F352-D962-640090A31A5C}"/>
              </a:ext>
            </a:extLst>
          </p:cNvPr>
          <p:cNvSpPr txBox="1"/>
          <p:nvPr/>
        </p:nvSpPr>
        <p:spPr>
          <a:xfrm>
            <a:off x="7503274" y="5459968"/>
            <a:ext cx="4395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842E7B"/>
                </a:solidFill>
                <a:latin typeface="Arial"/>
                <a:ea typeface="Arial"/>
                <a:cs typeface="Arial"/>
                <a:sym typeface="Arial"/>
              </a:rPr>
              <a:t>Impact regimes and quasi-static capacity</a:t>
            </a:r>
            <a:endParaRPr lang="en-US" sz="1800" kern="0" dirty="0">
              <a:solidFill>
                <a:srgbClr val="842E7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The Most Beautiful Spider Webs Ever Found in Nature">
            <a:extLst>
              <a:ext uri="{FF2B5EF4-FFF2-40B4-BE49-F238E27FC236}">
                <a16:creationId xmlns:a16="http://schemas.microsoft.com/office/drawing/2014/main" id="{C0728887-A316-2F96-E88D-96D9AC741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09" y="1274808"/>
            <a:ext cx="6901024" cy="45668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EA4550-F326-0AC7-13DE-7FF4EA0F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31722-4350-0342-392E-0EB50DECD210}"/>
              </a:ext>
            </a:extLst>
          </p:cNvPr>
          <p:cNvSpPr txBox="1"/>
          <p:nvPr/>
        </p:nvSpPr>
        <p:spPr>
          <a:xfrm>
            <a:off x="1355735" y="2256104"/>
            <a:ext cx="50468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Single Thread Impact</a:t>
            </a: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Breaking Conditions</a:t>
            </a: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Numerical Simulations</a:t>
            </a:r>
          </a:p>
          <a:p>
            <a:pPr>
              <a:buClr>
                <a:srgbClr val="000000"/>
              </a:buClr>
              <a:defRPr/>
            </a:pPr>
            <a:endParaRPr lang="en-US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Minimum Net Mass &amp; Material Utilization</a:t>
            </a:r>
            <a:endParaRPr lang="en-US" sz="2000" kern="0" dirty="0">
              <a:solidFill>
                <a:srgbClr val="000000"/>
              </a:solidFill>
              <a:cs typeface="Arial"/>
            </a:endParaRPr>
          </a:p>
          <a:p>
            <a:pPr>
              <a:buClr>
                <a:srgbClr val="000000"/>
              </a:buClr>
              <a:defRPr/>
            </a:pPr>
            <a:endParaRPr lang="en-US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Surprise Bonus!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6C29E8-7734-A82F-3754-F7CAD4B5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053" y="1543721"/>
            <a:ext cx="2965452" cy="411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46FB-298D-24F0-0112-7EA19B7A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E43649-49E8-E3BF-7813-35584CEE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Impact waves in single thread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15EDD-9959-F1A5-0CEB-F90B1441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E12E47-87F3-0487-9D86-5721523E6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017" y="1486343"/>
            <a:ext cx="2358360" cy="353754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39EE56C-4C3F-0B34-1A15-CA12C72AFACF}"/>
              </a:ext>
            </a:extLst>
          </p:cNvPr>
          <p:cNvGrpSpPr/>
          <p:nvPr/>
        </p:nvGrpSpPr>
        <p:grpSpPr>
          <a:xfrm>
            <a:off x="4965405" y="1999169"/>
            <a:ext cx="6668545" cy="1429831"/>
            <a:chOff x="4965405" y="1999169"/>
            <a:chExt cx="6668545" cy="142983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F57E95-DBF2-6A46-441E-5712188975E9}"/>
                </a:ext>
              </a:extLst>
            </p:cNvPr>
            <p:cNvCxnSpPr>
              <a:cxnSpLocks/>
            </p:cNvCxnSpPr>
            <p:nvPr/>
          </p:nvCxnSpPr>
          <p:spPr>
            <a:xfrm>
              <a:off x="4965405" y="2359632"/>
              <a:ext cx="6453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597E1E6-3174-415C-6D4A-B459F63856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2025" y="2400758"/>
              <a:ext cx="0" cy="4981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7422EC-1AF0-7C56-7B57-FB7D0D591B35}"/>
                    </a:ext>
                  </a:extLst>
                </p:cNvPr>
                <p:cNvSpPr txBox="1"/>
                <p:nvPr/>
              </p:nvSpPr>
              <p:spPr>
                <a:xfrm>
                  <a:off x="8046483" y="2562035"/>
                  <a:ext cx="20518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1400" b="0" i="1" baseline="-2500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7422EC-1AF0-7C56-7B57-FB7D0D591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483" y="2562035"/>
                  <a:ext cx="205184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1765" r="-588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BDBC3E4-DCE4-7F87-6FCF-916A5FB55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5289763">
              <a:off x="7715980" y="2905420"/>
              <a:ext cx="479020" cy="56814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BAF493-23BB-925A-1E3D-0FFE3C738E77}"/>
                </a:ext>
              </a:extLst>
            </p:cNvPr>
            <p:cNvSpPr txBox="1"/>
            <p:nvPr/>
          </p:nvSpPr>
          <p:spPr>
            <a:xfrm>
              <a:off x="9230992" y="1999169"/>
              <a:ext cx="24029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1">
                      <a:lumMod val="75000"/>
                    </a:schemeClr>
                  </a:solidFill>
                </a:rPr>
                <a:t>Single infinite silk thread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37B8724-C2DD-9AF4-185C-011F7B61EBD2}"/>
              </a:ext>
            </a:extLst>
          </p:cNvPr>
          <p:cNvSpPr txBox="1"/>
          <p:nvPr/>
        </p:nvSpPr>
        <p:spPr>
          <a:xfrm>
            <a:off x="4245128" y="3883954"/>
            <a:ext cx="4260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How will the silk thread behave after impact?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4B52E3-CB25-003C-1266-D5954A651DCF}"/>
              </a:ext>
            </a:extLst>
          </p:cNvPr>
          <p:cNvSpPr txBox="1"/>
          <p:nvPr/>
        </p:nvSpPr>
        <p:spPr>
          <a:xfrm>
            <a:off x="7779489" y="4829416"/>
            <a:ext cx="3650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What’s the critical speed to break the silk thread?</a:t>
            </a:r>
          </a:p>
        </p:txBody>
      </p:sp>
      <p:pic>
        <p:nvPicPr>
          <p:cNvPr id="35" name="Graphic 34" descr="Help with solid fill">
            <a:extLst>
              <a:ext uri="{FF2B5EF4-FFF2-40B4-BE49-F238E27FC236}">
                <a16:creationId xmlns:a16="http://schemas.microsoft.com/office/drawing/2014/main" id="{EF713D59-0B90-6ADE-FC9A-2C7C10441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0186" y="4648811"/>
            <a:ext cx="914400" cy="914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2E699E3-BD55-76C3-AF35-7786D0DD514E}"/>
              </a:ext>
            </a:extLst>
          </p:cNvPr>
          <p:cNvSpPr txBox="1"/>
          <p:nvPr/>
        </p:nvSpPr>
        <p:spPr>
          <a:xfrm>
            <a:off x="4444410" y="5923898"/>
            <a:ext cx="4260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How will the stress in the silk thread change over time? </a:t>
            </a:r>
          </a:p>
        </p:txBody>
      </p:sp>
    </p:spTree>
    <p:extLst>
      <p:ext uri="{BB962C8B-B14F-4D97-AF65-F5344CB8AC3E}">
        <p14:creationId xmlns:p14="http://schemas.microsoft.com/office/powerpoint/2010/main" val="279691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798B-BC04-4DFB-A80E-E4D5E857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49974F-A33B-D811-2282-F4CE997B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Impact waves in single thread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45297-F32E-526D-1382-9449340BA5B1}"/>
              </a:ext>
            </a:extLst>
          </p:cNvPr>
          <p:cNvSpPr txBox="1"/>
          <p:nvPr/>
        </p:nvSpPr>
        <p:spPr>
          <a:xfrm>
            <a:off x="889711" y="1300276"/>
            <a:ext cx="4892040" cy="1783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just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cs typeface="Arial"/>
                <a:sym typeface="Arial"/>
              </a:rPr>
              <a:t>Earthquake waves offer an analogy for thread impact. P waves are longitudinal: particle motion is parallel to propagation. S waves are transverse: particle motion is perpendicular to propagation.</a:t>
            </a: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F1FC0-A500-EEC7-7A3C-71D2CDE9FF3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9B1D16-5F29-C505-DE15-85242336FC05}"/>
              </a:ext>
            </a:extLst>
          </p:cNvPr>
          <p:cNvSpPr txBox="1"/>
          <p:nvPr/>
        </p:nvSpPr>
        <p:spPr>
          <a:xfrm>
            <a:off x="6217920" y="1300276"/>
            <a:ext cx="4892040" cy="1783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2000" kern="0" dirty="0">
                <a:solidFill>
                  <a:srgbClr val="000000"/>
                </a:solidFill>
                <a:cs typeface="Arial"/>
                <a:sym typeface="Arial"/>
              </a:rPr>
              <a:t>Consider a thread initially at rest and unstrained. At x = 0, we suddenly impose a constant transverse velocity v₀. How does the thread respond?</a:t>
            </a:r>
          </a:p>
        </p:txBody>
      </p:sp>
      <p:pic>
        <p:nvPicPr>
          <p:cNvPr id="8" name="Picture 7" descr="image-6e0c89fbcb4d578d650100f64f2af292.jpg">
            <a:extLst>
              <a:ext uri="{FF2B5EF4-FFF2-40B4-BE49-F238E27FC236}">
                <a16:creationId xmlns:a16="http://schemas.microsoft.com/office/drawing/2014/main" id="{A60F17C8-28EE-0F32-DF05-9EA366AAC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17" y="3154680"/>
            <a:ext cx="4012741" cy="2606040"/>
          </a:xfrm>
          <a:prstGeom prst="rect">
            <a:avLst/>
          </a:prstGeom>
        </p:spPr>
      </p:pic>
      <p:pic>
        <p:nvPicPr>
          <p:cNvPr id="9" name="Picture 8" descr="image-7a185b9c87ed71f3abbcd25a45258cc1.jpg">
            <a:extLst>
              <a:ext uri="{FF2B5EF4-FFF2-40B4-BE49-F238E27FC236}">
                <a16:creationId xmlns:a16="http://schemas.microsoft.com/office/drawing/2014/main" id="{D2619D24-9310-636A-3E47-D964C0E58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356" y="3154680"/>
            <a:ext cx="4355167" cy="2606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6C09D2-4EBE-101D-FE71-0E2CCB6F01F4}"/>
              </a:ext>
            </a:extLst>
          </p:cNvPr>
          <p:cNvSpPr txBox="1"/>
          <p:nvPr/>
        </p:nvSpPr>
        <p:spPr>
          <a:xfrm>
            <a:off x="1867906" y="5982363"/>
            <a:ext cx="8286187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</a:pPr>
            <a:r>
              <a:rPr lang="en-US" sz="2000" kern="0" dirty="0">
                <a:solidFill>
                  <a:schemeClr val="accent1">
                    <a:lumMod val="75000"/>
                  </a:schemeClr>
                </a:solidFill>
                <a:cs typeface="Arial"/>
                <a:sym typeface="Arial"/>
              </a:rPr>
              <a:t>How can transverse motion generate a longitudinal wave in the thread?</a:t>
            </a:r>
          </a:p>
        </p:txBody>
      </p:sp>
      <p:pic>
        <p:nvPicPr>
          <p:cNvPr id="3" name="Graphic 2" descr="Question Mark with solid fill">
            <a:extLst>
              <a:ext uri="{FF2B5EF4-FFF2-40B4-BE49-F238E27FC236}">
                <a16:creationId xmlns:a16="http://schemas.microsoft.com/office/drawing/2014/main" id="{0E614A70-8AE5-3B4D-703F-CBD688D59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7975" y="5874736"/>
            <a:ext cx="522150" cy="5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9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EA4550-F326-0AC7-13DE-7FF4EA0F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Impact waves in single thread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31722-4350-0342-392E-0EB50DECD210}"/>
              </a:ext>
            </a:extLst>
          </p:cNvPr>
          <p:cNvSpPr txBox="1"/>
          <p:nvPr/>
        </p:nvSpPr>
        <p:spPr>
          <a:xfrm>
            <a:off x="889809" y="1300345"/>
            <a:ext cx="9757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cs typeface="Arial"/>
                <a:sym typeface="Arial"/>
              </a:rPr>
              <a:t>Consider a long thread along </a:t>
            </a:r>
            <a:r>
              <a:rPr lang="en-US" sz="2000" i="1" kern="0" dirty="0">
                <a:solidFill>
                  <a:srgbClr val="000000"/>
                </a:solidFill>
                <a:cs typeface="Arial"/>
                <a:sym typeface="Arial"/>
              </a:rPr>
              <a:t>x</a:t>
            </a:r>
            <a:r>
              <a:rPr lang="en-US" sz="2000" kern="0" dirty="0">
                <a:solidFill>
                  <a:srgbClr val="000000"/>
                </a:solidFill>
                <a:cs typeface="Arial"/>
                <a:sym typeface="Arial"/>
              </a:rPr>
              <a:t>, at rest and unstrained, whose point </a:t>
            </a:r>
            <a:r>
              <a:rPr lang="en-US" sz="2000" i="1" kern="0" dirty="0">
                <a:solidFill>
                  <a:srgbClr val="000000"/>
                </a:solidFill>
                <a:cs typeface="Arial"/>
                <a:sym typeface="Arial"/>
              </a:rPr>
              <a:t>x=0</a:t>
            </a:r>
            <a:r>
              <a:rPr lang="en-US" sz="2000" kern="0" dirty="0">
                <a:solidFill>
                  <a:srgbClr val="000000"/>
                </a:solidFill>
                <a:cs typeface="Arial"/>
                <a:sym typeface="Arial"/>
              </a:rPr>
              <a:t> is suddenly given a constant transverse velocity v</a:t>
            </a:r>
            <a:r>
              <a:rPr lang="en-US" sz="2000" kern="0" baseline="-25000" dirty="0">
                <a:solidFill>
                  <a:srgbClr val="000000"/>
                </a:solidFill>
                <a:cs typeface="Arial"/>
                <a:sym typeface="Arial"/>
              </a:rPr>
              <a:t>0</a:t>
            </a:r>
            <a:r>
              <a:rPr lang="en-US" sz="2000" kern="0" dirty="0">
                <a:solidFill>
                  <a:srgbClr val="000000"/>
                </a:solidFill>
                <a:cs typeface="Arial"/>
                <a:sym typeface="Arial"/>
              </a:rPr>
              <a:t>.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	</a:t>
            </a: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19BF7-235C-64CA-8107-6BFBA4BCAD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580F07-E278-4A82-D273-CD73186ECEA1}"/>
              </a:ext>
            </a:extLst>
          </p:cNvPr>
          <p:cNvCxnSpPr/>
          <p:nvPr/>
        </p:nvCxnSpPr>
        <p:spPr>
          <a:xfrm>
            <a:off x="1427376" y="2759223"/>
            <a:ext cx="83958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C4F105-4AC8-4B7F-9906-8608CE531533}"/>
                  </a:ext>
                </a:extLst>
              </p:cNvPr>
              <p:cNvSpPr txBox="1"/>
              <p:nvPr/>
            </p:nvSpPr>
            <p:spPr>
              <a:xfrm>
                <a:off x="1739103" y="2403628"/>
                <a:ext cx="21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C4F105-4AC8-4B7F-9906-8608CE531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103" y="2403628"/>
                <a:ext cx="218841" cy="276999"/>
              </a:xfrm>
              <a:prstGeom prst="rect">
                <a:avLst/>
              </a:prstGeom>
              <a:blipFill>
                <a:blip r:embed="rId3"/>
                <a:stretch>
                  <a:fillRect l="-15789" r="-1578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63D5FB-D11E-1B7B-3522-8A639D98DA1E}"/>
              </a:ext>
            </a:extLst>
          </p:cNvPr>
          <p:cNvCxnSpPr>
            <a:cxnSpLocks/>
          </p:cNvCxnSpPr>
          <p:nvPr/>
        </p:nvCxnSpPr>
        <p:spPr>
          <a:xfrm flipV="1">
            <a:off x="820894" y="3295222"/>
            <a:ext cx="1446067" cy="46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930E62-ED67-3536-B392-FDFC413F5DAE}"/>
              </a:ext>
            </a:extLst>
          </p:cNvPr>
          <p:cNvCxnSpPr>
            <a:cxnSpLocks/>
          </p:cNvCxnSpPr>
          <p:nvPr/>
        </p:nvCxnSpPr>
        <p:spPr>
          <a:xfrm>
            <a:off x="2266961" y="3006758"/>
            <a:ext cx="0" cy="7022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BBCB98-AD65-F9EA-AB73-E32EFD4B02FD}"/>
                  </a:ext>
                </a:extLst>
              </p:cNvPr>
              <p:cNvSpPr txBox="1"/>
              <p:nvPr/>
            </p:nvSpPr>
            <p:spPr>
              <a:xfrm>
                <a:off x="921208" y="3410981"/>
                <a:ext cx="13457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BBCB98-AD65-F9EA-AB73-E32EFD4B0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8" y="3410981"/>
                <a:ext cx="1345753" cy="276999"/>
              </a:xfrm>
              <a:prstGeom prst="rect">
                <a:avLst/>
              </a:prstGeom>
              <a:blipFill>
                <a:blip r:embed="rId4"/>
                <a:stretch>
                  <a:fillRect l="-2804" r="-2804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045609F-7D5B-A615-D0DE-FAC2160F4B4B}"/>
              </a:ext>
            </a:extLst>
          </p:cNvPr>
          <p:cNvSpPr txBox="1"/>
          <p:nvPr/>
        </p:nvSpPr>
        <p:spPr>
          <a:xfrm>
            <a:off x="2317460" y="2663746"/>
            <a:ext cx="1713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4"/>
                </a:solidFill>
              </a:rPr>
              <a:t>Before longitudinal wave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B1AED3-B28E-5322-BA9F-B72DED2432C9}"/>
              </a:ext>
            </a:extLst>
          </p:cNvPr>
          <p:cNvSpPr txBox="1"/>
          <p:nvPr/>
        </p:nvSpPr>
        <p:spPr>
          <a:xfrm>
            <a:off x="2317460" y="3172111"/>
            <a:ext cx="1713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After longitudinal wave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5ABC692A-CBA3-14A5-9B83-8760CC330BC7}"/>
              </a:ext>
            </a:extLst>
          </p:cNvPr>
          <p:cNvSpPr/>
          <p:nvPr/>
        </p:nvSpPr>
        <p:spPr>
          <a:xfrm>
            <a:off x="4104640" y="2542127"/>
            <a:ext cx="396240" cy="11668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D2B278-F1E6-8158-03FB-A579130FC4F9}"/>
                  </a:ext>
                </a:extLst>
              </p:cNvPr>
              <p:cNvSpPr txBox="1"/>
              <p:nvPr/>
            </p:nvSpPr>
            <p:spPr>
              <a:xfrm>
                <a:off x="4989805" y="2589537"/>
                <a:ext cx="9714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D2B278-F1E6-8158-03FB-A579130FC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805" y="2589537"/>
                <a:ext cx="971420" cy="276999"/>
              </a:xfrm>
              <a:prstGeom prst="rect">
                <a:avLst/>
              </a:prstGeom>
              <a:blipFill>
                <a:blip r:embed="rId5"/>
                <a:stretch>
                  <a:fillRect l="-6494" r="-3896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C1122F-B127-699B-3924-0D6452F3E4F8}"/>
                  </a:ext>
                </a:extLst>
              </p:cNvPr>
              <p:cNvSpPr txBox="1"/>
              <p:nvPr/>
            </p:nvSpPr>
            <p:spPr>
              <a:xfrm>
                <a:off x="4989805" y="2999194"/>
                <a:ext cx="11060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C1122F-B127-699B-3924-0D6452F3E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805" y="2999194"/>
                <a:ext cx="1106072" cy="276999"/>
              </a:xfrm>
              <a:prstGeom prst="rect">
                <a:avLst/>
              </a:prstGeom>
              <a:blipFill>
                <a:blip r:embed="rId6"/>
                <a:stretch>
                  <a:fillRect l="-2273" r="-1136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B18368-45D4-292C-8930-3C83670EF989}"/>
                  </a:ext>
                </a:extLst>
              </p:cNvPr>
              <p:cNvSpPr txBox="1"/>
              <p:nvPr/>
            </p:nvSpPr>
            <p:spPr>
              <a:xfrm>
                <a:off x="4986265" y="3408851"/>
                <a:ext cx="1309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B18368-45D4-292C-8930-3C83670EF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265" y="3408851"/>
                <a:ext cx="1309654" cy="276999"/>
              </a:xfrm>
              <a:prstGeom prst="rect">
                <a:avLst/>
              </a:prstGeom>
              <a:blipFill>
                <a:blip r:embed="rId7"/>
                <a:stretch>
                  <a:fillRect l="-962" t="-4348" r="-1923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92F662CF-360C-B1D4-F82D-DF77FD08D218}"/>
              </a:ext>
            </a:extLst>
          </p:cNvPr>
          <p:cNvGrpSpPr/>
          <p:nvPr/>
        </p:nvGrpSpPr>
        <p:grpSpPr>
          <a:xfrm>
            <a:off x="889809" y="2843213"/>
            <a:ext cx="537567" cy="307777"/>
            <a:chOff x="889809" y="2843213"/>
            <a:chExt cx="537567" cy="307777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22FDC5E-0CCD-4582-DEFF-741AA4422204}"/>
                </a:ext>
              </a:extLst>
            </p:cNvPr>
            <p:cNvCxnSpPr/>
            <p:nvPr/>
          </p:nvCxnSpPr>
          <p:spPr>
            <a:xfrm>
              <a:off x="889809" y="3125575"/>
              <a:ext cx="5375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003B1B4-DB74-D9E5-6E41-A9A0DC7ED2AA}"/>
                    </a:ext>
                  </a:extLst>
                </p:cNvPr>
                <p:cNvSpPr txBox="1"/>
                <p:nvPr/>
              </p:nvSpPr>
              <p:spPr>
                <a:xfrm>
                  <a:off x="1002389" y="2843213"/>
                  <a:ext cx="39623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Δl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003B1B4-DB74-D9E5-6E41-A9A0DC7ED2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389" y="2843213"/>
                  <a:ext cx="39623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D7298-783B-9BC7-B1DB-D90AEA40D1F4}"/>
                  </a:ext>
                </a:extLst>
              </p:cNvPr>
              <p:cNvSpPr txBox="1"/>
              <p:nvPr/>
            </p:nvSpPr>
            <p:spPr>
              <a:xfrm>
                <a:off x="6584802" y="2906861"/>
                <a:ext cx="13384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D7298-783B-9BC7-B1DB-D90AEA40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802" y="2906861"/>
                <a:ext cx="1338425" cy="369332"/>
              </a:xfrm>
              <a:prstGeom prst="rect">
                <a:avLst/>
              </a:prstGeom>
              <a:blipFill>
                <a:blip r:embed="rId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1812D6E-DD1B-A787-0E50-3B23D0A4461D}"/>
                  </a:ext>
                </a:extLst>
              </p:cNvPr>
              <p:cNvSpPr txBox="1"/>
              <p:nvPr/>
            </p:nvSpPr>
            <p:spPr>
              <a:xfrm>
                <a:off x="4644999" y="5356093"/>
                <a:ext cx="2346961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1812D6E-DD1B-A787-0E50-3B23D0A44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999" y="5356093"/>
                <a:ext cx="2346961" cy="403124"/>
              </a:xfrm>
              <a:prstGeom prst="rect">
                <a:avLst/>
              </a:prstGeom>
              <a:blipFill>
                <a:blip r:embed="rId10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60D1E06-A824-E51E-4E08-45E7B1918A95}"/>
              </a:ext>
            </a:extLst>
          </p:cNvPr>
          <p:cNvGrpSpPr/>
          <p:nvPr/>
        </p:nvGrpSpPr>
        <p:grpSpPr>
          <a:xfrm>
            <a:off x="820894" y="4246880"/>
            <a:ext cx="3472104" cy="2219825"/>
            <a:chOff x="820894" y="4246880"/>
            <a:chExt cx="3472104" cy="221982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1A4CBC-C50D-0AC1-C114-37F776CF4D6A}"/>
                </a:ext>
              </a:extLst>
            </p:cNvPr>
            <p:cNvSpPr txBox="1"/>
            <p:nvPr/>
          </p:nvSpPr>
          <p:spPr>
            <a:xfrm>
              <a:off x="820894" y="4246880"/>
              <a:ext cx="32099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Momentum change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F6881D-DB4C-51A7-D0DC-C90DEEB288DF}"/>
                    </a:ext>
                  </a:extLst>
                </p:cNvPr>
                <p:cNvSpPr txBox="1"/>
                <p:nvPr/>
              </p:nvSpPr>
              <p:spPr>
                <a:xfrm>
                  <a:off x="893675" y="4826368"/>
                  <a:ext cx="10098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initial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F6881D-DB4C-51A7-D0DC-C90DEEB28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675" y="4826368"/>
                  <a:ext cx="100989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750" r="-5000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DBB4465-0678-DA0D-360C-5AD7FD49706D}"/>
                    </a:ext>
                  </a:extLst>
                </p:cNvPr>
                <p:cNvSpPr txBox="1"/>
                <p:nvPr/>
              </p:nvSpPr>
              <p:spPr>
                <a:xfrm>
                  <a:off x="820894" y="5313523"/>
                  <a:ext cx="3472104" cy="2706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final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Δv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cL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2 </m:t>
                        </m:r>
                      </m:oMath>
                    </m:oMathPara>
                  </a14:m>
                  <a:endParaRPr lang="en-US" baseline="-25000" dirty="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DBB4465-0678-DA0D-360C-5AD7FD4970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894" y="5313523"/>
                  <a:ext cx="3472104" cy="270652"/>
                </a:xfrm>
                <a:prstGeom prst="rect">
                  <a:avLst/>
                </a:prstGeom>
                <a:blipFill>
                  <a:blip r:embed="rId12"/>
                  <a:stretch>
                    <a:fillRect t="-9091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BEC5FB9-9A30-3382-3921-5FF2985B3E18}"/>
                    </a:ext>
                  </a:extLst>
                </p:cNvPr>
                <p:cNvSpPr txBox="1"/>
                <p:nvPr/>
              </p:nvSpPr>
              <p:spPr>
                <a:xfrm>
                  <a:off x="867100" y="5940151"/>
                  <a:ext cx="2917465" cy="526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Δp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Δt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Pfinal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Pinitial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Δt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BEC5FB9-9A30-3382-3921-5FF2985B3E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00" y="5940151"/>
                  <a:ext cx="2917465" cy="526554"/>
                </a:xfrm>
                <a:prstGeom prst="rect">
                  <a:avLst/>
                </a:prstGeom>
                <a:blipFill>
                  <a:blip r:embed="rId13"/>
                  <a:stretch>
                    <a:fillRect l="-2165" t="-2326" r="-1732" b="-139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Right Brace 44">
            <a:extLst>
              <a:ext uri="{FF2B5EF4-FFF2-40B4-BE49-F238E27FC236}">
                <a16:creationId xmlns:a16="http://schemas.microsoft.com/office/drawing/2014/main" id="{9FE3158A-BB0C-94BA-75AC-4142A71EF4F0}"/>
              </a:ext>
            </a:extLst>
          </p:cNvPr>
          <p:cNvSpPr/>
          <p:nvPr/>
        </p:nvSpPr>
        <p:spPr>
          <a:xfrm>
            <a:off x="4383852" y="4826368"/>
            <a:ext cx="396240" cy="14969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DFEA62-7EC6-A350-E3EC-7A44550AAE8B}"/>
              </a:ext>
            </a:extLst>
          </p:cNvPr>
          <p:cNvCxnSpPr>
            <a:cxnSpLocks/>
          </p:cNvCxnSpPr>
          <p:nvPr/>
        </p:nvCxnSpPr>
        <p:spPr>
          <a:xfrm>
            <a:off x="7792720" y="3295221"/>
            <a:ext cx="1005840" cy="87656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A24E5A6-FEBF-1824-9B79-6889000145B7}"/>
              </a:ext>
            </a:extLst>
          </p:cNvPr>
          <p:cNvCxnSpPr>
            <a:cxnSpLocks/>
          </p:cNvCxnSpPr>
          <p:nvPr/>
        </p:nvCxnSpPr>
        <p:spPr>
          <a:xfrm flipV="1">
            <a:off x="6584802" y="4964867"/>
            <a:ext cx="2130629" cy="61930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CB0DDD6-E711-8D00-2323-D208B21AFF6C}"/>
              </a:ext>
            </a:extLst>
          </p:cNvPr>
          <p:cNvGrpSpPr/>
          <p:nvPr/>
        </p:nvGrpSpPr>
        <p:grpSpPr>
          <a:xfrm>
            <a:off x="8589319" y="4135120"/>
            <a:ext cx="1843152" cy="998727"/>
            <a:chOff x="8672448" y="4104640"/>
            <a:chExt cx="1843152" cy="9987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057ABE2-E44E-0A2F-1CBC-2152F7A72706}"/>
                    </a:ext>
                  </a:extLst>
                </p:cNvPr>
                <p:cNvSpPr txBox="1"/>
                <p:nvPr/>
              </p:nvSpPr>
              <p:spPr>
                <a:xfrm>
                  <a:off x="8672448" y="4141309"/>
                  <a:ext cx="1633402" cy="9106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 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3057ABE2-E44E-0A2F-1CBC-2152F7A72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448" y="4141309"/>
                  <a:ext cx="1633402" cy="9106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077139CF-BAED-3824-97D3-3ABFF535D8C3}"/>
                </a:ext>
              </a:extLst>
            </p:cNvPr>
            <p:cNvSpPr/>
            <p:nvPr/>
          </p:nvSpPr>
          <p:spPr>
            <a:xfrm>
              <a:off x="8798560" y="4104640"/>
              <a:ext cx="1717040" cy="998727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7A11891-CEB8-2C82-1AD0-7C7E604320C7}"/>
              </a:ext>
            </a:extLst>
          </p:cNvPr>
          <p:cNvSpPr txBox="1"/>
          <p:nvPr/>
        </p:nvSpPr>
        <p:spPr>
          <a:xfrm>
            <a:off x="9027177" y="3236791"/>
            <a:ext cx="199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Longitudinal Wave Velocity</a:t>
            </a:r>
          </a:p>
        </p:txBody>
      </p:sp>
    </p:spTree>
    <p:extLst>
      <p:ext uri="{BB962C8B-B14F-4D97-AF65-F5344CB8AC3E}">
        <p14:creationId xmlns:p14="http://schemas.microsoft.com/office/powerpoint/2010/main" val="157892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27" grpId="0"/>
      <p:bldP spid="34" grpId="0"/>
      <p:bldP spid="36" grpId="0"/>
      <p:bldP spid="45" grpId="0" animBg="1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1D011-E630-BC43-8FF3-A56F32778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8E6843-2719-0AB9-012B-9DF5560B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Impact waves in single thread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310E3-FFCF-BF14-5CA1-94F73AB69DBF}"/>
              </a:ext>
            </a:extLst>
          </p:cNvPr>
          <p:cNvSpPr txBox="1"/>
          <p:nvPr/>
        </p:nvSpPr>
        <p:spPr>
          <a:xfrm>
            <a:off x="889809" y="1300345"/>
            <a:ext cx="975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000" kern="0">
                <a:solidFill>
                  <a:srgbClr val="000000"/>
                </a:solidFill>
                <a:cs typeface="Arial"/>
                <a:sym typeface="Arial"/>
              </a:rPr>
              <a:t>Mass conservation and thread tension determine the transverse wave speed.</a:t>
            </a: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35152-DFB2-9D3C-C31C-1E704B11373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48E989F-7A33-1180-4880-BA1DEF7A25C2}"/>
              </a:ext>
            </a:extLst>
          </p:cNvPr>
          <p:cNvGrpSpPr/>
          <p:nvPr/>
        </p:nvGrpSpPr>
        <p:grpSpPr>
          <a:xfrm>
            <a:off x="5050768" y="2021644"/>
            <a:ext cx="6082194" cy="1407356"/>
            <a:chOff x="3844342" y="1272972"/>
            <a:chExt cx="6082194" cy="140735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044E6A1-57E0-C21C-A26D-D3EC2456E6B0}"/>
                    </a:ext>
                  </a:extLst>
                </p:cNvPr>
                <p:cNvSpPr txBox="1"/>
                <p:nvPr/>
              </p:nvSpPr>
              <p:spPr>
                <a:xfrm>
                  <a:off x="8671385" y="1960589"/>
                  <a:ext cx="1255151" cy="477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real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μ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044E6A1-57E0-C21C-A26D-D3EC2456E6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385" y="1960589"/>
                  <a:ext cx="1255151" cy="477182"/>
                </a:xfrm>
                <a:prstGeom prst="rect">
                  <a:avLst/>
                </a:prstGeom>
                <a:blipFill>
                  <a:blip r:embed="rId3"/>
                  <a:stretch>
                    <a:fillRect l="-3000" t="-2564" r="-2000" b="-128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314E9A1-FF78-F9E9-679D-0A1CA1F57908}"/>
                    </a:ext>
                  </a:extLst>
                </p:cNvPr>
                <p:cNvSpPr txBox="1"/>
                <p:nvPr/>
              </p:nvSpPr>
              <p:spPr>
                <a:xfrm>
                  <a:off x="3844342" y="1898468"/>
                  <a:ext cx="282769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init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cL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Δt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314E9A1-FF78-F9E9-679D-0A1CA1F57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342" y="1898468"/>
                  <a:ext cx="2827697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4348" b="-391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90981CE-9503-B86B-C13F-8D613ED2B51F}"/>
                    </a:ext>
                  </a:extLst>
                </p:cNvPr>
                <p:cNvSpPr txBox="1"/>
                <p:nvPr/>
              </p:nvSpPr>
              <p:spPr>
                <a:xfrm>
                  <a:off x="3844342" y="2403329"/>
                  <a:ext cx="40123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final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μreal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μreal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⋅(1+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cL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Δt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90981CE-9503-B86B-C13F-8D613ED2B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342" y="2403329"/>
                  <a:ext cx="401231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631" t="-4348" r="-631" b="-391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A4E630E1-8E37-0C2E-CA42-AA915F7C3B51}"/>
                </a:ext>
              </a:extLst>
            </p:cNvPr>
            <p:cNvSpPr/>
            <p:nvPr/>
          </p:nvSpPr>
          <p:spPr>
            <a:xfrm>
              <a:off x="8065902" y="1850978"/>
              <a:ext cx="396240" cy="81836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2EBED4A-FBD4-7EF2-F2B8-B67C2F342125}"/>
                </a:ext>
              </a:extLst>
            </p:cNvPr>
            <p:cNvSpPr txBox="1"/>
            <p:nvPr/>
          </p:nvSpPr>
          <p:spPr>
            <a:xfrm>
              <a:off x="5201920" y="1272972"/>
              <a:ext cx="1788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Mass Conservation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33F058-2198-D78E-607D-66716F1303B1}"/>
              </a:ext>
            </a:extLst>
          </p:cNvPr>
          <p:cNvCxnSpPr/>
          <p:nvPr/>
        </p:nvCxnSpPr>
        <p:spPr>
          <a:xfrm>
            <a:off x="1427376" y="2534685"/>
            <a:ext cx="83958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85D870-16C4-5D08-41B7-CB1C412D9902}"/>
                  </a:ext>
                </a:extLst>
              </p:cNvPr>
              <p:cNvSpPr txBox="1"/>
              <p:nvPr/>
            </p:nvSpPr>
            <p:spPr>
              <a:xfrm>
                <a:off x="1739103" y="2179090"/>
                <a:ext cx="21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85D870-16C4-5D08-41B7-CB1C412D9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103" y="2179090"/>
                <a:ext cx="218841" cy="276999"/>
              </a:xfrm>
              <a:prstGeom prst="rect">
                <a:avLst/>
              </a:prstGeom>
              <a:blipFill>
                <a:blip r:embed="rId6"/>
                <a:stretch>
                  <a:fillRect l="-15789" r="-1578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62ADE2-DB8F-8C62-4841-B4654DB733DA}"/>
              </a:ext>
            </a:extLst>
          </p:cNvPr>
          <p:cNvCxnSpPr>
            <a:cxnSpLocks/>
          </p:cNvCxnSpPr>
          <p:nvPr/>
        </p:nvCxnSpPr>
        <p:spPr>
          <a:xfrm flipV="1">
            <a:off x="820894" y="3070684"/>
            <a:ext cx="1446067" cy="46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71C44A-580C-CE70-FB3E-38FE98EC1079}"/>
              </a:ext>
            </a:extLst>
          </p:cNvPr>
          <p:cNvCxnSpPr>
            <a:cxnSpLocks/>
          </p:cNvCxnSpPr>
          <p:nvPr/>
        </p:nvCxnSpPr>
        <p:spPr>
          <a:xfrm>
            <a:off x="2266961" y="2782220"/>
            <a:ext cx="0" cy="7022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5DF751-C3A5-3444-F929-3747357BBCD3}"/>
                  </a:ext>
                </a:extLst>
              </p:cNvPr>
              <p:cNvSpPr txBox="1"/>
              <p:nvPr/>
            </p:nvSpPr>
            <p:spPr>
              <a:xfrm>
                <a:off x="921208" y="3186443"/>
                <a:ext cx="13457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5DF751-C3A5-3444-F929-3747357BB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8" y="3186443"/>
                <a:ext cx="1345753" cy="276999"/>
              </a:xfrm>
              <a:prstGeom prst="rect">
                <a:avLst/>
              </a:prstGeom>
              <a:blipFill>
                <a:blip r:embed="rId7"/>
                <a:stretch>
                  <a:fillRect l="-2804" r="-2804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B4F95F6-7497-0A30-9231-C5027A2F8E7B}"/>
              </a:ext>
            </a:extLst>
          </p:cNvPr>
          <p:cNvSpPr txBox="1"/>
          <p:nvPr/>
        </p:nvSpPr>
        <p:spPr>
          <a:xfrm>
            <a:off x="2317460" y="2439208"/>
            <a:ext cx="1713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4"/>
                </a:solidFill>
              </a:rPr>
              <a:t>Before longitudinal wave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FE7BCC-E52A-4DC8-4EAA-6C99CCC9F7DD}"/>
              </a:ext>
            </a:extLst>
          </p:cNvPr>
          <p:cNvSpPr txBox="1"/>
          <p:nvPr/>
        </p:nvSpPr>
        <p:spPr>
          <a:xfrm>
            <a:off x="2317460" y="2947573"/>
            <a:ext cx="1713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After longitudinal wave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495673-EF31-F3C5-2D45-51D984FE86BF}"/>
              </a:ext>
            </a:extLst>
          </p:cNvPr>
          <p:cNvGrpSpPr/>
          <p:nvPr/>
        </p:nvGrpSpPr>
        <p:grpSpPr>
          <a:xfrm>
            <a:off x="889809" y="2618675"/>
            <a:ext cx="537567" cy="307777"/>
            <a:chOff x="889809" y="2843213"/>
            <a:chExt cx="537567" cy="30777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D3BDA4F-D93B-A4B4-07C4-11FE836E3466}"/>
                </a:ext>
              </a:extLst>
            </p:cNvPr>
            <p:cNvCxnSpPr/>
            <p:nvPr/>
          </p:nvCxnSpPr>
          <p:spPr>
            <a:xfrm>
              <a:off x="889809" y="3125575"/>
              <a:ext cx="5375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EA1602F-04BA-765C-B117-29B20A150BF1}"/>
                    </a:ext>
                  </a:extLst>
                </p:cNvPr>
                <p:cNvSpPr txBox="1"/>
                <p:nvPr/>
              </p:nvSpPr>
              <p:spPr>
                <a:xfrm>
                  <a:off x="1002389" y="2843213"/>
                  <a:ext cx="39623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Δl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EA1602F-04BA-765C-B117-29B20A150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389" y="2843213"/>
                  <a:ext cx="39623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47253C-A9F7-BDDB-2C05-86F20610D20A}"/>
                  </a:ext>
                </a:extLst>
              </p:cNvPr>
              <p:cNvSpPr txBox="1"/>
              <p:nvPr/>
            </p:nvSpPr>
            <p:spPr>
              <a:xfrm>
                <a:off x="6702940" y="5449284"/>
                <a:ext cx="1713418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47253C-A9F7-BDDB-2C05-86F20610D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940" y="5449284"/>
                <a:ext cx="1713418" cy="818366"/>
              </a:xfrm>
              <a:prstGeom prst="rect">
                <a:avLst/>
              </a:prstGeom>
              <a:blipFill>
                <a:blip r:embed="rId9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5BC9B2-3286-ADA3-72C4-C4627751A167}"/>
                  </a:ext>
                </a:extLst>
              </p:cNvPr>
              <p:cNvSpPr txBox="1"/>
              <p:nvPr/>
            </p:nvSpPr>
            <p:spPr>
              <a:xfrm>
                <a:off x="4113902" y="4062180"/>
                <a:ext cx="1721817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Δs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m:rPr>
                                  <m:sty m:val="p"/>
                                </m:rP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real</m:t>
                              </m:r>
                            </m:den>
                          </m:f>
                        </m:e>
                      </m:rad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5BC9B2-3286-ADA3-72C4-C4627751A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902" y="4062180"/>
                <a:ext cx="1721817" cy="818366"/>
              </a:xfrm>
              <a:prstGeom prst="rect">
                <a:avLst/>
              </a:prstGeom>
              <a:blipFill>
                <a:blip r:embed="rId10"/>
                <a:stretch>
                  <a:fillRect l="-2941" r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529AFF-DA6E-3C6B-2A0D-1D6E30D35F1E}"/>
                  </a:ext>
                </a:extLst>
              </p:cNvPr>
              <p:cNvSpPr txBox="1"/>
              <p:nvPr/>
            </p:nvSpPr>
            <p:spPr>
              <a:xfrm>
                <a:off x="6267822" y="4062180"/>
                <a:ext cx="2149819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)(1+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rad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529AFF-DA6E-3C6B-2A0D-1D6E30D35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822" y="4062180"/>
                <a:ext cx="2149819" cy="818366"/>
              </a:xfrm>
              <a:prstGeom prst="rect">
                <a:avLst/>
              </a:prstGeom>
              <a:blipFill>
                <a:blip r:embed="rId11"/>
                <a:stretch>
                  <a:fillRect l="-1176" r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6ABD64-8281-57DF-BB63-F400844F4EE2}"/>
                  </a:ext>
                </a:extLst>
              </p:cNvPr>
              <p:cNvSpPr txBox="1"/>
              <p:nvPr/>
            </p:nvSpPr>
            <p:spPr>
              <a:xfrm>
                <a:off x="4113902" y="5406187"/>
                <a:ext cx="16046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Δs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6ABD64-8281-57DF-BB63-F400844F4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902" y="5406187"/>
                <a:ext cx="1604606" cy="276999"/>
              </a:xfrm>
              <a:prstGeom prst="rect">
                <a:avLst/>
              </a:prstGeom>
              <a:blipFill>
                <a:blip r:embed="rId12"/>
                <a:stretch>
                  <a:fillRect l="-3150" r="-2362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293EB2-DC03-0C7D-0811-3C4978C9D913}"/>
                  </a:ext>
                </a:extLst>
              </p:cNvPr>
              <p:cNvSpPr txBox="1"/>
              <p:nvPr/>
            </p:nvSpPr>
            <p:spPr>
              <a:xfrm>
                <a:off x="4113902" y="6086053"/>
                <a:ext cx="1074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293EB2-DC03-0C7D-0811-3C4978C9D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902" y="6086053"/>
                <a:ext cx="1074012" cy="276999"/>
              </a:xfrm>
              <a:prstGeom prst="rect">
                <a:avLst/>
              </a:prstGeom>
              <a:blipFill>
                <a:blip r:embed="rId13"/>
                <a:stretch>
                  <a:fillRect l="-4706" r="-352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Brace 30">
            <a:extLst>
              <a:ext uri="{FF2B5EF4-FFF2-40B4-BE49-F238E27FC236}">
                <a16:creationId xmlns:a16="http://schemas.microsoft.com/office/drawing/2014/main" id="{705A3637-B2A6-4C9E-69DC-732208475F22}"/>
              </a:ext>
            </a:extLst>
          </p:cNvPr>
          <p:cNvSpPr/>
          <p:nvPr/>
        </p:nvSpPr>
        <p:spPr>
          <a:xfrm>
            <a:off x="6012604" y="5445544"/>
            <a:ext cx="396240" cy="9638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334F6BF-DAE3-F79F-A940-1DC6CFAB9B7A}"/>
              </a:ext>
            </a:extLst>
          </p:cNvPr>
          <p:cNvSpPr/>
          <p:nvPr/>
        </p:nvSpPr>
        <p:spPr>
          <a:xfrm>
            <a:off x="6702940" y="5364325"/>
            <a:ext cx="1766164" cy="998727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B50038-E957-BEE0-0F5A-0423A01F1D04}"/>
              </a:ext>
            </a:extLst>
          </p:cNvPr>
          <p:cNvGrpSpPr/>
          <p:nvPr/>
        </p:nvGrpSpPr>
        <p:grpSpPr>
          <a:xfrm>
            <a:off x="265818" y="4446568"/>
            <a:ext cx="2852810" cy="1639485"/>
            <a:chOff x="-186335" y="4445532"/>
            <a:chExt cx="2902135" cy="1639485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FEA4DE5A-8C73-2691-3340-C8400847A7C0}"/>
                </a:ext>
              </a:extLst>
            </p:cNvPr>
            <p:cNvSpPr/>
            <p:nvPr/>
          </p:nvSpPr>
          <p:spPr>
            <a:xfrm>
              <a:off x="-186335" y="4479737"/>
              <a:ext cx="2773680" cy="160528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CE723F21-50B3-4951-F436-CD2128B49C3E}"/>
                </a:ext>
              </a:extLst>
            </p:cNvPr>
            <p:cNvSpPr/>
            <p:nvPr/>
          </p:nvSpPr>
          <p:spPr>
            <a:xfrm>
              <a:off x="1853261" y="4669480"/>
              <a:ext cx="464199" cy="350874"/>
            </a:xfrm>
            <a:prstGeom prst="arc">
              <a:avLst>
                <a:gd name="adj1" fmla="val 15925566"/>
                <a:gd name="adj2" fmla="val 21471919"/>
              </a:avLst>
            </a:prstGeom>
            <a:ln>
              <a:solidFill>
                <a:srgbClr val="00B05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7BFBA6-6E02-77C9-B208-D8805C244146}"/>
                </a:ext>
              </a:extLst>
            </p:cNvPr>
            <p:cNvSpPr txBox="1"/>
            <p:nvPr/>
          </p:nvSpPr>
          <p:spPr>
            <a:xfrm>
              <a:off x="1002389" y="5511615"/>
              <a:ext cx="1713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accent4"/>
                  </a:solidFill>
                </a:rPr>
                <a:t>Thread deformation due to transversal wave.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27648F8-A798-DD87-CAD7-53AC5E445B4F}"/>
                    </a:ext>
                  </a:extLst>
                </p:cNvPr>
                <p:cNvSpPr txBox="1"/>
                <p:nvPr/>
              </p:nvSpPr>
              <p:spPr>
                <a:xfrm>
                  <a:off x="2183572" y="4445532"/>
                  <a:ext cx="39623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Δs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27648F8-A798-DD87-CAD7-53AC5E445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3572" y="4445532"/>
                  <a:ext cx="396232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7BE5E05-44CE-5626-2781-D196CD1F5EC4}"/>
              </a:ext>
            </a:extLst>
          </p:cNvPr>
          <p:cNvSpPr txBox="1"/>
          <p:nvPr/>
        </p:nvSpPr>
        <p:spPr>
          <a:xfrm>
            <a:off x="8525518" y="5173632"/>
            <a:ext cx="1998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Transversal Wave Velocity</a:t>
            </a:r>
          </a:p>
        </p:txBody>
      </p:sp>
    </p:spTree>
    <p:extLst>
      <p:ext uri="{BB962C8B-B14F-4D97-AF65-F5344CB8AC3E}">
        <p14:creationId xmlns:p14="http://schemas.microsoft.com/office/powerpoint/2010/main" val="163999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7" grpId="0"/>
      <p:bldP spid="3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CE86-1613-6F14-BB6E-053D94662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DFBE7D-28B4-6DF6-7CF4-884721ED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Impact waves in single thread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2B79F-D998-06B5-4B83-1FCB94580F2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BCD18D-6FDA-3B2A-7049-A61BBF129E37}"/>
                  </a:ext>
                </a:extLst>
              </p:cNvPr>
              <p:cNvSpPr txBox="1"/>
              <p:nvPr/>
            </p:nvSpPr>
            <p:spPr>
              <a:xfrm>
                <a:off x="698108" y="3949680"/>
                <a:ext cx="3734164" cy="282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BCD18D-6FDA-3B2A-7049-A61BBF129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08" y="3949680"/>
                <a:ext cx="3734164" cy="282513"/>
              </a:xfrm>
              <a:prstGeom prst="rect">
                <a:avLst/>
              </a:prstGeom>
              <a:blipFill>
                <a:blip r:embed="rId3"/>
                <a:stretch>
                  <a:fillRect l="-34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ECCD0E7-F7EC-D9D1-B603-C90A2AF7BABB}"/>
              </a:ext>
            </a:extLst>
          </p:cNvPr>
          <p:cNvGrpSpPr/>
          <p:nvPr/>
        </p:nvGrpSpPr>
        <p:grpSpPr>
          <a:xfrm>
            <a:off x="2736348" y="1590124"/>
            <a:ext cx="7160001" cy="1522914"/>
            <a:chOff x="2153920" y="1869617"/>
            <a:chExt cx="7160001" cy="152291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7E027CF-89C6-3A44-5349-924A62E01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000" y="1869617"/>
              <a:ext cx="3000641" cy="9448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D84581-80BB-16C1-13A7-C000D5EF55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2641" y="1869617"/>
              <a:ext cx="3505200" cy="86030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05135A0-681E-53D4-0F43-C8BDC7DF73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2641" y="1869617"/>
              <a:ext cx="0" cy="944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7B6874-04C7-CB46-10D5-6A351D61A7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3920" y="2733217"/>
              <a:ext cx="7160001" cy="9839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A01A517-6E92-76BC-1C61-C9164D6AE999}"/>
                    </a:ext>
                  </a:extLst>
                </p:cNvPr>
                <p:cNvSpPr txBox="1"/>
                <p:nvPr/>
              </p:nvSpPr>
              <p:spPr>
                <a:xfrm>
                  <a:off x="5422640" y="2301417"/>
                  <a:ext cx="50456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US" sz="1400" b="0" i="1" baseline="-2500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Δt</m:t>
                        </m:r>
                      </m:oMath>
                    </m:oMathPara>
                  </a14:m>
                  <a:endParaRPr lang="en-US" sz="14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A01A517-6E92-76BC-1C61-C9164D6AE9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2640" y="2301417"/>
                  <a:ext cx="504561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2439" r="-731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19DEB1B-53EE-D78D-86F5-088576321433}"/>
                    </a:ext>
                  </a:extLst>
                </p:cNvPr>
                <p:cNvSpPr txBox="1"/>
                <p:nvPr/>
              </p:nvSpPr>
              <p:spPr>
                <a:xfrm>
                  <a:off x="7048421" y="2001692"/>
                  <a:ext cx="1191480" cy="2105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Δt</m:t>
                        </m:r>
                      </m:oMath>
                    </m:oMathPara>
                  </a14:m>
                  <a:endParaRPr lang="en-US" sz="1400" baseline="-25000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19DEB1B-53EE-D78D-86F5-088576321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8421" y="2001692"/>
                  <a:ext cx="1191480" cy="210507"/>
                </a:xfrm>
                <a:prstGeom prst="rect">
                  <a:avLst/>
                </a:prstGeom>
                <a:blipFill>
                  <a:blip r:embed="rId5"/>
                  <a:stretch>
                    <a:fillRect l="-3158" t="-5556" r="-105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0DC36A-9BE9-1F0E-6EAD-9B6707003742}"/>
                    </a:ext>
                  </a:extLst>
                </p:cNvPr>
                <p:cNvSpPr txBox="1"/>
                <p:nvPr/>
              </p:nvSpPr>
              <p:spPr>
                <a:xfrm>
                  <a:off x="6173523" y="3182024"/>
                  <a:ext cx="2003434" cy="2105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)⋅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  <m: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Δt</m:t>
                        </m:r>
                        <m:r>
                          <a:rPr lang="en-US" sz="1400" b="0" i="1" baseline="-25000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- 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cL</m:t>
                        </m:r>
                        <m: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rgbClr val="9F2175"/>
                            </a:solidFill>
                            <a:latin typeface="Cambria Math" panose="02040503050406030204" pitchFamily="18" charset="0"/>
                          </a:rPr>
                          <m:t>Δt</m:t>
                        </m:r>
                      </m:oMath>
                    </m:oMathPara>
                  </a14:m>
                  <a:endParaRPr lang="en-US" sz="1400" baseline="-25000" dirty="0">
                    <a:solidFill>
                      <a:srgbClr val="9F2175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0DC36A-9BE9-1F0E-6EAD-9B67070037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3523" y="3182024"/>
                  <a:ext cx="2003434" cy="210507"/>
                </a:xfrm>
                <a:prstGeom prst="rect">
                  <a:avLst/>
                </a:prstGeom>
                <a:blipFill>
                  <a:blip r:embed="rId6"/>
                  <a:stretch>
                    <a:fillRect l="-1258" t="-5556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6D6B94F1-4C14-41E5-64AA-0824DC3D8E95}"/>
                </a:ext>
              </a:extLst>
            </p:cNvPr>
            <p:cNvSpPr/>
            <p:nvPr/>
          </p:nvSpPr>
          <p:spPr>
            <a:xfrm rot="5400000">
              <a:off x="7007600" y="1260811"/>
              <a:ext cx="335280" cy="3505201"/>
            </a:xfrm>
            <a:prstGeom prst="rightBrace">
              <a:avLst/>
            </a:prstGeom>
            <a:ln>
              <a:solidFill>
                <a:srgbClr val="9F21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CC98C93-23EC-E393-54DB-0DD3AAA3C61D}"/>
                  </a:ext>
                </a:extLst>
              </p:cNvPr>
              <p:cNvSpPr txBox="1"/>
              <p:nvPr/>
            </p:nvSpPr>
            <p:spPr>
              <a:xfrm>
                <a:off x="705760" y="4443782"/>
                <a:ext cx="4061176" cy="4469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rad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(Smith, 1958)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CC98C93-23EC-E393-54DB-0DD3AAA3C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60" y="4443782"/>
                <a:ext cx="4061176" cy="446982"/>
              </a:xfrm>
              <a:prstGeom prst="rect">
                <a:avLst/>
              </a:prstGeom>
              <a:blipFill>
                <a:blip r:embed="rId7"/>
                <a:stretch>
                  <a:fillRect l="-1558" t="-2778" r="-2492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11FBA56-BA58-0532-90E6-8DE225CBC643}"/>
              </a:ext>
            </a:extLst>
          </p:cNvPr>
          <p:cNvSpPr txBox="1"/>
          <p:nvPr/>
        </p:nvSpPr>
        <p:spPr>
          <a:xfrm>
            <a:off x="698108" y="3386588"/>
            <a:ext cx="278274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Pythagoras Theorem: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12C055A-B645-6599-7F4E-F7BC9A7A9181}"/>
              </a:ext>
            </a:extLst>
          </p:cNvPr>
          <p:cNvGrpSpPr/>
          <p:nvPr/>
        </p:nvGrpSpPr>
        <p:grpSpPr>
          <a:xfrm>
            <a:off x="6170428" y="3791919"/>
            <a:ext cx="5444813" cy="2065788"/>
            <a:chOff x="5708739" y="3952240"/>
            <a:chExt cx="5444813" cy="2065788"/>
          </a:xfrm>
        </p:grpSpPr>
        <p:sp>
          <p:nvSpPr>
            <p:cNvPr id="30" name="Rectangle: Rounded Corners 34">
              <a:extLst>
                <a:ext uri="{FF2B5EF4-FFF2-40B4-BE49-F238E27FC236}">
                  <a16:creationId xmlns:a16="http://schemas.microsoft.com/office/drawing/2014/main" id="{414E1675-6496-1E91-AF77-C927CFA247C9}"/>
                </a:ext>
              </a:extLst>
            </p:cNvPr>
            <p:cNvSpPr/>
            <p:nvPr/>
          </p:nvSpPr>
          <p:spPr>
            <a:xfrm>
              <a:off x="5708739" y="3952240"/>
              <a:ext cx="5444813" cy="206578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C48F459-C85F-C7D4-A9BC-F184FC3ECF89}"/>
                    </a:ext>
                  </a:extLst>
                </p:cNvPr>
                <p:cNvSpPr txBox="1"/>
                <p:nvPr/>
              </p:nvSpPr>
              <p:spPr>
                <a:xfrm>
                  <a:off x="6520695" y="4614965"/>
                  <a:ext cx="4473572" cy="12603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Having the approximations 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d>
                            <m:dPr>
                              <m:ctrlPr>
                                <a:rPr lang="en-US" sz="16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6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</m:rad>
                      <m:r>
                        <a:rPr lang="en-US" sz="16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6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≈2</m:t>
                      </m:r>
                      <m:rad>
                        <m:radPr>
                          <m:degHide m:val="on"/>
                          <m:ctrlPr>
                            <a:rPr lang="en-US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rad>
                    </m:oMath>
                  </a14:m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  and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EAϵ</m:t>
                      </m:r>
                    </m:oMath>
                  </a14:m>
                  <a:r>
                    <a:rPr lang="en-US" sz="160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, Smith equation become: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≈2</m:t>
                        </m:r>
                        <m:sSubSup>
                          <m:sSubSupPr>
                            <m:ctrlP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lit/>
                              </m:rP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 ⇒ </m:t>
                        </m:r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6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sSup>
                          <m:sSupPr>
                            <m:ctrlP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  <m:sSub>
                                      <m:sSubPr>
                                        <m:ctrlP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600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lit/>
                              </m:rP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16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C48F459-C85F-C7D4-A9BC-F184FC3EC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0695" y="4614965"/>
                  <a:ext cx="4473572" cy="1260345"/>
                </a:xfrm>
                <a:prstGeom prst="rect">
                  <a:avLst/>
                </a:prstGeom>
                <a:blipFill>
                  <a:blip r:embed="rId8"/>
                  <a:stretch>
                    <a:fillRect l="-567" b="-1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2" name="Graphic 31" descr="Angel face outline with solid fill">
              <a:extLst>
                <a:ext uri="{FF2B5EF4-FFF2-40B4-BE49-F238E27FC236}">
                  <a16:creationId xmlns:a16="http://schemas.microsoft.com/office/drawing/2014/main" id="{22135D76-37CE-D791-3B69-2AC9A26518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42285" y="4675571"/>
              <a:ext cx="619125" cy="61912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4048FE8-55A3-061E-DF00-A3E85982CA72}"/>
                    </a:ext>
                  </a:extLst>
                </p:cNvPr>
                <p:cNvSpPr txBox="1"/>
                <p:nvPr/>
              </p:nvSpPr>
              <p:spPr>
                <a:xfrm>
                  <a:off x="6435201" y="4135120"/>
                  <a:ext cx="441486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b="1"/>
                          <m:t>Strain</m:t>
                        </m:r>
                        <m:r>
                          <m:rPr>
                            <m:nor/>
                          </m:rPr>
                          <a:rPr lang="en-US" sz="1600" b="1"/>
                          <m:t>–</m:t>
                        </m:r>
                        <m:r>
                          <m:rPr>
                            <m:nor/>
                          </m:rPr>
                          <a:rPr lang="en-US" sz="1600" b="1"/>
                          <m:t>Velocity</m:t>
                        </m:r>
                        <m:r>
                          <m:rPr>
                            <m:nor/>
                          </m:rPr>
                          <a:rPr lang="en-US" sz="1600" b="1"/>
                          <m:t> </m:t>
                        </m:r>
                        <m:r>
                          <m:rPr>
                            <m:nor/>
                          </m:rPr>
                          <a:rPr lang="en-US" sz="1600" b="1"/>
                          <m:t>Curve</m:t>
                        </m:r>
                        <m:r>
                          <m:rPr>
                            <m:nor/>
                          </m:rPr>
                          <a:rPr lang="en-US" sz="1600" b="1"/>
                          <m:t> (</m:t>
                        </m:r>
                        <m:r>
                          <m:rPr>
                            <m:nor/>
                          </m:rPr>
                          <a:rPr lang="en-US" sz="1600" b="1"/>
                          <m:t>Linear</m:t>
                        </m:r>
                        <m:r>
                          <m:rPr>
                            <m:nor/>
                          </m:rPr>
                          <a:rPr lang="en-US" sz="1600" b="1"/>
                          <m:t> </m:t>
                        </m:r>
                        <m:r>
                          <m:rPr>
                            <m:nor/>
                          </m:rPr>
                          <a:rPr lang="en-US" sz="1600" b="1"/>
                          <m:t>Regime</m:t>
                        </m:r>
                        <m:r>
                          <m:rPr>
                            <m:nor/>
                          </m:rPr>
                          <a:rPr lang="en-US" sz="1600" b="1"/>
                          <m:t>, </m:t>
                        </m:r>
                        <m:r>
                          <a:rPr lang="en-US" sz="1600" b="1" i="1" smtClean="0"/>
                          <m:t>𝝐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m:rPr>
                            <m:nor/>
                          </m:rPr>
                          <a:rPr lang="en-US" sz="1600" b="1"/>
                          <m:t>)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4048FE8-55A3-061E-DF00-A3E85982CA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5201" y="4135120"/>
                  <a:ext cx="4414862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573" t="-9524" r="-1146" b="-380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4A9F22D-A589-1E26-6D8A-BEDAE4375CD9}"/>
              </a:ext>
            </a:extLst>
          </p:cNvPr>
          <p:cNvSpPr txBox="1"/>
          <p:nvPr/>
        </p:nvSpPr>
        <p:spPr>
          <a:xfrm>
            <a:off x="705760" y="5306584"/>
            <a:ext cx="4470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J. C. Smith, F. L. McCrackin, and H. F. Schiefer – “</a:t>
            </a:r>
            <a:r>
              <a:rPr lang="en-US" sz="1200" i="1" dirty="0"/>
              <a:t>Stress-strain relationships in yarns subjected to rapid impact loading</a:t>
            </a:r>
            <a:r>
              <a:rPr lang="en-US" sz="1200" dirty="0"/>
              <a:t>”, J. Res. Natl. Bur. Stand, 1958</a:t>
            </a:r>
          </a:p>
        </p:txBody>
      </p:sp>
    </p:spTree>
    <p:extLst>
      <p:ext uri="{BB962C8B-B14F-4D97-AF65-F5344CB8AC3E}">
        <p14:creationId xmlns:p14="http://schemas.microsoft.com/office/powerpoint/2010/main" val="335187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1945-F75E-5207-8C5D-FA4487D5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A95632-2B24-D534-502B-B13B3FE1C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Thread breaking conditions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9B07B-D156-8E94-466E-F7FA240E698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F1A6A4-BE3F-0DD4-E8B4-A9309E111FC9}"/>
                  </a:ext>
                </a:extLst>
              </p:cNvPr>
              <p:cNvSpPr txBox="1"/>
              <p:nvPr/>
            </p:nvSpPr>
            <p:spPr>
              <a:xfrm>
                <a:off x="959341" y="2112620"/>
                <a:ext cx="5233015" cy="1098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effectLst/>
                    <a:latin typeface="Helvetica" pitchFamily="2" charset="0"/>
                  </a:rPr>
                  <a:t>The thread breaks immediately at impact when the strain 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 (derived directly from Smith’s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d>
                          </m:e>
                        </m:rad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):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F1A6A4-BE3F-0DD4-E8B4-A9309E11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41" y="2112620"/>
                <a:ext cx="5233015" cy="1098762"/>
              </a:xfrm>
              <a:prstGeom prst="rect">
                <a:avLst/>
              </a:prstGeom>
              <a:blipFill>
                <a:blip r:embed="rId3"/>
                <a:stretch>
                  <a:fillRect l="-969" t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2B4781-670A-A208-8751-D4FAA39D534C}"/>
                  </a:ext>
                </a:extLst>
              </p:cNvPr>
              <p:cNvSpPr txBox="1"/>
              <p:nvPr/>
            </p:nvSpPr>
            <p:spPr>
              <a:xfrm>
                <a:off x="2161504" y="3499673"/>
                <a:ext cx="2833083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ϵ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ϵ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2B4781-670A-A208-8751-D4FAA39D5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504" y="3499673"/>
                <a:ext cx="2833083" cy="818366"/>
              </a:xfrm>
              <a:prstGeom prst="rect">
                <a:avLst/>
              </a:prstGeom>
              <a:blipFill>
                <a:blip r:embed="rId4"/>
                <a:stretch>
                  <a:fillRect l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77872A-3328-972B-9A36-B433C16F950E}"/>
                  </a:ext>
                </a:extLst>
              </p:cNvPr>
              <p:cNvSpPr txBox="1"/>
              <p:nvPr/>
            </p:nvSpPr>
            <p:spPr>
              <a:xfrm>
                <a:off x="2236038" y="4777109"/>
                <a:ext cx="751401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Helvetica" pitchFamily="2" charset="0"/>
                  </a:rPr>
                  <a:t>Numerically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𝟗𝟑𝟔</m:t>
                    </m:r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Helvetica" pitchFamily="2" charset="0"/>
                  </a:rPr>
                  <a:t> for Silk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16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𝟏𝟎𝟗𝟒</m:t>
                    </m:r>
                    <m:r>
                      <a:rPr lang="en-US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US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Helvetica" pitchFamily="2" charset="0"/>
                  </a:rPr>
                  <a:t> for Dyneema.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77872A-3328-972B-9A36-B433C16F9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038" y="4777109"/>
                <a:ext cx="7514018" cy="338554"/>
              </a:xfrm>
              <a:prstGeom prst="rect">
                <a:avLst/>
              </a:prstGeom>
              <a:blipFill>
                <a:blip r:embed="rId5"/>
                <a:stretch>
                  <a:fillRect l="-507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51443595-5999-0DF8-D790-8C5310EDBC3F}"/>
              </a:ext>
            </a:extLst>
          </p:cNvPr>
          <p:cNvGrpSpPr/>
          <p:nvPr/>
        </p:nvGrpSpPr>
        <p:grpSpPr>
          <a:xfrm>
            <a:off x="7370964" y="2112620"/>
            <a:ext cx="4553640" cy="1991547"/>
            <a:chOff x="7057114" y="1676686"/>
            <a:chExt cx="4553640" cy="1991547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CEE6FA0-3517-129F-5D5D-2E0FE86AD90A}"/>
                </a:ext>
              </a:extLst>
            </p:cNvPr>
            <p:cNvSpPr/>
            <p:nvPr/>
          </p:nvSpPr>
          <p:spPr>
            <a:xfrm>
              <a:off x="7057114" y="1676686"/>
              <a:ext cx="4553640" cy="1991547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7BCB83-7701-3E1B-33CE-D479B264FBE3}"/>
                </a:ext>
              </a:extLst>
            </p:cNvPr>
            <p:cNvSpPr txBox="1"/>
            <p:nvPr/>
          </p:nvSpPr>
          <p:spPr>
            <a:xfrm>
              <a:off x="8284694" y="1825143"/>
              <a:ext cx="21477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Material Constants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3812210-1BEA-2117-4336-4E2FFCCD168B}"/>
                    </a:ext>
                  </a:extLst>
                </p:cNvPr>
                <p:cNvSpPr txBox="1"/>
                <p:nvPr/>
              </p:nvSpPr>
              <p:spPr>
                <a:xfrm>
                  <a:off x="7239000" y="2349628"/>
                  <a:ext cx="1995377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i="1" dirty="0"/>
                    <a:t>Silk</a:t>
                  </a:r>
                </a:p>
                <a:p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Density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1300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kg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12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strain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=0.3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stress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1.2 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3812210-1BEA-2117-4336-4E2FFCCD16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2349628"/>
                  <a:ext cx="1995377" cy="1015663"/>
                </a:xfrm>
                <a:prstGeom prst="rect">
                  <a:avLst/>
                </a:prstGeom>
                <a:blipFill>
                  <a:blip r:embed="rId6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2E7CDCE-7B57-E120-A1FF-12E4180F6D0C}"/>
                    </a:ext>
                  </a:extLst>
                </p:cNvPr>
                <p:cNvSpPr txBox="1"/>
                <p:nvPr/>
              </p:nvSpPr>
              <p:spPr>
                <a:xfrm>
                  <a:off x="9334256" y="2330891"/>
                  <a:ext cx="2276498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i="1" dirty="0"/>
                    <a:t>Dyneema</a:t>
                  </a:r>
                </a:p>
                <a:p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Density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975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kg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12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strain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=0.032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stress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3.52 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2E7CDCE-7B57-E120-A1FF-12E4180F6D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4256" y="2330891"/>
                  <a:ext cx="2276498" cy="1015663"/>
                </a:xfrm>
                <a:prstGeom prst="rect">
                  <a:avLst/>
                </a:prstGeom>
                <a:blipFill>
                  <a:blip r:embed="rId7"/>
                  <a:stretch>
                    <a:fillRect b="-24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752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D416-D2BE-3B6E-06B9-22F4E267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BAA590-2956-FB81-7E21-6C46F056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material elasticity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E562B-EC65-625A-2E69-4A20DEDF352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82571FD-DF7F-AD2F-BACA-6ABF673037C5}"/>
              </a:ext>
            </a:extLst>
          </p:cNvPr>
          <p:cNvGrpSpPr/>
          <p:nvPr/>
        </p:nvGrpSpPr>
        <p:grpSpPr>
          <a:xfrm>
            <a:off x="3436918" y="1538461"/>
            <a:ext cx="5350354" cy="2546035"/>
            <a:chOff x="3436918" y="1538461"/>
            <a:chExt cx="5350354" cy="2546035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435A1ED-AA49-9D17-E87D-1516C1974FF2}"/>
                </a:ext>
              </a:extLst>
            </p:cNvPr>
            <p:cNvSpPr/>
            <p:nvPr/>
          </p:nvSpPr>
          <p:spPr>
            <a:xfrm>
              <a:off x="3436918" y="1538461"/>
              <a:ext cx="5350354" cy="2546035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040426-7554-C11E-671F-4AA608673BC5}"/>
                </a:ext>
              </a:extLst>
            </p:cNvPr>
            <p:cNvSpPr txBox="1"/>
            <p:nvPr/>
          </p:nvSpPr>
          <p:spPr>
            <a:xfrm>
              <a:off x="4664498" y="1686918"/>
              <a:ext cx="21477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Material Constants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D3A795-8DD9-E274-2578-92024DAF1BFE}"/>
                    </a:ext>
                  </a:extLst>
                </p:cNvPr>
                <p:cNvSpPr txBox="1"/>
                <p:nvPr/>
              </p:nvSpPr>
              <p:spPr>
                <a:xfrm>
                  <a:off x="3743009" y="2361943"/>
                  <a:ext cx="2147777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i="1" dirty="0"/>
                    <a:t>Silk</a:t>
                  </a:r>
                </a:p>
                <a:p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Density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1300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kg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12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strain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=0.3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stress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1.2 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Young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modulus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=2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i="1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Cubic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coefficient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 22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i="1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D3A795-8DD9-E274-2578-92024DAF1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3009" y="2361943"/>
                  <a:ext cx="2147777" cy="1384995"/>
                </a:xfrm>
                <a:prstGeom prst="rect">
                  <a:avLst/>
                </a:prstGeom>
                <a:blipFill>
                  <a:blip r:embed="rId3"/>
                  <a:stretch>
                    <a:fillRect b="-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9A6E087-DB65-DFA5-F4E8-F0E9CDE8942E}"/>
                    </a:ext>
                  </a:extLst>
                </p:cNvPr>
                <p:cNvSpPr txBox="1"/>
                <p:nvPr/>
              </p:nvSpPr>
              <p:spPr>
                <a:xfrm>
                  <a:off x="6477174" y="2361943"/>
                  <a:ext cx="2276498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i="1" dirty="0"/>
                    <a:t>Dyneema</a:t>
                  </a:r>
                </a:p>
                <a:p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Density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975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kg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12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strain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=0.032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40503050406030204" pitchFamily="18" charset="0"/>
                          </a:rPr>
                          <m:t>Failure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stress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3.52 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Young</m:t>
                        </m:r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modulus</m:t>
                        </m:r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  <m: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i="1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Cubic</m:t>
                        </m:r>
                        <m: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coefficient</m:t>
                        </m:r>
                        <m: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 0 </m:t>
                        </m:r>
                        <m:r>
                          <m:rPr>
                            <m:sty m:val="p"/>
                          </m:rPr>
                          <a:rPr lang="en-U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GPa</m:t>
                        </m:r>
                      </m:oMath>
                    </m:oMathPara>
                  </a14:m>
                  <a:endParaRPr lang="en-US" sz="1200" i="1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9A6E087-DB65-DFA5-F4E8-F0E9CDE89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174" y="2361943"/>
                  <a:ext cx="2276498" cy="1384995"/>
                </a:xfrm>
                <a:prstGeom prst="rect">
                  <a:avLst/>
                </a:prstGeom>
                <a:blipFill>
                  <a:blip r:embed="rId4"/>
                  <a:stretch>
                    <a:fillRect b="-9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9B22878-E1AE-5721-6757-D647CFB54F85}"/>
              </a:ext>
            </a:extLst>
          </p:cNvPr>
          <p:cNvSpPr txBox="1"/>
          <p:nvPr/>
        </p:nvSpPr>
        <p:spPr>
          <a:xfrm>
            <a:off x="426887" y="4595053"/>
            <a:ext cx="5669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We model the thread with the simplest law that captures strain stiffening, a linear term plus a cubic correction: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A634B09-9002-9651-A168-EBE32102BF80}"/>
                  </a:ext>
                </a:extLst>
              </p:cNvPr>
              <p:cNvSpPr txBox="1"/>
              <p:nvPr/>
            </p:nvSpPr>
            <p:spPr>
              <a:xfrm>
                <a:off x="1218566" y="5593523"/>
                <a:ext cx="3352969" cy="310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bA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A634B09-9002-9651-A168-EBE32102B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566" y="5593523"/>
                <a:ext cx="3352969" cy="310791"/>
              </a:xfrm>
              <a:prstGeom prst="rect">
                <a:avLst/>
              </a:prstGeom>
              <a:blipFill>
                <a:blip r:embed="rId5"/>
                <a:stretch>
                  <a:fillRect l="-1136" t="-15385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7D7DF78-246A-08D4-D15E-7A6CDC311B95}"/>
              </a:ext>
            </a:extLst>
          </p:cNvPr>
          <p:cNvGrpSpPr/>
          <p:nvPr/>
        </p:nvGrpSpPr>
        <p:grpSpPr>
          <a:xfrm>
            <a:off x="6917615" y="3668233"/>
            <a:ext cx="5006989" cy="2236081"/>
            <a:chOff x="6917615" y="3668233"/>
            <a:chExt cx="5006989" cy="223608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C39380-4D02-93B1-5D36-B0E8D6A699CE}"/>
                </a:ext>
              </a:extLst>
            </p:cNvPr>
            <p:cNvSpPr/>
            <p:nvPr/>
          </p:nvSpPr>
          <p:spPr>
            <a:xfrm>
              <a:off x="6917615" y="4595053"/>
              <a:ext cx="5006989" cy="130926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072854-9704-15CD-F02A-9D6DA844A453}"/>
                </a:ext>
              </a:extLst>
            </p:cNvPr>
            <p:cNvSpPr txBox="1"/>
            <p:nvPr/>
          </p:nvSpPr>
          <p:spPr>
            <a:xfrm>
              <a:off x="7642080" y="4734763"/>
              <a:ext cx="4282524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400" dirty="0"/>
                <a:t>Dyneema fibers do not stiffen under tension. The stress-strain curve is nearly linear up to failure, at a strain of a few percent. For SK76, </a:t>
              </a:r>
              <a:r>
                <a:rPr lang="en-US" sz="1400" i="1" dirty="0"/>
                <a:t>Sanborn et al. 2015</a:t>
              </a:r>
              <a:r>
                <a:rPr lang="en-US" sz="1400" dirty="0"/>
                <a:t> note that the response becomes increasingly linear as the strain rate increases.</a:t>
              </a:r>
            </a:p>
          </p:txBody>
        </p:sp>
        <p:pic>
          <p:nvPicPr>
            <p:cNvPr id="7" name="Graphic 6" descr="Angel face outline with solid fill">
              <a:extLst>
                <a:ext uri="{FF2B5EF4-FFF2-40B4-BE49-F238E27FC236}">
                  <a16:creationId xmlns:a16="http://schemas.microsoft.com/office/drawing/2014/main" id="{ECF842EB-31F1-8957-DBDA-76D643B23D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17615" y="4931821"/>
              <a:ext cx="619125" cy="6191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1B329EB-8283-5D7F-D857-F6366286B5C7}"/>
                </a:ext>
              </a:extLst>
            </p:cNvPr>
            <p:cNvCxnSpPr/>
            <p:nvPr/>
          </p:nvCxnSpPr>
          <p:spPr>
            <a:xfrm>
              <a:off x="7227177" y="3668233"/>
              <a:ext cx="640916" cy="926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173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B0FC-AFE1-C019-C1D6-5EFB513E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F860F7-FAEB-E3CE-7317-B9502ACF3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 Thread - Simulation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72539-5250-D88D-966D-5B3836EBAD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483FF12-8EBF-2AE5-1AA1-C6CEEEF1D164}"/>
              </a:ext>
            </a:extLst>
          </p:cNvPr>
          <p:cNvSpPr txBox="1"/>
          <p:nvPr/>
        </p:nvSpPr>
        <p:spPr>
          <a:xfrm>
            <a:off x="860871" y="3350713"/>
            <a:ext cx="20752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Space Grotesk"/>
              </a:rPr>
              <a:t>Uniform Mesh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7C116B4-352B-F176-027D-1BD43EF46616}"/>
                  </a:ext>
                </a:extLst>
              </p:cNvPr>
              <p:cNvSpPr txBox="1"/>
              <p:nvPr/>
            </p:nvSpPr>
            <p:spPr>
              <a:xfrm>
                <a:off x="821269" y="3664486"/>
                <a:ext cx="1488997" cy="17312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125" b="0" i="0" u="none" dirty="0">
                    <a:solidFill>
                      <a:srgbClr val="64748B"/>
                    </a:solidFill>
                    <a:latin typeface="Inter"/>
                  </a:rPr>
                  <a:t>Segment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2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1125" b="0" i="1" u="none" smtClean="0">
                        <a:solidFill>
                          <a:srgbClr val="64748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12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12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12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endParaRPr sz="1125" b="0" i="0" u="none" dirty="0">
                  <a:solidFill>
                    <a:srgbClr val="64748B"/>
                  </a:solidFill>
                  <a:latin typeface="Inter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7C116B4-352B-F176-027D-1BD43EF46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69" y="3664486"/>
                <a:ext cx="1488997" cy="173124"/>
              </a:xfrm>
              <a:prstGeom prst="rect">
                <a:avLst/>
              </a:prstGeom>
              <a:blipFill>
                <a:blip r:embed="rId3"/>
                <a:stretch>
                  <a:fillRect l="-5932" t="-160000" r="-5932" b="-2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24B7CAB-448C-28AC-4135-F2FBF65D4565}"/>
                  </a:ext>
                </a:extLst>
              </p:cNvPr>
              <p:cNvSpPr txBox="1"/>
              <p:nvPr/>
            </p:nvSpPr>
            <p:spPr>
              <a:xfrm>
                <a:off x="4681408" y="3343681"/>
                <a:ext cx="210815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Space Grotesk"/>
                  </a:rPr>
                  <a:t>Interior Nodes </a:t>
                </a:r>
                <a14:m>
                  <m:oMath xmlns:m="http://schemas.openxmlformats.org/officeDocument/2006/math">
                    <m:r>
                      <a:rPr lang="en-US" sz="1200" b="1" i="0" u="none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200" b="1" i="1" u="none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1200" b="1" i="1" u="none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=1 …</m:t>
                    </m:r>
                    <m:r>
                      <m:rPr>
                        <m:sty m:val="p"/>
                      </m:rPr>
                      <a:rPr lang="en-US" sz="1200" b="1" i="1" u="none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200" b="1" i="1" u="none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</a:rPr>
                      <m:t>-1) </m:t>
                    </m:r>
                  </m:oMath>
                </a14:m>
                <a:endParaRPr sz="1200" b="1" i="0" u="none" dirty="0">
                  <a:solidFill>
                    <a:srgbClr val="0F172A"/>
                  </a:solidFill>
                  <a:latin typeface="Space Grotesk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24B7CAB-448C-28AC-4135-F2FBF65D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408" y="3343681"/>
                <a:ext cx="2108157" cy="184666"/>
              </a:xfrm>
              <a:prstGeom prst="rect">
                <a:avLst/>
              </a:prstGeom>
              <a:blipFill>
                <a:blip r:embed="rId4"/>
                <a:stretch>
                  <a:fillRect l="-4192" t="-26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DEA5051-60F9-612F-8657-7BC353728321}"/>
              </a:ext>
            </a:extLst>
          </p:cNvPr>
          <p:cNvGrpSpPr/>
          <p:nvPr/>
        </p:nvGrpSpPr>
        <p:grpSpPr>
          <a:xfrm>
            <a:off x="851402" y="1444631"/>
            <a:ext cx="10501312" cy="1440402"/>
            <a:chOff x="851402" y="1444631"/>
            <a:chExt cx="10501312" cy="1440402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96ED18D-065D-7862-2A6F-4096601E5276}"/>
                </a:ext>
              </a:extLst>
            </p:cNvPr>
            <p:cNvSpPr/>
            <p:nvPr/>
          </p:nvSpPr>
          <p:spPr>
            <a:xfrm>
              <a:off x="1108577" y="1692281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 w="28575">
              <a:solidFill>
                <a:srgbClr val="1D4E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52F23EB-8D29-06FD-1C10-79C243202212}"/>
                </a:ext>
              </a:extLst>
            </p:cNvPr>
            <p:cNvSpPr/>
            <p:nvPr/>
          </p:nvSpPr>
          <p:spPr>
            <a:xfrm>
              <a:off x="1937395" y="1870504"/>
              <a:ext cx="1023491" cy="38100"/>
            </a:xfrm>
            <a:prstGeom prst="roundRect">
              <a:avLst>
                <a:gd name="adj" fmla="val 50000"/>
              </a:avLst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BF380DC-B608-1D08-F5BD-DBF20A6CA104}"/>
                </a:ext>
              </a:extLst>
            </p:cNvPr>
            <p:cNvSpPr/>
            <p:nvPr/>
          </p:nvSpPr>
          <p:spPr>
            <a:xfrm>
              <a:off x="3303643" y="1711331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 w="1905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840759F-C38C-36C5-6CEB-E798930FB2BA}"/>
                </a:ext>
              </a:extLst>
            </p:cNvPr>
            <p:cNvSpPr/>
            <p:nvPr/>
          </p:nvSpPr>
          <p:spPr>
            <a:xfrm>
              <a:off x="3980736" y="1860104"/>
              <a:ext cx="1023491" cy="38100"/>
            </a:xfrm>
            <a:prstGeom prst="roundRect">
              <a:avLst>
                <a:gd name="adj" fmla="val 50000"/>
              </a:avLst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A069A35-29A8-8A35-D4AD-5808288B4D0A}"/>
                </a:ext>
              </a:extLst>
            </p:cNvPr>
            <p:cNvSpPr/>
            <p:nvPr/>
          </p:nvSpPr>
          <p:spPr>
            <a:xfrm>
              <a:off x="5336784" y="1711331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 w="1905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B14C633-A306-0A3C-F36A-187B686E9DA5}"/>
                </a:ext>
              </a:extLst>
            </p:cNvPr>
            <p:cNvSpPr/>
            <p:nvPr/>
          </p:nvSpPr>
          <p:spPr>
            <a:xfrm>
              <a:off x="8143235" y="1711331"/>
              <a:ext cx="285750" cy="2857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 w="1905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87C7DBD-089F-3456-D0DB-39C809F2E62C}"/>
                </a:ext>
              </a:extLst>
            </p:cNvPr>
            <p:cNvSpPr/>
            <p:nvPr/>
          </p:nvSpPr>
          <p:spPr>
            <a:xfrm>
              <a:off x="8834182" y="1870504"/>
              <a:ext cx="1109216" cy="38100"/>
            </a:xfrm>
            <a:prstGeom prst="roundRect">
              <a:avLst>
                <a:gd name="adj" fmla="val 50000"/>
              </a:avLst>
            </a:prstGeom>
            <a:solidFill>
              <a:srgbClr val="CBD5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4E7C5A0-338B-A6B8-C267-DDDAD10FB6AB}"/>
                </a:ext>
              </a:extLst>
            </p:cNvPr>
            <p:cNvSpPr/>
            <p:nvPr/>
          </p:nvSpPr>
          <p:spPr>
            <a:xfrm>
              <a:off x="10385927" y="1692281"/>
              <a:ext cx="323850" cy="323850"/>
            </a:xfrm>
            <a:prstGeom prst="roundRect">
              <a:avLst>
                <a:gd name="adj" fmla="val 50000"/>
              </a:avLst>
            </a:prstGeom>
            <a:solidFill>
              <a:srgbClr val="475569"/>
            </a:solidFill>
            <a:ln w="28575">
              <a:solidFill>
                <a:srgbClr val="1E29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10D311A-F111-4FD9-1D4C-C3F503F322C5}"/>
                </a:ext>
              </a:extLst>
            </p:cNvPr>
            <p:cNvSpPr/>
            <p:nvPr/>
          </p:nvSpPr>
          <p:spPr>
            <a:xfrm>
              <a:off x="6690237" y="1864799"/>
              <a:ext cx="57150" cy="5715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6906D47-F683-A266-24A2-10E3B8B0B07F}"/>
                </a:ext>
              </a:extLst>
            </p:cNvPr>
            <p:cNvSpPr/>
            <p:nvPr/>
          </p:nvSpPr>
          <p:spPr>
            <a:xfrm>
              <a:off x="6823587" y="1864799"/>
              <a:ext cx="57150" cy="5715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3B005D25-105E-D99A-64F8-F7D60ED146E3}"/>
                </a:ext>
              </a:extLst>
            </p:cNvPr>
            <p:cNvSpPr/>
            <p:nvPr/>
          </p:nvSpPr>
          <p:spPr>
            <a:xfrm>
              <a:off x="6956937" y="1864799"/>
              <a:ext cx="57150" cy="5715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2" name="Picture 21" descr="image.png">
              <a:extLst>
                <a:ext uri="{FF2B5EF4-FFF2-40B4-BE49-F238E27FC236}">
                  <a16:creationId xmlns:a16="http://schemas.microsoft.com/office/drawing/2014/main" id="{79D7A3FF-1508-5C7B-73E1-A924839B5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6664" y="1444631"/>
              <a:ext cx="142875" cy="190500"/>
            </a:xfrm>
            <a:prstGeom prst="rect">
              <a:avLst/>
            </a:prstGeom>
          </p:spPr>
        </p:pic>
        <p:pic>
          <p:nvPicPr>
            <p:cNvPr id="23" name="Picture 22" descr="image.png">
              <a:extLst>
                <a:ext uri="{FF2B5EF4-FFF2-40B4-BE49-F238E27FC236}">
                  <a16:creationId xmlns:a16="http://schemas.microsoft.com/office/drawing/2014/main" id="{538CA341-F395-196E-030B-28A775002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64830" y="1803536"/>
              <a:ext cx="84707" cy="127061"/>
            </a:xfrm>
            <a:prstGeom prst="rect">
              <a:avLst/>
            </a:prstGeom>
          </p:spPr>
        </p:pic>
        <p:pic>
          <p:nvPicPr>
            <p:cNvPr id="24" name="Picture 23" descr="image.png">
              <a:extLst>
                <a:ext uri="{FF2B5EF4-FFF2-40B4-BE49-F238E27FC236}">
                  <a16:creationId xmlns:a16="http://schemas.microsoft.com/office/drawing/2014/main" id="{5B71D5BC-5C99-ADD6-22D4-F6836A9A0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54971" y="1803536"/>
              <a:ext cx="84707" cy="127061"/>
            </a:xfrm>
            <a:prstGeom prst="rect">
              <a:avLst/>
            </a:prstGeom>
          </p:spPr>
        </p:pic>
        <p:pic>
          <p:nvPicPr>
            <p:cNvPr id="25" name="Picture 24" descr="image.png">
              <a:extLst>
                <a:ext uri="{FF2B5EF4-FFF2-40B4-BE49-F238E27FC236}">
                  <a16:creationId xmlns:a16="http://schemas.microsoft.com/office/drawing/2014/main" id="{A6278DFE-34BC-4CDD-5F2B-2490B4B1A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18836" y="1836292"/>
              <a:ext cx="57150" cy="85725"/>
            </a:xfrm>
            <a:prstGeom prst="rect">
              <a:avLst/>
            </a:prstGeom>
          </p:spPr>
        </p:pic>
        <p:pic>
          <p:nvPicPr>
            <p:cNvPr id="26" name="Picture 25" descr="image.png">
              <a:extLst>
                <a:ext uri="{FF2B5EF4-FFF2-40B4-BE49-F238E27FC236}">
                  <a16:creationId xmlns:a16="http://schemas.microsoft.com/office/drawing/2014/main" id="{E087C509-578A-FEB9-5FC2-B4EB76032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8977" y="1836292"/>
              <a:ext cx="57150" cy="85725"/>
            </a:xfrm>
            <a:prstGeom prst="rect">
              <a:avLst/>
            </a:prstGeom>
          </p:spPr>
        </p:pic>
        <p:pic>
          <p:nvPicPr>
            <p:cNvPr id="27" name="Picture 26" descr="image.png">
              <a:extLst>
                <a:ext uri="{FF2B5EF4-FFF2-40B4-BE49-F238E27FC236}">
                  <a16:creationId xmlns:a16="http://schemas.microsoft.com/office/drawing/2014/main" id="{B9F99320-8404-9CDA-452F-6805D2064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72282" y="1846692"/>
              <a:ext cx="57150" cy="85725"/>
            </a:xfrm>
            <a:prstGeom prst="rect">
              <a:avLst/>
            </a:prstGeom>
          </p:spPr>
        </p:pic>
        <p:pic>
          <p:nvPicPr>
            <p:cNvPr id="28" name="Picture 27" descr="image.png">
              <a:extLst>
                <a:ext uri="{FF2B5EF4-FFF2-40B4-BE49-F238E27FC236}">
                  <a16:creationId xmlns:a16="http://schemas.microsoft.com/office/drawing/2014/main" id="{DC60C078-93E7-4AE9-BF4D-A7BD970F6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48149" y="1846692"/>
              <a:ext cx="57150" cy="85725"/>
            </a:xfrm>
            <a:prstGeom prst="rect">
              <a:avLst/>
            </a:prstGeom>
          </p:spPr>
        </p:pic>
        <p:pic>
          <p:nvPicPr>
            <p:cNvPr id="29" name="Picture 28" descr="image.png">
              <a:extLst>
                <a:ext uri="{FF2B5EF4-FFF2-40B4-BE49-F238E27FC236}">
                  <a16:creationId xmlns:a16="http://schemas.microsoft.com/office/drawing/2014/main" id="{6C588FAF-A75F-B06D-C582-82125AFE2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62127" y="1492256"/>
              <a:ext cx="171450" cy="1524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E8A580-3D28-3496-3F31-B5C516A34DDE}"/>
                </a:ext>
              </a:extLst>
            </p:cNvPr>
            <p:cNvSpPr txBox="1"/>
            <p:nvPr/>
          </p:nvSpPr>
          <p:spPr>
            <a:xfrm>
              <a:off x="965702" y="1692281"/>
              <a:ext cx="609600" cy="323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Inter"/>
                </a:rPr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6F2279-D716-A2F8-1C9A-D86B067C7932}"/>
                </a:ext>
              </a:extLst>
            </p:cNvPr>
            <p:cNvSpPr txBox="1"/>
            <p:nvPr/>
          </p:nvSpPr>
          <p:spPr>
            <a:xfrm>
              <a:off x="851402" y="2092331"/>
              <a:ext cx="1123950" cy="1619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0F172A"/>
                  </a:solidFill>
                  <a:latin typeface="Inter"/>
                </a:rPr>
                <a:t>Impact Node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7694B92-E2C2-FB73-7C80-B0B3709092F3}"/>
                </a:ext>
              </a:extLst>
            </p:cNvPr>
            <p:cNvSpPr txBox="1"/>
            <p:nvPr/>
          </p:nvSpPr>
          <p:spPr>
            <a:xfrm>
              <a:off x="3160768" y="1711331"/>
              <a:ext cx="571500" cy="2857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75" b="1" i="0" u="none">
                  <a:solidFill>
                    <a:srgbClr val="FFFFFF"/>
                  </a:solidFill>
                  <a:latin typeface="Inter"/>
                </a:rPr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5935F2-E79F-05CF-5A9C-72CF0BF9B88E}"/>
                </a:ext>
              </a:extLst>
            </p:cNvPr>
            <p:cNvSpPr txBox="1"/>
            <p:nvPr/>
          </p:nvSpPr>
          <p:spPr>
            <a:xfrm>
              <a:off x="3222680" y="2073281"/>
              <a:ext cx="733425" cy="1619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0F172A"/>
                  </a:solidFill>
                  <a:latin typeface="Inter"/>
                </a:rPr>
                <a:t>Node 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44AB2ED-BE4A-61F9-BBF4-925DE8CC3E35}"/>
                </a:ext>
              </a:extLst>
            </p:cNvPr>
            <p:cNvSpPr txBox="1"/>
            <p:nvPr/>
          </p:nvSpPr>
          <p:spPr>
            <a:xfrm>
              <a:off x="5193909" y="1711331"/>
              <a:ext cx="571500" cy="2857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75" b="1" i="0" u="none">
                  <a:solidFill>
                    <a:srgbClr val="FFFFFF"/>
                  </a:solidFill>
                  <a:latin typeface="Inter"/>
                </a:rPr>
                <a:t>2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ADDCEE3-6E27-844C-419C-A5410DD732BC}"/>
                </a:ext>
              </a:extLst>
            </p:cNvPr>
            <p:cNvSpPr txBox="1"/>
            <p:nvPr/>
          </p:nvSpPr>
          <p:spPr>
            <a:xfrm>
              <a:off x="5241534" y="2073281"/>
              <a:ext cx="762000" cy="1619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0F172A"/>
                  </a:solidFill>
                  <a:latin typeface="Inter"/>
                </a:rPr>
                <a:t>Node 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405105-4326-EE6B-F808-7F43CC385424}"/>
                </a:ext>
              </a:extLst>
            </p:cNvPr>
            <p:cNvSpPr txBox="1"/>
            <p:nvPr/>
          </p:nvSpPr>
          <p:spPr>
            <a:xfrm>
              <a:off x="6494975" y="1683824"/>
              <a:ext cx="1000125" cy="1428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0" i="0" u="none">
                  <a:solidFill>
                    <a:srgbClr val="0F172A"/>
                  </a:solidFill>
                  <a:latin typeface="Inter"/>
                </a:rPr>
                <a:t>interior chain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528DA80-700D-A2C2-3D20-93CD547758D9}"/>
                </a:ext>
              </a:extLst>
            </p:cNvPr>
            <p:cNvSpPr txBox="1"/>
            <p:nvPr/>
          </p:nvSpPr>
          <p:spPr>
            <a:xfrm>
              <a:off x="8000360" y="1711331"/>
              <a:ext cx="571500" cy="2857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 u="none">
                  <a:solidFill>
                    <a:srgbClr val="FFFFFF"/>
                  </a:solidFill>
                  <a:latin typeface="Inter"/>
                </a:rPr>
                <a:t>n-1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71BF4A-4412-F296-A3AF-CFCD7EB5808C}"/>
                </a:ext>
              </a:extLst>
            </p:cNvPr>
            <p:cNvSpPr txBox="1"/>
            <p:nvPr/>
          </p:nvSpPr>
          <p:spPr>
            <a:xfrm>
              <a:off x="7986073" y="2073281"/>
              <a:ext cx="885825" cy="1619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0F172A"/>
                  </a:solidFill>
                  <a:latin typeface="Inter"/>
                </a:rPr>
                <a:t>Node n-1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CC273F-6017-58F1-A392-9D364C9774CD}"/>
                </a:ext>
              </a:extLst>
            </p:cNvPr>
            <p:cNvSpPr txBox="1"/>
            <p:nvPr/>
          </p:nvSpPr>
          <p:spPr>
            <a:xfrm>
              <a:off x="10243052" y="1692281"/>
              <a:ext cx="609600" cy="323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 u="none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FE5FC4-6373-2424-ED18-86239C66C89E}"/>
                </a:ext>
              </a:extLst>
            </p:cNvPr>
            <p:cNvSpPr txBox="1"/>
            <p:nvPr/>
          </p:nvSpPr>
          <p:spPr>
            <a:xfrm>
              <a:off x="10028739" y="2092331"/>
              <a:ext cx="1323975" cy="16192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0F172A"/>
                  </a:solidFill>
                  <a:latin typeface="Inter"/>
                </a:rPr>
                <a:t>Anchored Node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2912E76-6ED4-3739-4464-9585BAB992B6}"/>
                    </a:ext>
                  </a:extLst>
                </p:cNvPr>
                <p:cNvSpPr txBox="1"/>
                <p:nvPr/>
              </p:nvSpPr>
              <p:spPr>
                <a:xfrm>
                  <a:off x="1246689" y="1444631"/>
                  <a:ext cx="318100" cy="2152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25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125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1125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sz="1125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125" b="1" i="1" u="none" smtClean="0">
                                    <a:solidFill>
                                      <a:srgbClr val="2563E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25" b="1" i="1" u="none" smtClean="0">
                                    <a:solidFill>
                                      <a:srgbClr val="2563E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125" b="1" i="1" u="none" smtClean="0">
                                    <a:solidFill>
                                      <a:srgbClr val="2563E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sz="1125" b="1" i="0" u="none" dirty="0">
                    <a:solidFill>
                      <a:srgbClr val="2563EB"/>
                    </a:solidFill>
                    <a:latin typeface="Space Grotesk"/>
                  </a:endParaRPr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2912E76-6ED4-3739-4464-9585BAB992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689" y="1444631"/>
                  <a:ext cx="318100" cy="215252"/>
                </a:xfrm>
                <a:prstGeom prst="rect">
                  <a:avLst/>
                </a:prstGeom>
                <a:blipFill>
                  <a:blip r:embed="rId11"/>
                  <a:stretch>
                    <a:fillRect l="-7692" r="-384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77FBCFC-4300-42BD-37B8-9C51CCC5E2FD}"/>
                    </a:ext>
                  </a:extLst>
                </p:cNvPr>
                <p:cNvSpPr txBox="1"/>
                <p:nvPr/>
              </p:nvSpPr>
              <p:spPr>
                <a:xfrm>
                  <a:off x="851402" y="2330456"/>
                  <a:ext cx="782394" cy="1865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975" i="1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i="1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n-US" sz="975" i="1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sz="97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sz="97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97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97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acc>
                          <m:accPr>
                            <m:chr m:val="⃗"/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sz="975" b="0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77FBCFC-4300-42BD-37B8-9C51CCC5E2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402" y="2330456"/>
                  <a:ext cx="782394" cy="186590"/>
                </a:xfrm>
                <a:prstGeom prst="rect">
                  <a:avLst/>
                </a:prstGeom>
                <a:blipFill>
                  <a:blip r:embed="rId12"/>
                  <a:stretch>
                    <a:fillRect l="-3226" r="-161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B1442EA-5B3B-0E23-BB83-442490873969}"/>
                    </a:ext>
                  </a:extLst>
                </p:cNvPr>
                <p:cNvSpPr txBox="1"/>
                <p:nvPr/>
              </p:nvSpPr>
              <p:spPr>
                <a:xfrm>
                  <a:off x="899187" y="2625731"/>
                  <a:ext cx="546625" cy="2593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2563E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B1442EA-5B3B-0E23-BB83-4424908739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87" y="2625731"/>
                  <a:ext cx="546625" cy="259302"/>
                </a:xfrm>
                <a:prstGeom prst="rect">
                  <a:avLst/>
                </a:prstGeom>
                <a:blipFill>
                  <a:blip r:embed="rId13"/>
                  <a:stretch>
                    <a:fillRect l="-2326" r="-2326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1478241-8498-C69C-DE6C-AB0548E8675A}"/>
                    </a:ext>
                  </a:extLst>
                </p:cNvPr>
                <p:cNvSpPr txBox="1"/>
                <p:nvPr/>
              </p:nvSpPr>
              <p:spPr>
                <a:xfrm>
                  <a:off x="10189247" y="2517046"/>
                  <a:ext cx="541815" cy="2593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2563E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2563E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2563E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1478241-8498-C69C-DE6C-AB0548E86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9247" y="2517046"/>
                  <a:ext cx="541815" cy="259302"/>
                </a:xfrm>
                <a:prstGeom prst="rect">
                  <a:avLst/>
                </a:prstGeom>
                <a:blipFill>
                  <a:blip r:embed="rId14"/>
                  <a:stretch>
                    <a:fillRect l="-2326" t="-4762" r="-2326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FCF8BAD-FC77-5890-77BD-BD6B0041273E}"/>
                    </a:ext>
                  </a:extLst>
                </p:cNvPr>
                <p:cNvSpPr txBox="1"/>
                <p:nvPr/>
              </p:nvSpPr>
              <p:spPr>
                <a:xfrm>
                  <a:off x="3212108" y="2330456"/>
                  <a:ext cx="403316" cy="1500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975" b="0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FCF8BAD-FC77-5890-77BD-BD6B00412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108" y="2330456"/>
                  <a:ext cx="403316" cy="150041"/>
                </a:xfrm>
                <a:prstGeom prst="rect">
                  <a:avLst/>
                </a:prstGeom>
                <a:blipFill>
                  <a:blip r:embed="rId15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69E7936-6BB5-D11B-13F5-8C0786F5A8C9}"/>
                    </a:ext>
                  </a:extLst>
                </p:cNvPr>
                <p:cNvSpPr txBox="1"/>
                <p:nvPr/>
              </p:nvSpPr>
              <p:spPr>
                <a:xfrm>
                  <a:off x="3206167" y="2575747"/>
                  <a:ext cx="460575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0F172A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69E7936-6BB5-D11B-13F5-8C0786F5A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6167" y="2575747"/>
                  <a:ext cx="460575" cy="138499"/>
                </a:xfrm>
                <a:prstGeom prst="rect">
                  <a:avLst/>
                </a:prstGeom>
                <a:blipFill>
                  <a:blip r:embed="rId16"/>
                  <a:stretch>
                    <a:fillRect l="-270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7BF0954-9A51-D249-DB17-2235FAEC286A}"/>
                    </a:ext>
                  </a:extLst>
                </p:cNvPr>
                <p:cNvSpPr txBox="1"/>
                <p:nvPr/>
              </p:nvSpPr>
              <p:spPr>
                <a:xfrm>
                  <a:off x="5253785" y="2285089"/>
                  <a:ext cx="409086" cy="1500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975" b="0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7BF0954-9A51-D249-DB17-2235FAEC2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3785" y="2285089"/>
                  <a:ext cx="409086" cy="150041"/>
                </a:xfrm>
                <a:prstGeom prst="rect">
                  <a:avLst/>
                </a:prstGeom>
                <a:blipFill>
                  <a:blip r:embed="rId17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245E70E-288A-1935-55E5-F7C781871D81}"/>
                    </a:ext>
                  </a:extLst>
                </p:cNvPr>
                <p:cNvSpPr txBox="1"/>
                <p:nvPr/>
              </p:nvSpPr>
              <p:spPr>
                <a:xfrm>
                  <a:off x="5247844" y="2530380"/>
                  <a:ext cx="45365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0F172A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245E70E-288A-1935-55E5-F7C781871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844" y="2530380"/>
                  <a:ext cx="453650" cy="138499"/>
                </a:xfrm>
                <a:prstGeom prst="rect">
                  <a:avLst/>
                </a:prstGeom>
                <a:blipFill>
                  <a:blip r:embed="rId18"/>
                  <a:stretch>
                    <a:fillRect l="-2778" r="-2778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9AC94D4-A0A4-FEDF-9106-DDCB22902CB1}"/>
                    </a:ext>
                  </a:extLst>
                </p:cNvPr>
                <p:cNvSpPr txBox="1"/>
                <p:nvPr/>
              </p:nvSpPr>
              <p:spPr>
                <a:xfrm>
                  <a:off x="7986073" y="2330455"/>
                  <a:ext cx="585417" cy="1500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-1</m:t>
                                </m:r>
                              </m:sub>
                            </m:sSub>
                            <m: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975" b="0" i="1" u="none" smtClean="0">
                                    <a:solidFill>
                                      <a:srgbClr val="64748B"/>
                                    </a:solidFill>
                                    <a:latin typeface="Cambria Math" panose="02040503050406030204" pitchFamily="18" charset="0"/>
                                  </a:rPr>
                                  <m:t>-1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sz="975" b="0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9AC94D4-A0A4-FEDF-9106-DDCB22902C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073" y="2330455"/>
                  <a:ext cx="585417" cy="150041"/>
                </a:xfrm>
                <a:prstGeom prst="rect">
                  <a:avLst/>
                </a:prstGeom>
                <a:blipFill>
                  <a:blip r:embed="rId19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A82C772-5800-5BB0-3DDE-25787348151B}"/>
                    </a:ext>
                  </a:extLst>
                </p:cNvPr>
                <p:cNvSpPr txBox="1"/>
                <p:nvPr/>
              </p:nvSpPr>
              <p:spPr>
                <a:xfrm>
                  <a:off x="8019210" y="2530380"/>
                  <a:ext cx="53380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0F172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0F172A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0F172A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A82C772-5800-5BB0-3DDE-257873481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9210" y="2530380"/>
                  <a:ext cx="533800" cy="138499"/>
                </a:xfrm>
                <a:prstGeom prst="rect">
                  <a:avLst/>
                </a:prstGeom>
                <a:blipFill>
                  <a:blip r:embed="rId20"/>
                  <a:stretch>
                    <a:fillRect l="-2326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46C8FA1-8F70-C5E5-77FA-6FEC3280D47A}"/>
                    </a:ext>
                  </a:extLst>
                </p:cNvPr>
                <p:cNvSpPr txBox="1"/>
                <p:nvPr/>
              </p:nvSpPr>
              <p:spPr>
                <a:xfrm>
                  <a:off x="10151472" y="2310630"/>
                  <a:ext cx="815480" cy="1500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97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=0,</m:t>
                        </m:r>
                        <m:sSub>
                          <m:sSubPr>
                            <m:ctrl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75" b="0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sz="975" b="0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sz="975" b="0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46C8FA1-8F70-C5E5-77FA-6FEC3280D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472" y="2310630"/>
                  <a:ext cx="815480" cy="150041"/>
                </a:xfrm>
                <a:prstGeom prst="rect">
                  <a:avLst/>
                </a:prstGeom>
                <a:blipFill>
                  <a:blip r:embed="rId21"/>
                  <a:stretch>
                    <a:fillRect r="-1538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2A5F971-4198-7E7B-8172-4DFFBC4C6B5C}"/>
                    </a:ext>
                  </a:extLst>
                </p:cNvPr>
                <p:cNvSpPr txBox="1"/>
                <p:nvPr/>
              </p:nvSpPr>
              <p:spPr>
                <a:xfrm>
                  <a:off x="2278338" y="1666284"/>
                  <a:ext cx="362691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2A5F971-4198-7E7B-8172-4DFFBC4C6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338" y="1666284"/>
                  <a:ext cx="362691" cy="138499"/>
                </a:xfrm>
                <a:prstGeom prst="rect">
                  <a:avLst/>
                </a:prstGeom>
                <a:blipFill>
                  <a:blip r:embed="rId22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3E9599FB-196C-6122-0044-982E18699890}"/>
                    </a:ext>
                  </a:extLst>
                </p:cNvPr>
                <p:cNvSpPr txBox="1"/>
                <p:nvPr/>
              </p:nvSpPr>
              <p:spPr>
                <a:xfrm>
                  <a:off x="9269357" y="1622264"/>
                  <a:ext cx="362691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3E9599FB-196C-6122-0044-982E18699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9357" y="1622264"/>
                  <a:ext cx="362691" cy="138499"/>
                </a:xfrm>
                <a:prstGeom prst="rect">
                  <a:avLst/>
                </a:prstGeom>
                <a:blipFill>
                  <a:blip r:embed="rId23"/>
                  <a:stretch>
                    <a:fillRect l="-10345" r="-3448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10A65F1-D366-74D3-0B2C-DA943277C76D}"/>
                    </a:ext>
                  </a:extLst>
                </p:cNvPr>
                <p:cNvSpPr txBox="1"/>
                <p:nvPr/>
              </p:nvSpPr>
              <p:spPr>
                <a:xfrm>
                  <a:off x="4338553" y="1547225"/>
                  <a:ext cx="362691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sz="900" b="1" i="1" u="none" smtClean="0">
                            <a:solidFill>
                              <a:srgbClr val="64748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sz="900" b="1" i="1" u="none" smtClean="0">
                                <a:solidFill>
                                  <a:srgbClr val="64748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900" b="1" i="0" u="none" dirty="0">
                    <a:solidFill>
                      <a:srgbClr val="64748B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010A65F1-D366-74D3-0B2C-DA943277C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8553" y="1547225"/>
                  <a:ext cx="362691" cy="138499"/>
                </a:xfrm>
                <a:prstGeom prst="rect">
                  <a:avLst/>
                </a:prstGeom>
                <a:blipFill>
                  <a:blip r:embed="rId2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9D6F9FC2-8D85-2954-CEAB-AD602F44D419}"/>
              </a:ext>
            </a:extLst>
          </p:cNvPr>
          <p:cNvSpPr txBox="1"/>
          <p:nvPr/>
        </p:nvSpPr>
        <p:spPr>
          <a:xfrm>
            <a:off x="9307654" y="3350014"/>
            <a:ext cx="187088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Boundary Nodes (0 &amp; n)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EB552E2-4FF1-FF10-EFBF-4226E7F01C4F}"/>
              </a:ext>
            </a:extLst>
          </p:cNvPr>
          <p:cNvSpPr txBox="1"/>
          <p:nvPr/>
        </p:nvSpPr>
        <p:spPr>
          <a:xfrm>
            <a:off x="812436" y="4973235"/>
            <a:ext cx="36122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Explicit coordinate kinematic update.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039D9E4-88ED-B3A5-A51F-7B7DEBEF6701}"/>
              </a:ext>
            </a:extLst>
          </p:cNvPr>
          <p:cNvGrpSpPr/>
          <p:nvPr/>
        </p:nvGrpSpPr>
        <p:grpSpPr>
          <a:xfrm>
            <a:off x="567614" y="4220760"/>
            <a:ext cx="3289845" cy="2333922"/>
            <a:chOff x="612411" y="4458885"/>
            <a:chExt cx="3289845" cy="2333922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7476A650-841F-83E1-7DA0-9B0D8F95F9BB}"/>
                </a:ext>
              </a:extLst>
            </p:cNvPr>
            <p:cNvSpPr/>
            <p:nvPr/>
          </p:nvSpPr>
          <p:spPr>
            <a:xfrm>
              <a:off x="612411" y="4458885"/>
              <a:ext cx="3289845" cy="2333922"/>
            </a:xfrm>
            <a:prstGeom prst="roundRect">
              <a:avLst>
                <a:gd name="adj" fmla="val 489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69A1F68-4497-AF51-BF79-FD6619A9764A}"/>
                </a:ext>
              </a:extLst>
            </p:cNvPr>
            <p:cNvSpPr txBox="1"/>
            <p:nvPr/>
          </p:nvSpPr>
          <p:spPr>
            <a:xfrm>
              <a:off x="812436" y="6411807"/>
              <a:ext cx="2485149" cy="1375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u="none" dirty="0">
                  <a:solidFill>
                    <a:srgbClr val="0F172A"/>
                  </a:solidFill>
                  <a:latin typeface="Inter"/>
                </a:rPr>
                <a:t>Impact node kinematically driven; anchor fixed.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68C5850-35E7-E572-03BC-16F1CA084CA9}"/>
                </a:ext>
              </a:extLst>
            </p:cNvPr>
            <p:cNvSpPr txBox="1"/>
            <p:nvPr/>
          </p:nvSpPr>
          <p:spPr>
            <a:xfrm>
              <a:off x="812436" y="4697010"/>
              <a:ext cx="2568380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chemeClr val="accent1">
                      <a:lumMod val="75000"/>
                    </a:schemeClr>
                  </a:solidFill>
                  <a:latin typeface="Space Grotesk"/>
                </a:rPr>
                <a:t>1. Position Advance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920432C-39E7-E5D8-E73C-F5D49B9DF84A}"/>
                    </a:ext>
                  </a:extLst>
                </p:cNvPr>
                <p:cNvSpPr txBox="1"/>
                <p:nvPr/>
              </p:nvSpPr>
              <p:spPr>
                <a:xfrm>
                  <a:off x="1320316" y="5280174"/>
                  <a:ext cx="2060500" cy="3456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Δt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920432C-39E7-E5D8-E73C-F5D49B9DF8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316" y="5280174"/>
                  <a:ext cx="2060500" cy="345672"/>
                </a:xfrm>
                <a:prstGeom prst="rect">
                  <a:avLst/>
                </a:prstGeom>
                <a:blipFill>
                  <a:blip r:embed="rId25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840DAA4-3D4F-7467-95F6-A2B9D5568B85}"/>
                    </a:ext>
                  </a:extLst>
                </p:cNvPr>
                <p:cNvSpPr txBox="1"/>
                <p:nvPr/>
              </p:nvSpPr>
              <p:spPr>
                <a:xfrm>
                  <a:off x="1389219" y="5756845"/>
                  <a:ext cx="1620252" cy="2356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840DAA4-3D4F-7467-95F6-A2B9D5568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219" y="5756845"/>
                  <a:ext cx="1620252" cy="235642"/>
                </a:xfrm>
                <a:prstGeom prst="rect">
                  <a:avLst/>
                </a:prstGeom>
                <a:blipFill>
                  <a:blip r:embed="rId26"/>
                  <a:stretch>
                    <a:fillRect t="-5000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F8171A-BD23-076E-6470-454847400327}"/>
                  </a:ext>
                </a:extLst>
              </p:cNvPr>
              <p:cNvSpPr txBox="1"/>
              <p:nvPr/>
            </p:nvSpPr>
            <p:spPr>
              <a:xfrm>
                <a:off x="4934993" y="3622097"/>
                <a:ext cx="12322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ρA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F8171A-BD23-076E-6470-454847400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993" y="3622097"/>
                <a:ext cx="1232260" cy="184666"/>
              </a:xfrm>
              <a:prstGeom prst="rect">
                <a:avLst/>
              </a:prstGeom>
              <a:blipFill>
                <a:blip r:embed="rId27"/>
                <a:stretch>
                  <a:fillRect l="-102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8AD87B5-2AD5-E3D7-CA90-256D499F96E3}"/>
                  </a:ext>
                </a:extLst>
              </p:cNvPr>
              <p:cNvSpPr txBox="1"/>
              <p:nvPr/>
            </p:nvSpPr>
            <p:spPr>
              <a:xfrm>
                <a:off x="9363248" y="3486889"/>
                <a:ext cx="1257908" cy="345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8AD87B5-2AD5-E3D7-CA90-256D499F9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248" y="3486889"/>
                <a:ext cx="1257908" cy="345672"/>
              </a:xfrm>
              <a:prstGeom prst="rect">
                <a:avLst/>
              </a:prstGeom>
              <a:blipFill>
                <a:blip r:embed="rId28"/>
                <a:stretch>
                  <a:fillRect l="-100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18056A96-FE21-E0C5-E5B9-29EF9921C7E3}"/>
              </a:ext>
            </a:extLst>
          </p:cNvPr>
          <p:cNvGrpSpPr/>
          <p:nvPr/>
        </p:nvGrpSpPr>
        <p:grpSpPr>
          <a:xfrm>
            <a:off x="4089871" y="4220760"/>
            <a:ext cx="4012257" cy="2333922"/>
            <a:chOff x="4092756" y="4458885"/>
            <a:chExt cx="4012257" cy="2333922"/>
          </a:xfrm>
        </p:grpSpPr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C23A3700-26B9-E2C9-AE5B-39D53B5A59D6}"/>
                </a:ext>
              </a:extLst>
            </p:cNvPr>
            <p:cNvSpPr/>
            <p:nvPr/>
          </p:nvSpPr>
          <p:spPr>
            <a:xfrm>
              <a:off x="4092756" y="4458885"/>
              <a:ext cx="4012257" cy="2333922"/>
            </a:xfrm>
            <a:prstGeom prst="roundRect">
              <a:avLst>
                <a:gd name="adj" fmla="val 489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C621E0C-FEB1-DB57-9F3E-66863B930913}"/>
                </a:ext>
              </a:extLst>
            </p:cNvPr>
            <p:cNvSpPr txBox="1"/>
            <p:nvPr/>
          </p:nvSpPr>
          <p:spPr>
            <a:xfrm>
              <a:off x="4292781" y="4697010"/>
              <a:ext cx="2612546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chemeClr val="accent1">
                      <a:lumMod val="75000"/>
                    </a:schemeClr>
                  </a:solidFill>
                  <a:latin typeface="Space Grotesk"/>
                </a:rPr>
                <a:t>2. Evaluate Nodal Forces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AAB5B531-5478-1C8D-A6FE-34508BD91AAD}"/>
                    </a:ext>
                  </a:extLst>
                </p:cNvPr>
                <p:cNvSpPr txBox="1"/>
                <p:nvPr/>
              </p:nvSpPr>
              <p:spPr>
                <a:xfrm>
                  <a:off x="4292782" y="6411807"/>
                  <a:ext cx="2555396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sz="900" b="0" i="0" u="none" dirty="0">
                      <a:solidFill>
                        <a:srgbClr val="0F172A"/>
                      </a:solidFill>
                      <a:latin typeface="Inter"/>
                    </a:rPr>
                    <a:t>Zero tension under compression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900" b="0" i="1" u="none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1" u="none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1" u="none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900" b="0" i="1" u="none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900" b="0" i="1" u="none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900" b="0" i="1" u="none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900" b="0" i="1" u="none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900" b="0" i="1" u="none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b="0" i="1" u="none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900" b="0" i="1" u="none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</m:t>
                      </m:r>
                    </m:oMath>
                  </a14:m>
                  <a:r>
                    <a:rPr lang="en-US" sz="900" b="0" i="0" u="none" dirty="0">
                      <a:solidFill>
                        <a:srgbClr val="0F172A"/>
                      </a:solidFill>
                      <a:latin typeface="Inter"/>
                    </a:rPr>
                    <a:t>).</a:t>
                  </a:r>
                  <a:endParaRPr sz="900" b="0" i="0" u="none" dirty="0">
                    <a:solidFill>
                      <a:srgbClr val="0F172A"/>
                    </a:solidFill>
                    <a:latin typeface="Inter"/>
                  </a:endParaRPr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AAB5B531-5478-1C8D-A6FE-34508BD91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782" y="6411807"/>
                  <a:ext cx="2555396" cy="138499"/>
                </a:xfrm>
                <a:prstGeom prst="rect">
                  <a:avLst/>
                </a:prstGeom>
                <a:blipFill>
                  <a:blip r:embed="rId29"/>
                  <a:stretch>
                    <a:fillRect l="-2463" t="-27273" b="-5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E7CF3FB-79D2-5AD8-6B64-091AA75B38F2}"/>
                </a:ext>
              </a:extLst>
            </p:cNvPr>
            <p:cNvSpPr txBox="1"/>
            <p:nvPr/>
          </p:nvSpPr>
          <p:spPr>
            <a:xfrm>
              <a:off x="4292782" y="4973235"/>
              <a:ext cx="3033052" cy="1619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64748B"/>
                  </a:solidFill>
                  <a:latin typeface="Inter"/>
                </a:rPr>
                <a:t>Nonlinear tension along segment unit vector.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33BF6B1-ABA5-A506-2AFC-68461685A604}"/>
                    </a:ext>
                  </a:extLst>
                </p:cNvPr>
                <p:cNvSpPr txBox="1"/>
                <p:nvPr/>
              </p:nvSpPr>
              <p:spPr>
                <a:xfrm>
                  <a:off x="5235128" y="5235226"/>
                  <a:ext cx="1479699" cy="4326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-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b>
                            </m:sSub>
                          </m:den>
                        </m:f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-1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33BF6B1-ABA5-A506-2AFC-68461685A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5128" y="5235226"/>
                  <a:ext cx="1479699" cy="432683"/>
                </a:xfrm>
                <a:prstGeom prst="rect">
                  <a:avLst/>
                </a:prstGeom>
                <a:blipFill>
                  <a:blip r:embed="rId30"/>
                  <a:stretch>
                    <a:fillRect l="-847" t="-2857" r="-1695" b="-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D25BE05-6C9E-8A94-BB50-70B94CFFF562}"/>
                    </a:ext>
                  </a:extLst>
                </p:cNvPr>
                <p:cNvSpPr txBox="1"/>
                <p:nvPr/>
              </p:nvSpPr>
              <p:spPr>
                <a:xfrm>
                  <a:off x="4373989" y="5806737"/>
                  <a:ext cx="1455077" cy="4830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i="1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D25BE05-6C9E-8A94-BB50-70B94CFFF5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3989" y="5806737"/>
                  <a:ext cx="1455077" cy="483017"/>
                </a:xfrm>
                <a:prstGeom prst="rect">
                  <a:avLst/>
                </a:prstGeom>
                <a:blipFill>
                  <a:blip r:embed="rId31"/>
                  <a:stretch>
                    <a:fillRect l="-1739" t="-2564" b="-5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AA23273-0EFA-4B7F-818D-A076ED1CD47F}"/>
                    </a:ext>
                  </a:extLst>
                </p:cNvPr>
                <p:cNvSpPr txBox="1"/>
                <p:nvPr/>
              </p:nvSpPr>
              <p:spPr>
                <a:xfrm>
                  <a:off x="5829066" y="5836221"/>
                  <a:ext cx="2013756" cy="3770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-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-1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AA23273-0EFA-4B7F-818D-A076ED1CD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9066" y="5836221"/>
                  <a:ext cx="2013756" cy="377091"/>
                </a:xfrm>
                <a:prstGeom prst="rect">
                  <a:avLst/>
                </a:prstGeom>
                <a:blipFill>
                  <a:blip r:embed="rId32"/>
                  <a:stretch>
                    <a:fillRect r="-1875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46FF4AF-5C5C-61EA-7CA0-7CFC7403180D}"/>
              </a:ext>
            </a:extLst>
          </p:cNvPr>
          <p:cNvGrpSpPr/>
          <p:nvPr/>
        </p:nvGrpSpPr>
        <p:grpSpPr>
          <a:xfrm>
            <a:off x="8300370" y="4195662"/>
            <a:ext cx="3289845" cy="2333922"/>
            <a:chOff x="8300370" y="4195662"/>
            <a:chExt cx="3289845" cy="2333922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20BF9DC9-97FE-F148-F6CA-B8FD6B14E31A}"/>
                </a:ext>
              </a:extLst>
            </p:cNvPr>
            <p:cNvSpPr/>
            <p:nvPr/>
          </p:nvSpPr>
          <p:spPr>
            <a:xfrm>
              <a:off x="8300370" y="4195662"/>
              <a:ext cx="3289845" cy="2333922"/>
            </a:xfrm>
            <a:prstGeom prst="roundRect">
              <a:avLst>
                <a:gd name="adj" fmla="val 489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6A5BFD0-5D7A-0253-5A3A-EA4D9BA023FB}"/>
                </a:ext>
              </a:extLst>
            </p:cNvPr>
            <p:cNvSpPr txBox="1"/>
            <p:nvPr/>
          </p:nvSpPr>
          <p:spPr>
            <a:xfrm>
              <a:off x="8469104" y="6108757"/>
              <a:ext cx="2985045" cy="2857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u="none" dirty="0">
                  <a:solidFill>
                    <a:srgbClr val="0F172A"/>
                  </a:solidFill>
                  <a:latin typeface="Inter"/>
                </a:rPr>
                <a:t>Boundary conditions reapplied after acceleration step.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17D84C0-7FDA-47EE-A60B-9E612023073F}"/>
                    </a:ext>
                  </a:extLst>
                </p:cNvPr>
                <p:cNvSpPr txBox="1"/>
                <p:nvPr/>
              </p:nvSpPr>
              <p:spPr>
                <a:xfrm>
                  <a:off x="9065437" y="5000050"/>
                  <a:ext cx="2079737" cy="3456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Δt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17D84C0-7FDA-47EE-A60B-9E612023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437" y="5000050"/>
                  <a:ext cx="2079737" cy="345672"/>
                </a:xfrm>
                <a:prstGeom prst="rect">
                  <a:avLst/>
                </a:prstGeom>
                <a:blipFill>
                  <a:blip r:embed="rId33"/>
                  <a:stretch>
                    <a:fillRect r="-1212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A027A11-0566-7152-05BC-D2CE7E076472}"/>
                    </a:ext>
                  </a:extLst>
                </p:cNvPr>
                <p:cNvSpPr txBox="1"/>
                <p:nvPr/>
              </p:nvSpPr>
              <p:spPr>
                <a:xfrm>
                  <a:off x="9065437" y="5510399"/>
                  <a:ext cx="1676293" cy="2352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A027A11-0566-7152-05BC-D2CE7E0764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437" y="5510399"/>
                  <a:ext cx="1676293" cy="235257"/>
                </a:xfrm>
                <a:prstGeom prst="rect">
                  <a:avLst/>
                </a:prstGeom>
                <a:blipFill>
                  <a:blip r:embed="rId34"/>
                  <a:stretch>
                    <a:fillRect r="-752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5AA6625-CD10-E96A-BC79-CD492BA27F54}"/>
                </a:ext>
              </a:extLst>
            </p:cNvPr>
            <p:cNvSpPr txBox="1"/>
            <p:nvPr/>
          </p:nvSpPr>
          <p:spPr>
            <a:xfrm>
              <a:off x="8593336" y="4460762"/>
              <a:ext cx="2468166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chemeClr val="accent1">
                      <a:lumMod val="75000"/>
                    </a:schemeClr>
                  </a:solidFill>
                  <a:latin typeface="Space Grotesk"/>
                </a:rPr>
                <a:t>3. Velocity Advance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9835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4530-27ED-D4C9-6523-44F14B05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239CA1-6E97-8A5F-D937-4203E2DC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 Thread - Simulation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3C842-CDF4-CFE4-C5B7-BECCFC8FFCA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D77E4B-FB08-6F39-824C-6E4A9602B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83" y="4173071"/>
            <a:ext cx="9694634" cy="19831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D24C0D-E233-B78D-A92A-04BD6A25CD6C}"/>
              </a:ext>
            </a:extLst>
          </p:cNvPr>
          <p:cNvSpPr txBox="1"/>
          <p:nvPr/>
        </p:nvSpPr>
        <p:spPr>
          <a:xfrm>
            <a:off x="820894" y="1407341"/>
            <a:ext cx="25683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u="none" dirty="0">
                <a:solidFill>
                  <a:schemeClr val="accent1">
                    <a:lumMod val="75000"/>
                  </a:schemeClr>
                </a:solidFill>
                <a:latin typeface="Space Grotesk"/>
              </a:rPr>
              <a:t>Numerical Stability</a:t>
            </a:r>
            <a:endParaRPr sz="1600" b="1" i="0" u="none" dirty="0">
              <a:solidFill>
                <a:schemeClr val="accent1">
                  <a:lumMod val="75000"/>
                </a:schemeClr>
              </a:solidFill>
              <a:latin typeface="Space Grotesk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E24A8B-DE01-CF2C-5E4F-617CA5B473FD}"/>
              </a:ext>
            </a:extLst>
          </p:cNvPr>
          <p:cNvSpPr txBox="1"/>
          <p:nvPr/>
        </p:nvSpPr>
        <p:spPr>
          <a:xfrm>
            <a:off x="703936" y="1763709"/>
            <a:ext cx="4165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An explicit scheme is stable only if, in a single step, the wave does not travel further than one segment (the CFL condition):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6BCE4-E43E-9262-5567-5E462D94DE10}"/>
                  </a:ext>
                </a:extLst>
              </p:cNvPr>
              <p:cNvSpPr txBox="1"/>
              <p:nvPr/>
            </p:nvSpPr>
            <p:spPr>
              <a:xfrm>
                <a:off x="498238" y="2573701"/>
                <a:ext cx="3213691" cy="60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sub>
                          </m:sSub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≤0.5.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6BCE4-E43E-9262-5567-5E462D94D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8" y="2573701"/>
                <a:ext cx="3213691" cy="600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5D65265-CDFE-AF85-058A-E03313442C54}"/>
              </a:ext>
            </a:extLst>
          </p:cNvPr>
          <p:cNvSpPr txBox="1"/>
          <p:nvPr/>
        </p:nvSpPr>
        <p:spPr>
          <a:xfrm>
            <a:off x="5954423" y="1738242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Google Sans Text"/>
              </a:rPr>
              <a:t>For a small perturbation, the stiffness of a segment is the local </a:t>
            </a:r>
            <a:r>
              <a:rPr lang="en-US" sz="1400" dirty="0">
                <a:latin typeface="Google Sans Text"/>
              </a:rPr>
              <a:t>slope. Therefore</a:t>
            </a:r>
            <a:r>
              <a:rPr lang="en-US" sz="1400" dirty="0">
                <a:effectLst/>
                <a:latin typeface="Google Sans Text"/>
              </a:rPr>
              <a:t>, the relevant speed is the tangent speed: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FDEDA8-CB33-0FF4-5571-48533310A440}"/>
                  </a:ext>
                </a:extLst>
              </p:cNvPr>
              <p:cNvSpPr txBox="1"/>
              <p:nvPr/>
            </p:nvSpPr>
            <p:spPr>
              <a:xfrm>
                <a:off x="6365105" y="2377972"/>
                <a:ext cx="3766584" cy="821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tan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rad>
                      <m:r>
                        <a:rPr lang="en-US" sz="16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FDEDA8-CB33-0FF4-5571-48533310A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105" y="2377972"/>
                <a:ext cx="3766584" cy="8212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5B0E677-3F18-1041-3AF3-97C37FC4837C}"/>
              </a:ext>
            </a:extLst>
          </p:cNvPr>
          <p:cNvSpPr txBox="1"/>
          <p:nvPr/>
        </p:nvSpPr>
        <p:spPr>
          <a:xfrm>
            <a:off x="3132175" y="3588296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Space Grotesk"/>
              </a:rPr>
              <a:t>Single-thread transverse impact - analytical values versus numerical values from the above algorithm with 800 segments.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2CA5A6-BCBA-6505-ADF1-643103C2C2D1}"/>
                  </a:ext>
                </a:extLst>
              </p:cNvPr>
              <p:cNvSpPr txBox="1"/>
              <p:nvPr/>
            </p:nvSpPr>
            <p:spPr>
              <a:xfrm>
                <a:off x="1121735" y="3208677"/>
                <a:ext cx="68236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1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2CA5A6-BCBA-6505-ADF1-643103C2C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35" y="3208677"/>
                <a:ext cx="682366" cy="215444"/>
              </a:xfrm>
              <a:prstGeom prst="rect">
                <a:avLst/>
              </a:prstGeom>
              <a:blipFill>
                <a:blip r:embed="rId6"/>
                <a:stretch>
                  <a:fillRect l="-5455" r="-3636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35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D6E3-6E97-A0BD-3AF3-77716701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D7F040-3B12-698B-3105-4FA17760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 Thread – Silk Simulation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A7D39-3B7B-AE62-02C4-8E0FA21F059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0C14D3-E13A-E8D8-FF5A-3E8EB6A9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94" y="1294662"/>
            <a:ext cx="5275106" cy="31194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27942B-C0A5-B60A-D0A8-7D40B7AE7E6A}"/>
                  </a:ext>
                </a:extLst>
              </p:cNvPr>
              <p:cNvSpPr txBox="1"/>
              <p:nvPr/>
            </p:nvSpPr>
            <p:spPr>
              <a:xfrm>
                <a:off x="1422548" y="4856433"/>
                <a:ext cx="4197174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Strain along the coordinate X measured from the impact point; dashed lines: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1600" dirty="0"/>
                  <a:t>, dotted lines: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1600" dirty="0"/>
              </a:p>
              <a:p>
                <a:pPr>
                  <a:buNone/>
                </a:pPr>
                <a:endParaRPr lang="en-US" dirty="0">
                  <a:effectLst/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27942B-C0A5-B60A-D0A8-7D40B7AE7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548" y="4856433"/>
                <a:ext cx="4197174" cy="1107996"/>
              </a:xfrm>
              <a:prstGeom prst="rect">
                <a:avLst/>
              </a:prstGeom>
              <a:blipFill>
                <a:blip r:embed="rId4"/>
                <a:stretch>
                  <a:fillRect l="-602"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5E14A44-5CD2-A9DD-125C-96766CD86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067" y="1294661"/>
            <a:ext cx="5189010" cy="3119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DE86D6-B207-9478-0F72-33977D51DD0C}"/>
              </a:ext>
            </a:extLst>
          </p:cNvPr>
          <p:cNvSpPr txBox="1"/>
          <p:nvPr/>
        </p:nvSpPr>
        <p:spPr>
          <a:xfrm>
            <a:off x="6832014" y="4856433"/>
            <a:ext cx="4968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effectLst/>
                <a:latin typeface="Helvetica" pitchFamily="2" charset="0"/>
              </a:rPr>
              <a:t>Thread shape: the straight inclined segment between the impact point and the kink.</a:t>
            </a:r>
          </a:p>
        </p:txBody>
      </p:sp>
    </p:spTree>
    <p:extLst>
      <p:ext uri="{BB962C8B-B14F-4D97-AF65-F5344CB8AC3E}">
        <p14:creationId xmlns:p14="http://schemas.microsoft.com/office/powerpoint/2010/main" val="4022106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877F-9EA0-ACD3-221D-82A1ABFE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F12EF2-2670-72AC-B144-8C8DED83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Single Thread – Dyneema Simulation</a:t>
            </a:r>
            <a:endParaRPr lang="ro-RO" sz="3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C544C-DEBF-5B13-7317-962FF785C5C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10588E-53B6-DF9F-67E7-DB3C8545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5" y="1398589"/>
            <a:ext cx="5048278" cy="30604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59441F-633D-5E8A-17E2-C33DEF3CC8F7}"/>
                  </a:ext>
                </a:extLst>
              </p:cNvPr>
              <p:cNvSpPr txBox="1"/>
              <p:nvPr/>
            </p:nvSpPr>
            <p:spPr>
              <a:xfrm>
                <a:off x="1294958" y="4829731"/>
                <a:ext cx="4197174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Strain along the coordinate X measured from the impact point; dashed lines: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1600" dirty="0"/>
                  <a:t>, dotted lines: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US" sz="1600" dirty="0"/>
              </a:p>
              <a:p>
                <a:pPr>
                  <a:buNone/>
                </a:pPr>
                <a:endParaRPr lang="en-US" dirty="0">
                  <a:effectLst/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59441F-633D-5E8A-17E2-C33DEF3CC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958" y="4829731"/>
                <a:ext cx="4197174" cy="1107996"/>
              </a:xfrm>
              <a:prstGeom prst="rect">
                <a:avLst/>
              </a:prstGeom>
              <a:blipFill>
                <a:blip r:embed="rId4"/>
                <a:stretch>
                  <a:fillRect l="-602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FACE2C0-152C-49E1-A342-E58D5EA39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532" y="1398589"/>
            <a:ext cx="4932387" cy="3060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7B546-87FE-BEBE-F721-A335D679EF20}"/>
              </a:ext>
            </a:extLst>
          </p:cNvPr>
          <p:cNvSpPr txBox="1"/>
          <p:nvPr/>
        </p:nvSpPr>
        <p:spPr>
          <a:xfrm>
            <a:off x="6396079" y="4834655"/>
            <a:ext cx="4968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effectLst/>
                <a:latin typeface="Helvetica" pitchFamily="2" charset="0"/>
              </a:rPr>
              <a:t>Thread shape: the straight inclined segment between the impact point and the kink.</a:t>
            </a:r>
          </a:p>
        </p:txBody>
      </p:sp>
    </p:spTree>
    <p:extLst>
      <p:ext uri="{BB962C8B-B14F-4D97-AF65-F5344CB8AC3E}">
        <p14:creationId xmlns:p14="http://schemas.microsoft.com/office/powerpoint/2010/main" val="549537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0A84-F847-D1B3-1A93-EE29F353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210A4C-4085-4997-4B23-B3764FA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Wave “ping-pong” effect</a:t>
            </a:r>
            <a:endParaRPr lang="ro-RO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228ECC-8027-D82E-D9E4-67B2671F5B1A}"/>
                  </a:ext>
                </a:extLst>
              </p:cNvPr>
              <p:cNvSpPr txBox="1"/>
              <p:nvPr/>
            </p:nvSpPr>
            <p:spPr>
              <a:xfrm>
                <a:off x="889809" y="1366678"/>
                <a:ext cx="97571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  <a:latin typeface="Space Grotesk"/>
                  </a:rPr>
                  <a:t>Finite Boundaries &amp; Multiple Reflections: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Initial impact wave reaches frame anchors within microseconds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μs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Reflected tension waves bounce between projectile and anchors dozens of times during arrest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228ECC-8027-D82E-D9E4-67B2671F5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09" y="1366678"/>
                <a:ext cx="9757169" cy="830997"/>
              </a:xfrm>
              <a:prstGeom prst="rect">
                <a:avLst/>
              </a:prstGeom>
              <a:blipFill>
                <a:blip r:embed="rId2"/>
                <a:stretch>
                  <a:fillRect l="-390" t="-1493"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B4AFCED-E099-5777-910B-F63564CF94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BDFB9E-A44C-2BA8-7238-C96171CF6CD5}"/>
              </a:ext>
            </a:extLst>
          </p:cNvPr>
          <p:cNvSpPr txBox="1"/>
          <p:nvPr/>
        </p:nvSpPr>
        <p:spPr>
          <a:xfrm>
            <a:off x="820894" y="4774317"/>
            <a:ext cx="801960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Space Grotesk"/>
              </a:rPr>
              <a:t>Physical Takeaway: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projectile does not experience isolated traveling wave fronts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net behaves collectively as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quasi-static nonlinear spring assembly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A57AE-085E-17E8-CCD7-450ED309B0F6}"/>
              </a:ext>
            </a:extLst>
          </p:cNvPr>
          <p:cNvSpPr txBox="1"/>
          <p:nvPr/>
        </p:nvSpPr>
        <p:spPr>
          <a:xfrm>
            <a:off x="855351" y="3670771"/>
            <a:ext cx="7579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Space Grotesk"/>
              </a:rPr>
              <a:t>Tension Homogenization: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Every time the wave bounces back and forth, the tension increases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Spatial stress gradients smooth out within milliseconds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89AA3C-CD35-8688-F53C-957A11AC4F78}"/>
                  </a:ext>
                </a:extLst>
              </p:cNvPr>
              <p:cNvSpPr txBox="1"/>
              <p:nvPr/>
            </p:nvSpPr>
            <p:spPr>
              <a:xfrm>
                <a:off x="889809" y="2567226"/>
                <a:ext cx="8838982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75000"/>
                      </a:schemeClr>
                    </a:solidFill>
                    <a:latin typeface="Space Grotesk"/>
                  </a:rPr>
                  <a:t>Velocity Scale Disparity: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Transverse wave speed: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b="0" i="1" baseline="-2500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≈800-1800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Drone impact velocity: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1600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=10-20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cT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≫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1600" b="0" i="1" baseline="-25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ratio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40-180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89AA3C-CD35-8688-F53C-957A11AC4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09" y="2567226"/>
                <a:ext cx="8838982" cy="861774"/>
              </a:xfrm>
              <a:prstGeom prst="rect">
                <a:avLst/>
              </a:prstGeom>
              <a:blipFill>
                <a:blip r:embed="rId4"/>
                <a:stretch>
                  <a:fillRect l="-430" t="-289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840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4AAA-72DA-9834-63D3-07902F74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38C27-4195-22CC-B3F3-AEAD9B2A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From Wave PDE to Pure Geometry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1A31C-9E6C-45D4-CE59-C7396F00AB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09475D-CFA7-CA95-A43A-932310DC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474" y="1327318"/>
            <a:ext cx="7772400" cy="241709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477AF97-621D-9A18-D47C-16AB2E54F708}"/>
              </a:ext>
            </a:extLst>
          </p:cNvPr>
          <p:cNvGrpSpPr/>
          <p:nvPr/>
        </p:nvGrpSpPr>
        <p:grpSpPr>
          <a:xfrm>
            <a:off x="267396" y="3965043"/>
            <a:ext cx="5736362" cy="2501662"/>
            <a:chOff x="267396" y="3965043"/>
            <a:chExt cx="5736362" cy="250166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6308120-114A-465C-C069-9C8095E012E9}"/>
                </a:ext>
              </a:extLst>
            </p:cNvPr>
            <p:cNvSpPr/>
            <p:nvPr/>
          </p:nvSpPr>
          <p:spPr>
            <a:xfrm>
              <a:off x="267396" y="3965043"/>
              <a:ext cx="5736362" cy="250166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DCD74A-AF95-070C-5F31-DBB8993CFF9E}"/>
                    </a:ext>
                  </a:extLst>
                </p:cNvPr>
                <p:cNvSpPr txBox="1"/>
                <p:nvPr/>
              </p:nvSpPr>
              <p:spPr>
                <a:xfrm>
                  <a:off x="342901" y="4043826"/>
                  <a:ext cx="5384131" cy="23296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US" b="1" dirty="0">
                      <a:effectLst/>
                      <a:latin typeface="Google Sans Text"/>
                    </a:rPr>
                    <a:t>Kinematic Strain Relation</a:t>
                  </a:r>
                  <a:endParaRPr lang="en-US" dirty="0">
                    <a:effectLst/>
                    <a:latin typeface="Google Sans Text"/>
                  </a:endParaRPr>
                </a:p>
                <a:p>
                  <a:r>
                    <a:rPr lang="en-US" sz="1600" dirty="0">
                      <a:effectLst/>
                      <a:latin typeface="Google Sans Text"/>
                    </a:rPr>
                    <a:t>Out-of-plane hub displacement </a:t>
                  </a:r>
                  <a:r>
                    <a:rPr lang="en-US" sz="1600" i="1" dirty="0">
                      <a:latin typeface="Google Sans Text"/>
                    </a:rPr>
                    <a:t>w</a:t>
                  </a:r>
                  <a:r>
                    <a:rPr lang="en-US" sz="1600" dirty="0">
                      <a:effectLst/>
                      <a:latin typeface="Google Sans Text"/>
                    </a:rPr>
                    <a:t> defines deformed </a:t>
                  </a:r>
                  <a:r>
                    <a:rPr lang="en-US" sz="1600" dirty="0">
                      <a:latin typeface="Google Sans Text"/>
                    </a:rPr>
                    <a:t>length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a14:m>
                  <a:endParaRPr lang="en-US" dirty="0">
                    <a:effectLst/>
                    <a:latin typeface="Google Sans Text"/>
                  </a:endParaRPr>
                </a:p>
                <a:p>
                  <a:r>
                    <a:rPr lang="en-US" sz="1600" dirty="0">
                      <a:effectLst/>
                      <a:latin typeface="Google Sans Text"/>
                    </a:rPr>
                    <a:t>Exact closed-form strain with </a:t>
                  </a:r>
                  <a:r>
                    <a:rPr lang="en-US" sz="1600" dirty="0" err="1">
                      <a:effectLst/>
                      <a:latin typeface="Google Sans Text"/>
                    </a:rPr>
                    <a:t>prestrain</a:t>
                  </a:r>
                  <a:r>
                    <a:rPr lang="en-US" sz="1600" dirty="0">
                      <a:effectLst/>
                      <a:latin typeface="Google Sans Tex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b="0" i="1" baseline="-25000" smtClean="0">
                          <a:effectLst/>
                          <a:latin typeface="Cambria Math" panose="02040503050406030204" pitchFamily="18" charset="0"/>
                        </a:rPr>
                        <m:t>p</m:t>
                      </m:r>
                    </m:oMath>
                  </a14:m>
                  <a:r>
                    <a:rPr lang="en-US" dirty="0">
                      <a:effectLst/>
                      <a:latin typeface="Google Sans Text"/>
                    </a:rPr>
                    <a:t>:</a:t>
                  </a:r>
                </a:p>
                <a:p>
                  <a:endParaRPr lang="en-US" dirty="0">
                    <a:effectLst/>
                    <a:latin typeface="Google Sans Text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ad>
                          <m:radPr>
                            <m:degHide m:val="on"/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num>
                                      <m:den>
                                        <m:r>
                                          <a:rPr lang="en-US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dirty="0">
                    <a:effectLst/>
                    <a:latin typeface="Google Sans Text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DCD74A-AF95-070C-5F31-DBB8993CFF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1" y="4043826"/>
                  <a:ext cx="5384131" cy="2329612"/>
                </a:xfrm>
                <a:prstGeom prst="rect">
                  <a:avLst/>
                </a:prstGeom>
                <a:blipFill>
                  <a:blip r:embed="rId4"/>
                  <a:stretch>
                    <a:fillRect l="-471" t="-10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E05E98-7240-0374-C8A3-8389D4877C92}"/>
              </a:ext>
            </a:extLst>
          </p:cNvPr>
          <p:cNvGrpSpPr/>
          <p:nvPr/>
        </p:nvGrpSpPr>
        <p:grpSpPr>
          <a:xfrm>
            <a:off x="6456810" y="3965043"/>
            <a:ext cx="5392289" cy="2074810"/>
            <a:chOff x="6456810" y="3965043"/>
            <a:chExt cx="5392289" cy="207481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75A52A6-ED64-5E8A-0CCD-FE8087BE69DD}"/>
                </a:ext>
              </a:extLst>
            </p:cNvPr>
            <p:cNvSpPr/>
            <p:nvPr/>
          </p:nvSpPr>
          <p:spPr>
            <a:xfrm>
              <a:off x="6456810" y="3965043"/>
              <a:ext cx="5392289" cy="207481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E7A9F3-D80E-2A94-E02B-66B6BE75EA57}"/>
                    </a:ext>
                  </a:extLst>
                </p:cNvPr>
                <p:cNvSpPr txBox="1"/>
                <p:nvPr/>
              </p:nvSpPr>
              <p:spPr>
                <a:xfrm>
                  <a:off x="6593304" y="4043826"/>
                  <a:ext cx="5077327" cy="17988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None/>
                  </a:pPr>
                  <a:r>
                    <a:rPr lang="en-US" b="1" dirty="0">
                      <a:effectLst/>
                      <a:latin typeface="Google Sans Text"/>
                    </a:rPr>
                    <a:t>Global Energy Balance</a:t>
                  </a:r>
                  <a:endParaRPr lang="en-US" dirty="0">
                    <a:effectLst/>
                    <a:latin typeface="Google Sans Text"/>
                  </a:endParaRPr>
                </a:p>
                <a:p>
                  <a:endParaRPr lang="en-US" dirty="0">
                    <a:effectLst/>
                    <a:latin typeface="Google Sans Text"/>
                  </a:endParaRPr>
                </a:p>
                <a:p>
                  <a:r>
                    <a:rPr lang="en-US" sz="1600" dirty="0">
                      <a:effectLst/>
                      <a:latin typeface="Google Sans Text"/>
                    </a:rPr>
                    <a:t>Total strain energy absorbed up to deflection </a:t>
                  </a:r>
                  <a:r>
                    <a:rPr lang="en-US" sz="1600" i="1" dirty="0">
                      <a:latin typeface="Google Sans Text"/>
                    </a:rPr>
                    <a:t>w</a:t>
                  </a:r>
                  <a:r>
                    <a:rPr lang="en-US" sz="1600" dirty="0">
                      <a:effectLst/>
                      <a:latin typeface="Google Sans Text"/>
                    </a:rPr>
                    <a:t>: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endParaRPr lang="en-US" dirty="0">
                    <a:latin typeface="Google Sans Text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  <m:e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effectLst/>
                                <a:latin typeface="Cambria Math" panose="02040503050406030204" pitchFamily="18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effectLst/>
                                <a:latin typeface="Cambria Math" panose="02040503050406030204" pitchFamily="18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dirty="0">
                    <a:effectLst/>
                    <a:latin typeface="Google Sans Text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AE7A9F3-D80E-2A94-E02B-66B6BE75E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3304" y="4043826"/>
                  <a:ext cx="5077327" cy="1798826"/>
                </a:xfrm>
                <a:prstGeom prst="rect">
                  <a:avLst/>
                </a:prstGeom>
                <a:blipFill>
                  <a:blip r:embed="rId5"/>
                  <a:stretch>
                    <a:fillRect l="-1000" t="-2817" b="-901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D313F-DDE0-9A6D-D8FA-3992346A7B14}"/>
              </a:ext>
            </a:extLst>
          </p:cNvPr>
          <p:cNvSpPr/>
          <p:nvPr/>
        </p:nvSpPr>
        <p:spPr>
          <a:xfrm>
            <a:off x="5018567" y="1424763"/>
            <a:ext cx="2466754" cy="2319649"/>
          </a:xfrm>
          <a:prstGeom prst="rect">
            <a:avLst/>
          </a:prstGeom>
          <a:solidFill>
            <a:schemeClr val="bg1">
              <a:lumMod val="75000"/>
              <a:alpha val="12702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7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8C52-D3BE-1E45-553D-72D70874D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91E865-5ECC-EBCA-6EE7-6BC9DAA1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894" y="391295"/>
            <a:ext cx="7791478" cy="6366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Minimum Net Mass &amp; Material Utilization</a:t>
            </a:r>
            <a:endParaRPr lang="ro-RO" sz="32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E57AF7-5F52-3B26-91DD-10CB4E43DFF6}"/>
                  </a:ext>
                </a:extLst>
              </p:cNvPr>
              <p:cNvSpPr txBox="1"/>
              <p:nvPr/>
            </p:nvSpPr>
            <p:spPr>
              <a:xfrm>
                <a:off x="4716633" y="2169688"/>
                <a:ext cx="1752275" cy="576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𝐦𝐢𝐧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𝐤𝐢𝐧</m:t>
                              </m:r>
                            </m:sub>
                          </m:sSub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𝐦𝐚𝐭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E57AF7-5F52-3B26-91DD-10CB4E43D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633" y="2169688"/>
                <a:ext cx="1752275" cy="576568"/>
              </a:xfrm>
              <a:prstGeom prst="rect">
                <a:avLst/>
              </a:prstGeom>
              <a:blipFill>
                <a:blip r:embed="rId2"/>
                <a:stretch>
                  <a:fillRect l="-1439" r="-1439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F5C149-8642-D144-565D-9C57ECA5A9B3}"/>
                  </a:ext>
                </a:extLst>
              </p:cNvPr>
              <p:cNvSpPr txBox="1"/>
              <p:nvPr/>
            </p:nvSpPr>
            <p:spPr>
              <a:xfrm>
                <a:off x="1137684" y="1414130"/>
                <a:ext cx="88356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Equating drone kinetic energy to strain energy at failure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Eki</m:t>
                    </m:r>
                    <m:r>
                      <m:rPr>
                        <m:sty m:val="p"/>
                      </m:rPr>
                      <a:rPr lang="en-US" b="0" i="1" baseline="-2500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)):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F5C149-8642-D144-565D-9C57ECA5A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684" y="1414130"/>
                <a:ext cx="8835656" cy="369332"/>
              </a:xfrm>
              <a:prstGeom prst="rect">
                <a:avLst/>
              </a:prstGeom>
              <a:blipFill>
                <a:blip r:embed="rId3"/>
                <a:stretch>
                  <a:fillRect l="-574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3FDD041-A594-A82C-CF9F-B40A8A207DC3}"/>
              </a:ext>
            </a:extLst>
          </p:cNvPr>
          <p:cNvGrpSpPr/>
          <p:nvPr/>
        </p:nvGrpSpPr>
        <p:grpSpPr>
          <a:xfrm>
            <a:off x="584790" y="3317359"/>
            <a:ext cx="5656521" cy="1956391"/>
            <a:chOff x="903767" y="3030279"/>
            <a:chExt cx="5656521" cy="1956391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CDE67222-0DAE-A3B8-B3F1-78B53A6EC48B}"/>
                </a:ext>
              </a:extLst>
            </p:cNvPr>
            <p:cNvSpPr/>
            <p:nvPr/>
          </p:nvSpPr>
          <p:spPr>
            <a:xfrm>
              <a:off x="903767" y="3030279"/>
              <a:ext cx="5656521" cy="195639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D6942AB-53A4-9C9F-5307-ED218EFF8CC6}"/>
                    </a:ext>
                  </a:extLst>
                </p:cNvPr>
                <p:cNvSpPr txBox="1"/>
                <p:nvPr/>
              </p:nvSpPr>
              <p:spPr>
                <a:xfrm>
                  <a:off x="1008528" y="3234865"/>
                  <a:ext cx="5460380" cy="154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∈(0, 1] </m:t>
                      </m:r>
                    </m:oMath>
                  </a14:m>
                  <a:r>
                    <a:rPr lang="en-US" dirty="0"/>
                    <a:t>- </a:t>
                  </a:r>
                  <a:r>
                    <a:rPr lang="en-US" sz="1600" dirty="0"/>
                    <a:t>Material utilization factor (structural efficiency)</a:t>
                  </a:r>
                </a:p>
                <a:p>
                  <a:endParaRPr lang="en-US" dirty="0"/>
                </a:p>
                <a:p>
                  <a:r>
                    <a:rPr lang="en-US" sz="1600" dirty="0"/>
                    <a:t>For centered impact: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D6942AB-53A4-9C9F-5307-ED218EFF8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28" y="3234865"/>
                  <a:ext cx="5460380" cy="1547218"/>
                </a:xfrm>
                <a:prstGeom prst="rect">
                  <a:avLst/>
                </a:prstGeom>
                <a:blipFill>
                  <a:blip r:embed="rId4"/>
                  <a:stretch>
                    <a:fillRect l="-696" t="-16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8F2F39-512D-7DE7-DA68-DB4AFE9A7441}"/>
              </a:ext>
            </a:extLst>
          </p:cNvPr>
          <p:cNvGrpSpPr/>
          <p:nvPr/>
        </p:nvGrpSpPr>
        <p:grpSpPr>
          <a:xfrm>
            <a:off x="6996223" y="3184997"/>
            <a:ext cx="4176617" cy="1616150"/>
            <a:chOff x="7006855" y="3030279"/>
            <a:chExt cx="4176617" cy="161615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55B723D-C8C5-B3BC-60D5-70C931B16998}"/>
                </a:ext>
              </a:extLst>
            </p:cNvPr>
            <p:cNvSpPr/>
            <p:nvPr/>
          </p:nvSpPr>
          <p:spPr>
            <a:xfrm>
              <a:off x="7006855" y="3030279"/>
              <a:ext cx="4176617" cy="16161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399286-E81E-58A8-E86A-1FC77BE2394C}"/>
                    </a:ext>
                  </a:extLst>
                </p:cNvPr>
                <p:cNvSpPr txBox="1"/>
                <p:nvPr/>
              </p:nvSpPr>
              <p:spPr>
                <a:xfrm>
                  <a:off x="7176977" y="3234865"/>
                  <a:ext cx="3678866" cy="11691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𝐦𝐚𝐭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 smtClean="0">
                                <a:latin typeface="Cambria Math" panose="02040503050406030204" pitchFamily="18" charset="0"/>
                              </a:rPr>
                              <m:t>𝚽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:pPr algn="ctr"/>
                  <a:r>
                    <a:rPr lang="en-US" sz="1600" dirty="0"/>
                    <a:t>Specific energy to failure </a:t>
                  </a:r>
                  <a:r>
                    <a:rPr lang="en-US" sz="1600" i="1" dirty="0"/>
                    <a:t>(J/kg)</a:t>
                  </a:r>
                  <a:r>
                    <a:rPr lang="en-US" sz="1600" dirty="0"/>
                    <a:t>, intrinsic material toughness</a:t>
                  </a: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399286-E81E-58A8-E86A-1FC77BE239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6977" y="3234865"/>
                  <a:ext cx="3678866" cy="1169166"/>
                </a:xfrm>
                <a:prstGeom prst="rect">
                  <a:avLst/>
                </a:prstGeom>
                <a:blipFill>
                  <a:blip r:embed="rId5"/>
                  <a:stretch>
                    <a:fillRect b="-53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580D90-B105-558E-EF7A-5F4A16F9B4D4}"/>
              </a:ext>
            </a:extLst>
          </p:cNvPr>
          <p:cNvCxnSpPr>
            <a:stCxn id="6" idx="2"/>
          </p:cNvCxnSpPr>
          <p:nvPr/>
        </p:nvCxnSpPr>
        <p:spPr>
          <a:xfrm flipH="1">
            <a:off x="4880344" y="2746256"/>
            <a:ext cx="712427" cy="571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F46AE2-E61F-AEB9-9470-97075D8FD00D}"/>
              </a:ext>
            </a:extLst>
          </p:cNvPr>
          <p:cNvCxnSpPr>
            <a:cxnSpLocks/>
          </p:cNvCxnSpPr>
          <p:nvPr/>
        </p:nvCxnSpPr>
        <p:spPr>
          <a:xfrm>
            <a:off x="6549656" y="2746256"/>
            <a:ext cx="616689" cy="438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" name="Rectangle: Rounded Corners 131">
            <a:extLst>
              <a:ext uri="{FF2B5EF4-FFF2-40B4-BE49-F238E27FC236}">
                <a16:creationId xmlns:a16="http://schemas.microsoft.com/office/drawing/2014/main" id="{BC6B82B6-2189-AEAF-67DD-CAFB55D27148}"/>
              </a:ext>
            </a:extLst>
          </p:cNvPr>
          <p:cNvSpPr/>
          <p:nvPr/>
        </p:nvSpPr>
        <p:spPr>
          <a:xfrm>
            <a:off x="4197527" y="5688856"/>
            <a:ext cx="6294009" cy="8621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A56CDF-A259-7B79-A122-53143B255A0E}"/>
                  </a:ext>
                </a:extLst>
              </p:cNvPr>
              <p:cNvSpPr txBox="1"/>
              <p:nvPr/>
            </p:nvSpPr>
            <p:spPr>
              <a:xfrm>
                <a:off x="4742522" y="5844853"/>
                <a:ext cx="52496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i="1" dirty="0">
                    <a:solidFill>
                      <a:schemeClr val="accent6">
                        <a:lumMod val="50000"/>
                      </a:schemeClr>
                    </a:solidFill>
                  </a:rPr>
                  <a:t>Hub impact remarkable independence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1" noProof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400" b="0" i="1" baseline="-25000" noProof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400" b="0" i="1" noProof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i="1" noProof="0" dirty="0">
                    <a:solidFill>
                      <a:schemeClr val="accent6">
                        <a:lumMod val="50000"/>
                      </a:schemeClr>
                    </a:solidFill>
                  </a:rPr>
                  <a:t>is completely independent of radial count N and radius R.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A56CDF-A259-7B79-A122-53143B255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522" y="5844853"/>
                <a:ext cx="5249692" cy="523220"/>
              </a:xfrm>
              <a:prstGeom prst="rect">
                <a:avLst/>
              </a:prstGeom>
              <a:blipFill>
                <a:blip r:embed="rId6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Graphic 25" descr="Exclamation mark with solid fill">
            <a:extLst>
              <a:ext uri="{FF2B5EF4-FFF2-40B4-BE49-F238E27FC236}">
                <a16:creationId xmlns:a16="http://schemas.microsoft.com/office/drawing/2014/main" id="{7200D3A7-DBF5-A973-B5F1-AB43147EA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0419" y="5857893"/>
            <a:ext cx="432103" cy="43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2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81FA-7E01-6393-2AA8-9BCEC078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2454F-AFA2-0D99-0DE5-B79E143D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894" y="391295"/>
            <a:ext cx="7791478" cy="6366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Minimum Net Mass &amp; Material Utilization</a:t>
            </a:r>
            <a:endParaRPr lang="ro-RO" sz="32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386A88-5E1E-CD8B-9183-28BFF144C4FF}"/>
              </a:ext>
            </a:extLst>
          </p:cNvPr>
          <p:cNvGrpSpPr/>
          <p:nvPr/>
        </p:nvGrpSpPr>
        <p:grpSpPr>
          <a:xfrm>
            <a:off x="820894" y="1318438"/>
            <a:ext cx="5656521" cy="1956391"/>
            <a:chOff x="903767" y="3030279"/>
            <a:chExt cx="5656521" cy="1956391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4C2F35-0819-D40D-0150-BEF1236F6279}"/>
                </a:ext>
              </a:extLst>
            </p:cNvPr>
            <p:cNvSpPr/>
            <p:nvPr/>
          </p:nvSpPr>
          <p:spPr>
            <a:xfrm>
              <a:off x="903767" y="3030279"/>
              <a:ext cx="5656521" cy="195639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1F64B1-A14C-042C-734E-3BAFA8D59F98}"/>
                    </a:ext>
                  </a:extLst>
                </p:cNvPr>
                <p:cNvSpPr txBox="1"/>
                <p:nvPr/>
              </p:nvSpPr>
              <p:spPr>
                <a:xfrm>
                  <a:off x="1008528" y="3234865"/>
                  <a:ext cx="5460380" cy="154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∈(0, 1] </m:t>
                      </m:r>
                    </m:oMath>
                  </a14:m>
                  <a:r>
                    <a:rPr lang="en-US" dirty="0"/>
                    <a:t>- </a:t>
                  </a:r>
                  <a:r>
                    <a:rPr lang="en-US" sz="1600" dirty="0"/>
                    <a:t>Material utilization factor (structural efficiency)</a:t>
                  </a:r>
                </a:p>
                <a:p>
                  <a:endParaRPr lang="en-US" dirty="0"/>
                </a:p>
                <a:p>
                  <a:r>
                    <a:rPr lang="en-US" sz="1600" dirty="0"/>
                    <a:t>For centered impact: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71F64B1-A14C-042C-734E-3BAFA8D59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28" y="3234865"/>
                  <a:ext cx="5460380" cy="1547218"/>
                </a:xfrm>
                <a:prstGeom prst="rect">
                  <a:avLst/>
                </a:prstGeom>
                <a:blipFill>
                  <a:blip r:embed="rId2"/>
                  <a:stretch>
                    <a:fillRect l="-463" t="-2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59FE2EC-A933-E13B-02F0-72A472786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55" y="3839905"/>
            <a:ext cx="10743119" cy="21906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8CBE43-FC10-1E5E-CB38-4184906B2A77}"/>
              </a:ext>
            </a:extLst>
          </p:cNvPr>
          <p:cNvSpPr/>
          <p:nvPr/>
        </p:nvSpPr>
        <p:spPr>
          <a:xfrm>
            <a:off x="2573079" y="4537695"/>
            <a:ext cx="2466754" cy="236324"/>
          </a:xfrm>
          <a:prstGeom prst="rect">
            <a:avLst/>
          </a:prstGeom>
          <a:solidFill>
            <a:schemeClr val="bg1">
              <a:lumMod val="75000"/>
              <a:alpha val="12702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46A35-607E-DB2B-B56D-A3DAA506C373}"/>
              </a:ext>
            </a:extLst>
          </p:cNvPr>
          <p:cNvSpPr/>
          <p:nvPr/>
        </p:nvSpPr>
        <p:spPr>
          <a:xfrm>
            <a:off x="2573079" y="5326206"/>
            <a:ext cx="2466754" cy="236324"/>
          </a:xfrm>
          <a:prstGeom prst="rect">
            <a:avLst/>
          </a:prstGeom>
          <a:solidFill>
            <a:schemeClr val="bg1">
              <a:lumMod val="75000"/>
              <a:alpha val="12702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7707A-5B21-B50D-2E19-26450B778570}"/>
                  </a:ext>
                </a:extLst>
              </p:cNvPr>
              <p:cNvSpPr txBox="1"/>
              <p:nvPr/>
            </p:nvSpPr>
            <p:spPr>
              <a:xfrm>
                <a:off x="7181376" y="2087623"/>
                <a:ext cx="4487398" cy="692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7707A-5B21-B50D-2E19-26450B778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376" y="2087623"/>
                <a:ext cx="4487398" cy="692562"/>
              </a:xfrm>
              <a:prstGeom prst="rect">
                <a:avLst/>
              </a:prstGeom>
              <a:blipFill>
                <a:blip r:embed="rId4"/>
                <a:stretch>
                  <a:fillRect t="-160000" b="-2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98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C0A6-1CCB-CE18-ACF9-3F611F1E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D12C75-291A-055A-1B61-6BFE62A1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Off-Centre Impact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52C5E-CBC0-EC2D-F702-FE17998311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8FD5FF-2935-9EE6-3C51-2A2E2ACB9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474" y="1327318"/>
            <a:ext cx="7772400" cy="24170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64989F-B8B1-C094-6E22-C8A56880BD7C}"/>
                  </a:ext>
                </a:extLst>
              </p:cNvPr>
              <p:cNvSpPr txBox="1"/>
              <p:nvPr/>
            </p:nvSpPr>
            <p:spPr>
              <a:xfrm>
                <a:off x="820894" y="4674065"/>
                <a:ext cx="3267048" cy="727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64989F-B8B1-C094-6E22-C8A56880B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4" y="4674065"/>
                <a:ext cx="3267048" cy="727507"/>
              </a:xfrm>
              <a:prstGeom prst="rect">
                <a:avLst/>
              </a:prstGeom>
              <a:blipFill>
                <a:blip r:embed="rId4"/>
                <a:stretch>
                  <a:fillRect l="-386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C0351-B8FE-03D7-ECAE-8DACBD7AD296}"/>
                  </a:ext>
                </a:extLst>
              </p:cNvPr>
              <p:cNvSpPr txBox="1"/>
              <p:nvPr/>
            </p:nvSpPr>
            <p:spPr>
              <a:xfrm>
                <a:off x="1037524" y="5590987"/>
                <a:ext cx="2651367" cy="727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C0351-B8FE-03D7-ECAE-8DACBD7AD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24" y="5590987"/>
                <a:ext cx="2651367" cy="727507"/>
              </a:xfrm>
              <a:prstGeom prst="rect">
                <a:avLst/>
              </a:prstGeom>
              <a:blipFill>
                <a:blip r:embed="rId5"/>
                <a:stretch>
                  <a:fillRect r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993EEBED-46BA-01D7-82F3-3E98F46F1C88}"/>
              </a:ext>
            </a:extLst>
          </p:cNvPr>
          <p:cNvSpPr/>
          <p:nvPr/>
        </p:nvSpPr>
        <p:spPr>
          <a:xfrm>
            <a:off x="7506586" y="1486150"/>
            <a:ext cx="2466754" cy="2319649"/>
          </a:xfrm>
          <a:prstGeom prst="rect">
            <a:avLst/>
          </a:prstGeom>
          <a:solidFill>
            <a:schemeClr val="bg1">
              <a:lumMod val="75000"/>
              <a:alpha val="12702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442BEC-F627-5B52-DD4E-940D2ACCF977}"/>
              </a:ext>
            </a:extLst>
          </p:cNvPr>
          <p:cNvSpPr txBox="1"/>
          <p:nvPr/>
        </p:nvSpPr>
        <p:spPr>
          <a:xfrm>
            <a:off x="820894" y="4321448"/>
            <a:ext cx="3604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Strain on the outer segment: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C06FBE9-D039-D544-8553-19FD01FCB5E9}"/>
              </a:ext>
            </a:extLst>
          </p:cNvPr>
          <p:cNvGrpSpPr/>
          <p:nvPr/>
        </p:nvGrpSpPr>
        <p:grpSpPr>
          <a:xfrm>
            <a:off x="5869763" y="4182050"/>
            <a:ext cx="4165600" cy="1956344"/>
            <a:chOff x="5869763" y="4182050"/>
            <a:chExt cx="4165600" cy="195634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107FC03-98DB-F3CF-BEC4-64F99CF7F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69763" y="4182050"/>
              <a:ext cx="4165600" cy="195634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8EE26F-339E-FC73-E355-D101678890DD}"/>
                </a:ext>
              </a:extLst>
            </p:cNvPr>
            <p:cNvSpPr/>
            <p:nvPr/>
          </p:nvSpPr>
          <p:spPr>
            <a:xfrm>
              <a:off x="7315200" y="4497572"/>
              <a:ext cx="445747" cy="1640822"/>
            </a:xfrm>
            <a:prstGeom prst="rect">
              <a:avLst/>
            </a:prstGeom>
            <a:solidFill>
              <a:schemeClr val="bg1">
                <a:lumMod val="75000"/>
                <a:alpha val="12702"/>
              </a:schemeClr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3524585-B306-704B-C365-E80A9F1C7846}"/>
                </a:ext>
              </a:extLst>
            </p:cNvPr>
            <p:cNvSpPr/>
            <p:nvPr/>
          </p:nvSpPr>
          <p:spPr>
            <a:xfrm>
              <a:off x="9097021" y="4497572"/>
              <a:ext cx="445747" cy="1640822"/>
            </a:xfrm>
            <a:prstGeom prst="rect">
              <a:avLst/>
            </a:prstGeom>
            <a:solidFill>
              <a:schemeClr val="bg1">
                <a:lumMod val="75000"/>
                <a:alpha val="12702"/>
              </a:schemeClr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434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CEC1-8709-ECAB-8CBA-3F1E4FF1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B12592-ABFA-FA8F-62AA-EC12F9CF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Off-Centre Impact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5A1C0-6C3F-0F95-F671-2A2DA18712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C3EAA3-F22F-2113-5BD6-E4F7292F4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67" y="1266279"/>
            <a:ext cx="6502400" cy="3213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732A38-A803-58F9-4F71-4BD274CA4CD8}"/>
                  </a:ext>
                </a:extLst>
              </p:cNvPr>
              <p:cNvSpPr txBox="1"/>
              <p:nvPr/>
            </p:nvSpPr>
            <p:spPr>
              <a:xfrm>
                <a:off x="1691463" y="5453860"/>
                <a:ext cx="4404537" cy="869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732A38-A803-58F9-4F71-4BD274CA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463" y="5453860"/>
                <a:ext cx="4404537" cy="869469"/>
              </a:xfrm>
              <a:prstGeom prst="rect">
                <a:avLst/>
              </a:prstGeom>
              <a:blipFill>
                <a:blip r:embed="rId4"/>
                <a:stretch>
                  <a:fillRect t="-95652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829E2D-34C2-FE23-CCE6-8195095D1B4C}"/>
                  </a:ext>
                </a:extLst>
              </p:cNvPr>
              <p:cNvSpPr txBox="1"/>
              <p:nvPr/>
            </p:nvSpPr>
            <p:spPr>
              <a:xfrm>
                <a:off x="820894" y="4479379"/>
                <a:ext cx="38241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After impact, the central node (hub) is at the coordinates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829E2D-34C2-FE23-CCE6-8195095D1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4" y="4479379"/>
                <a:ext cx="3824105" cy="646331"/>
              </a:xfrm>
              <a:prstGeom prst="rect">
                <a:avLst/>
              </a:prstGeom>
              <a:blipFill>
                <a:blip r:embed="rId5"/>
                <a:stretch>
                  <a:fillRect l="-1325" t="-3846" r="-165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D89A189-45A0-24E1-B785-EC48F70C0D10}"/>
              </a:ext>
            </a:extLst>
          </p:cNvPr>
          <p:cNvGrpSpPr/>
          <p:nvPr/>
        </p:nvGrpSpPr>
        <p:grpSpPr>
          <a:xfrm>
            <a:off x="7025380" y="4658414"/>
            <a:ext cx="4902032" cy="1435747"/>
            <a:chOff x="6961668" y="4155974"/>
            <a:chExt cx="4440648" cy="143574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A3A00E9-525E-1775-E27B-6FAE9A152F5E}"/>
                    </a:ext>
                  </a:extLst>
                </p:cNvPr>
                <p:cNvSpPr txBox="1"/>
                <p:nvPr/>
              </p:nvSpPr>
              <p:spPr>
                <a:xfrm>
                  <a:off x="6961668" y="4532278"/>
                  <a:ext cx="4021765" cy="5934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func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A3A00E9-525E-1775-E27B-6FAE9A152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1668" y="4532278"/>
                  <a:ext cx="4021765" cy="5934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CA7C90-B3E0-8F60-B04B-FB440688F650}"/>
                    </a:ext>
                  </a:extLst>
                </p:cNvPr>
                <p:cNvSpPr txBox="1"/>
                <p:nvPr/>
              </p:nvSpPr>
              <p:spPr>
                <a:xfrm>
                  <a:off x="6988891" y="5023104"/>
                  <a:ext cx="2565105" cy="5686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CA7C90-B3E0-8F60-B04B-FB440688F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8891" y="5023104"/>
                  <a:ext cx="2565105" cy="5686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54ED02-B3CF-AD1A-2AD7-3A935EA2E175}"/>
                </a:ext>
              </a:extLst>
            </p:cNvPr>
            <p:cNvSpPr txBox="1"/>
            <p:nvPr/>
          </p:nvSpPr>
          <p:spPr>
            <a:xfrm>
              <a:off x="7058040" y="4155974"/>
              <a:ext cx="43442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sz="1600" dirty="0"/>
                <a:t>Strain for the untouched radials: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3A3471-7918-D546-39EA-4D1210CE6F2A}"/>
              </a:ext>
            </a:extLst>
          </p:cNvPr>
          <p:cNvGrpSpPr/>
          <p:nvPr/>
        </p:nvGrpSpPr>
        <p:grpSpPr>
          <a:xfrm>
            <a:off x="4167963" y="1695348"/>
            <a:ext cx="7756641" cy="3961173"/>
            <a:chOff x="4167963" y="1695348"/>
            <a:chExt cx="7756641" cy="396117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797964-4D82-AF83-C8E1-BCC407A9C06D}"/>
                    </a:ext>
                  </a:extLst>
                </p:cNvPr>
                <p:cNvSpPr txBox="1"/>
                <p:nvPr/>
              </p:nvSpPr>
              <p:spPr>
                <a:xfrm>
                  <a:off x="7695314" y="2116696"/>
                  <a:ext cx="3947337" cy="3904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3797964-4D82-AF83-C8E1-BCC407A9C0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5314" y="2116696"/>
                  <a:ext cx="3947337" cy="39049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B3A7134-D62F-8741-1239-088CADCCD664}"/>
                    </a:ext>
                  </a:extLst>
                </p:cNvPr>
                <p:cNvSpPr txBox="1"/>
                <p:nvPr/>
              </p:nvSpPr>
              <p:spPr>
                <a:xfrm>
                  <a:off x="7580328" y="1695348"/>
                  <a:ext cx="434427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Leng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between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,0,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,0,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B3A7134-D62F-8741-1239-088CADCCD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0328" y="1695348"/>
                  <a:ext cx="4344276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B61557-DD73-C6B4-303E-18255C14C7E9}"/>
                    </a:ext>
                  </a:extLst>
                </p:cNvPr>
                <p:cNvSpPr txBox="1"/>
                <p:nvPr/>
              </p:nvSpPr>
              <p:spPr>
                <a:xfrm>
                  <a:off x="7580328" y="2757592"/>
                  <a:ext cx="3947337" cy="11051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⇒</m:t>
                            </m:r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B61557-DD73-C6B4-303E-18255C14C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0328" y="2757592"/>
                  <a:ext cx="3947337" cy="110511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7003A67-1E13-4841-E934-620E938FCE12}"/>
                </a:ext>
              </a:extLst>
            </p:cNvPr>
            <p:cNvCxnSpPr/>
            <p:nvPr/>
          </p:nvCxnSpPr>
          <p:spPr>
            <a:xfrm flipH="1">
              <a:off x="4167963" y="3625702"/>
              <a:ext cx="3772579" cy="203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1CBED1-17A9-F745-BAE4-B7D197A338C8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5901070" y="5809853"/>
            <a:ext cx="1154361" cy="96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27489A-A786-D7EA-4840-C1278416CEB4}"/>
                  </a:ext>
                </a:extLst>
              </p:cNvPr>
              <p:cNvSpPr txBox="1"/>
              <p:nvPr/>
            </p:nvSpPr>
            <p:spPr>
              <a:xfrm>
                <a:off x="7580328" y="6211860"/>
                <a:ext cx="2777756" cy="458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400" i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sz="1400" b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=0,1,…,7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27489A-A786-D7EA-4840-C1278416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28" y="6211860"/>
                <a:ext cx="2777756" cy="458395"/>
              </a:xfrm>
              <a:prstGeom prst="rect">
                <a:avLst/>
              </a:prstGeom>
              <a:blipFill>
                <a:blip r:embed="rId1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220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9C01-E8DB-F167-E573-2DA073DD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2D5E57-006B-DDB5-51D4-1DA7441D2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Off-Centre Impact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1CF24-114D-6B36-8655-64626269F4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DDD7C5-D3F8-C792-B8B4-1E1F549C3C26}"/>
                  </a:ext>
                </a:extLst>
              </p:cNvPr>
              <p:cNvSpPr txBox="1"/>
              <p:nvPr/>
            </p:nvSpPr>
            <p:spPr>
              <a:xfrm>
                <a:off x="890196" y="1392134"/>
                <a:ext cx="43442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find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,0,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we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minimize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DDD7C5-D3F8-C792-B8B4-1E1F549C3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96" y="1392134"/>
                <a:ext cx="4344276" cy="338554"/>
              </a:xfrm>
              <a:prstGeom prst="rect">
                <a:avLst/>
              </a:prstGeom>
              <a:blipFill>
                <a:blip r:embed="rId3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9B7F3-C23D-1373-F4B8-B2A7D6E3E130}"/>
                  </a:ext>
                </a:extLst>
              </p:cNvPr>
              <p:cNvSpPr txBox="1"/>
              <p:nvPr/>
            </p:nvSpPr>
            <p:spPr>
              <a:xfrm>
                <a:off x="1326412" y="1841447"/>
                <a:ext cx="2830919" cy="665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=0 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 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9B7F3-C23D-1373-F4B8-B2A7D6E3E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412" y="1841447"/>
                <a:ext cx="2830919" cy="6658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5FC9E9-CAC9-5824-8AF0-369CC8CB478C}"/>
                  </a:ext>
                </a:extLst>
              </p:cNvPr>
              <p:cNvSpPr txBox="1"/>
              <p:nvPr/>
            </p:nvSpPr>
            <p:spPr>
              <a:xfrm>
                <a:off x="5617110" y="1392134"/>
                <a:ext cx="630749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effectLst/>
                    <a:latin typeface="Google Sans Text"/>
                  </a:rPr>
                  <a:t>This cannot be solved analytically. We used the </a:t>
                </a:r>
                <a:r>
                  <a:rPr lang="en-US" dirty="0">
                    <a:solidFill>
                      <a:schemeClr val="accent1"/>
                    </a:solidFill>
                    <a:effectLst/>
                    <a:latin typeface="Google Sans Text"/>
                  </a:rPr>
                  <a:t>Nelder–Mead method</a:t>
                </a:r>
                <a:r>
                  <a:rPr lang="en-US" dirty="0">
                    <a:effectLst/>
                    <a:latin typeface="Google Sans Text"/>
                  </a:rPr>
                  <a:t> (the simplex algorithm) to directly find the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ffectLst/>
                    <a:latin typeface="Google Sans Text"/>
                  </a:rPr>
                  <a:t> that minimize the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𝒰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Google Sans Text"/>
                  </a:rPr>
                  <a:t> without computing the Hessian matrix.</a:t>
                </a: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5FC9E9-CAC9-5824-8AF0-369CC8CB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110" y="1392134"/>
                <a:ext cx="6307494" cy="1200329"/>
              </a:xfrm>
              <a:prstGeom prst="rect">
                <a:avLst/>
              </a:prstGeom>
              <a:blipFill>
                <a:blip r:embed="rId5"/>
                <a:stretch>
                  <a:fillRect l="-805" t="-2083" r="-1207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A159A5-BFA0-9DC7-61AD-8A2F79124D95}"/>
                  </a:ext>
                </a:extLst>
              </p:cNvPr>
              <p:cNvSpPr txBox="1"/>
              <p:nvPr/>
            </p:nvSpPr>
            <p:spPr>
              <a:xfrm>
                <a:off x="890196" y="3435710"/>
                <a:ext cx="56200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inner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segment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method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gives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≈0.22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A159A5-BFA0-9DC7-61AD-8A2F79124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96" y="3435710"/>
                <a:ext cx="5620000" cy="276999"/>
              </a:xfrm>
              <a:prstGeom prst="rect">
                <a:avLst/>
              </a:prstGeom>
              <a:blipFill>
                <a:blip r:embed="rId6"/>
                <a:stretch>
                  <a:fillRect l="-451"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3E4106-AE27-B527-84AF-2ABCFE402022}"/>
                  </a:ext>
                </a:extLst>
              </p:cNvPr>
              <p:cNvSpPr txBox="1"/>
              <p:nvPr/>
            </p:nvSpPr>
            <p:spPr>
              <a:xfrm>
                <a:off x="847664" y="3935293"/>
                <a:ext cx="69681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untouched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radial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segments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method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gives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0.11 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3E4106-AE27-B527-84AF-2ABCFE40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64" y="3935293"/>
                <a:ext cx="6968125" cy="276999"/>
              </a:xfrm>
              <a:prstGeom prst="rect">
                <a:avLst/>
              </a:prstGeom>
              <a:blipFill>
                <a:blip r:embed="rId7"/>
                <a:stretch>
                  <a:fillRect t="-4545" b="-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79E43F-F292-087D-C26F-5872B399FD59}"/>
                  </a:ext>
                </a:extLst>
              </p:cNvPr>
              <p:cNvSpPr txBox="1"/>
              <p:nvPr/>
            </p:nvSpPr>
            <p:spPr>
              <a:xfrm>
                <a:off x="890196" y="4627729"/>
                <a:ext cx="3095271" cy="582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net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net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mat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threads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thr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tot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79E43F-F292-087D-C26F-5872B399F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96" y="4627729"/>
                <a:ext cx="3095271" cy="582275"/>
              </a:xfrm>
              <a:prstGeom prst="rect">
                <a:avLst/>
              </a:prstGeom>
              <a:blipFill>
                <a:blip r:embed="rId8"/>
                <a:stretch>
                  <a:fillRect l="-1230" t="-80851" b="-6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9AC354-C7D6-A250-B60E-3DAE39F3398B}"/>
                  </a:ext>
                </a:extLst>
              </p:cNvPr>
              <p:cNvSpPr txBox="1"/>
              <p:nvPr/>
            </p:nvSpPr>
            <p:spPr>
              <a:xfrm>
                <a:off x="957062" y="5573650"/>
                <a:ext cx="13320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6.25%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9AC354-C7D6-A250-B60E-3DAE39F33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62" y="5573650"/>
                <a:ext cx="1332031" cy="276999"/>
              </a:xfrm>
              <a:prstGeom prst="rect">
                <a:avLst/>
              </a:prstGeom>
              <a:blipFill>
                <a:blip r:embed="rId9"/>
                <a:stretch>
                  <a:fillRect l="-3774" r="-37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D19B26-A04A-250F-AEE9-BF414EA9BA3F}"/>
                  </a:ext>
                </a:extLst>
              </p:cNvPr>
              <p:cNvSpPr txBox="1"/>
              <p:nvPr/>
            </p:nvSpPr>
            <p:spPr>
              <a:xfrm>
                <a:off x="5109645" y="5055539"/>
                <a:ext cx="1267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net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6.8%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D19B26-A04A-250F-AEE9-BF414EA9B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645" y="5055539"/>
                <a:ext cx="1267911" cy="276999"/>
              </a:xfrm>
              <a:prstGeom prst="rect">
                <a:avLst/>
              </a:prstGeom>
              <a:blipFill>
                <a:blip r:embed="rId10"/>
                <a:stretch>
                  <a:fillRect l="-3960" r="-297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0D339EB4-E29B-4ECE-DA9B-02CF10A6B077}"/>
              </a:ext>
            </a:extLst>
          </p:cNvPr>
          <p:cNvSpPr/>
          <p:nvPr/>
        </p:nvSpPr>
        <p:spPr>
          <a:xfrm>
            <a:off x="4331726" y="4627729"/>
            <a:ext cx="431660" cy="12229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EA1DFD-D02A-04F2-D60B-4AA88BD36BB2}"/>
              </a:ext>
            </a:extLst>
          </p:cNvPr>
          <p:cNvGrpSpPr/>
          <p:nvPr/>
        </p:nvGrpSpPr>
        <p:grpSpPr>
          <a:xfrm>
            <a:off x="8314660" y="2995412"/>
            <a:ext cx="3708991" cy="1632317"/>
            <a:chOff x="5869763" y="4182050"/>
            <a:chExt cx="4165600" cy="195634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5991E47-C51F-EE7A-4056-D47689B7A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69763" y="4182050"/>
              <a:ext cx="4165600" cy="195634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9102CD-A1C9-48EF-2935-C052B03F9ED8}"/>
                </a:ext>
              </a:extLst>
            </p:cNvPr>
            <p:cNvSpPr/>
            <p:nvPr/>
          </p:nvSpPr>
          <p:spPr>
            <a:xfrm>
              <a:off x="7315200" y="4497572"/>
              <a:ext cx="445747" cy="1640822"/>
            </a:xfrm>
            <a:prstGeom prst="rect">
              <a:avLst/>
            </a:prstGeom>
            <a:solidFill>
              <a:schemeClr val="bg1">
                <a:lumMod val="75000"/>
                <a:alpha val="12702"/>
              </a:schemeClr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E3B343-A288-89B2-B2CA-219C9F2023EE}"/>
                </a:ext>
              </a:extLst>
            </p:cNvPr>
            <p:cNvSpPr/>
            <p:nvPr/>
          </p:nvSpPr>
          <p:spPr>
            <a:xfrm>
              <a:off x="9097021" y="4497572"/>
              <a:ext cx="445747" cy="1640822"/>
            </a:xfrm>
            <a:prstGeom prst="rect">
              <a:avLst/>
            </a:prstGeom>
            <a:solidFill>
              <a:schemeClr val="bg1">
                <a:lumMod val="75000"/>
                <a:alpha val="12702"/>
              </a:schemeClr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156196-5067-269D-3808-B0720F1A8B8A}"/>
                  </a:ext>
                </a:extLst>
              </p:cNvPr>
              <p:cNvSpPr txBox="1"/>
              <p:nvPr/>
            </p:nvSpPr>
            <p:spPr>
              <a:xfrm>
                <a:off x="5234472" y="5555122"/>
                <a:ext cx="33594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accent1"/>
                    </a:solidFill>
                  </a:rPr>
                  <a:t>Remember that hub-center impact was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net</m:t>
                        </m:r>
                      </m:sub>
                    </m:sSub>
                    <m:r>
                      <a:rPr lang="en-US" sz="1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99</m:t>
                    </m:r>
                    <m:r>
                      <a:rPr lang="en-US" sz="1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1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156196-5067-269D-3808-B0720F1A8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472" y="5555122"/>
                <a:ext cx="3359459" cy="523220"/>
              </a:xfrm>
              <a:prstGeom prst="rect">
                <a:avLst/>
              </a:prstGeom>
              <a:blipFill>
                <a:blip r:embed="rId12"/>
                <a:stretch>
                  <a:fillRect t="-2381" r="-37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84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 animBg="1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BBDD-1144-7594-7DB0-86DDC75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98AA7A-5513-D4D9-89BD-C72CD7B6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Off-Centre Impact – Thread Failure 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A049E-F40C-C204-D85C-1D2212E5E0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BE7E6E-A290-1872-B3EE-816A611309CF}"/>
                  </a:ext>
                </a:extLst>
              </p:cNvPr>
              <p:cNvSpPr txBox="1"/>
              <p:nvPr/>
            </p:nvSpPr>
            <p:spPr>
              <a:xfrm>
                <a:off x="1304281" y="1489548"/>
                <a:ext cx="3047114" cy="66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net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mat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BE7E6E-A290-1872-B3EE-816A61130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281" y="1489548"/>
                <a:ext cx="3047114" cy="660822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E5EFDB-D906-C77D-2C5E-EE34A937A0E5}"/>
                  </a:ext>
                </a:extLst>
              </p:cNvPr>
              <p:cNvSpPr txBox="1"/>
              <p:nvPr/>
            </p:nvSpPr>
            <p:spPr>
              <a:xfrm>
                <a:off x="4986309" y="1635293"/>
                <a:ext cx="60977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rem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rem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E5EFDB-D906-C77D-2C5E-EE34A937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309" y="1635293"/>
                <a:ext cx="6097772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BFFB919-47AE-9E4C-48F1-2AD647BEF46F}"/>
              </a:ext>
            </a:extLst>
          </p:cNvPr>
          <p:cNvGrpSpPr/>
          <p:nvPr/>
        </p:nvGrpSpPr>
        <p:grpSpPr>
          <a:xfrm>
            <a:off x="592146" y="3357642"/>
            <a:ext cx="3606849" cy="1226194"/>
            <a:chOff x="592146" y="3357642"/>
            <a:chExt cx="3606849" cy="122619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C59B37B7-9299-EEC7-D0AE-38E233AD1853}"/>
                </a:ext>
              </a:extLst>
            </p:cNvPr>
            <p:cNvSpPr/>
            <p:nvPr/>
          </p:nvSpPr>
          <p:spPr>
            <a:xfrm>
              <a:off x="592146" y="3357642"/>
              <a:ext cx="3606849" cy="1226194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443F3876-B87D-5BFD-AA87-9D458E774AE1}"/>
                </a:ext>
              </a:extLst>
            </p:cNvPr>
            <p:cNvSpPr/>
            <p:nvPr/>
          </p:nvSpPr>
          <p:spPr>
            <a:xfrm>
              <a:off x="2989320" y="3579545"/>
              <a:ext cx="990600" cy="209550"/>
            </a:xfrm>
            <a:prstGeom prst="roundRect">
              <a:avLst>
                <a:gd name="adj" fmla="val 18181"/>
              </a:avLst>
            </a:prstGeom>
            <a:solidFill>
              <a:srgbClr val="EFF6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436D178-9097-F888-A5C5-7B9946EC815B}"/>
                    </a:ext>
                  </a:extLst>
                </p:cNvPr>
                <p:cNvSpPr txBox="1"/>
                <p:nvPr/>
              </p:nvSpPr>
              <p:spPr>
                <a:xfrm>
                  <a:off x="811221" y="3887173"/>
                  <a:ext cx="3263949" cy="44941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ts val="1822"/>
                    </a:lnSpc>
                  </a:pP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Minimize 𝒰(</a:t>
                  </a:r>
                  <a:r>
                    <a:rPr sz="1350" b="0" i="1" u="none" dirty="0">
                      <a:solidFill>
                        <a:srgbClr val="334155"/>
                      </a:solidFill>
                      <a:latin typeface="Inter"/>
                    </a:rPr>
                    <a:t>h</a:t>
                  </a: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; </a:t>
                  </a:r>
                  <a:r>
                    <a:rPr sz="1350" b="0" i="1" u="none" dirty="0">
                      <a:solidFill>
                        <a:srgbClr val="334155"/>
                      </a:solidFill>
                      <a:latin typeface="Inter"/>
                    </a:rPr>
                    <a:t>w</a:t>
                  </a: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) until outer strain reaches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350" i="1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350" b="0" i="1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sz="1350" i="1">
                          <a:solidFill>
                            <a:srgbClr val="33415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50" i="1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350" i="1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350" i="1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1350" i="1">
                          <a:solidFill>
                            <a:srgbClr val="33415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; store 𝒰(</a:t>
                  </a:r>
                  <a:r>
                    <a:rPr sz="1350" b="0" i="1" u="none" dirty="0">
                      <a:solidFill>
                        <a:srgbClr val="334155"/>
                      </a:solidFill>
                      <a:latin typeface="Inter"/>
                    </a:rPr>
                    <a:t>w</a:t>
                  </a:r>
                  <a:r>
                    <a:rPr sz="1125" b="0" i="0" u="none" dirty="0">
                      <a:solidFill>
                        <a:srgbClr val="334155"/>
                      </a:solidFill>
                      <a:latin typeface="Inter"/>
                    </a:rPr>
                    <a:t>1</a:t>
                  </a: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).</a:t>
                  </a: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436D178-9097-F888-A5C5-7B9946EC81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21" y="3887173"/>
                  <a:ext cx="3263949" cy="449418"/>
                </a:xfrm>
                <a:prstGeom prst="rect">
                  <a:avLst/>
                </a:prstGeom>
                <a:blipFill>
                  <a:blip r:embed="rId5"/>
                  <a:stretch>
                    <a:fillRect l="-3101" t="-111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96079E-A194-7E63-DF13-660A525D7994}"/>
                </a:ext>
              </a:extLst>
            </p:cNvPr>
            <p:cNvSpPr txBox="1"/>
            <p:nvPr/>
          </p:nvSpPr>
          <p:spPr>
            <a:xfrm>
              <a:off x="811221" y="3557667"/>
              <a:ext cx="2226468" cy="2533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01 · First Rupture (</a:t>
              </a:r>
              <a:r>
                <a:rPr sz="1350" b="1" i="1" u="none">
                  <a:solidFill>
                    <a:srgbClr val="0F172A"/>
                  </a:solidFill>
                  <a:latin typeface="Space Grotesk"/>
                </a:rPr>
                <a:t>w</a:t>
              </a:r>
              <a:r>
                <a:rPr sz="1125" b="1" i="0" u="none">
                  <a:solidFill>
                    <a:srgbClr val="0F172A"/>
                  </a:solidFill>
                  <a:latin typeface="Space Grotesk"/>
                </a:rPr>
                <a:t>1</a:t>
              </a:r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A1166F-2E49-1FB3-57D0-C548C54783F8}"/>
                </a:ext>
              </a:extLst>
            </p:cNvPr>
            <p:cNvSpPr txBox="1"/>
            <p:nvPr/>
          </p:nvSpPr>
          <p:spPr>
            <a:xfrm>
              <a:off x="3065520" y="3598595"/>
              <a:ext cx="933450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2563EB"/>
                  </a:solidFill>
                  <a:latin typeface="JetBrains Mono"/>
                </a:rPr>
                <a:t>Nelder-Mead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6B3379-C4F5-BDB4-013C-50FADEA11F01}"/>
              </a:ext>
            </a:extLst>
          </p:cNvPr>
          <p:cNvGrpSpPr/>
          <p:nvPr/>
        </p:nvGrpSpPr>
        <p:grpSpPr>
          <a:xfrm>
            <a:off x="4351395" y="3357642"/>
            <a:ext cx="3606849" cy="1226194"/>
            <a:chOff x="4351395" y="3357642"/>
            <a:chExt cx="3606849" cy="1226194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2EB2D558-5943-6078-FE46-B5FD9A463137}"/>
                </a:ext>
              </a:extLst>
            </p:cNvPr>
            <p:cNvSpPr/>
            <p:nvPr/>
          </p:nvSpPr>
          <p:spPr>
            <a:xfrm>
              <a:off x="4351395" y="3357642"/>
              <a:ext cx="3606849" cy="1226194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C8D1777-F953-73EF-D40E-5A56B36783EF}"/>
                </a:ext>
              </a:extLst>
            </p:cNvPr>
            <p:cNvSpPr/>
            <p:nvPr/>
          </p:nvSpPr>
          <p:spPr>
            <a:xfrm>
              <a:off x="6672370" y="3562430"/>
              <a:ext cx="1066800" cy="209550"/>
            </a:xfrm>
            <a:prstGeom prst="roundRect">
              <a:avLst>
                <a:gd name="adj" fmla="val 1818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7CFB0B-FA47-D98A-DDB0-4EC7BECA1590}"/>
                </a:ext>
              </a:extLst>
            </p:cNvPr>
            <p:cNvSpPr txBox="1"/>
            <p:nvPr/>
          </p:nvSpPr>
          <p:spPr>
            <a:xfrm>
              <a:off x="4570470" y="3852942"/>
              <a:ext cx="3263949" cy="4628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Severed outer segment is removed from the network connectivity matrix.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4C65BC8-650E-6641-A2A0-49C0A35F4F7F}"/>
                </a:ext>
              </a:extLst>
            </p:cNvPr>
            <p:cNvSpPr txBox="1"/>
            <p:nvPr/>
          </p:nvSpPr>
          <p:spPr>
            <a:xfrm>
              <a:off x="4570470" y="3557667"/>
              <a:ext cx="2238375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02 · Topology Pruning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5D7DE0A-524F-E2A8-46EE-2F8026194292}"/>
                </a:ext>
              </a:extLst>
            </p:cNvPr>
            <p:cNvSpPr txBox="1"/>
            <p:nvPr/>
          </p:nvSpPr>
          <p:spPr>
            <a:xfrm>
              <a:off x="6748570" y="3581480"/>
              <a:ext cx="1009650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64748B"/>
                  </a:solidFill>
                  <a:latin typeface="JetBrains Mono"/>
                </a:rPr>
                <a:t>Graph Update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E18744-EC7C-2CE2-3A00-FEEB1912FF63}"/>
              </a:ext>
            </a:extLst>
          </p:cNvPr>
          <p:cNvGrpSpPr/>
          <p:nvPr/>
        </p:nvGrpSpPr>
        <p:grpSpPr>
          <a:xfrm>
            <a:off x="8110645" y="3357642"/>
            <a:ext cx="3606849" cy="1226194"/>
            <a:chOff x="8110645" y="3357642"/>
            <a:chExt cx="3606849" cy="122619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539CC8D1-33FC-92FE-3887-00F3A91C60D5}"/>
                </a:ext>
              </a:extLst>
            </p:cNvPr>
            <p:cNvSpPr/>
            <p:nvPr/>
          </p:nvSpPr>
          <p:spPr>
            <a:xfrm>
              <a:off x="8110645" y="3357642"/>
              <a:ext cx="3606849" cy="1226194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CBD0820-4166-3E6B-6A6D-F02E7A8380CA}"/>
                </a:ext>
              </a:extLst>
            </p:cNvPr>
            <p:cNvSpPr/>
            <p:nvPr/>
          </p:nvSpPr>
          <p:spPr>
            <a:xfrm>
              <a:off x="11193619" y="3562430"/>
              <a:ext cx="304800" cy="209550"/>
            </a:xfrm>
            <a:prstGeom prst="roundRect">
              <a:avLst>
                <a:gd name="adj" fmla="val 1818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1E4B38-0E8A-DE64-FDCB-E73033568E94}"/>
                </a:ext>
              </a:extLst>
            </p:cNvPr>
            <p:cNvSpPr txBox="1"/>
            <p:nvPr/>
          </p:nvSpPr>
          <p:spPr>
            <a:xfrm>
              <a:off x="8329720" y="3852942"/>
              <a:ext cx="3263949" cy="4966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Advance </a:t>
              </a:r>
              <a:r>
                <a:rPr sz="1350" b="0" i="1" u="none">
                  <a:solidFill>
                    <a:srgbClr val="334155"/>
                  </a:solidFill>
                  <a:latin typeface="Inter"/>
                </a:rPr>
                <a:t>w</a:t>
              </a: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 past </a:t>
              </a:r>
              <a:r>
                <a:rPr sz="1350" b="0" i="1" u="none">
                  <a:solidFill>
                    <a:srgbClr val="334155"/>
                  </a:solidFill>
                  <a:latin typeface="Inter"/>
                </a:rPr>
                <a:t>w</a:t>
              </a:r>
              <a:r>
                <a:rPr sz="1125" b="0" i="0" u="none">
                  <a:solidFill>
                    <a:srgbClr val="334155"/>
                  </a:solidFill>
                  <a:latin typeface="Inter"/>
                </a:rPr>
                <a:t>1</a:t>
              </a: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 with step size Δ</a:t>
              </a:r>
              <a:r>
                <a:rPr sz="1350" b="0" i="1" u="none">
                  <a:solidFill>
                    <a:srgbClr val="334155"/>
                  </a:solidFill>
                  <a:latin typeface="Inter"/>
                </a:rPr>
                <a:t>w</a:t>
              </a: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 (0.002</a:t>
              </a:r>
              <a:r>
                <a:rPr sz="1350" b="0" i="1" u="none">
                  <a:solidFill>
                    <a:srgbClr val="334155"/>
                  </a:solidFill>
                  <a:latin typeface="Inter"/>
                </a:rPr>
                <a:t>R</a:t>
              </a: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 for S, 0.0005</a:t>
              </a:r>
              <a:r>
                <a:rPr sz="1350" b="0" i="1" u="none">
                  <a:solidFill>
                    <a:srgbClr val="334155"/>
                  </a:solidFill>
                  <a:latin typeface="Inter"/>
                </a:rPr>
                <a:t>R</a:t>
              </a: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 for D).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B9A5F23-FB65-9C37-D2CB-599323CF52EC}"/>
                </a:ext>
              </a:extLst>
            </p:cNvPr>
            <p:cNvSpPr txBox="1"/>
            <p:nvPr/>
          </p:nvSpPr>
          <p:spPr>
            <a:xfrm>
              <a:off x="8329720" y="3557667"/>
              <a:ext cx="2047875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03 · Deflection Step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EC1E892-F6CA-BF06-1D7C-119AE072A991}"/>
                </a:ext>
              </a:extLst>
            </p:cNvPr>
            <p:cNvSpPr txBox="1"/>
            <p:nvPr/>
          </p:nvSpPr>
          <p:spPr>
            <a:xfrm>
              <a:off x="11269819" y="3581480"/>
              <a:ext cx="247650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64748B"/>
                  </a:solidFill>
                  <a:latin typeface="JetBrains Mono"/>
                </a:rPr>
                <a:t>Δ</a:t>
              </a:r>
              <a:r>
                <a:rPr sz="1050" b="1" i="1" u="none">
                  <a:solidFill>
                    <a:srgbClr val="64748B"/>
                  </a:solidFill>
                  <a:latin typeface="JetBrains Mono"/>
                </a:rPr>
                <a:t>w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C2C1829-AD63-FBD1-F6D8-6970E734E6FC}"/>
              </a:ext>
            </a:extLst>
          </p:cNvPr>
          <p:cNvGrpSpPr/>
          <p:nvPr/>
        </p:nvGrpSpPr>
        <p:grpSpPr>
          <a:xfrm>
            <a:off x="592146" y="4736237"/>
            <a:ext cx="3606849" cy="1226194"/>
            <a:chOff x="592146" y="4736237"/>
            <a:chExt cx="3606849" cy="1226194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548E2D3-F98D-1CEF-B771-88C8F042B2BE}"/>
                </a:ext>
              </a:extLst>
            </p:cNvPr>
            <p:cNvSpPr/>
            <p:nvPr/>
          </p:nvSpPr>
          <p:spPr>
            <a:xfrm>
              <a:off x="592146" y="4736237"/>
              <a:ext cx="3606849" cy="1226194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8F2F670-5289-4D45-F424-A3FA6E1DD272}"/>
                </a:ext>
              </a:extLst>
            </p:cNvPr>
            <p:cNvSpPr/>
            <p:nvPr/>
          </p:nvSpPr>
          <p:spPr>
            <a:xfrm>
              <a:off x="3198870" y="4936262"/>
              <a:ext cx="781050" cy="236190"/>
            </a:xfrm>
            <a:prstGeom prst="roundRect">
              <a:avLst>
                <a:gd name="adj" fmla="val 16131"/>
              </a:avLst>
            </a:prstGeom>
            <a:solidFill>
              <a:srgbClr val="EFF6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216C247-66F3-D003-95A2-0C0EEA4BF896}"/>
                </a:ext>
              </a:extLst>
            </p:cNvPr>
            <p:cNvSpPr txBox="1"/>
            <p:nvPr/>
          </p:nvSpPr>
          <p:spPr>
            <a:xfrm>
              <a:off x="811221" y="5248652"/>
              <a:ext cx="3263949" cy="4496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sz="1350" b="0" i="0" u="none" dirty="0">
                  <a:solidFill>
                    <a:srgbClr val="334155"/>
                  </a:solidFill>
                  <a:latin typeface="Inter"/>
                </a:rPr>
                <a:t>Re-optimize hub coordinates across remaining radials at each step.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E4F1D6-A685-F3DA-1905-CD1BD9DFFC11}"/>
                </a:ext>
              </a:extLst>
            </p:cNvPr>
            <p:cNvSpPr txBox="1"/>
            <p:nvPr/>
          </p:nvSpPr>
          <p:spPr>
            <a:xfrm>
              <a:off x="811221" y="4944745"/>
              <a:ext cx="2393156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04 · Hub Re-equilibrium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0923AE1-1C56-9025-ABCD-5B53FDD93EB7}"/>
                </a:ext>
              </a:extLst>
            </p:cNvPr>
            <p:cNvSpPr txBox="1"/>
            <p:nvPr/>
          </p:nvSpPr>
          <p:spPr>
            <a:xfrm>
              <a:off x="3275070" y="4955312"/>
              <a:ext cx="723900" cy="1980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2563EB"/>
                  </a:solidFill>
                  <a:latin typeface="JetBrains Mono"/>
                </a:rPr>
                <a:t>min 𝒰</a:t>
              </a:r>
              <a:r>
                <a:rPr sz="875" b="1" i="0" u="none">
                  <a:solidFill>
                    <a:srgbClr val="2563EB"/>
                  </a:solidFill>
                  <a:latin typeface="JetBrains Mono"/>
                </a:rPr>
                <a:t>rem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847A03-7573-17C3-2964-B5BD8606F2EB}"/>
              </a:ext>
            </a:extLst>
          </p:cNvPr>
          <p:cNvGrpSpPr/>
          <p:nvPr/>
        </p:nvGrpSpPr>
        <p:grpSpPr>
          <a:xfrm>
            <a:off x="4351395" y="4736237"/>
            <a:ext cx="3606849" cy="1226194"/>
            <a:chOff x="4351395" y="4736237"/>
            <a:chExt cx="3606849" cy="1226194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C9063B77-96B4-4943-C3E9-CE5BEEDAA769}"/>
                </a:ext>
              </a:extLst>
            </p:cNvPr>
            <p:cNvSpPr/>
            <p:nvPr/>
          </p:nvSpPr>
          <p:spPr>
            <a:xfrm>
              <a:off x="4351395" y="4736237"/>
              <a:ext cx="3606849" cy="1226194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DB0B921C-1BE1-8A3E-917E-20190BDBD678}"/>
                </a:ext>
              </a:extLst>
            </p:cNvPr>
            <p:cNvSpPr/>
            <p:nvPr/>
          </p:nvSpPr>
          <p:spPr>
            <a:xfrm>
              <a:off x="6900970" y="4958140"/>
              <a:ext cx="838200" cy="209550"/>
            </a:xfrm>
            <a:prstGeom prst="roundRect">
              <a:avLst>
                <a:gd name="adj" fmla="val 18181"/>
              </a:avLst>
            </a:prstGeom>
            <a:solidFill>
              <a:srgbClr val="FE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F7830BF-FAB3-8D1B-ED8A-3E4E79EFC2EF}"/>
                    </a:ext>
                  </a:extLst>
                </p:cNvPr>
                <p:cNvSpPr txBox="1"/>
                <p:nvPr/>
              </p:nvSpPr>
              <p:spPr>
                <a:xfrm>
                  <a:off x="4570470" y="5265768"/>
                  <a:ext cx="3263949" cy="4499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ts val="1822"/>
                    </a:lnSpc>
                  </a:pP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Identify when inner segment reaches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350" b="0" i="1" u="none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350" b="0" i="1" u="none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350" b="0" i="1" u="none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350" b="0" i="1" u="none" smtClean="0">
                          <a:solidFill>
                            <a:srgbClr val="33415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350" b="0" i="1" u="none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350" b="0" i="1" u="none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350" b="0" i="1" u="none" smtClean="0">
                              <a:solidFill>
                                <a:srgbClr val="334155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; extract 𝒰</a:t>
                  </a:r>
                  <a:r>
                    <a:rPr sz="1125" b="0" i="0" u="none" dirty="0">
                      <a:solidFill>
                        <a:srgbClr val="334155"/>
                      </a:solidFill>
                      <a:latin typeface="Inter"/>
                    </a:rPr>
                    <a:t>rem</a:t>
                  </a: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(</a:t>
                  </a:r>
                  <a:r>
                    <a:rPr sz="1350" b="0" i="1" u="none" dirty="0">
                      <a:solidFill>
                        <a:srgbClr val="334155"/>
                      </a:solidFill>
                      <a:latin typeface="Inter"/>
                    </a:rPr>
                    <a:t>w</a:t>
                  </a:r>
                  <a:r>
                    <a:rPr sz="1125" b="0" i="0" u="none" dirty="0">
                      <a:solidFill>
                        <a:srgbClr val="334155"/>
                      </a:solidFill>
                      <a:latin typeface="Inter"/>
                    </a:rPr>
                    <a:t>2</a:t>
                  </a:r>
                  <a:r>
                    <a:rPr sz="1350" b="0" i="0" u="none" dirty="0">
                      <a:solidFill>
                        <a:srgbClr val="334155"/>
                      </a:solidFill>
                      <a:latin typeface="Inter"/>
                    </a:rPr>
                    <a:t>).</a:t>
                  </a: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F7830BF-FAB3-8D1B-ED8A-3E4E79EFC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0470" y="5265768"/>
                  <a:ext cx="3263949" cy="449995"/>
                </a:xfrm>
                <a:prstGeom prst="rect">
                  <a:avLst/>
                </a:prstGeom>
                <a:blipFill>
                  <a:blip r:embed="rId6"/>
                  <a:stretch>
                    <a:fillRect l="-3502" t="-8108" r="-2335"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05F8AC0-4DD3-EF5B-A8B5-A0C21AFAD5DE}"/>
                </a:ext>
              </a:extLst>
            </p:cNvPr>
            <p:cNvSpPr txBox="1"/>
            <p:nvPr/>
          </p:nvSpPr>
          <p:spPr>
            <a:xfrm>
              <a:off x="4570470" y="4936262"/>
              <a:ext cx="2595562" cy="2533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05 · Second Rupture (</a:t>
              </a:r>
              <a:r>
                <a:rPr sz="1350" b="1" i="1" u="none">
                  <a:solidFill>
                    <a:srgbClr val="0F172A"/>
                  </a:solidFill>
                  <a:latin typeface="Space Grotesk"/>
                </a:rPr>
                <a:t>w</a:t>
              </a:r>
              <a:r>
                <a:rPr sz="1125" b="1" i="0" u="none">
                  <a:solidFill>
                    <a:srgbClr val="0F172A"/>
                  </a:solidFill>
                  <a:latin typeface="Space Grotesk"/>
                </a:rPr>
                <a:t>2</a:t>
              </a:r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BD2B07-DA35-9DBD-6954-CF12401629C0}"/>
                </a:ext>
              </a:extLst>
            </p:cNvPr>
            <p:cNvSpPr txBox="1"/>
            <p:nvPr/>
          </p:nvSpPr>
          <p:spPr>
            <a:xfrm>
              <a:off x="6977170" y="4977190"/>
              <a:ext cx="781050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DC2626"/>
                  </a:solidFill>
                  <a:latin typeface="JetBrains Mono"/>
                </a:rPr>
                <a:t>Bisection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B9DEA3A-9D10-0F9D-A304-4E14A53BD1DF}"/>
              </a:ext>
            </a:extLst>
          </p:cNvPr>
          <p:cNvGrpSpPr/>
          <p:nvPr/>
        </p:nvGrpSpPr>
        <p:grpSpPr>
          <a:xfrm>
            <a:off x="8110645" y="4736237"/>
            <a:ext cx="3606849" cy="1226194"/>
            <a:chOff x="8110645" y="4736237"/>
            <a:chExt cx="3606849" cy="1226194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28876DA6-455E-2B64-9996-E36A3098FFF0}"/>
                </a:ext>
              </a:extLst>
            </p:cNvPr>
            <p:cNvSpPr/>
            <p:nvPr/>
          </p:nvSpPr>
          <p:spPr>
            <a:xfrm>
              <a:off x="8110645" y="4736237"/>
              <a:ext cx="3606849" cy="1226194"/>
            </a:xfrm>
            <a:prstGeom prst="roundRect">
              <a:avLst>
                <a:gd name="adj" fmla="val 932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D531202C-8769-9C1F-2234-C190A628BA94}"/>
                </a:ext>
              </a:extLst>
            </p:cNvPr>
            <p:cNvSpPr/>
            <p:nvPr/>
          </p:nvSpPr>
          <p:spPr>
            <a:xfrm>
              <a:off x="10669744" y="4936262"/>
              <a:ext cx="828675" cy="236190"/>
            </a:xfrm>
            <a:prstGeom prst="roundRect">
              <a:avLst>
                <a:gd name="adj" fmla="val 16131"/>
              </a:avLst>
            </a:prstGeom>
            <a:solidFill>
              <a:srgbClr val="F0FD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5EBEBA9-008C-566D-49F8-4CD8A718590B}"/>
                </a:ext>
              </a:extLst>
            </p:cNvPr>
            <p:cNvSpPr txBox="1"/>
            <p:nvPr/>
          </p:nvSpPr>
          <p:spPr>
            <a:xfrm>
              <a:off x="8329720" y="5248652"/>
              <a:ext cx="3263949" cy="4966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Sum total absorbed work </a:t>
              </a:r>
              <a:r>
                <a:rPr sz="1350" b="0" i="1" u="none">
                  <a:solidFill>
                    <a:srgbClr val="334155"/>
                  </a:solidFill>
                  <a:latin typeface="Inter"/>
                </a:rPr>
                <a:t>W</a:t>
              </a:r>
              <a:r>
                <a:rPr sz="1125" b="0" i="0" u="none">
                  <a:solidFill>
                    <a:srgbClr val="334155"/>
                  </a:solidFill>
                  <a:latin typeface="Inter"/>
                </a:rPr>
                <a:t>B</a:t>
              </a:r>
              <a:r>
                <a:rPr sz="1350" b="0" i="0" u="none">
                  <a:solidFill>
                    <a:srgbClr val="334155"/>
                  </a:solidFill>
                  <a:latin typeface="Inter"/>
                </a:rPr>
                <a:t> and scale against theoretical capacity.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B027E63-5F4A-6014-CFA0-74DF819FA1BA}"/>
                </a:ext>
              </a:extLst>
            </p:cNvPr>
            <p:cNvSpPr txBox="1"/>
            <p:nvPr/>
          </p:nvSpPr>
          <p:spPr>
            <a:xfrm>
              <a:off x="8329720" y="4944745"/>
              <a:ext cx="2440781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Space Grotesk"/>
                </a:rPr>
                <a:t>06 · Energy &amp; Efficiency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1282620-BF0B-26AD-44AB-0B7A8D5BD58F}"/>
                    </a:ext>
                  </a:extLst>
                </p:cNvPr>
                <p:cNvSpPr txBox="1"/>
                <p:nvPr/>
              </p:nvSpPr>
              <p:spPr>
                <a:xfrm>
                  <a:off x="10745944" y="4955312"/>
                  <a:ext cx="771525" cy="16158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050" b="1" i="1" u="none" smtClean="0">
                              <a:solidFill>
                                <a:srgbClr val="16A3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50" b="1" i="1" u="none" smtClean="0">
                              <a:solidFill>
                                <a:srgbClr val="16A34A"/>
                              </a:solidFill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1" i="1" u="none" smtClean="0">
                              <a:solidFill>
                                <a:srgbClr val="16A34A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sz="1050" b="1" i="0" u="none" dirty="0">
                      <a:solidFill>
                        <a:srgbClr val="16A34A"/>
                      </a:solidFill>
                      <a:latin typeface="JetBrains Mono"/>
                    </a:rPr>
                    <a:t> Metric</a:t>
                  </a: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1282620-BF0B-26AD-44AB-0B7A8D5BD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5944" y="4955312"/>
                  <a:ext cx="771525" cy="161583"/>
                </a:xfrm>
                <a:prstGeom prst="rect">
                  <a:avLst/>
                </a:prstGeom>
                <a:blipFill>
                  <a:blip r:embed="rId7"/>
                  <a:stretch>
                    <a:fillRect l="-6557" t="-30769" b="-5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F26550F-08DE-29EB-0DA0-89E973F48276}"/>
              </a:ext>
            </a:extLst>
          </p:cNvPr>
          <p:cNvSpPr txBox="1"/>
          <p:nvPr/>
        </p:nvSpPr>
        <p:spPr>
          <a:xfrm>
            <a:off x="654057" y="2505795"/>
            <a:ext cx="11001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u="none" dirty="0">
                <a:solidFill>
                  <a:schemeClr val="accent1"/>
                </a:solidFill>
                <a:latin typeface="Inter"/>
              </a:rPr>
              <a:t>Due to non-linear cubic elasticity and asymmetric hub shifts, energy absorption </a:t>
            </a:r>
            <a:r>
              <a:rPr lang="en-US" sz="1800" b="0" i="1" u="none" dirty="0">
                <a:solidFill>
                  <a:schemeClr val="accent1"/>
                </a:solidFill>
                <a:latin typeface="Inter"/>
              </a:rPr>
              <a:t>W</a:t>
            </a:r>
            <a:r>
              <a:rPr lang="en-US" sz="1600" b="0" i="0" u="none" dirty="0">
                <a:solidFill>
                  <a:schemeClr val="accent1"/>
                </a:solidFill>
                <a:latin typeface="Inter"/>
              </a:rPr>
              <a:t>B</a:t>
            </a:r>
            <a:r>
              <a:rPr lang="en-US" sz="1800" b="0" i="0" u="none" dirty="0">
                <a:solidFill>
                  <a:schemeClr val="accent1"/>
                </a:solidFill>
                <a:latin typeface="Inter"/>
              </a:rPr>
              <a:t> is resolved numerically via Nelder-Mead optimization and bisection.</a:t>
            </a:r>
          </a:p>
        </p:txBody>
      </p:sp>
    </p:spTree>
    <p:extLst>
      <p:ext uri="{BB962C8B-B14F-4D97-AF65-F5344CB8AC3E}">
        <p14:creationId xmlns:p14="http://schemas.microsoft.com/office/powerpoint/2010/main" val="6352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E5223-744F-79B8-B7F4-0B872955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39838DC-A2DC-7E2E-1B56-939D05515512}"/>
              </a:ext>
            </a:extLst>
          </p:cNvPr>
          <p:cNvGrpSpPr/>
          <p:nvPr/>
        </p:nvGrpSpPr>
        <p:grpSpPr>
          <a:xfrm>
            <a:off x="9473609" y="2275367"/>
            <a:ext cx="2042904" cy="1443773"/>
            <a:chOff x="9473609" y="2275367"/>
            <a:chExt cx="2042904" cy="144377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CCCACBE-0694-84BB-0D36-31A076F7BB68}"/>
                </a:ext>
              </a:extLst>
            </p:cNvPr>
            <p:cNvSpPr/>
            <p:nvPr/>
          </p:nvSpPr>
          <p:spPr>
            <a:xfrm>
              <a:off x="10643191" y="2275367"/>
              <a:ext cx="680483" cy="3615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4DB136-D8E7-8CB5-4E88-FC0CF6C2796F}"/>
                </a:ext>
              </a:extLst>
            </p:cNvPr>
            <p:cNvSpPr txBox="1"/>
            <p:nvPr/>
          </p:nvSpPr>
          <p:spPr>
            <a:xfrm>
              <a:off x="9473609" y="3072809"/>
              <a:ext cx="20429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decrease of over 72% !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6354B44-80CA-1A6C-7B5A-76C63E9386A6}"/>
                </a:ext>
              </a:extLst>
            </p:cNvPr>
            <p:cNvCxnSpPr/>
            <p:nvPr/>
          </p:nvCxnSpPr>
          <p:spPr>
            <a:xfrm flipH="1">
              <a:off x="10643191" y="2636874"/>
              <a:ext cx="297711" cy="4359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5268506-4FD2-8EB8-E756-9962C974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Off-Centre Impact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B9511-888C-0C69-BE9E-601F2893DD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BC236A2-0C4F-0F92-13EC-53E9C57E0FA1}"/>
              </a:ext>
            </a:extLst>
          </p:cNvPr>
          <p:cNvGrpSpPr/>
          <p:nvPr/>
        </p:nvGrpSpPr>
        <p:grpSpPr>
          <a:xfrm>
            <a:off x="702340" y="1472656"/>
            <a:ext cx="4165600" cy="1956344"/>
            <a:chOff x="4147289" y="4510361"/>
            <a:chExt cx="4165600" cy="195634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311D8D-4158-769B-1C00-0C05D098A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7289" y="4510361"/>
              <a:ext cx="4165600" cy="195634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EFBC74-7AAF-0DC5-04EF-80202DE3EA23}"/>
                </a:ext>
              </a:extLst>
            </p:cNvPr>
            <p:cNvSpPr/>
            <p:nvPr/>
          </p:nvSpPr>
          <p:spPr>
            <a:xfrm>
              <a:off x="6042265" y="4825883"/>
              <a:ext cx="445747" cy="1640822"/>
            </a:xfrm>
            <a:prstGeom prst="rect">
              <a:avLst/>
            </a:prstGeom>
            <a:solidFill>
              <a:schemeClr val="bg1">
                <a:lumMod val="75000"/>
                <a:alpha val="12702"/>
              </a:schemeClr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C9A0B1-9738-5B55-4A45-63F90D92D22A}"/>
                </a:ext>
              </a:extLst>
            </p:cNvPr>
            <p:cNvSpPr/>
            <p:nvPr/>
          </p:nvSpPr>
          <p:spPr>
            <a:xfrm>
              <a:off x="7845876" y="4825883"/>
              <a:ext cx="445747" cy="1640822"/>
            </a:xfrm>
            <a:prstGeom prst="rect">
              <a:avLst/>
            </a:prstGeom>
            <a:solidFill>
              <a:schemeClr val="bg1">
                <a:lumMod val="75000"/>
                <a:alpha val="12702"/>
              </a:schemeClr>
            </a:solidFill>
            <a:ln>
              <a:solidFill>
                <a:schemeClr val="dk1">
                  <a:shade val="95000"/>
                  <a:satMod val="10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354A3A-E9A6-0C83-363E-D58FFCB5A3FA}"/>
                  </a:ext>
                </a:extLst>
              </p:cNvPr>
              <p:cNvSpPr txBox="1"/>
              <p:nvPr/>
            </p:nvSpPr>
            <p:spPr>
              <a:xfrm>
                <a:off x="1830987" y="5321520"/>
                <a:ext cx="3423093" cy="680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kin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rem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rem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354A3A-E9A6-0C83-363E-D58FFCB5A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987" y="5321520"/>
                <a:ext cx="3423093" cy="680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7ECB92-30C0-F663-34D0-D620AE7CA04C}"/>
                  </a:ext>
                </a:extLst>
              </p:cNvPr>
              <p:cNvSpPr txBox="1"/>
              <p:nvPr/>
            </p:nvSpPr>
            <p:spPr>
              <a:xfrm>
                <a:off x="734208" y="4155674"/>
                <a:ext cx="561664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latin typeface="Google Sans Text"/>
                  </a:rPr>
                  <a:t>I</a:t>
                </a:r>
                <a:r>
                  <a:rPr lang="en-US" sz="1600" dirty="0">
                    <a:effectLst/>
                    <a:latin typeface="Google Sans Text"/>
                  </a:rPr>
                  <a:t>ndicator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effectLst/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smtClean="0">
                            <a:effectLst/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 measures how much of the drone's kinetic energy exceeds the threshold of the first failure, relative to the useful capacity of the residual net</a:t>
                </a:r>
                <a:endParaRPr lang="en-US" sz="1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7ECB92-30C0-F663-34D0-D620AE7CA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08" y="4155674"/>
                <a:ext cx="5616649" cy="830997"/>
              </a:xfrm>
              <a:prstGeom prst="rect">
                <a:avLst/>
              </a:prstGeom>
              <a:blipFill>
                <a:blip r:embed="rId5"/>
                <a:stretch>
                  <a:fillRect l="-450" t="-303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DC36A6B5-F6FD-5833-1D55-C33B25D294BD}"/>
              </a:ext>
            </a:extLst>
          </p:cNvPr>
          <p:cNvGrpSpPr/>
          <p:nvPr/>
        </p:nvGrpSpPr>
        <p:grpSpPr>
          <a:xfrm>
            <a:off x="4008475" y="6359249"/>
            <a:ext cx="4893367" cy="370186"/>
            <a:chOff x="3859619" y="6323329"/>
            <a:chExt cx="4893367" cy="37018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F1A4433-30F6-5311-2235-A6EE3261605B}"/>
                </a:ext>
              </a:extLst>
            </p:cNvPr>
            <p:cNvSpPr/>
            <p:nvPr/>
          </p:nvSpPr>
          <p:spPr>
            <a:xfrm>
              <a:off x="3859619" y="6323329"/>
              <a:ext cx="4864571" cy="370186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408B721-4D03-23FB-3751-768818378350}"/>
                    </a:ext>
                  </a:extLst>
                </p:cNvPr>
                <p:cNvSpPr txBox="1"/>
                <p:nvPr/>
              </p:nvSpPr>
              <p:spPr>
                <a:xfrm>
                  <a:off x="3888415" y="6324183"/>
                  <a:ext cx="486457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600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1600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≈0.85−0.95</m:t>
                      </m:r>
                    </m:oMath>
                  </a14:m>
                  <a:r>
                    <a:rPr lang="en-US" sz="1600" dirty="0">
                      <a:solidFill>
                        <a:srgbClr val="0070C0"/>
                      </a:solidFill>
                    </a:rPr>
                    <a:t> to leverage full sacrificial efficiency</a:t>
                  </a: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408B721-4D03-23FB-3751-7688183783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415" y="6324183"/>
                  <a:ext cx="4864571" cy="338554"/>
                </a:xfrm>
                <a:prstGeom prst="rect">
                  <a:avLst/>
                </a:prstGeom>
                <a:blipFill>
                  <a:blip r:embed="rId6"/>
                  <a:stretch>
                    <a:fillRect t="-3571" r="-5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Left Brace 29">
            <a:extLst>
              <a:ext uri="{FF2B5EF4-FFF2-40B4-BE49-F238E27FC236}">
                <a16:creationId xmlns:a16="http://schemas.microsoft.com/office/drawing/2014/main" id="{6647EFE0-751F-B181-38F5-B28B96F58208}"/>
              </a:ext>
            </a:extLst>
          </p:cNvPr>
          <p:cNvSpPr/>
          <p:nvPr/>
        </p:nvSpPr>
        <p:spPr>
          <a:xfrm>
            <a:off x="6579075" y="4155674"/>
            <a:ext cx="358847" cy="17641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EB3B6D-16BF-3D22-C435-586EC2B9F2FC}"/>
                  </a:ext>
                </a:extLst>
              </p:cNvPr>
              <p:cNvSpPr txBox="1"/>
              <p:nvPr/>
            </p:nvSpPr>
            <p:spPr>
              <a:xfrm>
                <a:off x="5405768" y="2085567"/>
                <a:ext cx="1640072" cy="730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EB3B6D-16BF-3D22-C435-586EC2B9F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768" y="2085567"/>
                <a:ext cx="1640072" cy="730521"/>
              </a:xfrm>
              <a:prstGeom prst="rect">
                <a:avLst/>
              </a:prstGeom>
              <a:blipFill>
                <a:blip r:embed="rId7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BB039-30C4-22CB-A65C-4787EE4FB3D1}"/>
                  </a:ext>
                </a:extLst>
              </p:cNvPr>
              <p:cNvSpPr txBox="1"/>
              <p:nvPr/>
            </p:nvSpPr>
            <p:spPr>
              <a:xfrm>
                <a:off x="7145169" y="2085567"/>
                <a:ext cx="4371344" cy="730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0.068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0.244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≈0.279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BB039-30C4-22CB-A65C-4787EE4FB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169" y="2085567"/>
                <a:ext cx="4371344" cy="730521"/>
              </a:xfrm>
              <a:prstGeom prst="rect">
                <a:avLst/>
              </a:prstGeom>
              <a:blipFill>
                <a:blip r:embed="rId8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199D0253-4BD0-55AD-D825-3231F408754D}"/>
              </a:ext>
            </a:extLst>
          </p:cNvPr>
          <p:cNvGrpSpPr/>
          <p:nvPr/>
        </p:nvGrpSpPr>
        <p:grpSpPr>
          <a:xfrm>
            <a:off x="6937922" y="4155674"/>
            <a:ext cx="4045510" cy="369332"/>
            <a:chOff x="6937922" y="4155674"/>
            <a:chExt cx="4045510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2795F9B-57F1-5079-9364-4B503B81A701}"/>
                    </a:ext>
                  </a:extLst>
                </p:cNvPr>
                <p:cNvSpPr txBox="1"/>
                <p:nvPr/>
              </p:nvSpPr>
              <p:spPr>
                <a:xfrm>
                  <a:off x="6937922" y="4155674"/>
                  <a:ext cx="12891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2795F9B-57F1-5079-9364-4B503B81A7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7922" y="4155674"/>
                  <a:ext cx="128919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0C5D7D5-42D7-D86E-228B-9022ED9FBE0E}"/>
                </a:ext>
              </a:extLst>
            </p:cNvPr>
            <p:cNvSpPr txBox="1"/>
            <p:nvPr/>
          </p:nvSpPr>
          <p:spPr>
            <a:xfrm>
              <a:off x="8724190" y="4180815"/>
              <a:ext cx="22592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0070C0"/>
                  </a:solidFill>
                </a:rPr>
                <a:t>Pure elastic response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7E9D6CA-3832-B475-07A2-09884535E6B9}"/>
              </a:ext>
            </a:extLst>
          </p:cNvPr>
          <p:cNvGrpSpPr/>
          <p:nvPr/>
        </p:nvGrpSpPr>
        <p:grpSpPr>
          <a:xfrm>
            <a:off x="6937922" y="4894338"/>
            <a:ext cx="4403330" cy="369332"/>
            <a:chOff x="6937922" y="4894338"/>
            <a:chExt cx="4403330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448E541-BF4C-E0CD-3A5B-D64B209F8FAC}"/>
                    </a:ext>
                  </a:extLst>
                </p:cNvPr>
                <p:cNvSpPr txBox="1"/>
                <p:nvPr/>
              </p:nvSpPr>
              <p:spPr>
                <a:xfrm>
                  <a:off x="6937922" y="4894338"/>
                  <a:ext cx="168969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0&lt;</m:t>
                            </m:r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448E541-BF4C-E0CD-3A5B-D64B209F8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7922" y="4894338"/>
                  <a:ext cx="168969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802AB13-1703-4861-C332-554D5E9DB4AA}"/>
                </a:ext>
              </a:extLst>
            </p:cNvPr>
            <p:cNvSpPr txBox="1"/>
            <p:nvPr/>
          </p:nvSpPr>
          <p:spPr>
            <a:xfrm>
              <a:off x="8724190" y="4894338"/>
              <a:ext cx="26170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0070C0"/>
                  </a:solidFill>
                </a:rPr>
                <a:t>Controlled sacrificial capture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B9AEC0F-0718-22CC-73C4-2F57C7555CDD}"/>
              </a:ext>
            </a:extLst>
          </p:cNvPr>
          <p:cNvGrpSpPr/>
          <p:nvPr/>
        </p:nvGrpSpPr>
        <p:grpSpPr>
          <a:xfrm>
            <a:off x="6937922" y="5448336"/>
            <a:ext cx="5491121" cy="369332"/>
            <a:chOff x="6937922" y="5448336"/>
            <a:chExt cx="5491121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9C03531-B261-2D43-ED25-B9D1453BEB45}"/>
                    </a:ext>
                  </a:extLst>
                </p:cNvPr>
                <p:cNvSpPr txBox="1"/>
                <p:nvPr/>
              </p:nvSpPr>
              <p:spPr>
                <a:xfrm>
                  <a:off x="6937922" y="5448336"/>
                  <a:ext cx="12891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9C03531-B261-2D43-ED25-B9D1453BE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7922" y="5448336"/>
                  <a:ext cx="1289198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5F9EAB0-C51D-57D7-E2A7-A26E920CB492}"/>
                </a:ext>
              </a:extLst>
            </p:cNvPr>
            <p:cNvSpPr txBox="1"/>
            <p:nvPr/>
          </p:nvSpPr>
          <p:spPr>
            <a:xfrm>
              <a:off x="8724190" y="5509891"/>
              <a:ext cx="37048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solidFill>
                    <a:srgbClr val="0070C0"/>
                  </a:solidFill>
                </a:rPr>
                <a:t>Perforation / Catastrophic failure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913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30" grpId="0" animBg="1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528F2-975B-119C-312C-A56FF891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AE2BFE-5038-25F1-5B55-1F2932F1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Limitations of the current approach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36559-6DA2-4972-AE7D-258914CA88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6DD6596-B41D-71DB-6620-B534A186880D}"/>
              </a:ext>
            </a:extLst>
          </p:cNvPr>
          <p:cNvGrpSpPr/>
          <p:nvPr/>
        </p:nvGrpSpPr>
        <p:grpSpPr>
          <a:xfrm>
            <a:off x="820894" y="1681073"/>
            <a:ext cx="11103710" cy="738664"/>
            <a:chOff x="820894" y="1681073"/>
            <a:chExt cx="11103710" cy="73866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BF4105D-9D42-DDC4-CD8E-C3F112AA7D16}"/>
                </a:ext>
              </a:extLst>
            </p:cNvPr>
            <p:cNvSpPr txBox="1"/>
            <p:nvPr/>
          </p:nvSpPr>
          <p:spPr>
            <a:xfrm>
              <a:off x="820894" y="1681073"/>
              <a:ext cx="60977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dirty="0">
                  <a:effectLst/>
                  <a:latin typeface="Helvetica" pitchFamily="2" charset="0"/>
                </a:rPr>
                <a:t>The cubic law has no yield region; real dragline silk softens before stiffening.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C984C-169C-6397-F6D7-724302308714}"/>
                </a:ext>
              </a:extLst>
            </p:cNvPr>
            <p:cNvSpPr txBox="1"/>
            <p:nvPr/>
          </p:nvSpPr>
          <p:spPr>
            <a:xfrm>
              <a:off x="7097424" y="1681073"/>
              <a:ext cx="482718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dirty="0">
                  <a:effectLst/>
                  <a:latin typeface="Helvetica" pitchFamily="2" charset="0"/>
                </a:rPr>
                <a:t>S. W. Cranford, A. </a:t>
              </a:r>
              <a:r>
                <a:rPr lang="en-US" sz="1400" dirty="0" err="1">
                  <a:effectLst/>
                  <a:latin typeface="Helvetica" pitchFamily="2" charset="0"/>
                </a:rPr>
                <a:t>Tarakanova</a:t>
              </a:r>
              <a:r>
                <a:rPr lang="en-US" sz="1400" dirty="0">
                  <a:effectLst/>
                  <a:latin typeface="Helvetica" pitchFamily="2" charset="0"/>
                </a:rPr>
                <a:t>, N. M. Pugno, and M. J. Buehler – “</a:t>
              </a:r>
              <a:r>
                <a:rPr lang="en-US" sz="1400" i="1" dirty="0">
                  <a:effectLst/>
                  <a:latin typeface="Helvetica" pitchFamily="2" charset="0"/>
                </a:rPr>
                <a:t>Nonlinear material behavior of spider silk yields robust Webs</a:t>
              </a:r>
              <a:r>
                <a:rPr lang="en-US" sz="1400" dirty="0">
                  <a:effectLst/>
                  <a:latin typeface="Helvetica" pitchFamily="2" charset="0"/>
                </a:rPr>
                <a:t>”, Nature 482, 72 (2012)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962771-B31C-B16B-6606-2F681952C7B7}"/>
              </a:ext>
            </a:extLst>
          </p:cNvPr>
          <p:cNvGrpSpPr/>
          <p:nvPr/>
        </p:nvGrpSpPr>
        <p:grpSpPr>
          <a:xfrm>
            <a:off x="820894" y="2861286"/>
            <a:ext cx="10003512" cy="646331"/>
            <a:chOff x="820894" y="2861286"/>
            <a:chExt cx="10003512" cy="6463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86A2D5-6C3E-F63B-08E3-5AEDD3F99A14}"/>
                </a:ext>
              </a:extLst>
            </p:cNvPr>
            <p:cNvSpPr txBox="1"/>
            <p:nvPr/>
          </p:nvSpPr>
          <p:spPr>
            <a:xfrm>
              <a:off x="820894" y="2861286"/>
              <a:ext cx="60977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dirty="0">
                  <a:effectLst/>
                  <a:latin typeface="Helvetica" pitchFamily="2" charset="0"/>
                </a:rPr>
                <a:t>Threads are massless in the quasi-static analysis, and bending, friction at crossings, and knots are ignored.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27A0D1A-46DE-FE2A-D1F3-53F1C061FBE7}"/>
                    </a:ext>
                  </a:extLst>
                </p:cNvPr>
                <p:cNvSpPr txBox="1"/>
                <p:nvPr/>
              </p:nvSpPr>
              <p:spPr>
                <a:xfrm>
                  <a:off x="7097424" y="2951087"/>
                  <a:ext cx="372698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4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or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</m:nary>
                      <m:r>
                        <a:rPr lang="en-US" sz="1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1400" dirty="0"/>
                    <a:t>, ignores threads mass.</a:t>
                  </a: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27A0D1A-46DE-FE2A-D1F3-53F1C061F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7424" y="2951087"/>
                  <a:ext cx="3726982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695" t="-161111" r="-2034" b="-2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F5CA08-57D7-F9E7-7FB5-ABB4B3CCE58A}"/>
                  </a:ext>
                </a:extLst>
              </p:cNvPr>
              <p:cNvSpPr txBox="1"/>
              <p:nvPr/>
            </p:nvSpPr>
            <p:spPr>
              <a:xfrm>
                <a:off x="820894" y="5399999"/>
                <a:ext cx="60977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dirty="0">
                    <a:effectLst/>
                    <a:latin typeface="Helvetica" pitchFamily="2" charset="0"/>
                  </a:rPr>
                  <a:t>Failure is instantaneous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Helvetica" pitchFamily="2" charset="0"/>
                  </a:rPr>
                  <a:t>, without damage or softening. A broken radial then fails at several segments as the released thread recoils.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F5CA08-57D7-F9E7-7FB5-ABB4B3CC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4" y="5399999"/>
                <a:ext cx="6097772" cy="923330"/>
              </a:xfrm>
              <a:prstGeom prst="rect">
                <a:avLst/>
              </a:prstGeom>
              <a:blipFill>
                <a:blip r:embed="rId4"/>
                <a:stretch>
                  <a:fillRect l="-832" t="-4110" r="-832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B40DC92-D012-43C3-6CEC-018AD51FFE50}"/>
              </a:ext>
            </a:extLst>
          </p:cNvPr>
          <p:cNvGrpSpPr/>
          <p:nvPr/>
        </p:nvGrpSpPr>
        <p:grpSpPr>
          <a:xfrm>
            <a:off x="820894" y="4307315"/>
            <a:ext cx="11079127" cy="646331"/>
            <a:chOff x="820894" y="4307315"/>
            <a:chExt cx="11079127" cy="6463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8CA655-C06A-83CA-2366-A6363893F83F}"/>
                </a:ext>
              </a:extLst>
            </p:cNvPr>
            <p:cNvSpPr txBox="1"/>
            <p:nvPr/>
          </p:nvSpPr>
          <p:spPr>
            <a:xfrm>
              <a:off x="820894" y="4307315"/>
              <a:ext cx="60977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dirty="0">
                  <a:effectLst/>
                  <a:latin typeface="Helvetica" pitchFamily="2" charset="0"/>
                </a:rPr>
                <a:t>Strength variability between threads, which drives cascades in fiber-bundle models is not included.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B7B051-42A3-0368-4EB7-633DA0D33F8D}"/>
                </a:ext>
              </a:extLst>
            </p:cNvPr>
            <p:cNvSpPr txBox="1"/>
            <p:nvPr/>
          </p:nvSpPr>
          <p:spPr>
            <a:xfrm>
              <a:off x="7097424" y="4375598"/>
              <a:ext cx="48025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dirty="0">
                  <a:effectLst/>
                  <a:latin typeface="Helvetica" pitchFamily="2" charset="0"/>
                </a:rPr>
                <a:t>G. Pal et al. – “</a:t>
              </a:r>
              <a:r>
                <a:rPr lang="en-US" sz="1400" i="1" dirty="0">
                  <a:effectLst/>
                  <a:latin typeface="Helvetica" pitchFamily="2" charset="0"/>
                </a:rPr>
                <a:t>Scaling laws of failure dynamics on complex networks</a:t>
              </a:r>
              <a:r>
                <a:rPr lang="en-US" sz="1400" dirty="0">
                  <a:effectLst/>
                  <a:latin typeface="Helvetica" pitchFamily="2" charset="0"/>
                </a:rPr>
                <a:t>”, Sci. Rep. 13, 19733 (2023).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7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1_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110307</TotalTime>
  <Words>2195</Words>
  <Application>Microsoft Macintosh PowerPoint</Application>
  <PresentationFormat>Widescreen</PresentationFormat>
  <Paragraphs>289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Google Sans Text</vt:lpstr>
      <vt:lpstr>Helvetica</vt:lpstr>
      <vt:lpstr>Inter</vt:lpstr>
      <vt:lpstr>JetBrains Mono</vt:lpstr>
      <vt:lpstr>Space Grotesk</vt:lpstr>
      <vt:lpstr>1_Office Theme</vt:lpstr>
      <vt:lpstr>PowerPoint Presentation</vt:lpstr>
      <vt:lpstr>Agenda</vt:lpstr>
      <vt:lpstr>Impact waves in single thread</vt:lpstr>
      <vt:lpstr>Impact waves in single thread</vt:lpstr>
      <vt:lpstr>Impact waves in single thread</vt:lpstr>
      <vt:lpstr>Impact waves in single thread</vt:lpstr>
      <vt:lpstr>Impact waves in single thread</vt:lpstr>
      <vt:lpstr>Thread breaking conditions</vt:lpstr>
      <vt:lpstr>Model material elasticity</vt:lpstr>
      <vt:lpstr>Single Thread - Simulation</vt:lpstr>
      <vt:lpstr>Single Thread - Simulation</vt:lpstr>
      <vt:lpstr>Single Thread – Silk Simulation</vt:lpstr>
      <vt:lpstr>Single Thread – Dyneema Simulation</vt:lpstr>
      <vt:lpstr>Wave “ping-pong” effect</vt:lpstr>
      <vt:lpstr>From Wave PDE to Pure Geometry</vt:lpstr>
      <vt:lpstr>Minimum Net Mass &amp; Material Utilization</vt:lpstr>
      <vt:lpstr>Minimum Net Mass &amp; Material Utilization</vt:lpstr>
      <vt:lpstr>Off-Centre Impact</vt:lpstr>
      <vt:lpstr>Off-Centre Impact</vt:lpstr>
      <vt:lpstr>Off-Centre Impact</vt:lpstr>
      <vt:lpstr>Off-Centre Impact – Thread Failure </vt:lpstr>
      <vt:lpstr>Off-Centre Impact</vt:lpstr>
      <vt:lpstr>Limitations of the current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Qualify Market Potential (I)</dc:title>
  <dc:creator>Octavian Radu</dc:creator>
  <cp:lastModifiedBy>Octavian Radu</cp:lastModifiedBy>
  <cp:revision>28</cp:revision>
  <dcterms:created xsi:type="dcterms:W3CDTF">2024-01-29T10:19:11Z</dcterms:created>
  <dcterms:modified xsi:type="dcterms:W3CDTF">2026-10-26T20:06:15Z</dcterms:modified>
</cp:coreProperties>
</file>